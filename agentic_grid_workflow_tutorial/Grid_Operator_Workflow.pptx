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2.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slides/charts/chart3.xml" ContentType="application/vnd.openxmlformats-officedocument.drawingml.chart+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slides/charts/chart4.xml" ContentType="application/vnd.openxmlformats-officedocument.drawingml.chart+xml"/>
  <Override PartName="/ppt/notesSlides/notesSlide31.xml" ContentType="application/vnd.openxmlformats-officedocument.presentationml.notesSlide+xml"/>
  <Override PartName="/ppt/slides/slide32.xml" ContentType="application/vnd.openxmlformats-officedocument.presentationml.slide+xml"/>
  <Override PartName="/ppt/slides/charts/chart5.xml" ContentType="application/vnd.openxmlformats-officedocument.drawingml.chart+xml"/>
  <Override PartName="/ppt/notesSlides/notesSlide32.xml" ContentType="application/vnd.openxmlformats-officedocument.presentationml.notesSlide+xml"/>
  <Override PartName="/ppt/slides/slide33.xml" ContentType="application/vnd.openxmlformats-officedocument.presentationml.slide+xml"/>
  <Override PartName="/ppt/slides/charts/chart6.xml" ContentType="application/vnd.openxmlformats-officedocument.drawingml.chart+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slides/charts/chart7.xml" ContentType="application/vnd.openxmlformats-officedocument.drawingml.chart+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slides/charts/chart8.xml" ContentType="application/vnd.openxmlformats-officedocument.drawingml.chart+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1fcafdc1a26402f" /><Relationship Type="http://schemas.openxmlformats.org/officeDocument/2006/relationships/extended-properties" Target="/docProps/app.xml" Id="Rf562055c9f604c4a" /><Relationship Type="http://schemas.openxmlformats.org/officeDocument/2006/relationships/officeDocument" Target="/ppt/presentation.xml" Id="R0ff681aafb61427f" /></Relationships>
</file>

<file path=ppt/presentation.xml><?xml version="1.0" encoding="utf-8"?>
<p:presentation xmlns:p="http://schemas.openxmlformats.org/presentationml/2006/main">
  <p:sldMasterIdLst>
    <p:sldMasterId xmlns:r="http://schemas.openxmlformats.org/officeDocument/2006/relationships" id="2147483648" r:id="R172e49a830654886"/>
  </p:sldMasterIdLst>
  <p:notesMasterIdLst>
    <p:notesMasterId xmlns:r="http://schemas.openxmlformats.org/officeDocument/2006/relationships" r:id="R348c538250794d57"/>
  </p:notesMasterIdLst>
  <p:sldIdLst>
    <p:sldId xmlns:r="http://schemas.openxmlformats.org/officeDocument/2006/relationships" id="256" r:id="Rdeaa38cd55b34f6c"/>
    <p:sldId xmlns:r="http://schemas.openxmlformats.org/officeDocument/2006/relationships" id="257" r:id="Rd95dbce452144ba3"/>
    <p:sldId xmlns:r="http://schemas.openxmlformats.org/officeDocument/2006/relationships" id="258" r:id="R4ade936147e74258"/>
    <p:sldId xmlns:r="http://schemas.openxmlformats.org/officeDocument/2006/relationships" id="259" r:id="Rf10bee7d7539434f"/>
    <p:sldId xmlns:r="http://schemas.openxmlformats.org/officeDocument/2006/relationships" id="260" r:id="R5612a515c56a4970"/>
    <p:sldId xmlns:r="http://schemas.openxmlformats.org/officeDocument/2006/relationships" id="261" r:id="Rebbf643bf5604414"/>
    <p:sldId xmlns:r="http://schemas.openxmlformats.org/officeDocument/2006/relationships" id="262" r:id="R4ee34f4b6d124f40"/>
    <p:sldId xmlns:r="http://schemas.openxmlformats.org/officeDocument/2006/relationships" id="263" r:id="R85df5b9bd6f24544"/>
    <p:sldId xmlns:r="http://schemas.openxmlformats.org/officeDocument/2006/relationships" id="264" r:id="R5df2934e53624a57"/>
    <p:sldId xmlns:r="http://schemas.openxmlformats.org/officeDocument/2006/relationships" id="265" r:id="Refcb4df7796541a7"/>
    <p:sldId xmlns:r="http://schemas.openxmlformats.org/officeDocument/2006/relationships" id="266" r:id="R3f6346ba86a24e35"/>
    <p:sldId xmlns:r="http://schemas.openxmlformats.org/officeDocument/2006/relationships" id="267" r:id="R10716d4d69754e52"/>
    <p:sldId xmlns:r="http://schemas.openxmlformats.org/officeDocument/2006/relationships" id="268" r:id="Rfaa4e2e2fe694506"/>
    <p:sldId xmlns:r="http://schemas.openxmlformats.org/officeDocument/2006/relationships" id="269" r:id="Rc0d82419deb349d4"/>
    <p:sldId xmlns:r="http://schemas.openxmlformats.org/officeDocument/2006/relationships" id="270" r:id="Rad54a53c8cbd4947"/>
    <p:sldId xmlns:r="http://schemas.openxmlformats.org/officeDocument/2006/relationships" id="271" r:id="R0dad6e30baa34dd1"/>
    <p:sldId xmlns:r="http://schemas.openxmlformats.org/officeDocument/2006/relationships" id="272" r:id="Re0d565b0a41c4e8a"/>
    <p:sldId xmlns:r="http://schemas.openxmlformats.org/officeDocument/2006/relationships" id="273" r:id="Rad6b09aa426d4cbc"/>
    <p:sldId xmlns:r="http://schemas.openxmlformats.org/officeDocument/2006/relationships" id="274" r:id="R11190243cd2347cb"/>
    <p:sldId xmlns:r="http://schemas.openxmlformats.org/officeDocument/2006/relationships" id="275" r:id="R319701eadff04827"/>
    <p:sldId xmlns:r="http://schemas.openxmlformats.org/officeDocument/2006/relationships" id="276" r:id="R12113b756cba47ca"/>
    <p:sldId xmlns:r="http://schemas.openxmlformats.org/officeDocument/2006/relationships" id="277" r:id="R1209db8b99ce406e"/>
    <p:sldId xmlns:r="http://schemas.openxmlformats.org/officeDocument/2006/relationships" id="278" r:id="Rac4d4ed8e9c84b12"/>
    <p:sldId xmlns:r="http://schemas.openxmlformats.org/officeDocument/2006/relationships" id="279" r:id="R2504ae8edbe74090"/>
    <p:sldId xmlns:r="http://schemas.openxmlformats.org/officeDocument/2006/relationships" id="280" r:id="R47c9f3caba074867"/>
    <p:sldId xmlns:r="http://schemas.openxmlformats.org/officeDocument/2006/relationships" id="281" r:id="R5272282a02034829"/>
    <p:sldId xmlns:r="http://schemas.openxmlformats.org/officeDocument/2006/relationships" id="282" r:id="R0a1ee0aac4354286"/>
    <p:sldId xmlns:r="http://schemas.openxmlformats.org/officeDocument/2006/relationships" id="283" r:id="R36fcecbb067149fd"/>
    <p:sldId xmlns:r="http://schemas.openxmlformats.org/officeDocument/2006/relationships" id="284" r:id="Rce7cfca0bfbb407a"/>
    <p:sldId xmlns:r="http://schemas.openxmlformats.org/officeDocument/2006/relationships" id="285" r:id="R2ec80adeff1e4e39"/>
    <p:sldId xmlns:r="http://schemas.openxmlformats.org/officeDocument/2006/relationships" id="286" r:id="Rbc9fb42a522343dd"/>
    <p:sldId xmlns:r="http://schemas.openxmlformats.org/officeDocument/2006/relationships" id="287" r:id="R4698a25518bb4d49"/>
    <p:sldId xmlns:r="http://schemas.openxmlformats.org/officeDocument/2006/relationships" id="288" r:id="Rac87c8d0311047ef"/>
    <p:sldId xmlns:r="http://schemas.openxmlformats.org/officeDocument/2006/relationships" id="289" r:id="Rf3981f1246fe4d35"/>
    <p:sldId xmlns:r="http://schemas.openxmlformats.org/officeDocument/2006/relationships" id="290" r:id="Rd829f881e095488d"/>
    <p:sldId xmlns:r="http://schemas.openxmlformats.org/officeDocument/2006/relationships" id="291" r:id="R12c83a8bfe85409a"/>
    <p:sldId xmlns:r="http://schemas.openxmlformats.org/officeDocument/2006/relationships" id="292" r:id="R33fa90b4ad374049"/>
    <p:sldId xmlns:r="http://schemas.openxmlformats.org/officeDocument/2006/relationships" id="293" r:id="Rd5c0380a4a394925"/>
    <p:sldId xmlns:r="http://schemas.openxmlformats.org/officeDocument/2006/relationships" id="294" r:id="R932dbfe88dc64c1f"/>
    <p:sldId xmlns:r="http://schemas.openxmlformats.org/officeDocument/2006/relationships" id="295" r:id="Raba239dfea114128"/>
    <p:sldId xmlns:r="http://schemas.openxmlformats.org/officeDocument/2006/relationships" id="296" r:id="R2d0be4ae3ed741a3"/>
    <p:sldId xmlns:r="http://schemas.openxmlformats.org/officeDocument/2006/relationships" id="297" r:id="R1852b91f646044d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e91d93272324b71" /><Relationship Type="http://schemas.openxmlformats.org/officeDocument/2006/relationships/slideMaster" Target="/ppt/slideMasters/slideMaster1.xml" Id="R172e49a830654886" /><Relationship Type="http://schemas.openxmlformats.org/officeDocument/2006/relationships/notesMaster" Target="/ppt/notesMasters/notesMaster1.xml" Id="R348c538250794d57" /><Relationship Type="http://schemas.openxmlformats.org/officeDocument/2006/relationships/presProps" Target="/ppt/presProps.xml" Id="R4e3af3fbd1764c68" /><Relationship Type="http://schemas.openxmlformats.org/officeDocument/2006/relationships/tableStyles" Target="/ppt/tableStyles.xml" Id="Rf61eee72b4954cab" /><Relationship Type="http://schemas.openxmlformats.org/officeDocument/2006/relationships/slide" Target="/ppt/slides/slide1.xml" Id="Rdeaa38cd55b34f6c" /><Relationship Type="http://schemas.openxmlformats.org/officeDocument/2006/relationships/slide" Target="/ppt/slides/slide2.xml" Id="Rd95dbce452144ba3" /><Relationship Type="http://schemas.openxmlformats.org/officeDocument/2006/relationships/slide" Target="/ppt/slides/slide3.xml" Id="R4ade936147e74258" /><Relationship Type="http://schemas.openxmlformats.org/officeDocument/2006/relationships/slide" Target="/ppt/slides/slide4.xml" Id="Rf10bee7d7539434f" /><Relationship Type="http://schemas.openxmlformats.org/officeDocument/2006/relationships/slide" Target="/ppt/slides/slide5.xml" Id="R5612a515c56a4970" /><Relationship Type="http://schemas.openxmlformats.org/officeDocument/2006/relationships/slide" Target="/ppt/slides/slide6.xml" Id="Rebbf643bf5604414" /><Relationship Type="http://schemas.openxmlformats.org/officeDocument/2006/relationships/slide" Target="/ppt/slides/slide7.xml" Id="R4ee34f4b6d124f40" /><Relationship Type="http://schemas.openxmlformats.org/officeDocument/2006/relationships/slide" Target="/ppt/slides/slide8.xml" Id="R85df5b9bd6f24544" /><Relationship Type="http://schemas.openxmlformats.org/officeDocument/2006/relationships/slide" Target="/ppt/slides/slide9.xml" Id="R5df2934e53624a57" /><Relationship Type="http://schemas.openxmlformats.org/officeDocument/2006/relationships/slide" Target="/ppt/slides/slide10.xml" Id="Refcb4df7796541a7" /><Relationship Type="http://schemas.openxmlformats.org/officeDocument/2006/relationships/slide" Target="/ppt/slides/slide11.xml" Id="R3f6346ba86a24e35" /><Relationship Type="http://schemas.openxmlformats.org/officeDocument/2006/relationships/slide" Target="/ppt/slides/slide12.xml" Id="R10716d4d69754e52" /><Relationship Type="http://schemas.openxmlformats.org/officeDocument/2006/relationships/slide" Target="/ppt/slides/slide13.xml" Id="Rfaa4e2e2fe694506" /><Relationship Type="http://schemas.openxmlformats.org/officeDocument/2006/relationships/slide" Target="/ppt/slides/slide14.xml" Id="Rc0d82419deb349d4" /><Relationship Type="http://schemas.openxmlformats.org/officeDocument/2006/relationships/slide" Target="/ppt/slides/slide15.xml" Id="Rad54a53c8cbd4947" /><Relationship Type="http://schemas.openxmlformats.org/officeDocument/2006/relationships/slide" Target="/ppt/slides/slide16.xml" Id="R0dad6e30baa34dd1" /><Relationship Type="http://schemas.openxmlformats.org/officeDocument/2006/relationships/slide" Target="/ppt/slides/slide17.xml" Id="Re0d565b0a41c4e8a" /><Relationship Type="http://schemas.openxmlformats.org/officeDocument/2006/relationships/slide" Target="/ppt/slides/slide18.xml" Id="Rad6b09aa426d4cbc" /><Relationship Type="http://schemas.openxmlformats.org/officeDocument/2006/relationships/slide" Target="/ppt/slides/slide19.xml" Id="R11190243cd2347cb" /><Relationship Type="http://schemas.openxmlformats.org/officeDocument/2006/relationships/slide" Target="/ppt/slides/slide20.xml" Id="R319701eadff04827" /><Relationship Type="http://schemas.openxmlformats.org/officeDocument/2006/relationships/slide" Target="/ppt/slides/slide21.xml" Id="R12113b756cba47ca" /><Relationship Type="http://schemas.openxmlformats.org/officeDocument/2006/relationships/slide" Target="/ppt/slides/slide22.xml" Id="R1209db8b99ce406e" /><Relationship Type="http://schemas.openxmlformats.org/officeDocument/2006/relationships/slide" Target="/ppt/slides/slide23.xml" Id="Rac4d4ed8e9c84b12" /><Relationship Type="http://schemas.openxmlformats.org/officeDocument/2006/relationships/slide" Target="/ppt/slides/slide24.xml" Id="R2504ae8edbe74090" /><Relationship Type="http://schemas.openxmlformats.org/officeDocument/2006/relationships/slide" Target="/ppt/slides/slide25.xml" Id="R47c9f3caba074867" /><Relationship Type="http://schemas.openxmlformats.org/officeDocument/2006/relationships/slide" Target="/ppt/slides/slide26.xml" Id="R5272282a02034829" /><Relationship Type="http://schemas.openxmlformats.org/officeDocument/2006/relationships/slide" Target="/ppt/slides/slide27.xml" Id="R0a1ee0aac4354286" /><Relationship Type="http://schemas.openxmlformats.org/officeDocument/2006/relationships/slide" Target="/ppt/slides/slide28.xml" Id="R36fcecbb067149fd" /><Relationship Type="http://schemas.openxmlformats.org/officeDocument/2006/relationships/slide" Target="/ppt/slides/slide29.xml" Id="Rce7cfca0bfbb407a" /><Relationship Type="http://schemas.openxmlformats.org/officeDocument/2006/relationships/slide" Target="/ppt/slides/slide30.xml" Id="R2ec80adeff1e4e39" /><Relationship Type="http://schemas.openxmlformats.org/officeDocument/2006/relationships/slide" Target="/ppt/slides/slide31.xml" Id="Rbc9fb42a522343dd" /><Relationship Type="http://schemas.openxmlformats.org/officeDocument/2006/relationships/slide" Target="/ppt/slides/slide32.xml" Id="R4698a25518bb4d49" /><Relationship Type="http://schemas.openxmlformats.org/officeDocument/2006/relationships/slide" Target="/ppt/slides/slide33.xml" Id="Rac87c8d0311047ef" /><Relationship Type="http://schemas.openxmlformats.org/officeDocument/2006/relationships/slide" Target="/ppt/slides/slide34.xml" Id="Rf3981f1246fe4d35" /><Relationship Type="http://schemas.openxmlformats.org/officeDocument/2006/relationships/slide" Target="/ppt/slides/slide35.xml" Id="Rd829f881e095488d" /><Relationship Type="http://schemas.openxmlformats.org/officeDocument/2006/relationships/slide" Target="/ppt/slides/slide36.xml" Id="R12c83a8bfe85409a" /><Relationship Type="http://schemas.openxmlformats.org/officeDocument/2006/relationships/slide" Target="/ppt/slides/slide37.xml" Id="R33fa90b4ad374049" /><Relationship Type="http://schemas.openxmlformats.org/officeDocument/2006/relationships/slide" Target="/ppt/slides/slide38.xml" Id="Rd5c0380a4a394925" /><Relationship Type="http://schemas.openxmlformats.org/officeDocument/2006/relationships/slide" Target="/ppt/slides/slide39.xml" Id="R932dbfe88dc64c1f" /><Relationship Type="http://schemas.openxmlformats.org/officeDocument/2006/relationships/slide" Target="/ppt/slides/slide40.xml" Id="Raba239dfea114128" /><Relationship Type="http://schemas.openxmlformats.org/officeDocument/2006/relationships/slide" Target="/ppt/slides/slide41.xml" Id="R2d0be4ae3ed741a3" /><Relationship Type="http://schemas.openxmlformats.org/officeDocument/2006/relationships/slide" Target="/ppt/slides/slide42.xml" Id="R1852b91f646044d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a7993be0ae24f9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edc7c3964944a82" /><Relationship Type="http://schemas.openxmlformats.org/officeDocument/2006/relationships/notesMaster" Target="/ppt/notesMasters/notesMaster1.xml" Id="R196c1823c6b4477d" /></Relationships>
</file>

<file path=ppt/notesSlides/_rels/notesSlide2.xml.rels>&#65279;<?xml version="1.0" encoding="utf-8"?><Relationships xmlns="http://schemas.openxmlformats.org/package/2006/relationships"><Relationship Type="http://schemas.openxmlformats.org/officeDocument/2006/relationships/slide" Target="/ppt/slides/slide2.xml" Id="Rf38db50cabdf4e9b" /><Relationship Type="http://schemas.openxmlformats.org/officeDocument/2006/relationships/notesMaster" Target="/ppt/notesMasters/notesMaster1.xml" Id="R569ff5ed28be4e0a" /></Relationships>
</file>

<file path=ppt/notesSlides/_rels/notesSlide3.xml.rels>&#65279;<?xml version="1.0" encoding="utf-8"?><Relationships xmlns="http://schemas.openxmlformats.org/package/2006/relationships"><Relationship Type="http://schemas.openxmlformats.org/officeDocument/2006/relationships/slide" Target="/ppt/slides/slide3.xml" Id="Raa7dc71fef274b1b" /><Relationship Type="http://schemas.openxmlformats.org/officeDocument/2006/relationships/notesMaster" Target="/ppt/notesMasters/notesMaster1.xml" Id="Re771e45aafbc45ea" /></Relationships>
</file>

<file path=ppt/notesSlides/_rels/notesSlide4.xml.rels>&#65279;<?xml version="1.0" encoding="utf-8"?><Relationships xmlns="http://schemas.openxmlformats.org/package/2006/relationships"><Relationship Type="http://schemas.openxmlformats.org/officeDocument/2006/relationships/slide" Target="/ppt/slides/slide4.xml" Id="Rda3d94a23c584189" /><Relationship Type="http://schemas.openxmlformats.org/officeDocument/2006/relationships/notesMaster" Target="/ppt/notesMasters/notesMaster1.xml" Id="R9297bf9737c94439" /></Relationships>
</file>

<file path=ppt/notesSlides/_rels/notesSlide5.xml.rels>&#65279;<?xml version="1.0" encoding="utf-8"?><Relationships xmlns="http://schemas.openxmlformats.org/package/2006/relationships"><Relationship Type="http://schemas.openxmlformats.org/officeDocument/2006/relationships/slide" Target="/ppt/slides/slide5.xml" Id="R06914a9e4c1646e6" /><Relationship Type="http://schemas.openxmlformats.org/officeDocument/2006/relationships/notesMaster" Target="/ppt/notesMasters/notesMaster1.xml" Id="R8a9c393e9b044907" /></Relationships>
</file>

<file path=ppt/notesSlides/_rels/notesSlide6.xml.rels>&#65279;<?xml version="1.0" encoding="utf-8"?><Relationships xmlns="http://schemas.openxmlformats.org/package/2006/relationships"><Relationship Type="http://schemas.openxmlformats.org/officeDocument/2006/relationships/slide" Target="/ppt/slides/slide6.xml" Id="Rc3a1fa1856ce4269" /><Relationship Type="http://schemas.openxmlformats.org/officeDocument/2006/relationships/notesMaster" Target="/ppt/notesMasters/notesMaster1.xml" Id="R88a5fd816f9c48c2" /></Relationships>
</file>

<file path=ppt/notesSlides/_rels/notesSlide7.xml.rels>&#65279;<?xml version="1.0" encoding="utf-8"?><Relationships xmlns="http://schemas.openxmlformats.org/package/2006/relationships"><Relationship Type="http://schemas.openxmlformats.org/officeDocument/2006/relationships/slide" Target="/ppt/slides/slide7.xml" Id="R7589697165104681" /><Relationship Type="http://schemas.openxmlformats.org/officeDocument/2006/relationships/notesMaster" Target="/ppt/notesMasters/notesMaster1.xml" Id="R5565de5d29c64062" /></Relationships>
</file>

<file path=ppt/notesSlides/_rels/notesSlide8.xml.rels>&#65279;<?xml version="1.0" encoding="utf-8"?><Relationships xmlns="http://schemas.openxmlformats.org/package/2006/relationships"><Relationship Type="http://schemas.openxmlformats.org/officeDocument/2006/relationships/slide" Target="/ppt/slides/slide8.xml" Id="R57a41c27ade342ae" /><Relationship Type="http://schemas.openxmlformats.org/officeDocument/2006/relationships/notesMaster" Target="/ppt/notesMasters/notesMaster1.xml" Id="Re1c2fb440b7e4dc1" /></Relationships>
</file>

<file path=ppt/notesSlides/_rels/notesSlide9.xml.rels>&#65279;<?xml version="1.0" encoding="utf-8"?><Relationships xmlns="http://schemas.openxmlformats.org/package/2006/relationships"><Relationship Type="http://schemas.openxmlformats.org/officeDocument/2006/relationships/slide" Target="/ppt/slides/slide9.xml" Id="Rb9055f20c4b34985" /><Relationship Type="http://schemas.openxmlformats.org/officeDocument/2006/relationships/notesMaster" Target="/ppt/notesMasters/notesMaster1.xml" Id="R253eead55a91462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de1300a86b5409e" /><Relationship Type="http://schemas.openxmlformats.org/officeDocument/2006/relationships/notesMaster" Target="/ppt/notesMasters/notesMaster1.xml" Id="Rff7fe1d47517468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2a200a332c748c8" /><Relationship Type="http://schemas.openxmlformats.org/officeDocument/2006/relationships/notesMaster" Target="/ppt/notesMasters/notesMaster1.xml" Id="R451c0ab5fdfd4c1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2543c6c000245e3" /><Relationship Type="http://schemas.openxmlformats.org/officeDocument/2006/relationships/notesMaster" Target="/ppt/notesMasters/notesMaster1.xml" Id="Rab3e43d746054a7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62addb638ef420c" /><Relationship Type="http://schemas.openxmlformats.org/officeDocument/2006/relationships/notesMaster" Target="/ppt/notesMasters/notesMaster1.xml" Id="Rafed262e233f47e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5d60bb0b1c04599" /><Relationship Type="http://schemas.openxmlformats.org/officeDocument/2006/relationships/notesMaster" Target="/ppt/notesMasters/notesMaster1.xml" Id="R6aa0272650dc47b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4748623edee4731" /><Relationship Type="http://schemas.openxmlformats.org/officeDocument/2006/relationships/notesMaster" Target="/ppt/notesMasters/notesMaster1.xml" Id="R44810344cff049f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849d5e1c8fc4b8f" /><Relationship Type="http://schemas.openxmlformats.org/officeDocument/2006/relationships/notesMaster" Target="/ppt/notesMasters/notesMaster1.xml" Id="R4e4016538aff422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b605c4c539b48dd" /><Relationship Type="http://schemas.openxmlformats.org/officeDocument/2006/relationships/notesMaster" Target="/ppt/notesMasters/notesMaster1.xml" Id="R9f2529aff0594e9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e739f4c6ae64c81" /><Relationship Type="http://schemas.openxmlformats.org/officeDocument/2006/relationships/notesMaster" Target="/ppt/notesMasters/notesMaster1.xml" Id="R0cf9038b24c347d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2488733a45d4140" /><Relationship Type="http://schemas.openxmlformats.org/officeDocument/2006/relationships/notesMaster" Target="/ppt/notesMasters/notesMaster1.xml" Id="Ra87cbf0d96874de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2e64c766ca1444f" /><Relationship Type="http://schemas.openxmlformats.org/officeDocument/2006/relationships/notesMaster" Target="/ppt/notesMasters/notesMaster1.xml" Id="R9d7a5df1a1fd4b6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a0c914fb9d4414f" /><Relationship Type="http://schemas.openxmlformats.org/officeDocument/2006/relationships/notesMaster" Target="/ppt/notesMasters/notesMaster1.xml" Id="Re168ed4ee1e44e2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3218de6dc204c2d" /><Relationship Type="http://schemas.openxmlformats.org/officeDocument/2006/relationships/notesMaster" Target="/ppt/notesMasters/notesMaster1.xml" Id="R7e47a3806f75426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853b34f843a4d06" /><Relationship Type="http://schemas.openxmlformats.org/officeDocument/2006/relationships/notesMaster" Target="/ppt/notesMasters/notesMaster1.xml" Id="R47d17ea8e5b5403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56d0274f9454378" /><Relationship Type="http://schemas.openxmlformats.org/officeDocument/2006/relationships/notesMaster" Target="/ppt/notesMasters/notesMaster1.xml" Id="Ra0ccf0791ab2439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54b48e621a849dc" /><Relationship Type="http://schemas.openxmlformats.org/officeDocument/2006/relationships/notesMaster" Target="/ppt/notesMasters/notesMaster1.xml" Id="Rd06dd6e1102e475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dd6657158da4edc" /><Relationship Type="http://schemas.openxmlformats.org/officeDocument/2006/relationships/notesMaster" Target="/ppt/notesMasters/notesMaster1.xml" Id="Ra02a2f2b3a01451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c952bb395e24fbb" /><Relationship Type="http://schemas.openxmlformats.org/officeDocument/2006/relationships/notesMaster" Target="/ppt/notesMasters/notesMaster1.xml" Id="R42f05758a297400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6178f4b17e324f1a" /><Relationship Type="http://schemas.openxmlformats.org/officeDocument/2006/relationships/notesMaster" Target="/ppt/notesMasters/notesMaster1.xml" Id="R7b026677757b467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7e0767a094c42ec" /><Relationship Type="http://schemas.openxmlformats.org/officeDocument/2006/relationships/notesMaster" Target="/ppt/notesMasters/notesMaster1.xml" Id="R8ab2e047933b4c5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e595984cae1c4060" /><Relationship Type="http://schemas.openxmlformats.org/officeDocument/2006/relationships/notesMaster" Target="/ppt/notesMasters/notesMaster1.xml" Id="Rc949a83bedac4ec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5f6c0441d1114e52" /><Relationship Type="http://schemas.openxmlformats.org/officeDocument/2006/relationships/notesMaster" Target="/ppt/notesMasters/notesMaster1.xml" Id="R20d632b82d6c4581"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e1180aa222d9434e" /><Relationship Type="http://schemas.openxmlformats.org/officeDocument/2006/relationships/notesMaster" Target="/ppt/notesMasters/notesMaster1.xml" Id="R08de8181ac8f41a3"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d9e7b7b68f1b4f1d" /><Relationship Type="http://schemas.openxmlformats.org/officeDocument/2006/relationships/notesMaster" Target="/ppt/notesMasters/notesMaster1.xml" Id="R63082cc118204b72"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1f2592d6e2d24b6a" /><Relationship Type="http://schemas.openxmlformats.org/officeDocument/2006/relationships/notesMaster" Target="/ppt/notesMasters/notesMaster1.xml" Id="Rf5ca6e9aa13b490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8f4e22a0a2bb4b97" /><Relationship Type="http://schemas.openxmlformats.org/officeDocument/2006/relationships/notesMaster" Target="/ppt/notesMasters/notesMaster1.xml" Id="Ra0e02534eba84210"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1aa6aa49d51d4c94" /><Relationship Type="http://schemas.openxmlformats.org/officeDocument/2006/relationships/notesMaster" Target="/ppt/notesMasters/notesMaster1.xml" Id="Rb850363ead0f42d6"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c5c49b2ea4da450c" /><Relationship Type="http://schemas.openxmlformats.org/officeDocument/2006/relationships/notesMaster" Target="/ppt/notesMasters/notesMaster1.xml" Id="Rd0d88e7cf3044334"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d99a62539e174740" /><Relationship Type="http://schemas.openxmlformats.org/officeDocument/2006/relationships/notesMaster" Target="/ppt/notesMasters/notesMaster1.xml" Id="Rcfb4c7b9726d4beb"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3b36fc506ca14541" /><Relationship Type="http://schemas.openxmlformats.org/officeDocument/2006/relationships/notesMaster" Target="/ppt/notesMasters/notesMaster1.xml" Id="Rb2915aef81344ffb"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8a8460b444d34e34" /><Relationship Type="http://schemas.openxmlformats.org/officeDocument/2006/relationships/notesMaster" Target="/ppt/notesMasters/notesMaster1.xml" Id="Ra763e25a1f5a453b"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20fdb278bda64d81" /><Relationship Type="http://schemas.openxmlformats.org/officeDocument/2006/relationships/notesMaster" Target="/ppt/notesMasters/notesMaster1.xml" Id="Recc7baa27ec24fba"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ee6fd391c7de4a66" /><Relationship Type="http://schemas.openxmlformats.org/officeDocument/2006/relationships/notesMaster" Target="/ppt/notesMasters/notesMaster1.xml" Id="R892ad9e36c45419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00:00–00:03. Open with the operating request: keep the feeder within its limits and show the evidence supporting the action. The lesson uses a synthetic research feeder. It contains no live utility connection. The main notebook is Grid_Operator_Workflow.ipynb.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00:03–00:06. Distinguish control optimization from understanding the operator’s permitted operations. The hypothesis concerns automatic interpretation and bounded coordination, not better power-flow optimality. Both benefits and new semantic errors are measured. Scientific context: Toolformer https://arxiv.org/abs/2302.04761 ; ReAct https://arxiv.org/abs/2210.03629 ; BFCL https://proceedings.mlr.press/v267/patil25a.html . Study method and limitations: appendix/Agentic_Advantage_Study.md.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00:06–00:07. This is exactly 180 minutes, including the 10-minute break. Follow the notebook in order. Each lab asks a question, states an assumption, runs a compact experiment and interprets a plot. Training is optional appendix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00:07–00:15. Choose one audience route for live work: Workflow_OpenDSS.ipynb or Workflow_LinDistFlow3.ipynb. The main HTML provides the shared narrative. The main notebook’s original physics cells require OpenDSS, whereas the independent linear audience route does not. Test the chosen electrical model and local llama3.1:8b before teaching. Keep explicit LIVE or recorded-output labels. Sources: README.md, requirements.txt, requirements_linear.txt, https://docs.ollama.com/api/chat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00:15–00:20. Explain the geographic extent using the included bus coordinates. Counts refer to model objects and do not imply numbers of customers or actual facilities. Original feeder line count is 1,977. Storage does not participate in these experiments. Source: https://data.openei.org/submissions/2981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00:20–00:25. Distinguish the input assumptions from measured outcomes. The tutorial does not claim to reproduce the sample tutorial’s Volt-VAR implementation. Limits are teaching constraints. Snapshot feasibility omits protection and transient behavior. Sources: https://opendss.epri.com/PowerFlow.html and https://data.openei.org/submissions/2981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00:25–00:30. Explain the lossless coupled three-phase LinDistFlow approximation. The squared voltage vector w has units V², branch power vector S has units VA, and Dβ is the diagonal balanced phase-reference matrix. The actual phase impedance matrices retain mutual terms. Branch power sums downstream load minus generation, with line-pi shunts evaluated at nominal voltage. The network has 453 MV buses, 599 node-phase values and 452 original MV lines: 380 single-phase and 72 three-phase. There are two added synthetic restoration ties. 258 primary transformer aggregations map all 2173 loads and 930 PV systems; 436 storage units remain idle. Current reconstruction uses a fixed balanced 1.03 pu source reference. LinDistFlow does not predict LV voltage or transformer thermal loading. OpenDSS includes the full feeder. Compare common MV bus-phase and branch-phase quantities, and report a separate full-feeder AC audit. Reference: Gan and Low (2014), section V, equations 12a–c, https://arxiv.org/abs/1406.3054 and data/lindistflow3_network.json.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00:30–00:35. Ask participants to predict the trend before revealing the plot. Discuss export overloads as well as voltage violations. The plot describes the stated snapshot. It does not establish that reducing PV solves every condition. Source: results/physics_lab.json generated by the included OpenDSS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00:35–00:39. Read across each row: stage, method, and the artifact passed to the next stage. Planning combines finite-action MPC with a local Llama strategy and rationale. The pretrained DQN is an independent proposed execution policy, not a network trained to imitate the MPC plan. Verification also checks MPC admissibility. The actual results establish which route each run used. Acknowledgment is a local record of review and does not dispatch equipment. Implementation: src/stage_workflow.py.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00:39–00:46. Explain forecast, optimize a sequence, apply the first move and re-observe. The implementation uses finite-action dynamic programming, not a continuous OPF solver. The allowed load grid and action grid restrict the model. The forecast is known and rating is constant over the horizon. Infeasible future continuations cannot yield a feasible plan. Source: https://sites.engineering.ucsb.edu/~jbraw/mpc/MPC-book-2nd-edition-4th-printing.pdf and src/control_tools.py.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00:46–00:50. Forecast load is 1.0, 0.7 and 0.5 times nominal load. The numerical OpenDSS MPC plan is 30%, 30%, 20%. The actual local Llama planner selects MPC_ONLY and supplies the quoted rationale. The quote is a short exact excerpt from its recorded response. MPC computes the numbers; Llama chooses the permitted execution strategy. Ask how a higher movement penalty might affect the first move. Source: results/model_workflow.json, OpenDSS agentic V1, run 20260920T211727Z_dbbdf6.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00:50–00:55. Explain a Q-value as a learned estimate of discounted return. The policy uses a reward-trained network with replay memory and a target network. It is not imitation of the MPC labels. Source: https://www.nature.com/articles/nature14236 and models/training_seed_11.json.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00:55–00:58. Training uses 18,000 steps, seed 11 and a five-value load grid. Held-out sequences share those load values, so sequence evaluation is not proof of arbitrary load extrapolation. Explain why a high Q-value may still lead to rejection after a constraint change.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00:58–01:02. Compare the direct DQN proposal with the MPC proposal in the supplied changed-rating case. Do not hide a rejected proposal. The verifier re-solves the selected action instead of merely repeating the controller cache lookup. The electrical model remains shared, so this is not independent real-world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01:02–01:05. Participants first write their prediction. Keep the feeder and evidence fixed while changing the rating fraction. If the candidate remains feasible, report that outcome. Expected lesson: a controller proposes an action, and current constraints determine whether the gate accepts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01:05–01:07. The named agent stages are the same for both backends. Distinguish language strategy and explanation from numerical optimization, the original pretrained policy and deterministic engineering checks. Verification checks the MPC feasible first-action set and the selected-action value gap. The DQN is the same AC-trained policy in both variants, so LinDistFlow results include policy transfer. A failed candidate enters the bounded recovery path. The operator reviews a recommendation tied to a content hash, with no hardware dispatch. Implementation: src/stage_workflow.py.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01:07–01:08. The existing action schema is unchanged. The new request-intake schema restricts rating_fraction, short_limit_amps, allow_long_tie and allow_pv. Restrictions can narrow trusted capabilities but cannot grant unavailable equipment or bypass verification.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01:08–01:11. Read q09 exactly as authored and ask participants to predict the fields. The documented parser requests manual structure. Actual single-pass Llama interpretation matches all four gold fields. The fixed downstream restoration search and fresh OpenDSS gate produce the displayed result. Correct structured entry reaches the same electrical outcome. This is one positive case, not the overall accuracy claim. Sources: request_study.json q09 and operator_requests.json. Scientific context: Toolformer https://arxiv.org/abs/2302.04761 ; ReAct https://arxiv.org/abs/2210.03629 ; BFCL https://proceedings.mlr.press/v267/patil25a.html . Study method and limitations: appendix/Agentic_Advantage_Study.md.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01:11–01:12. For voltage tasks, the candidate must have a feasible horizon continuation. Its best discounted MPC continuation may be at most 0.02 below the optimal value. This is a dimensionless objective gap, not a voltage tolerance or probability. Electrical checks cover the selected model scope. The common AC audit is an additional comparison, not a hidden dependency of the pure linear route. The gate cannot prove that the input language was interpreted correctly. Sources: src/stage_workflow.py and the final model validation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01:12–01:14. These are actual stage responses from the frozen matched study, run 20260920T211727Z_dbbdf6. The two planners choose MPC_ONLY, but the declared common intervention evaluates DQN first in both supervisors. The DQN is identical and returns 30%. The OpenDSS route rejects thermal loading and no feasible horizon continuation. The linear route rejects the 0.6199316 dimensionless MPC value gap. Both actual Llama critics choose REVIEW despite an available MPC plan. The fixed adaptive route completes the MPC fallback, 20% for OpenDSS and 100% for LinDistFlow, whose AC audit remains separate. The quoted critic reason is actual model output, not the engineering reason for rejection. The linear planner also claims verification is unnecessary; the gate never accepts that authority. Explanation outputs are qualitative focus fields. Readback remains PENDING until local operator action. Source: results/model_workflow.json V2 and the corresponding llama_calls.json.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01:14–01:16. Describe the conventional parser as the specified finite grammar, not all conventional practice. It recognizes common numbers, fractions, reductions, synonyms and several negations, then requests clarification outside its supported patterns. Correct manual form entry is represented by the structured reference; human time is not measured. All READY structures use one identical fixed downstream supervisor. Scientific context: Toolformer https://arxiv.org/abs/2302.04761 ; ReAct https://arxiv.org/abs/2210.03629 ; BFCL https://proceedings.mlr.press/v267/patil25a.html . Study method and limitations: appendix/Agentic_Advantage_Study.md.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01:16–01:19. The authored pilot has 5 canonical, 15 paraphrased and 4 clarification/refusal requests. Freeze files and gold labels preceded calls, but the pilot is not independent of the tutorial design process. Gold labels remain offline and never repair runtime outputs. Correct completion requires exact equality of all four fields, a runtime recommendation and fresh evaluation of that actual recommendation under gold restrictions. Correct clarification is evaluated separately on four non-actionable requests. Scientific context: Toolformer https://arxiv.org/abs/2302.04761 ; ReAct https://arxiv.org/abs/2210.03629 ; BFCL https://proceedings.mlr.press/v267/patil25a.html . Study method and limitations: appendix/Agentic_Advantage_Study.md.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01:19–01:23. Read the positive gain and the associated errors together. Parser 14/20 and one-pass Llama 16/20 exact completions. Both correctly clarify 4/4 ambiguous cases. Across all 24 requests, wrong READY is 0 for parser and 4 for Llama. Unnecessary handoffs on clear requests are 6 and 0. Correct structured reference is 20/20, illustrating the unchanged controller ceiling. Median machine times are descriptive and exclude unmeasured human structuring time. Scientific context: Toolformer https://arxiv.org/abs/2302.04761 ; ReAct https://arxiv.org/abs/2210.03629 ; BFCL https://proceedings.mlr.press/v267/patil25a.html . Study method and limitations: appendix/Agentic_Advantage_Study.md.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01:23–01:26. Initial Llama outputs are shared across paired conditions. Critic and self-review each add one fresh logical call using the same model and evidence. Critic corrects zero initial interpretations and regresses eight. Self-review corrects zero and regresses seven. The displayed total wrong READY includes clear and clarification requests, hence denominator 24. One more role is not independent evidence. Source: advantage_summary.json and paired review records. Scientific context: Toolformer https://arxiv.org/abs/2302.04761 ; ReAct https://arxiv.org/abs/2210.03629 ; BFCL https://proceedings.mlr.press/v267/patil25a.html . Study method and limitations: appendix/Agentic_Advantage_Study.md.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01:26–01:29. The pilot motivated a parser-first hybrid. Freeze that policy before the new authored confirmation set and before its model calls. Confirmation has eight clear and four clarification requests. Hybrid adds two correct completions but also one extra wrong READY on a clarification request. Parser already has one wrong READY inherited by the hybrid. The six actual model calls occur only on parser handoffs. This is a small prospective authored confirmation, not a field sample or statistical superiority claim. Source: confirmation.json and its recorded freeze. Scientific context: Toolformer https://arxiv.org/abs/2302.04761 ; ReAct https://arxiv.org/abs/2210.03629 ; BFCL https://proceedings.mlr.press/v267/patil25a.html . Study method and limitations: appendix/Agentic_Advantage_Study.md.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01:29–01:32. This experiment deconfounds closed-loop recovery from Llama. Two cases inject an unavailable-tool response without stopping a real service or removing a checkpoint. The third uses the actual DQN electrical rejection. All share their first attempt. Both recovery methods may make a second tool call. One-pass is a loop ablation, not the strongest conventional baseline. Adaptive rules and Llama each recover three of three; rules are faster. Source: recovery.json and advantage_summary.json.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01:32–01:35. Inspect prospective confirmation h05. Both parser and hybrid incorrectly convert the request for 20% current reserve into the full nominal allowance. Their 30% PV candidate passes the runtime check under that incorrect problem. Offline evaluation of the actual action under the intended 80% allowance rejects it for thermal loading. This is one gold-limit violation for each route. The hybrid also changes unsupported h09 instead of clarifying. Ask participants which semantic assurance is missing before the engineering gate. This preserves the original 180-minute timetable. Scientific context: Toolformer https://arxiv.org/abs/2302.04761 ; ReAct https://arxiv.org/abs/2210.03629 ; BFCL https://proceedings.mlr.press/v267/patil25a.html . Study method and limitations: appendix/Agentic_Advantage_Study.md.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01:35–01:45. During the break, leave this timing slide visible. Confirm that local model memory remains available. Do not start appendix training.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01:45–01:50. The original feeder branch is unavailable and quarantined. The lesson adds two artificial alternate lines between the source and the downstream tail. Closing both can create a cycle. These are not documented utility switches or routes. The gate must preserve the quarantine.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01:50–01:55. Critical loads are every tenth sorted load object. Shedding disables a prefix of noncritical load objects. These choices simplify the experiment and are not field classifications or a practical relay inventory. The implementation is a bounded catalog search, not a full mixed-integer restoration optimization. Source: https://arxiv.org/abs/1912.05185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01:55–02:01. Compare the outage with the accepted restoration candidate. Read tie loading as well as service. Inspect why a cycle-producing or quarantined-path action fails even if the power-flow solve converges. Source: recorded restoration tool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02:01–02:06. Ask whether full pickup can pass. The restricted case uses no PV, so the bottleneck is different from the first voltage lab. Candidate service levels must be re-solved. Do not assume every electrical metric improves monotonically with shedding.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02:06–02:11. Compare total service and critical service across tested disconnection levels. Explain that disconnecting a percentage of load objects is not the same as shedding that percentage of kW. Show the accepted plan and the first feasible loading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02:11–02:15. Open Operator_Dashboard.html and orient the audience using this actual captured V1 OpenDSS review. The pending form requires a name or training identifier and three readbacks. Next select R2 and compare both prediction models for the capacity-limited restoration case. Selecting a recorded run does not call Llama again. Acknowledgment is local and bound to the exact result and audit identity. It is neither verified human comprehension, utility-operator authentication nor dispatch authorization. The final exercise returns to this form so each participant can record their own review. The example remains PENDING at capture. Source: Operator_Dashboard.html and figures/operator_dashboard_readback.png.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02:15–02:20. State the attacker capability separately for each case. The trusted comparison is an experimental fixture, not a demonstrated cryptographic telemetry pipeline. Use NIST taxonomy for terminology: https://csrc.nist.gov/pubs/ai/100/2/e2025/final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02:20–02:25. Inspect the specific rejection reason and the absence of an accepted action. Missing evidence must not default to trusted or fresh. The common gate protects the fixed and agentic workflows equally in these cases.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02:25–02:30. Compare clean reported voltage with the tampered reading against the stated trusted reference. This is a simple consistency fixture, not a universal intrusion detector. Lowering the threshold changes the trade-off between false rejections and missed manipulations. Source: https://csrc.nist.gov/pubs/ai/100/2/e2025/final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02:30–02:38. Read the actual injected text and the actual Llama tool request. The model does not receive authority to edit safety rules or directly execute arbitrary commands. Distinguish an ignored malicious instruction from a downstream rejection of an unsafe proposal. Record parser or tool failures rather than hiding them. Source: https://csrc.nist.gov/pubs/ai/100/2/e2025/final and results/llama_calls.json.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02:38–02:45. Eight declared cases per condition, two backends and two supervisors, 32 workflow runs and 26 actual Llama calls. This is a fixed-order local batch, not a statistical accuracy or speed study. Recommendation counts are model-scoped and include only issued candidates. Appropriate reviews, including C1 stale evidence and C2 biased aggregate sensors, reduce those counts. The AC-pass denominator is issued recommendations, not all eight cases. OpenDSS fixed repairs V2; its agentic critic requests review. The linear fixed route issues six recommendations and the agentic route five, but only R1 and R2 pass the full-feeder AC audit in each. Median workflow time excludes each 40-solve setup table and the offline AC audit. The original policy weights, action catalog, objective, restrictions and declared cases are shared; each backend generates its own transparent synthetic awareness values. Source: results/model_comparison.json and model_workflow.json.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02:45–02:49. These five bars represent issued LinDistFlow recommendations from the agentic route, evaluated at the identical action in OpenDSS. Each compares 599 common MV node-phase voltage values. No missing or reviewed case has been plotted as a zero error. Maximum MV error ranges from 0.000419545 to 0.001727645 pu. The full AC audit fails V1, V3 and C3 because of LV-only voltage/current violations. There are zero violating MV buses and MV lines for those recommendations. For V1, 23 LV buses violate voltage and 10 LV lines violate current, whereas its common-MV approximation error remains small. R1 and R2 pass the audit. The AC audit does not silently repair the linear plan. The scope difference must accompany any claimed gain in speed or retained PV. Sources: results/model_comparison.json and Gan &amp; Low (2014), https://arxiv.org/abs/1406.3054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02:49–02:57. Open Operator_Dashboard.html and select one model, supervisor and case. Inspect all named methods and responses. Read any AC audit separately from model acceptance. Participants should complete the local readback themselves only after reviewing the action, current restriction, scope and remaining risks. Do not fabricate or imply a human acknowledgment from a script or saved study row. The interaction records review and issues no physical dispatch. Give each participant time to formulate a measured claim and one limit.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02:57–03:00. Sources: Gan &amp; Low (2014), https://arxiv.org/abs/1406.3054 ; Schick et al. (2023), https://arxiv.org/abs/2302.04761 ; Yao et al. (2023), https://arxiv.org/abs/2210.03629 ; Patil et al. (2025), https://proceedings.mlr.press/v267/patil25a.html ; Rawlings, Mayne &amp; Diehl, https://sites.engineering.ucsb.edu/~jbraw/mpc/MPC-book-2nd-edition-4th-printing.pdf ; Mnih et al. (2015), https://www.nature.com/articles/nature14236 ; NIST (2025), https://csrc.nist.gov/pubs/ai/100/2/e2025/final . The tutorial uses ideas from these sources under its explicitly limited model and data assumptions. More model roles do not guarantee better decisions. Candidate extensions include secondary-network modeling, calibrated prediction uncertainty and independent evaluation of human readback.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a17cbbbe1ea4e6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42e669c8bd54b24" /><Relationship Type="http://schemas.openxmlformats.org/officeDocument/2006/relationships/slideLayout" Target="/ppt/slideLayouts/slideLayout1.xml" Id="Rf2f12f5c0f7c4d3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2f12f5c0f7c4d3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5ebc5ae35054533" /><Relationship Type="http://schemas.openxmlformats.org/officeDocument/2006/relationships/notesSlide" Target="/ppt/notesSlides/notesSlide1.xml" Id="Rc5bde5f3862e468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925f0d158b040ec" /><Relationship Type="http://schemas.openxmlformats.org/officeDocument/2006/relationships/notesSlide" Target="/ppt/notesSlides/notesSlide2.xml" Id="Ra141bc4cf4c5456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8bb6d40924f4abf" /><Relationship Type="http://schemas.openxmlformats.org/officeDocument/2006/relationships/notesSlide" Target="/ppt/notesSlides/notesSlide3.xml" Id="Ra310255b88fc419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bc19cb6c02b4fad" /><Relationship Type="http://schemas.openxmlformats.org/officeDocument/2006/relationships/notesSlide" Target="/ppt/notesSlides/notesSlide4.xml" Id="R6120ee367f9e4be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4ee7222b6be4ce6" /><Relationship Type="http://schemas.openxmlformats.org/officeDocument/2006/relationships/image" Target="/ppt/media/image.png" Id="R30e5a8300e5d46eb" /><Relationship Type="http://schemas.openxmlformats.org/officeDocument/2006/relationships/notesSlide" Target="/ppt/notesSlides/notesSlide5.xml" Id="R47ddaaea464849f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5c27ea5a59d4263" /><Relationship Type="http://schemas.openxmlformats.org/officeDocument/2006/relationships/notesSlide" Target="/ppt/notesSlides/notesSlide6.xml" Id="R8de3c5e7aa7740e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0f9561f839d4e1a" /><Relationship Type="http://schemas.openxmlformats.org/officeDocument/2006/relationships/notesSlide" Target="/ppt/notesSlides/notesSlide7.xml" Id="R55b46544e3f3469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3a59f70581e493d" /><Relationship Type="http://schemas.openxmlformats.org/officeDocument/2006/relationships/chart" Target="/ppt/slides/charts/chart1.xml" Id="Re323f02652cb407c" /><Relationship Type="http://schemas.openxmlformats.org/officeDocument/2006/relationships/notesSlide" Target="/ppt/notesSlides/notesSlide8.xml" Id="R9635931953314d8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9fda00d324e40c6" /><Relationship Type="http://schemas.openxmlformats.org/officeDocument/2006/relationships/notesSlide" Target="/ppt/notesSlides/notesSlide9.xml" Id="Rba9788c83f5447f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39a0da3106c4a79" /><Relationship Type="http://schemas.openxmlformats.org/officeDocument/2006/relationships/notesSlide" Target="/ppt/notesSlides/notesSlide10.xml" Id="R3ca5e4e632ca403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c47c127e3f94e1f" /><Relationship Type="http://schemas.openxmlformats.org/officeDocument/2006/relationships/chart" Target="/ppt/slides/charts/chart2.xml" Id="R8cda26a4735041ed" /><Relationship Type="http://schemas.openxmlformats.org/officeDocument/2006/relationships/notesSlide" Target="/ppt/notesSlides/notesSlide11.xml" Id="R14ea5020c993403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def2513fc2040ae" /><Relationship Type="http://schemas.openxmlformats.org/officeDocument/2006/relationships/notesSlide" Target="/ppt/notesSlides/notesSlide12.xml" Id="R59f04bd642c8409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dc8ec832b884c4f" /><Relationship Type="http://schemas.openxmlformats.org/officeDocument/2006/relationships/notesSlide" Target="/ppt/notesSlides/notesSlide13.xml" Id="Rb7aa70f310e240d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7f4d368e0074bff" /><Relationship Type="http://schemas.openxmlformats.org/officeDocument/2006/relationships/notesSlide" Target="/ppt/notesSlides/notesSlide14.xml" Id="R6dcf9fe9e1184c9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e327974b2d54205" /><Relationship Type="http://schemas.openxmlformats.org/officeDocument/2006/relationships/notesSlide" Target="/ppt/notesSlides/notesSlide15.xml" Id="R89d30ede9c6b4ea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77a345c199c468a" /><Relationship Type="http://schemas.openxmlformats.org/officeDocument/2006/relationships/notesSlide" Target="/ppt/notesSlides/notesSlide16.xml" Id="R635c348f63e24fb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53b578140ff4743" /><Relationship Type="http://schemas.openxmlformats.org/officeDocument/2006/relationships/notesSlide" Target="/ppt/notesSlides/notesSlide17.xml" Id="R1bcf953360e1450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75b74deb3c34b1d" /><Relationship Type="http://schemas.openxmlformats.org/officeDocument/2006/relationships/notesSlide" Target="/ppt/notesSlides/notesSlide18.xml" Id="Rab7d71241ed54ec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94bc818fdff4326" /><Relationship Type="http://schemas.openxmlformats.org/officeDocument/2006/relationships/notesSlide" Target="/ppt/notesSlides/notesSlide19.xml" Id="R6f78ea4c75d64fa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67371409b2b460a" /><Relationship Type="http://schemas.openxmlformats.org/officeDocument/2006/relationships/notesSlide" Target="/ppt/notesSlides/notesSlide20.xml" Id="R31076eedaf88478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b6d38bf6c2f64f95" /><Relationship Type="http://schemas.openxmlformats.org/officeDocument/2006/relationships/notesSlide" Target="/ppt/notesSlides/notesSlide21.xml" Id="R6ec2f506b82546a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e3e82c1fd0e640c8" /><Relationship Type="http://schemas.openxmlformats.org/officeDocument/2006/relationships/notesSlide" Target="/ppt/notesSlides/notesSlide22.xml" Id="Rb1eebc9efd61490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2bf4ddd2ca3847c9" /><Relationship Type="http://schemas.openxmlformats.org/officeDocument/2006/relationships/chart" Target="/ppt/slides/charts/chart3.xml" Id="R2bd69e3be0df4352" /><Relationship Type="http://schemas.openxmlformats.org/officeDocument/2006/relationships/notesSlide" Target="/ppt/notesSlides/notesSlide23.xml" Id="R3fc300b49fca4de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c5e79fef952f451f" /><Relationship Type="http://schemas.openxmlformats.org/officeDocument/2006/relationships/notesSlide" Target="/ppt/notesSlides/notesSlide24.xml" Id="R667abcadee25446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9f32a9cc7d5348e2" /><Relationship Type="http://schemas.openxmlformats.org/officeDocument/2006/relationships/notesSlide" Target="/ppt/notesSlides/notesSlide25.xml" Id="Rc31190e340f1416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e3ab57f30e234848" /><Relationship Type="http://schemas.openxmlformats.org/officeDocument/2006/relationships/notesSlide" Target="/ppt/notesSlides/notesSlide26.xml" Id="Rce24485f3c104c4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8d65f2d442894c64" /><Relationship Type="http://schemas.openxmlformats.org/officeDocument/2006/relationships/notesSlide" Target="/ppt/notesSlides/notesSlide27.xml" Id="Rbcf8285c9a62411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0c1994ced5ce4896" /><Relationship Type="http://schemas.openxmlformats.org/officeDocument/2006/relationships/notesSlide" Target="/ppt/notesSlides/notesSlide28.xml" Id="Rf63ef02c38084445"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07113be011e24ae4" /><Relationship Type="http://schemas.openxmlformats.org/officeDocument/2006/relationships/notesSlide" Target="/ppt/notesSlides/notesSlide29.xml" Id="Rc9d0d066677f490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545d6e9d437a4c6c" /><Relationship Type="http://schemas.openxmlformats.org/officeDocument/2006/relationships/notesSlide" Target="/ppt/notesSlides/notesSlide30.xml" Id="R94bdfe37af48430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53f5f77571534008" /><Relationship Type="http://schemas.openxmlformats.org/officeDocument/2006/relationships/chart" Target="/ppt/slides/charts/chart4.xml" Id="R8d05a2b44c364cd6" /><Relationship Type="http://schemas.openxmlformats.org/officeDocument/2006/relationships/notesSlide" Target="/ppt/notesSlides/notesSlide31.xml" Id="R059ed1b081f64a1d"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d39e5c7f49514aff" /><Relationship Type="http://schemas.openxmlformats.org/officeDocument/2006/relationships/chart" Target="/ppt/slides/charts/chart5.xml" Id="Ra1fa9dd292d94c54" /><Relationship Type="http://schemas.openxmlformats.org/officeDocument/2006/relationships/notesSlide" Target="/ppt/notesSlides/notesSlide32.xml" Id="Rc593db1986974911"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f419cf180efa4802" /><Relationship Type="http://schemas.openxmlformats.org/officeDocument/2006/relationships/chart" Target="/ppt/slides/charts/chart6.xml" Id="Rfa68f826f7b54d97" /><Relationship Type="http://schemas.openxmlformats.org/officeDocument/2006/relationships/notesSlide" Target="/ppt/notesSlides/notesSlide33.xml" Id="R0afef2bf83c1461f"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11d2831586a3429c" /><Relationship Type="http://schemas.openxmlformats.org/officeDocument/2006/relationships/image" Target="/ppt/media/image.jpeg" Id="R90bfdf05b28f4494" /><Relationship Type="http://schemas.openxmlformats.org/officeDocument/2006/relationships/notesSlide" Target="/ppt/notesSlides/notesSlide34.xml" Id="R987b39240ecf4483"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333fb8d5c8274f44" /><Relationship Type="http://schemas.openxmlformats.org/officeDocument/2006/relationships/notesSlide" Target="/ppt/notesSlides/notesSlide35.xml" Id="R184151d0041b44f0"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429ad587f1ce4b12" /><Relationship Type="http://schemas.openxmlformats.org/officeDocument/2006/relationships/notesSlide" Target="/ppt/notesSlides/notesSlide36.xml" Id="R5a0e1a2e195d4a8f"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fba4b8c265e04e93" /><Relationship Type="http://schemas.openxmlformats.org/officeDocument/2006/relationships/chart" Target="/ppt/slides/charts/chart7.xml" Id="R00180e5289e34404" /><Relationship Type="http://schemas.openxmlformats.org/officeDocument/2006/relationships/notesSlide" Target="/ppt/notesSlides/notesSlide37.xml" Id="R6cb3533dfacf4179"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064cb4641f964586" /><Relationship Type="http://schemas.openxmlformats.org/officeDocument/2006/relationships/notesSlide" Target="/ppt/notesSlides/notesSlide38.xml" Id="R1aa467f69fc84210"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475779e68e8c430f" /><Relationship Type="http://schemas.openxmlformats.org/officeDocument/2006/relationships/notesSlide" Target="/ppt/notesSlides/notesSlide39.xml" Id="Ra5fff851f8e04079"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ebce6a09456a480e" /><Relationship Type="http://schemas.openxmlformats.org/officeDocument/2006/relationships/chart" Target="/ppt/slides/charts/chart8.xml" Id="R8f437ac40f4f42b9" /><Relationship Type="http://schemas.openxmlformats.org/officeDocument/2006/relationships/notesSlide" Target="/ppt/notesSlides/notesSlide40.xml" Id="R9d9c3e1f9624411e"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e7b2d46256c64fea" /><Relationship Type="http://schemas.openxmlformats.org/officeDocument/2006/relationships/notesSlide" Target="/ppt/notesSlides/notesSlide41.xml" Id="Rc3f2b45b5447425a"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222fec3e38694063" /><Relationship Type="http://schemas.openxmlformats.org/officeDocument/2006/relationships/notesSlide" Target="/ppt/notesSlides/notesSlide42.xml" Id="R498ba7b82ad341d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Maximum line loading</c:v>
          </c:tx>
          <c:spPr>
            <a:solidFill xmlns:a="http://schemas.openxmlformats.org/drawingml/2006/main">
              <a:srgbClr val="007B7F"/>
            </a:solidFill>
          </c:spPr>
          <c:marker>
            <c:symbol val="circle"/>
            <c:size val="6"/>
          </c:marker>
          <c:cat>
            <c:strRef>
              <c:f>'Chart Data'!$A$2:$A$9</c:f>
              <c:strCache>
                <c:ptCount val="8"/>
                <c:pt idx="0">
                  <c:v>0% PV</c:v>
                </c:pt>
                <c:pt idx="1">
                  <c:v>10% PV</c:v>
                </c:pt>
                <c:pt idx="2">
                  <c:v>20% PV</c:v>
                </c:pt>
                <c:pt idx="3">
                  <c:v>30% PV</c:v>
                </c:pt>
                <c:pt idx="4">
                  <c:v>40% PV</c:v>
                </c:pt>
                <c:pt idx="5">
                  <c:v>60% PV</c:v>
                </c:pt>
                <c:pt idx="6">
                  <c:v>80% PV</c:v>
                </c:pt>
                <c:pt idx="7">
                  <c:v>100% PV</c:v>
                </c:pt>
              </c:strCache>
            </c:strRef>
          </c:cat>
          <c:val>
            <c:numRef>
              <c:f>'Chart Data'!$B$2:$B$9</c:f>
              <c:numCache>
                <c:formatCode>0.0</c:formatCode>
                <c:ptCount val="8"/>
                <c:pt idx="0">
                  <c:v>79.463</c:v>
                </c:pt>
                <c:pt idx="1">
                  <c:v>63.321</c:v>
                </c:pt>
                <c:pt idx="2">
                  <c:v>53.215</c:v>
                </c:pt>
                <c:pt idx="3">
                  <c:v>87.599</c:v>
                </c:pt>
                <c:pt idx="4">
                  <c:v>121.218</c:v>
                </c:pt>
                <c:pt idx="5">
                  <c:v>186.389</c:v>
                </c:pt>
                <c:pt idx="6">
                  <c:v>249.066</c:v>
                </c:pt>
                <c:pt idx="7">
                  <c:v>282.93</c:v>
                </c:pt>
              </c:numCache>
            </c:numRef>
          </c:val>
          <c:smooth val="0"/>
        </c:ser>
        <c:ser>
          <c:idx val="1"/>
          <c:order val="1"/>
          <c:tx>
            <c:v>Allowed limit</c:v>
          </c:tx>
          <c:spPr>
            <a:solidFill xmlns:a="http://schemas.openxmlformats.org/drawingml/2006/main">
              <a:srgbClr val="BC6328"/>
            </a:solidFill>
          </c:spPr>
          <c:marker>
            <c:symbol val="none"/>
            <c:size val="6"/>
          </c:marker>
          <c:cat>
            <c:strRef>
              <c:f>'Chart Data'!$C$2:$C$9</c:f>
              <c:strCache>
                <c:ptCount val="8"/>
                <c:pt idx="0">
                  <c:v>0% PV</c:v>
                </c:pt>
                <c:pt idx="1">
                  <c:v>10% PV</c:v>
                </c:pt>
                <c:pt idx="2">
                  <c:v>20% PV</c:v>
                </c:pt>
                <c:pt idx="3">
                  <c:v>30% PV</c:v>
                </c:pt>
                <c:pt idx="4">
                  <c:v>40% PV</c:v>
                </c:pt>
                <c:pt idx="5">
                  <c:v>60% PV</c:v>
                </c:pt>
                <c:pt idx="6">
                  <c:v>80% PV</c:v>
                </c:pt>
                <c:pt idx="7">
                  <c:v>100% PV</c:v>
                </c:pt>
              </c:strCache>
            </c:strRef>
          </c:cat>
          <c:val>
            <c:numRef>
              <c:f>'Chart Data'!$D$2:$D$9</c:f>
              <c:numCache>
                <c:formatCode>0.0</c:formatCode>
                <c:ptCount val="8"/>
                <c:pt idx="0">
                  <c:v>100</c:v>
                </c:pt>
                <c:pt idx="1">
                  <c:v>100</c:v>
                </c:pt>
                <c:pt idx="2">
                  <c:v>100</c:v>
                </c:pt>
                <c:pt idx="3">
                  <c:v>100</c:v>
                </c:pt>
                <c:pt idx="4">
                  <c:v>100</c:v>
                </c:pt>
                <c:pt idx="5">
                  <c:v>100</c:v>
                </c:pt>
                <c:pt idx="6">
                  <c:v>100</c:v>
                </c:pt>
                <c:pt idx="7">
                  <c:v>100</c:v>
                </c:pt>
              </c:numCache>
            </c:numRef>
          </c:val>
          <c:smooth val="0"/>
        </c:ser>
        <c:dLbls>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max val="320"/>
          <c:min val="0"/>
        </c:scaling>
        <c:delete val="0"/>
        <c:axPos val="l"/>
        <c:majorGridlines>
          <c:spPr>
            <a:ln xmlns:a="http://schemas.openxmlformats.org/drawingml/2006/main" w="9525">
              <a:solidFill>
                <a:srgbClr val="D7E2E4"/>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Line loading (% of rating)</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legend>
    <c:plotVisOnly val="1"/>
  </c:chart>
  <c:spPr>
    <a:solidFill xmlns:a="http://schemas.openxmlformats.org/drawingml/2006/main">
      <a:srgbClr val="FCFDFC"/>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Planned PV cap</c:v>
          </c:tx>
          <c:spPr>
            <a:solidFill xmlns:a="http://schemas.openxmlformats.org/drawingml/2006/main">
              <a:srgbClr val="007B7F"/>
            </a:solidFill>
          </c:spPr>
          <c:cat>
            <c:strRef>
              <c:f>'Chart Data'!$A$2:$A$4</c:f>
              <c:strCache>
                <c:ptCount val="3"/>
                <c:pt idx="0">
                  <c:v>Now</c:v>
                </c:pt>
                <c:pt idx="1">
                  <c:v>Forecast step 2</c:v>
                </c:pt>
                <c:pt idx="2">
                  <c:v>Forecast step 3</c:v>
                </c:pt>
              </c:strCache>
            </c:strRef>
          </c:cat>
          <c:val>
            <c:numRef>
              <c:f>'Chart Data'!$B$2:$B$4</c:f>
              <c:numCache>
                <c:formatCode>0.0</c:formatCode>
                <c:ptCount val="3"/>
                <c:pt idx="0">
                  <c:v>30</c:v>
                </c:pt>
                <c:pt idx="1">
                  <c:v>30</c:v>
                </c:pt>
                <c:pt idx="2">
                  <c:v>20</c:v>
                </c:pt>
              </c:numCache>
            </c:numRef>
          </c:val>
        </c:ser>
        <c:dLbls>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max val="40"/>
          <c:min val="0"/>
        </c:scaling>
        <c:delete val="0"/>
        <c:axPos val="l"/>
        <c:majorGridlines>
          <c:spPr>
            <a:ln xmlns:a="http://schemas.openxmlformats.org/drawingml/2006/main" w="9525">
              <a:solidFill>
                <a:srgbClr val="D7E2E4"/>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PV cap (%)</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valAx>
    </c:plotArea>
    <c:plotVisOnly val="1"/>
  </c:chart>
  <c:spPr>
    <a:solidFill xmlns:a="http://schemas.openxmlformats.org/drawingml/2006/main">
      <a:srgbClr val="FCFDFC"/>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Correct automatic completions</c:v>
          </c:tx>
          <c:spPr>
            <a:solidFill xmlns:a="http://schemas.openxmlformats.org/drawingml/2006/main">
              <a:srgbClr val="007B7F"/>
            </a:solidFill>
          </c:spPr>
          <c:cat>
            <c:strRef>
              <c:f>'Chart Data'!$A$2:$A$4</c:f>
              <c:strCache>
                <c:ptCount val="3"/>
                <c:pt idx="0">
                  <c:v>Rule parser</c:v>
                </c:pt>
                <c:pt idx="1">
                  <c:v>Llama once</c:v>
                </c:pt>
                <c:pt idx="2">
                  <c:v>Correct structure</c:v>
                </c:pt>
              </c:strCache>
            </c:strRef>
          </c:cat>
          <c:val>
            <c:numRef>
              <c:f>'Chart Data'!$B$2:$B$4</c:f>
              <c:numCache>
                <c:formatCode>0</c:formatCode>
                <c:ptCount val="3"/>
                <c:pt idx="0">
                  <c:v>14</c:v>
                </c:pt>
                <c:pt idx="1">
                  <c:v>16</c:v>
                </c:pt>
                <c:pt idx="2">
                  <c:v>20</c:v>
                </c:pt>
              </c:numCache>
            </c:numRef>
          </c:val>
        </c:ser>
        <c:dLbls>
          <c:txPr>
            <a:bodyPr xmlns:a="http://schemas.openxmlformats.org/drawingml/2006/main" anchorCtr="1"/>
            <a:lstStyle xmlns:a="http://schemas.openxmlformats.org/drawingml/2006/main"/>
            <a:p xmlns:a="http://schemas.openxmlformats.org/drawingml/2006/main">
              <a:pPr>
                <a:defRPr sz="1725">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catAx>
      <c:valAx>
        <c:axId val="48672768"/>
        <c:scaling>
          <c:orientation val="minMax"/>
          <c:max val="20"/>
          <c:min val="0"/>
        </c:scaling>
        <c:delete val="0"/>
        <c:axPos val="l"/>
        <c:majorGridlines>
          <c:spPr>
            <a:ln xmlns:a="http://schemas.openxmlformats.org/drawingml/2006/main" w="9525">
              <a:solidFill>
                <a:srgbClr val="D7E2E4"/>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Correct completions (20 clear requests)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50112"/>
        <c:crossBetween val="between"/>
      </c:valAx>
    </c:plotArea>
    <c:plotVisOnly val="1"/>
  </c:chart>
  <c:spPr>
    <a:solidFill xmlns:a="http://schemas.openxmlformats.org/drawingml/2006/main">
      <a:srgbClr val="FCFDFC"/>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Total service</c:v>
          </c:tx>
          <c:spPr>
            <a:solidFill xmlns:a="http://schemas.openxmlformats.org/drawingml/2006/main">
              <a:srgbClr val="007B7F"/>
            </a:solidFill>
          </c:spPr>
          <c:cat>
            <c:strRef>
              <c:f>'Chart Data'!$A$2:$A$3</c:f>
              <c:strCache>
                <c:ptCount val="2"/>
                <c:pt idx="0">
                  <c:v>Outage</c:v>
                </c:pt>
                <c:pt idx="1">
                  <c:v>Accepted restoration</c:v>
                </c:pt>
              </c:strCache>
            </c:strRef>
          </c:cat>
          <c:val>
            <c:numRef>
              <c:f>'Chart Data'!$B$2:$B$3</c:f>
              <c:numCache>
                <c:formatCode>0.0</c:formatCode>
                <c:ptCount val="2"/>
                <c:pt idx="0">
                  <c:v>0</c:v>
                </c:pt>
                <c:pt idx="1">
                  <c:v>4747.468</c:v>
                </c:pt>
              </c:numCache>
            </c:numRef>
          </c:val>
        </c:ser>
        <c:ser>
          <c:idx val="1"/>
          <c:order val="1"/>
          <c:tx>
            <c:v>Critical service</c:v>
          </c:tx>
          <c:spPr>
            <a:solidFill xmlns:a="http://schemas.openxmlformats.org/drawingml/2006/main">
              <a:srgbClr val="BC6328"/>
            </a:solidFill>
          </c:spPr>
          <c:cat>
            <c:strRef>
              <c:f>'Chart Data'!$C$2:$C$3</c:f>
              <c:strCache>
                <c:ptCount val="2"/>
                <c:pt idx="0">
                  <c:v>Outage</c:v>
                </c:pt>
                <c:pt idx="1">
                  <c:v>Accepted restoration</c:v>
                </c:pt>
              </c:strCache>
            </c:strRef>
          </c:cat>
          <c:val>
            <c:numRef>
              <c:f>'Chart Data'!$D$2:$D$3</c:f>
              <c:numCache>
                <c:formatCode>0.0</c:formatCode>
                <c:ptCount val="2"/>
                <c:pt idx="0">
                  <c:v>0</c:v>
                </c:pt>
                <c:pt idx="1">
                  <c:v>474.04</c:v>
                </c:pt>
              </c:numCache>
            </c:numRef>
          </c:val>
        </c:ser>
        <c:dLbls>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max val="5500"/>
          <c:min val="0"/>
        </c:scaling>
        <c:delete val="0"/>
        <c:axPos val="l"/>
        <c:majorGridlines>
          <c:spPr>
            <a:ln xmlns:a="http://schemas.openxmlformats.org/drawingml/2006/main" w="9525">
              <a:solidFill>
                <a:srgbClr val="D7E2E4"/>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Nominal connected load (kW)</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legend>
    <c:plotVisOnly val="1"/>
  </c:chart>
  <c:spPr>
    <a:solidFill xmlns:a="http://schemas.openxmlformats.org/drawingml/2006/main">
      <a:srgbClr val="FCFDFC"/>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lineChart>
        <c:grouping val="standard"/>
        <c:varyColors val="0"/>
        <c:ser>
          <c:idx val="0"/>
          <c:order val="0"/>
          <c:tx>
            <c:v>Tie loading</c:v>
          </c:tx>
          <c:spPr>
            <a:solidFill xmlns:a="http://schemas.openxmlformats.org/drawingml/2006/main">
              <a:srgbClr val="007B7F"/>
            </a:solidFill>
          </c:spPr>
          <c:marker>
            <c:symbol val="circle"/>
            <c:size val="6"/>
          </c:marker>
          <c:cat>
            <c:strRef>
              <c:f>'Chart Data'!$A$2:$A$7</c:f>
              <c:strCache>
                <c:ptCount val="6"/>
                <c:pt idx="0">
                  <c:v>0%</c:v>
                </c:pt>
                <c:pt idx="1">
                  <c:v>25%</c:v>
                </c:pt>
                <c:pt idx="2">
                  <c:v>50%</c:v>
                </c:pt>
                <c:pt idx="3">
                  <c:v>65%</c:v>
                </c:pt>
                <c:pt idx="4">
                  <c:v>75%</c:v>
                </c:pt>
                <c:pt idx="5">
                  <c:v>90%</c:v>
                </c:pt>
              </c:strCache>
            </c:strRef>
          </c:cat>
          <c:val>
            <c:numRef>
              <c:f>'Chart Data'!$B$2:$B$7</c:f>
              <c:numCache>
                <c:formatCode>0.0</c:formatCode>
                <c:ptCount val="6"/>
                <c:pt idx="0">
                  <c:v>234.454</c:v>
                </c:pt>
                <c:pt idx="1">
                  <c:v>203.375</c:v>
                </c:pt>
                <c:pt idx="2">
                  <c:v>157.654</c:v>
                </c:pt>
                <c:pt idx="3">
                  <c:v>115.306</c:v>
                </c:pt>
                <c:pt idx="4">
                  <c:v>95.556</c:v>
                </c:pt>
                <c:pt idx="5">
                  <c:v>69.029</c:v>
                </c:pt>
              </c:numCache>
            </c:numRef>
          </c:val>
          <c:smooth val="0"/>
        </c:ser>
        <c:ser>
          <c:idx val="1"/>
          <c:order val="1"/>
          <c:tx>
            <c:v>Allowed limit</c:v>
          </c:tx>
          <c:spPr>
            <a:solidFill xmlns:a="http://schemas.openxmlformats.org/drawingml/2006/main">
              <a:srgbClr val="BC6328"/>
            </a:solidFill>
          </c:spPr>
          <c:marker>
            <c:symbol val="none"/>
            <c:size val="6"/>
          </c:marker>
          <c:cat>
            <c:strRef>
              <c:f>'Chart Data'!$C$2:$C$7</c:f>
              <c:strCache>
                <c:ptCount val="6"/>
                <c:pt idx="0">
                  <c:v>0%</c:v>
                </c:pt>
                <c:pt idx="1">
                  <c:v>25%</c:v>
                </c:pt>
                <c:pt idx="2">
                  <c:v>50%</c:v>
                </c:pt>
                <c:pt idx="3">
                  <c:v>65%</c:v>
                </c:pt>
                <c:pt idx="4">
                  <c:v>75%</c:v>
                </c:pt>
                <c:pt idx="5">
                  <c:v>90%</c:v>
                </c:pt>
              </c:strCache>
            </c:strRef>
          </c:cat>
          <c:val>
            <c:numRef>
              <c:f>'Chart Data'!$D$2:$D$7</c:f>
              <c:numCache>
                <c:formatCode>0.0</c:formatCode>
                <c:ptCount val="6"/>
                <c:pt idx="0">
                  <c:v>100</c:v>
                </c:pt>
                <c:pt idx="1">
                  <c:v>100</c:v>
                </c:pt>
                <c:pt idx="2">
                  <c:v>100</c:v>
                </c:pt>
                <c:pt idx="3">
                  <c:v>100</c:v>
                </c:pt>
                <c:pt idx="4">
                  <c:v>100</c:v>
                </c:pt>
                <c:pt idx="5">
                  <c:v>100</c:v>
                </c:pt>
              </c:numCache>
            </c:numRef>
          </c:val>
          <c:smooth val="0"/>
        </c:ser>
        <c:dLbls>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max val="260"/>
          <c:min val="0"/>
        </c:scaling>
        <c:delete val="0"/>
        <c:axPos val="l"/>
        <c:majorGridlines>
          <c:spPr>
            <a:ln xmlns:a="http://schemas.openxmlformats.org/drawingml/2006/main" w="9525">
              <a:solidFill>
                <a:srgbClr val="D7E2E4"/>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Tie loading (% of rating)</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legend>
    <c:plotVisOnly val="1"/>
  </c:chart>
  <c:spPr>
    <a:solidFill xmlns:a="http://schemas.openxmlformats.org/drawingml/2006/main">
      <a:srgbClr val="FCFDFC"/>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Total service</c:v>
          </c:tx>
          <c:spPr>
            <a:solidFill xmlns:a="http://schemas.openxmlformats.org/drawingml/2006/main">
              <a:srgbClr val="007B7F"/>
            </a:solidFill>
          </c:spPr>
          <c:cat>
            <c:strRef>
              <c:f>'Chart Data'!$A$2:$A$7</c:f>
              <c:strCache>
                <c:ptCount val="6"/>
                <c:pt idx="0">
                  <c:v>0%</c:v>
                </c:pt>
                <c:pt idx="1">
                  <c:v>25%</c:v>
                </c:pt>
                <c:pt idx="2">
                  <c:v>50%</c:v>
                </c:pt>
                <c:pt idx="3">
                  <c:v>65%</c:v>
                </c:pt>
                <c:pt idx="4">
                  <c:v>75%</c:v>
                </c:pt>
                <c:pt idx="5">
                  <c:v>90%</c:v>
                </c:pt>
              </c:strCache>
            </c:strRef>
          </c:cat>
          <c:val>
            <c:numRef>
              <c:f>'Chart Data'!$B$2:$B$7</c:f>
              <c:numCache>
                <c:formatCode>0.0</c:formatCode>
                <c:ptCount val="6"/>
                <c:pt idx="0">
                  <c:v>4747.468</c:v>
                </c:pt>
                <c:pt idx="1">
                  <c:v>3980.1</c:v>
                </c:pt>
                <c:pt idx="2">
                  <c:v>3081.566</c:v>
                </c:pt>
                <c:pt idx="3">
                  <c:v>2182.472</c:v>
                </c:pt>
                <c:pt idx="4">
                  <c:v>1843.614</c:v>
                </c:pt>
                <c:pt idx="5">
                  <c:v>1242.777</c:v>
                </c:pt>
              </c:numCache>
            </c:numRef>
          </c:val>
        </c:ser>
        <c:ser>
          <c:idx val="1"/>
          <c:order val="1"/>
          <c:tx>
            <c:v>Critical service</c:v>
          </c:tx>
          <c:spPr>
            <a:solidFill xmlns:a="http://schemas.openxmlformats.org/drawingml/2006/main">
              <a:srgbClr val="BC6328"/>
            </a:solidFill>
          </c:spPr>
          <c:cat>
            <c:strRef>
              <c:f>'Chart Data'!$C$2:$C$7</c:f>
              <c:strCache>
                <c:ptCount val="6"/>
                <c:pt idx="0">
                  <c:v>0%</c:v>
                </c:pt>
                <c:pt idx="1">
                  <c:v>25%</c:v>
                </c:pt>
                <c:pt idx="2">
                  <c:v>50%</c:v>
                </c:pt>
                <c:pt idx="3">
                  <c:v>65%</c:v>
                </c:pt>
                <c:pt idx="4">
                  <c:v>75%</c:v>
                </c:pt>
                <c:pt idx="5">
                  <c:v>90%</c:v>
                </c:pt>
              </c:strCache>
            </c:strRef>
          </c:cat>
          <c:val>
            <c:numRef>
              <c:f>'Chart Data'!$D$2:$D$7</c:f>
              <c:numCache>
                <c:formatCode>0.0</c:formatCode>
                <c:ptCount val="6"/>
                <c:pt idx="0">
                  <c:v>474.04</c:v>
                </c:pt>
                <c:pt idx="1">
                  <c:v>474.04</c:v>
                </c:pt>
                <c:pt idx="2">
                  <c:v>474.04</c:v>
                </c:pt>
                <c:pt idx="3">
                  <c:v>474.04</c:v>
                </c:pt>
                <c:pt idx="4">
                  <c:v>474.04</c:v>
                </c:pt>
                <c:pt idx="5">
                  <c:v>474.04</c:v>
                </c:pt>
              </c:numCache>
            </c:numRef>
          </c:val>
        </c:ser>
        <c:dLbls>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max val="5500"/>
          <c:min val="0"/>
        </c:scaling>
        <c:delete val="0"/>
        <c:axPos val="l"/>
        <c:majorGridlines>
          <c:spPr>
            <a:ln xmlns:a="http://schemas.openxmlformats.org/drawingml/2006/main" w="9525">
              <a:solidFill>
                <a:srgbClr val="D7E2E4"/>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Nominal connected load (kW)</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legend>
    <c:plotVisOnly val="1"/>
  </c:chart>
  <c:spPr>
    <a:solidFill xmlns:a="http://schemas.openxmlformats.org/drawingml/2006/main">
      <a:srgbClr val="FCFDFC"/>
    </a:solidFill>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Voltage difference</c:v>
          </c:tx>
          <c:spPr>
            <a:solidFill xmlns:a="http://schemas.openxmlformats.org/drawingml/2006/main">
              <a:srgbClr val="007B7F"/>
            </a:solidFill>
          </c:spPr>
          <c:cat>
            <c:strRef>
              <c:f>'Chart Data'!$A$2:$A$4</c:f>
              <c:strCache>
                <c:ptCount val="3"/>
                <c:pt idx="0">
                  <c:v>Clean evidence</c:v>
                </c:pt>
                <c:pt idx="1">
                  <c:v>Tampered evidence</c:v>
                </c:pt>
                <c:pt idx="2">
                  <c:v>Review threshold</c:v>
                </c:pt>
              </c:strCache>
            </c:strRef>
          </c:cat>
          <c:val>
            <c:numRef>
              <c:f>'Chart Data'!$B$2:$B$4</c:f>
              <c:numCache>
                <c:formatCode>0.000</c:formatCode>
                <c:ptCount val="3"/>
                <c:pt idx="0">
                  <c:v>0</c:v>
                </c:pt>
                <c:pt idx="1">
                  <c:v>0.03</c:v>
                </c:pt>
                <c:pt idx="2">
                  <c:v>0.01</c:v>
                </c:pt>
              </c:numCache>
            </c:numRef>
          </c:val>
        </c:ser>
        <c:dLbls>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max val="0.04"/>
          <c:min val="0"/>
        </c:scaling>
        <c:delete val="0"/>
        <c:axPos val="l"/>
        <c:majorGridlines>
          <c:spPr>
            <a:ln xmlns:a="http://schemas.openxmlformats.org/drawingml/2006/main" w="9525">
              <a:solidFill>
                <a:srgbClr val="D7E2E4"/>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Absolute residual (per unit)</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valAx>
    </c:plotArea>
    <c:plotVisOnly val="1"/>
  </c:chart>
  <c:spPr>
    <a:solidFill xmlns:a="http://schemas.openxmlformats.org/drawingml/2006/main">
      <a:srgbClr val="FCFDFC"/>
    </a:solidFill>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Maximum voltage error</c:v>
          </c:tx>
          <c:spPr>
            <a:solidFill xmlns:a="http://schemas.openxmlformats.org/drawingml/2006/main">
              <a:srgbClr val="007B7F"/>
            </a:solidFill>
          </c:spPr>
          <c:cat>
            <c:strRef>
              <c:f>'Chart Data'!$A$2:$A$6</c:f>
              <c:strCache>
                <c:ptCount val="5"/>
                <c:pt idx="0">
                  <c:v>V1</c:v>
                </c:pt>
                <c:pt idx="1">
                  <c:v>V3</c:v>
                </c:pt>
                <c:pt idx="2">
                  <c:v>R1</c:v>
                </c:pt>
                <c:pt idx="3">
                  <c:v>R2</c:v>
                </c:pt>
                <c:pt idx="4">
                  <c:v>C3</c:v>
                </c:pt>
              </c:strCache>
            </c:strRef>
          </c:cat>
          <c:val>
            <c:numRef>
              <c:f>'Chart Data'!$B$2:$B$6</c:f>
              <c:numCache>
                <c:formatCode>0.00000</c:formatCode>
                <c:ptCount val="5"/>
                <c:pt idx="0">
                  <c:v>0.00172764</c:v>
                </c:pt>
                <c:pt idx="1">
                  <c:v>0.00050137</c:v>
                </c:pt>
                <c:pt idx="2">
                  <c:v>0.00079598</c:v>
                </c:pt>
                <c:pt idx="3">
                  <c:v>0.00041954</c:v>
                </c:pt>
                <c:pt idx="4">
                  <c:v>0.00172764</c:v>
                </c:pt>
              </c:numCache>
            </c:numRef>
          </c:val>
        </c:ser>
        <c:dLbls>
          <c:txPr>
            <a:bodyPr xmlns:a="http://schemas.openxmlformats.org/drawingml/2006/main" anchorCtr="1"/>
            <a:lstStyle xmlns:a="http://schemas.openxmlformats.org/drawingml/2006/main"/>
            <a:p xmlns:a="http://schemas.openxmlformats.org/drawingml/2006/main">
              <a:pPr>
                <a:defRPr sz="1725">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catAx>
      <c:valAx>
        <c:axId val="48672768"/>
        <c:scaling>
          <c:orientation val="minMax"/>
          <c:max val="0.002"/>
          <c:min val="0"/>
        </c:scaling>
        <c:delete val="0"/>
        <c:axPos val="l"/>
        <c:majorGridlines>
          <c:spPr>
            <a:ln xmlns:a="http://schemas.openxmlformats.org/drawingml/2006/main" w="9525">
              <a:solidFill>
                <a:srgbClr val="D7E2E4"/>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Maximum MV voltage error (pu)</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50112"/>
        <c:crossBetween val="between"/>
      </c:valAx>
    </c:plotArea>
    <c:plotVisOnly val="1"/>
  </c:chart>
  <c:spPr>
    <a:solidFill xmlns:a="http://schemas.openxmlformats.org/drawingml/2006/main">
      <a:srgbClr val="FCFDFC"/>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239146D-139B-49AA-BC6D-448036C59A19}"/>
              </a:ext>
            </a:extLst>
          </p:cNvPr>
          <p:cNvSpPr>
            <a:spLocks xmlns:a="http://schemas.openxmlformats.org/drawingml/2006/main" noGrp="1"/>
          </p:cNvSpPr>
          <p:nvPr/>
        </p:nvSpPr>
        <p:spPr>
          <a:xfrm xmlns:a="http://schemas.openxmlformats.org/drawingml/2006/main">
            <a:off x="628650" y="600075"/>
            <a:ext cx="1095375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050" b="1">
                <a:solidFill>
                  <a:srgbClr val="183D4B"/>
                </a:solidFill>
                <a:latin typeface="Arial"/>
                <a:ea typeface="Arial"/>
                <a:cs typeface="Arial"/>
              </a:defRPr>
            </a:pPr>
            <a:r>
              <a:rPr sz="4050" b="1">
                <a:solidFill>
                  <a:srgbClr val="183D4B"/>
                </a:solidFill>
                <a:latin typeface="Arial"/>
                <a:ea typeface="Arial"/>
                <a:cs typeface="Arial"/>
              </a:rPr>
              <a:t>Agentic workflows for</a:t>
            </a:r>
          </a:p>
          <a:p xmlns:a="http://schemas.openxmlformats.org/drawingml/2006/main">
            <a:pPr>
              <a:buNone/>
              <a:defRPr sz="4050" b="1">
                <a:solidFill>
                  <a:srgbClr val="183D4B"/>
                </a:solidFill>
                <a:latin typeface="Arial"/>
                <a:ea typeface="Arial"/>
                <a:cs typeface="Arial"/>
              </a:defRPr>
            </a:pPr>
            <a:r>
              <a:rPr sz="4050" b="1">
                <a:solidFill>
                  <a:srgbClr val="183D4B"/>
                </a:solidFill>
                <a:latin typeface="Arial"/>
                <a:ea typeface="Arial"/>
                <a:cs typeface="Arial"/>
              </a:rPr>
              <a:t>distribution-grid operators</a:t>
            </a:r>
          </a:p>
        </p:txBody>
      </p:sp>
      <p:sp>
        <p:nvSpPr>
          <p:cNvPr id="2" name="">
            <a:extLst xmlns:a="http://schemas.openxmlformats.org/drawingml/2006/main">
              <a:ext uri="{FF2B5EF4-FFF2-40B4-BE49-F238E27FC236}">
                <a16:creationId xmlns:a16="http://schemas.microsoft.com/office/drawing/2014/main" id="{50B76A35-F60D-4363-9038-7181F456144E}"/>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AA056155-6569-4935-8F82-743BA6355E13}"/>
              </a:ext>
            </a:extLst>
          </p:cNvPr>
          <p:cNvSpPr>
            <a:spLocks xmlns:a="http://schemas.openxmlformats.org/drawingml/2006/main" noGrp="1"/>
          </p:cNvSpPr>
          <p:nvPr/>
        </p:nvSpPr>
        <p:spPr>
          <a:xfrm xmlns:a="http://schemas.openxmlformats.org/drawingml/2006/main">
            <a:off x="704850" y="2714625"/>
            <a:ext cx="105727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75" b="1">
                <a:solidFill>
                  <a:srgbClr val="007B7F"/>
                </a:solidFill>
                <a:latin typeface="Arial"/>
                <a:ea typeface="Arial"/>
                <a:cs typeface="Arial"/>
              </a:defRPr>
            </a:pPr>
            <a:r>
              <a:rPr sz="3375" b="1">
                <a:solidFill>
                  <a:srgbClr val="007B7F"/>
                </a:solidFill>
                <a:latin typeface="Arial"/>
                <a:ea typeface="Arial"/>
                <a:cs typeface="Arial"/>
              </a:rPr>
              <a:t>MPC and DRL inside a verified operating workflow</a:t>
            </a:r>
          </a:p>
        </p:txBody>
      </p:sp>
      <p:sp>
        <p:nvSpPr>
          <p:cNvPr id="4" name="">
            <a:extLst xmlns:a="http://schemas.openxmlformats.org/drawingml/2006/main">
              <a:ext uri="{FF2B5EF4-FFF2-40B4-BE49-F238E27FC236}">
                <a16:creationId xmlns:a16="http://schemas.microsoft.com/office/drawing/2014/main" id="{04D3D71C-6525-4510-B19A-D2BD86971C50}"/>
              </a:ext>
            </a:extLst>
          </p:cNvPr>
          <p:cNvSpPr>
            <a:spLocks xmlns:a="http://schemas.openxmlformats.org/drawingml/2006/main" noGrp="1"/>
          </p:cNvSpPr>
          <p:nvPr/>
        </p:nvSpPr>
        <p:spPr>
          <a:xfrm xmlns:a="http://schemas.openxmlformats.org/drawingml/2006/main">
            <a:off x="704850" y="4838700"/>
            <a:ext cx="10620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526874"/>
                </a:solidFill>
                <a:latin typeface="Arial"/>
                <a:ea typeface="Arial"/>
                <a:cs typeface="Arial"/>
              </a:defRPr>
            </a:pPr>
            <a:r>
              <a:rPr sz="2100" b="0">
                <a:solidFill>
                  <a:srgbClr val="526874"/>
                </a:solidFill>
                <a:latin typeface="Arial"/>
                <a:ea typeface="Arial"/>
                <a:cs typeface="Arial"/>
              </a:rPr>
              <a:t>Three-hour hands-on tutorial</a:t>
            </a:r>
          </a:p>
          <a:p xmlns:a="http://schemas.openxmlformats.org/drawingml/2006/main">
            <a:pPr>
              <a:buNone/>
              <a:defRPr sz="2100" b="0">
                <a:solidFill>
                  <a:srgbClr val="526874"/>
                </a:solidFill>
                <a:latin typeface="Arial"/>
                <a:ea typeface="Arial"/>
                <a:cs typeface="Arial"/>
              </a:defRPr>
            </a:pPr>
            <a:r>
              <a:rPr sz="2100" b="0">
                <a:solidFill>
                  <a:srgbClr val="526874"/>
                </a:solidFill>
                <a:latin typeface="Arial"/>
                <a:ea typeface="Arial"/>
                <a:cs typeface="Arial"/>
              </a:rPr>
              <a:t>One synthetic Greensboro feeder</a:t>
            </a:r>
          </a:p>
        </p:txBody>
      </p:sp>
    </p:spTree>
    <p:extLst>
      <p:ext uri="{BB962C8B-B14F-4D97-AF65-F5344CB8AC3E}">
        <p14:creationId xmlns:p14="http://schemas.microsoft.com/office/powerpoint/2010/main" val="1543084714"/>
      </p:ext>
    </p:extLst>
  </p:cSld>
</p:sld>
</file>

<file path=ppt/slides/slide2.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0232673-CB85-4BE9-8361-311925B631C1}"/>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Where language assistance can add value</a:t>
            </a:r>
          </a:p>
        </p:txBody>
      </p:sp>
      <p:sp>
        <p:nvSpPr>
          <p:cNvPr id="2" name="">
            <a:extLst xmlns:a="http://schemas.openxmlformats.org/drawingml/2006/main">
              <a:ext uri="{FF2B5EF4-FFF2-40B4-BE49-F238E27FC236}">
                <a16:creationId xmlns:a16="http://schemas.microsoft.com/office/drawing/2014/main" id="{DB849DA2-7B59-4B94-A37F-45BDE64A190C}"/>
              </a:ext>
            </a:extLst>
          </p:cNvPr>
          <p:cNvSpPr>
            <a:spLocks xmlns:a="http://schemas.openxmlformats.org/drawingml/2006/main" noGrp="1"/>
          </p:cNvSpPr>
          <p:nvPr/>
        </p:nvSpPr>
        <p:spPr>
          <a:xfrm xmlns:a="http://schemas.openxmlformats.org/drawingml/2006/main">
            <a:off x="742950" y="1809750"/>
            <a:ext cx="10629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83D4B"/>
                </a:solidFill>
                <a:latin typeface="Arial"/>
                <a:ea typeface="Arial"/>
                <a:cs typeface="Arial"/>
              </a:defRPr>
            </a:pPr>
            <a:r>
              <a:rPr sz="2325" b="0">
                <a:solidFill>
                  <a:srgbClr val="183D4B"/>
                </a:solidFill>
                <a:latin typeface="Arial"/>
                <a:ea typeface="Arial"/>
                <a:cs typeface="Arial"/>
              </a:rPr>
              <a:t>Can Llama interpret varied operator wording with fewer requests for manual form entry?</a:t>
            </a:r>
          </a:p>
        </p:txBody>
      </p:sp>
      <p:sp>
        <p:nvSpPr>
          <p:cNvPr id="3" name="">
            <a:extLst xmlns:a="http://schemas.openxmlformats.org/drawingml/2006/main">
              <a:ext uri="{FF2B5EF4-FFF2-40B4-BE49-F238E27FC236}">
                <a16:creationId xmlns:a16="http://schemas.microsoft.com/office/drawing/2014/main" id="{FCABD66C-8F88-4789-A044-740DF8952710}"/>
              </a:ext>
            </a:extLst>
          </p:cNvPr>
          <p:cNvSpPr>
            <a:spLocks xmlns:a="http://schemas.openxmlformats.org/drawingml/2006/main" noGrp="1"/>
          </p:cNvSpPr>
          <p:nvPr/>
        </p:nvSpPr>
        <p:spPr>
          <a:xfrm xmlns:a="http://schemas.openxmlformats.org/drawingml/2006/main">
            <a:off x="742950" y="2952750"/>
            <a:ext cx="10629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83D4B"/>
                </a:solidFill>
                <a:latin typeface="Arial"/>
                <a:ea typeface="Arial"/>
                <a:cs typeface="Arial"/>
              </a:defRPr>
            </a:pPr>
            <a:r>
              <a:rPr sz="2325" b="0">
                <a:solidFill>
                  <a:srgbClr val="183D4B"/>
                </a:solidFill>
                <a:latin typeface="Arial"/>
                <a:ea typeface="Arial"/>
                <a:cs typeface="Arial"/>
              </a:rPr>
              <a:t>Can a bounded workflow recover after a tool fails or proposes an infeasible action?</a:t>
            </a:r>
          </a:p>
        </p:txBody>
      </p:sp>
      <p:sp>
        <p:nvSpPr>
          <p:cNvPr id="4" name="">
            <a:extLst xmlns:a="http://schemas.openxmlformats.org/drawingml/2006/main">
              <a:ext uri="{FF2B5EF4-FFF2-40B4-BE49-F238E27FC236}">
                <a16:creationId xmlns:a16="http://schemas.microsoft.com/office/drawing/2014/main" id="{BB6F437F-250F-40F6-ABFF-2166056A9DA1}"/>
              </a:ext>
            </a:extLst>
          </p:cNvPr>
          <p:cNvSpPr>
            <a:spLocks xmlns:a="http://schemas.openxmlformats.org/drawingml/2006/main" noGrp="1"/>
          </p:cNvSpPr>
          <p:nvPr/>
        </p:nvSpPr>
        <p:spPr>
          <a:xfrm xmlns:a="http://schemas.openxmlformats.org/drawingml/2006/main">
            <a:off x="742950" y="4095750"/>
            <a:ext cx="10629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83D4B"/>
                </a:solidFill>
                <a:latin typeface="Arial"/>
                <a:ea typeface="Arial"/>
                <a:cs typeface="Arial"/>
              </a:defRPr>
            </a:pPr>
            <a:r>
              <a:rPr sz="2325" b="0">
                <a:solidFill>
                  <a:srgbClr val="183D4B"/>
                </a:solidFill>
                <a:latin typeface="Arial"/>
                <a:ea typeface="Arial"/>
                <a:cs typeface="Arial"/>
              </a:rPr>
              <a:t>The comparisons keep the numerical tools and engineering checks fixed.</a:t>
            </a:r>
          </a:p>
        </p:txBody>
      </p:sp>
      <p:sp>
        <p:nvSpPr>
          <p:cNvPr id="5" name="">
            <a:extLst xmlns:a="http://schemas.openxmlformats.org/drawingml/2006/main">
              <a:ext uri="{FF2B5EF4-FFF2-40B4-BE49-F238E27FC236}">
                <a16:creationId xmlns:a16="http://schemas.microsoft.com/office/drawing/2014/main" id="{990C7127-76B9-475E-A53A-FC459DE46157}"/>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02</a:t>
            </a:r>
          </a:p>
        </p:txBody>
      </p:sp>
    </p:spTree>
    <p:extLst>
      <p:ext uri="{BB962C8B-B14F-4D97-AF65-F5344CB8AC3E}">
        <p14:creationId xmlns:p14="http://schemas.microsoft.com/office/powerpoint/2010/main" val="435172671"/>
      </p:ext>
    </p:extLst>
  </p:cSld>
</p:sld>
</file>

<file path=ppt/slides/slide3.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05ECC71-8955-4CE3-9C66-2359F367B0BE}"/>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The 180-minute route</a:t>
            </a:r>
          </a:p>
        </p:txBody>
      </p:sp>
      <p:sp>
        <p:nvSpPr>
          <p:cNvPr id="2" name="">
            <a:extLst xmlns:a="http://schemas.openxmlformats.org/drawingml/2006/main">
              <a:ext uri="{FF2B5EF4-FFF2-40B4-BE49-F238E27FC236}">
                <a16:creationId xmlns:a16="http://schemas.microsoft.com/office/drawing/2014/main" id="{E1A0A4D5-4BD5-45E7-ADA7-80831019D38F}"/>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03</a:t>
            </a:r>
          </a:p>
        </p:txBody>
      </p:sp>
      <p:graphicFrame>
        <p:nvGraphicFramePr>
          <p:cNvPr id="8" name=""/>
          <p:cNvGraphicFramePr/>
          <p:nvPr/>
        </p:nvGraphicFramePr>
        <p:xfrm>
          <a:off xmlns:a="http://schemas.openxmlformats.org/drawingml/2006/main" x="685800" y="1619250"/>
          <a:ext xmlns:a="http://schemas.openxmlformats.org/drawingml/2006/main" cx="10820400" cy="4476750"/>
        </p:xfrm>
        <a:graphic xmlns:a="http://schemas.openxmlformats.org/drawingml/2006/main">
          <a:graphicData uri="http://schemas.openxmlformats.org/drawingml/2006/table">
            <a:tbl>
              <a:tblPr/>
              <a:tblGrid>
                <a:gridCol w="2524125"/>
                <a:gridCol w="8296275"/>
              </a:tblGrid>
              <a:tr h="497417">
                <a:tc>
                  <a:txBody>
                    <a:bodyPr/>
                    <a:lstStyle/>
                    <a:p>
                      <a:r>
                        <a:rPr sz="1875" b="1">
                          <a:solidFill>
                            <a:srgbClr val="FFFFFF"/>
                          </a:solidFill>
                          <a:latin typeface="Arial"/>
                          <a:ea typeface="Arial"/>
                          <a:cs typeface="Arial"/>
                        </a:rPr>
                        <a:t>Time</a:t>
                      </a:r>
                    </a:p>
                  </a:txBody>
                  <a:tcPr marL="91440" marR="91440" marT="45720" marB="45720">
                    <a:solidFill>
                      <a:srgbClr val="183D4B"/>
                    </a:solidFill>
                  </a:tcPr>
                </a:tc>
                <a:tc>
                  <a:txBody>
                    <a:bodyPr/>
                    <a:lstStyle/>
                    <a:p>
                      <a:r>
                        <a:rPr sz="1875" b="1">
                          <a:solidFill>
                            <a:srgbClr val="FFFFFF"/>
                          </a:solidFill>
                          <a:latin typeface="Arial"/>
                          <a:ea typeface="Arial"/>
                          <a:cs typeface="Arial"/>
                        </a:rPr>
                        <a:t>Activity</a:t>
                      </a:r>
                    </a:p>
                  </a:txBody>
                  <a:tcPr marL="91440" marR="91440" marT="45720" marB="45720">
                    <a:solidFill>
                      <a:srgbClr val="183D4B"/>
                    </a:solidFill>
                  </a:tcPr>
                </a:tc>
              </a:tr>
              <a:tr h="497417">
                <a:tc>
                  <a:txBody>
                    <a:bodyPr/>
                    <a:lstStyle/>
                    <a:p>
                      <a:r>
                        <a:rPr sz="1875" b="0">
                          <a:solidFill>
                            <a:srgbClr val="183D4B"/>
                          </a:solidFill>
                          <a:latin typeface="Arial"/>
                          <a:ea typeface="Arial"/>
                          <a:cs typeface="Arial"/>
                        </a:rPr>
                        <a:t>00:00–00:15</a:t>
                      </a:r>
                    </a:p>
                  </a:txBody>
                  <a:tcPr marL="91440" marR="91440" marT="45720" marB="45720">
                    <a:solidFill>
                      <a:srgbClr val="FFFFFF"/>
                    </a:solidFill>
                  </a:tcPr>
                </a:tc>
                <a:tc>
                  <a:txBody>
                    <a:bodyPr/>
                    <a:lstStyle/>
                    <a:p>
                      <a:r>
                        <a:rPr sz="1875" b="0">
                          <a:solidFill>
                            <a:srgbClr val="183D4B"/>
                          </a:solidFill>
                          <a:latin typeface="Arial"/>
                          <a:ea typeface="Arial"/>
                          <a:cs typeface="Arial"/>
                        </a:rPr>
                        <a:t>Setup and smoke tests</a:t>
                      </a:r>
                    </a:p>
                  </a:txBody>
                  <a:tcPr marL="91440" marR="91440" marT="45720" marB="45720">
                    <a:solidFill>
                      <a:srgbClr val="FFFFFF"/>
                    </a:solidFill>
                  </a:tcPr>
                </a:tc>
              </a:tr>
              <a:tr h="497417">
                <a:tc>
                  <a:txBody>
                    <a:bodyPr/>
                    <a:lstStyle/>
                    <a:p>
                      <a:r>
                        <a:rPr sz="1875" b="0">
                          <a:solidFill>
                            <a:srgbClr val="183D4B"/>
                          </a:solidFill>
                          <a:latin typeface="Arial"/>
                          <a:ea typeface="Arial"/>
                          <a:cs typeface="Arial"/>
                        </a:rPr>
                        <a:t>00:15–00:35</a:t>
                      </a:r>
                    </a:p>
                  </a:txBody>
                  <a:tcPr marL="91440" marR="91440" marT="45720" marB="45720">
                    <a:solidFill>
                      <a:srgbClr val="EAF2F3"/>
                    </a:solidFill>
                  </a:tcPr>
                </a:tc>
                <a:tc>
                  <a:txBody>
                    <a:bodyPr/>
                    <a:lstStyle/>
                    <a:p>
                      <a:r>
                        <a:rPr sz="1875" b="0">
                          <a:solidFill>
                            <a:srgbClr val="183D4B"/>
                          </a:solidFill>
                          <a:latin typeface="Arial"/>
                          <a:ea typeface="Arial"/>
                          <a:cs typeface="Arial"/>
                        </a:rPr>
                        <a:t>One feeder and two model scopes</a:t>
                      </a:r>
                    </a:p>
                  </a:txBody>
                  <a:tcPr marL="91440" marR="91440" marT="45720" marB="45720">
                    <a:solidFill>
                      <a:srgbClr val="EAF2F3"/>
                    </a:solidFill>
                  </a:tcPr>
                </a:tc>
              </a:tr>
              <a:tr h="497417">
                <a:tc>
                  <a:txBody>
                    <a:bodyPr/>
                    <a:lstStyle/>
                    <a:p>
                      <a:r>
                        <a:rPr sz="1875" b="0">
                          <a:solidFill>
                            <a:srgbClr val="183D4B"/>
                          </a:solidFill>
                          <a:latin typeface="Arial"/>
                          <a:ea typeface="Arial"/>
                          <a:cs typeface="Arial"/>
                        </a:rPr>
                        <a:t>00:35–01:05</a:t>
                      </a:r>
                    </a:p>
                  </a:txBody>
                  <a:tcPr marL="91440" marR="91440" marT="45720" marB="45720">
                    <a:solidFill>
                      <a:srgbClr val="FFFFFF"/>
                    </a:solidFill>
                  </a:tcPr>
                </a:tc>
                <a:tc>
                  <a:txBody>
                    <a:bodyPr/>
                    <a:lstStyle/>
                    <a:p>
                      <a:r>
                        <a:rPr sz="1875" b="0">
                          <a:solidFill>
                            <a:srgbClr val="183D4B"/>
                          </a:solidFill>
                          <a:latin typeface="Arial"/>
                          <a:ea typeface="Arial"/>
                          <a:cs typeface="Arial"/>
                        </a:rPr>
                        <a:t>MPC and pretrained DRL tools</a:t>
                      </a:r>
                    </a:p>
                  </a:txBody>
                  <a:tcPr marL="91440" marR="91440" marT="45720" marB="45720">
                    <a:solidFill>
                      <a:srgbClr val="FFFFFF"/>
                    </a:solidFill>
                  </a:tcPr>
                </a:tc>
              </a:tr>
              <a:tr h="497417">
                <a:tc>
                  <a:txBody>
                    <a:bodyPr/>
                    <a:lstStyle/>
                    <a:p>
                      <a:r>
                        <a:rPr sz="1875" b="0">
                          <a:solidFill>
                            <a:srgbClr val="183D4B"/>
                          </a:solidFill>
                          <a:latin typeface="Arial"/>
                          <a:ea typeface="Arial"/>
                          <a:cs typeface="Arial"/>
                        </a:rPr>
                        <a:t>01:05–01:35</a:t>
                      </a:r>
                    </a:p>
                  </a:txBody>
                  <a:tcPr marL="91440" marR="91440" marT="45720" marB="45720">
                    <a:solidFill>
                      <a:srgbClr val="EAF2F3"/>
                    </a:solidFill>
                  </a:tcPr>
                </a:tc>
                <a:tc>
                  <a:txBody>
                    <a:bodyPr/>
                    <a:lstStyle/>
                    <a:p>
                      <a:r>
                        <a:rPr sz="1875" b="0">
                          <a:solidFill>
                            <a:srgbClr val="183D4B"/>
                          </a:solidFill>
                          <a:latin typeface="Arial"/>
                          <a:ea typeface="Arial"/>
                          <a:cs typeface="Arial"/>
                        </a:rPr>
                        <a:t>Request intake, selective Llama and recovery</a:t>
                      </a:r>
                    </a:p>
                  </a:txBody>
                  <a:tcPr marL="91440" marR="91440" marT="45720" marB="45720">
                    <a:solidFill>
                      <a:srgbClr val="EAF2F3"/>
                    </a:solidFill>
                  </a:tcPr>
                </a:tc>
              </a:tr>
              <a:tr h="497417">
                <a:tc>
                  <a:txBody>
                    <a:bodyPr/>
                    <a:lstStyle/>
                    <a:p>
                      <a:r>
                        <a:rPr sz="1875" b="0">
                          <a:solidFill>
                            <a:srgbClr val="183D4B"/>
                          </a:solidFill>
                          <a:latin typeface="Arial"/>
                          <a:ea typeface="Arial"/>
                          <a:cs typeface="Arial"/>
                        </a:rPr>
                        <a:t>01:35–01:45</a:t>
                      </a:r>
                    </a:p>
                  </a:txBody>
                  <a:tcPr marL="91440" marR="91440" marT="45720" marB="45720">
                    <a:solidFill>
                      <a:srgbClr val="FFFFFF"/>
                    </a:solidFill>
                  </a:tcPr>
                </a:tc>
                <a:tc>
                  <a:txBody>
                    <a:bodyPr/>
                    <a:lstStyle/>
                    <a:p>
                      <a:r>
                        <a:rPr sz="1875" b="0">
                          <a:solidFill>
                            <a:srgbClr val="183D4B"/>
                          </a:solidFill>
                          <a:latin typeface="Arial"/>
                          <a:ea typeface="Arial"/>
                          <a:cs typeface="Arial"/>
                        </a:rPr>
                        <a:t>Break</a:t>
                      </a:r>
                    </a:p>
                  </a:txBody>
                  <a:tcPr marL="91440" marR="91440" marT="45720" marB="45720">
                    <a:solidFill>
                      <a:srgbClr val="FFFFFF"/>
                    </a:solidFill>
                  </a:tcPr>
                </a:tc>
              </a:tr>
              <a:tr h="497417">
                <a:tc>
                  <a:txBody>
                    <a:bodyPr/>
                    <a:lstStyle/>
                    <a:p>
                      <a:r>
                        <a:rPr sz="1875" b="0">
                          <a:solidFill>
                            <a:srgbClr val="183D4B"/>
                          </a:solidFill>
                          <a:latin typeface="Arial"/>
                          <a:ea typeface="Arial"/>
                          <a:cs typeface="Arial"/>
                        </a:rPr>
                        <a:t>01:45–02:15</a:t>
                      </a:r>
                    </a:p>
                  </a:txBody>
                  <a:tcPr marL="91440" marR="91440" marT="45720" marB="45720">
                    <a:solidFill>
                      <a:srgbClr val="EAF2F3"/>
                    </a:solidFill>
                  </a:tcPr>
                </a:tc>
                <a:tc>
                  <a:txBody>
                    <a:bodyPr/>
                    <a:lstStyle/>
                    <a:p>
                      <a:r>
                        <a:rPr sz="1875" b="0">
                          <a:solidFill>
                            <a:srgbClr val="183D4B"/>
                          </a:solidFill>
                          <a:latin typeface="Arial"/>
                          <a:ea typeface="Arial"/>
                          <a:cs typeface="Arial"/>
                        </a:rPr>
                        <a:t>Two restoration cases</a:t>
                      </a:r>
                    </a:p>
                  </a:txBody>
                  <a:tcPr marL="91440" marR="91440" marT="45720" marB="45720">
                    <a:solidFill>
                      <a:srgbClr val="EAF2F3"/>
                    </a:solidFill>
                  </a:tcPr>
                </a:tc>
              </a:tr>
              <a:tr h="497417">
                <a:tc>
                  <a:txBody>
                    <a:bodyPr/>
                    <a:lstStyle/>
                    <a:p>
                      <a:r>
                        <a:rPr sz="1875" b="0">
                          <a:solidFill>
                            <a:srgbClr val="183D4B"/>
                          </a:solidFill>
                          <a:latin typeface="Arial"/>
                          <a:ea typeface="Arial"/>
                          <a:cs typeface="Arial"/>
                        </a:rPr>
                        <a:t>02:15–02:45</a:t>
                      </a:r>
                    </a:p>
                  </a:txBody>
                  <a:tcPr marL="91440" marR="91440" marT="45720" marB="45720">
                    <a:solidFill>
                      <a:srgbClr val="FFFFFF"/>
                    </a:solidFill>
                  </a:tcPr>
                </a:tc>
                <a:tc>
                  <a:txBody>
                    <a:bodyPr/>
                    <a:lstStyle/>
                    <a:p>
                      <a:r>
                        <a:rPr sz="1875" b="0">
                          <a:solidFill>
                            <a:srgbClr val="183D4B"/>
                          </a:solidFill>
                          <a:latin typeface="Arial"/>
                          <a:ea typeface="Arial"/>
                          <a:cs typeface="Arial"/>
                        </a:rPr>
                        <a:t>Evidence and cyber cases</a:t>
                      </a:r>
                    </a:p>
                  </a:txBody>
                  <a:tcPr marL="91440" marR="91440" marT="45720" marB="45720">
                    <a:solidFill>
                      <a:srgbClr val="FFFFFF"/>
                    </a:solidFill>
                  </a:tcPr>
                </a:tc>
              </a:tr>
              <a:tr h="497417">
                <a:tc>
                  <a:txBody>
                    <a:bodyPr/>
                    <a:lstStyle/>
                    <a:p>
                      <a:r>
                        <a:rPr sz="1875" b="0">
                          <a:solidFill>
                            <a:srgbClr val="183D4B"/>
                          </a:solidFill>
                          <a:latin typeface="Arial"/>
                          <a:ea typeface="Arial"/>
                          <a:cs typeface="Arial"/>
                        </a:rPr>
                        <a:t>02:45–03:00</a:t>
                      </a:r>
                    </a:p>
                  </a:txBody>
                  <a:tcPr marL="91440" marR="91440" marT="45720" marB="45720">
                    <a:solidFill>
                      <a:srgbClr val="EAF2F3"/>
                    </a:solidFill>
                  </a:tcPr>
                </a:tc>
                <a:tc>
                  <a:txBody>
                    <a:bodyPr/>
                    <a:lstStyle/>
                    <a:p>
                      <a:r>
                        <a:rPr sz="1875" b="0">
                          <a:solidFill>
                            <a:srgbClr val="183D4B"/>
                          </a:solidFill>
                          <a:latin typeface="Arial"/>
                          <a:ea typeface="Arial"/>
                          <a:cs typeface="Arial"/>
                        </a:rPr>
                        <a:t>Comparison, dashboard readback and final exercise</a:t>
                      </a:r>
                    </a:p>
                  </a:txBody>
                  <a:tcPr marL="91440" marR="91440" marT="45720" marB="45720">
                    <a:solidFill>
                      <a:srgbClr val="EAF2F3"/>
                    </a:solidFill>
                  </a:tcPr>
                </a:tc>
              </a:tr>
            </a:tbl>
          </a:graphicData>
        </a:graphic>
      </p:graphicFrame>
    </p:spTree>
    <p:extLst>
      <p:ext uri="{BB962C8B-B14F-4D97-AF65-F5344CB8AC3E}">
        <p14:creationId xmlns:p14="http://schemas.microsoft.com/office/powerpoint/2010/main" val="1550259887"/>
      </p:ext>
    </p:extLst>
  </p:cSld>
</p:sld>
</file>

<file path=ppt/slides/slide4.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8ADCC98-0E2E-4278-A167-FF0E3023087E}"/>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D4B"/>
                </a:solidFill>
                <a:latin typeface="Arial"/>
                <a:ea typeface="Arial"/>
                <a:cs typeface="Arial"/>
              </a:defRPr>
            </a:pPr>
            <a:r>
              <a:rPr sz="3225" b="1">
                <a:solidFill>
                  <a:srgbClr val="183D4B"/>
                </a:solidFill>
                <a:latin typeface="Arial"/>
                <a:ea typeface="Arial"/>
                <a:cs typeface="Arial"/>
              </a:rPr>
              <a:t>Prerequisites and first checks</a:t>
            </a:r>
          </a:p>
        </p:txBody>
      </p:sp>
      <p:sp>
        <p:nvSpPr>
          <p:cNvPr id="2" name="">
            <a:extLst xmlns:a="http://schemas.openxmlformats.org/drawingml/2006/main">
              <a:ext uri="{FF2B5EF4-FFF2-40B4-BE49-F238E27FC236}">
                <a16:creationId xmlns:a16="http://schemas.microsoft.com/office/drawing/2014/main" id="{743C1B3B-87F7-4212-A468-2B7CADF9743D}"/>
              </a:ext>
            </a:extLst>
          </p:cNvPr>
          <p:cNvSpPr>
            <a:spLocks xmlns:a="http://schemas.openxmlformats.org/drawingml/2006/main" noGrp="1"/>
          </p:cNvSpPr>
          <p:nvPr/>
        </p:nvSpPr>
        <p:spPr>
          <a:xfrm xmlns:a="http://schemas.openxmlformats.org/drawingml/2006/main">
            <a:off x="742950" y="1809750"/>
            <a:ext cx="10629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D4B"/>
                </a:solidFill>
                <a:latin typeface="Arial"/>
                <a:ea typeface="Arial"/>
                <a:cs typeface="Arial"/>
              </a:defRPr>
            </a:pPr>
            <a:r>
              <a:rPr sz="2250" b="0">
                <a:solidFill>
                  <a:srgbClr val="183D4B"/>
                </a:solidFill>
                <a:latin typeface="Arial"/>
                <a:ea typeface="Arial"/>
                <a:cs typeface="Arial"/>
              </a:rPr>
              <a:t>Choose Workflow_OpenDSS.ipynb or Workflow_LinDistFlow3.ipynb.</a:t>
            </a:r>
          </a:p>
        </p:txBody>
      </p:sp>
      <p:sp>
        <p:nvSpPr>
          <p:cNvPr id="3" name="">
            <a:extLst xmlns:a="http://schemas.openxmlformats.org/drawingml/2006/main">
              <a:ext uri="{FF2B5EF4-FFF2-40B4-BE49-F238E27FC236}">
                <a16:creationId xmlns:a16="http://schemas.microsoft.com/office/drawing/2014/main" id="{E5BF6492-09C7-41DA-B6B7-45DD894BAE17}"/>
              </a:ext>
            </a:extLst>
          </p:cNvPr>
          <p:cNvSpPr>
            <a:spLocks xmlns:a="http://schemas.openxmlformats.org/drawingml/2006/main" noGrp="1"/>
          </p:cNvSpPr>
          <p:nvPr/>
        </p:nvSpPr>
        <p:spPr>
          <a:xfrm xmlns:a="http://schemas.openxmlformats.org/drawingml/2006/main">
            <a:off x="742950" y="2952750"/>
            <a:ext cx="10629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D4B"/>
                </a:solidFill>
                <a:latin typeface="Arial"/>
                <a:ea typeface="Arial"/>
                <a:cs typeface="Arial"/>
              </a:defRPr>
            </a:pPr>
            <a:r>
              <a:rPr sz="2250" b="0">
                <a:solidFill>
                  <a:srgbClr val="183D4B"/>
                </a:solidFill>
                <a:latin typeface="Arial"/>
                <a:ea typeface="Arial"/>
                <a:cs typeface="Arial"/>
              </a:rPr>
              <a:t>Run the selected model smoke test and the local Llama check.</a:t>
            </a:r>
          </a:p>
        </p:txBody>
      </p:sp>
      <p:sp>
        <p:nvSpPr>
          <p:cNvPr id="4" name="">
            <a:extLst xmlns:a="http://schemas.openxmlformats.org/drawingml/2006/main">
              <a:ext uri="{FF2B5EF4-FFF2-40B4-BE49-F238E27FC236}">
                <a16:creationId xmlns:a16="http://schemas.microsoft.com/office/drawing/2014/main" id="{69DC1118-0B8D-4148-9792-B2800F258AEF}"/>
              </a:ext>
            </a:extLst>
          </p:cNvPr>
          <p:cNvSpPr>
            <a:spLocks xmlns:a="http://schemas.openxmlformats.org/drawingml/2006/main" noGrp="1"/>
          </p:cNvSpPr>
          <p:nvPr/>
        </p:nvSpPr>
        <p:spPr>
          <a:xfrm xmlns:a="http://schemas.openxmlformats.org/drawingml/2006/main">
            <a:off x="742950" y="4095750"/>
            <a:ext cx="10629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D4B"/>
                </a:solidFill>
                <a:latin typeface="Arial"/>
                <a:ea typeface="Arial"/>
                <a:cs typeface="Arial"/>
              </a:defRPr>
            </a:pPr>
            <a:r>
              <a:rPr sz="2250" b="0">
                <a:solidFill>
                  <a:srgbClr val="183D4B"/>
                </a:solidFill>
                <a:latin typeface="Arial"/>
                <a:ea typeface="Arial"/>
                <a:cs typeface="Arial"/>
              </a:rPr>
              <a:t>Use saved comparisons for the other model. Keep LIVE or REPLAY visible.</a:t>
            </a:r>
          </a:p>
        </p:txBody>
      </p:sp>
      <p:sp>
        <p:nvSpPr>
          <p:cNvPr id="5" name="">
            <a:extLst xmlns:a="http://schemas.openxmlformats.org/drawingml/2006/main">
              <a:ext uri="{FF2B5EF4-FFF2-40B4-BE49-F238E27FC236}">
                <a16:creationId xmlns:a16="http://schemas.microsoft.com/office/drawing/2014/main" id="{6F7FBB45-2E6B-4846-A145-91F96A473086}"/>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874"/>
                </a:solidFill>
                <a:latin typeface="Arial"/>
                <a:ea typeface="Arial"/>
                <a:cs typeface="Arial"/>
              </a:defRPr>
            </a:pPr>
            <a:r>
              <a:rPr sz="1575" b="0">
                <a:solidFill>
                  <a:srgbClr val="526874"/>
                </a:solidFill>
                <a:latin typeface="Arial"/>
                <a:ea typeface="Arial"/>
                <a:cs typeface="Arial"/>
              </a:rPr>
              <a:t>The independent LinDistFlow route runs without OpenDSS. Installation steps are in README.md.</a:t>
            </a:r>
          </a:p>
        </p:txBody>
      </p:sp>
      <p:sp>
        <p:nvSpPr>
          <p:cNvPr id="6" name="">
            <a:extLst xmlns:a="http://schemas.openxmlformats.org/drawingml/2006/main">
              <a:ext uri="{FF2B5EF4-FFF2-40B4-BE49-F238E27FC236}">
                <a16:creationId xmlns:a16="http://schemas.microsoft.com/office/drawing/2014/main" id="{F8A765E4-48B4-40B8-ACCB-DABBF983E3C9}"/>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874"/>
                </a:solidFill>
                <a:latin typeface="Arial"/>
                <a:ea typeface="Arial"/>
                <a:cs typeface="Arial"/>
              </a:defRPr>
            </a:pPr>
            <a:r>
              <a:rPr sz="1275" b="0">
                <a:solidFill>
                  <a:srgbClr val="526874"/>
                </a:solidFill>
                <a:latin typeface="Arial"/>
                <a:ea typeface="Arial"/>
                <a:cs typeface="Arial"/>
              </a:rPr>
              <a:t>04</a:t>
            </a:r>
          </a:p>
        </p:txBody>
      </p:sp>
    </p:spTree>
    <p:extLst>
      <p:ext uri="{BB962C8B-B14F-4D97-AF65-F5344CB8AC3E}">
        <p14:creationId xmlns:p14="http://schemas.microsoft.com/office/powerpoint/2010/main" val="105883081"/>
      </p:ext>
    </p:extLst>
  </p:cSld>
</p:sld>
</file>

<file path=ppt/slides/slide5.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8EF7A29-E626-4F01-A5F7-5A6E268C53BE}"/>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One synthetic Greensboro feeder</a:t>
            </a:r>
          </a:p>
        </p:txBody>
      </p:sp>
      <p:sp>
        <p:nvSpPr>
          <p:cNvPr id="2" name="">
            <a:extLst xmlns:a="http://schemas.openxmlformats.org/drawingml/2006/main">
              <a:ext uri="{FF2B5EF4-FFF2-40B4-BE49-F238E27FC236}">
                <a16:creationId xmlns:a16="http://schemas.microsoft.com/office/drawing/2014/main" id="{809085FC-D51A-4887-93D6-43A563C6E247}"/>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05</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30e5a8300e5d46eb"/>
          <a:stretch xmlns:a="http://schemas.openxmlformats.org/drawingml/2006/main"/>
        </p:blipFill>
        <p:spPr>
          <a:xfrm xmlns:a="http://schemas.openxmlformats.org/drawingml/2006/main">
            <a:off x="1512733" y="1685925"/>
            <a:ext cx="5775633" cy="40100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285CEB6-67DC-423D-8FF7-E8435434BAF3}"/>
              </a:ext>
            </a:extLst>
          </p:cNvPr>
          <p:cNvSpPr>
            <a:spLocks xmlns:a="http://schemas.openxmlformats.org/drawingml/2006/main" noGrp="1"/>
          </p:cNvSpPr>
          <p:nvPr/>
        </p:nvSpPr>
        <p:spPr>
          <a:xfrm xmlns:a="http://schemas.openxmlformats.org/drawingml/2006/main">
            <a:off x="8429625" y="197167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183D4B"/>
                </a:solidFill>
                <a:latin typeface="Arial"/>
                <a:ea typeface="Arial"/>
                <a:cs typeface="Arial"/>
              </a:defRPr>
            </a:pPr>
            <a:r>
              <a:rPr sz="2100" b="1">
                <a:solidFill>
                  <a:srgbClr val="183D4B"/>
                </a:solidFill>
                <a:latin typeface="Arial"/>
                <a:ea typeface="Arial"/>
                <a:cs typeface="Arial"/>
              </a:rPr>
              <a:t>2,173 load objects</a:t>
            </a:r>
          </a:p>
        </p:txBody>
      </p:sp>
      <p:sp>
        <p:nvSpPr>
          <p:cNvPr id="5" name="">
            <a:extLst xmlns:a="http://schemas.openxmlformats.org/drawingml/2006/main">
              <a:ext uri="{FF2B5EF4-FFF2-40B4-BE49-F238E27FC236}">
                <a16:creationId xmlns:a16="http://schemas.microsoft.com/office/drawing/2014/main" id="{B8D0D177-93E0-46CD-A905-6941E0686A08}"/>
              </a:ext>
            </a:extLst>
          </p:cNvPr>
          <p:cNvSpPr>
            <a:spLocks xmlns:a="http://schemas.openxmlformats.org/drawingml/2006/main" noGrp="1"/>
          </p:cNvSpPr>
          <p:nvPr/>
        </p:nvSpPr>
        <p:spPr>
          <a:xfrm xmlns:a="http://schemas.openxmlformats.org/drawingml/2006/main">
            <a:off x="8429625" y="2781300"/>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83D4B"/>
                </a:solidFill>
                <a:latin typeface="Arial"/>
                <a:ea typeface="Arial"/>
                <a:cs typeface="Arial"/>
              </a:defRPr>
            </a:pPr>
            <a:r>
              <a:rPr sz="2100" b="0">
                <a:solidFill>
                  <a:srgbClr val="183D4B"/>
                </a:solidFill>
                <a:latin typeface="Arial"/>
                <a:ea typeface="Arial"/>
                <a:cs typeface="Arial"/>
              </a:rPr>
              <a:t>930 PV systems</a:t>
            </a:r>
          </a:p>
        </p:txBody>
      </p:sp>
      <p:sp>
        <p:nvSpPr>
          <p:cNvPr id="6" name="">
            <a:extLst xmlns:a="http://schemas.openxmlformats.org/drawingml/2006/main">
              <a:ext uri="{FF2B5EF4-FFF2-40B4-BE49-F238E27FC236}">
                <a16:creationId xmlns:a16="http://schemas.microsoft.com/office/drawing/2014/main" id="{3EACD8B3-9C27-4D05-80E5-43C6FB984445}"/>
              </a:ext>
            </a:extLst>
          </p:cNvPr>
          <p:cNvSpPr>
            <a:spLocks xmlns:a="http://schemas.openxmlformats.org/drawingml/2006/main" noGrp="1"/>
          </p:cNvSpPr>
          <p:nvPr/>
        </p:nvSpPr>
        <p:spPr>
          <a:xfrm xmlns:a="http://schemas.openxmlformats.org/drawingml/2006/main">
            <a:off x="8429625" y="359092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83D4B"/>
                </a:solidFill>
                <a:latin typeface="Arial"/>
                <a:ea typeface="Arial"/>
                <a:cs typeface="Arial"/>
              </a:defRPr>
            </a:pPr>
            <a:r>
              <a:rPr sz="2100" b="0">
                <a:solidFill>
                  <a:srgbClr val="183D4B"/>
                </a:solidFill>
                <a:latin typeface="Arial"/>
                <a:ea typeface="Arial"/>
                <a:cs typeface="Arial"/>
              </a:rPr>
              <a:t>436 storage units, held idle</a:t>
            </a:r>
          </a:p>
        </p:txBody>
      </p:sp>
      <p:sp>
        <p:nvSpPr>
          <p:cNvPr id="7" name="">
            <a:extLst xmlns:a="http://schemas.openxmlformats.org/drawingml/2006/main">
              <a:ext uri="{FF2B5EF4-FFF2-40B4-BE49-F238E27FC236}">
                <a16:creationId xmlns:a16="http://schemas.microsoft.com/office/drawing/2014/main" id="{E9E30745-9EFD-4D67-A8ED-4516F1F1F91F}"/>
              </a:ext>
            </a:extLst>
          </p:cNvPr>
          <p:cNvSpPr>
            <a:spLocks xmlns:a="http://schemas.openxmlformats.org/drawingml/2006/main" noGrp="1"/>
          </p:cNvSpPr>
          <p:nvPr/>
        </p:nvSpPr>
        <p:spPr>
          <a:xfrm xmlns:a="http://schemas.openxmlformats.org/drawingml/2006/main">
            <a:off x="8429625" y="4400550"/>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83D4B"/>
                </a:solidFill>
                <a:latin typeface="Arial"/>
                <a:ea typeface="Arial"/>
                <a:cs typeface="Arial"/>
              </a:defRPr>
            </a:pPr>
            <a:r>
              <a:rPr sz="2100" b="0">
                <a:solidFill>
                  <a:srgbClr val="183D4B"/>
                </a:solidFill>
                <a:latin typeface="Arial"/>
                <a:ea typeface="Arial"/>
                <a:cs typeface="Arial"/>
              </a:rPr>
              <a:t>12.47 kV source</a:t>
            </a:r>
          </a:p>
        </p:txBody>
      </p:sp>
      <p:sp>
        <p:nvSpPr>
          <p:cNvPr id="8" name="">
            <a:extLst xmlns:a="http://schemas.openxmlformats.org/drawingml/2006/main">
              <a:ext uri="{FF2B5EF4-FFF2-40B4-BE49-F238E27FC236}">
                <a16:creationId xmlns:a16="http://schemas.microsoft.com/office/drawing/2014/main" id="{44E0DBF1-E316-4661-918F-DECA0DF4626D}"/>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SMART-DS feeder udt8894. Synthetic model and teaching scenarios.</a:t>
            </a:r>
          </a:p>
        </p:txBody>
      </p:sp>
    </p:spTree>
    <p:extLst>
      <p:ext uri="{BB962C8B-B14F-4D97-AF65-F5344CB8AC3E}">
        <p14:creationId xmlns:p14="http://schemas.microsoft.com/office/powerpoint/2010/main" val="126832913"/>
      </p:ext>
    </p:extLst>
  </p:cSld>
</p:sld>
</file>

<file path=ppt/slides/slide6.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C95E507-08E5-469D-A670-FA3217418B0E}"/>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Model assumptions</a:t>
            </a:r>
          </a:p>
        </p:txBody>
      </p:sp>
      <p:sp>
        <p:nvSpPr>
          <p:cNvPr id="2" name="">
            <a:extLst xmlns:a="http://schemas.openxmlformats.org/drawingml/2006/main">
              <a:ext uri="{FF2B5EF4-FFF2-40B4-BE49-F238E27FC236}">
                <a16:creationId xmlns:a16="http://schemas.microsoft.com/office/drawing/2014/main" id="{F27511BE-5BE8-4A1C-9D06-B42A93BA5368}"/>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06</a:t>
            </a:r>
          </a:p>
        </p:txBody>
      </p:sp>
      <p:graphicFrame>
        <p:nvGraphicFramePr>
          <p:cNvPr id="9" name=""/>
          <p:cNvGraphicFramePr/>
          <p:nvPr/>
        </p:nvGraphicFramePr>
        <p:xfrm>
          <a:off xmlns:a="http://schemas.openxmlformats.org/drawingml/2006/main" x="685800" y="1619250"/>
          <a:ext xmlns:a="http://schemas.openxmlformats.org/drawingml/2006/main" cx="10820400" cy="3943350"/>
        </p:xfrm>
        <a:graphic xmlns:a="http://schemas.openxmlformats.org/drawingml/2006/main">
          <a:graphicData uri="http://schemas.openxmlformats.org/drawingml/2006/table">
            <a:tbl>
              <a:tblPr/>
              <a:tblGrid>
                <a:gridCol w="3048000"/>
                <a:gridCol w="7772400"/>
              </a:tblGrid>
              <a:tr h="563336">
                <a:tc>
                  <a:txBody>
                    <a:bodyPr/>
                    <a:lstStyle/>
                    <a:p>
                      <a:r>
                        <a:rPr sz="1950" b="1">
                          <a:solidFill>
                            <a:srgbClr val="FFFFFF"/>
                          </a:solidFill>
                          <a:latin typeface="Arial"/>
                          <a:ea typeface="Arial"/>
                          <a:cs typeface="Arial"/>
                        </a:rPr>
                        <a:t>Element</a:t>
                      </a:r>
                    </a:p>
                  </a:txBody>
                  <a:tcPr marL="91440" marR="91440" marT="45720" marB="45720">
                    <a:solidFill>
                      <a:srgbClr val="183D4B"/>
                    </a:solidFill>
                  </a:tcPr>
                </a:tc>
                <a:tc>
                  <a:txBody>
                    <a:bodyPr/>
                    <a:lstStyle/>
                    <a:p>
                      <a:r>
                        <a:rPr sz="1950" b="1">
                          <a:solidFill>
                            <a:srgbClr val="FFFFFF"/>
                          </a:solidFill>
                          <a:latin typeface="Arial"/>
                          <a:ea typeface="Arial"/>
                          <a:cs typeface="Arial"/>
                        </a:rPr>
                        <a:t>Teaching choice</a:t>
                      </a:r>
                    </a:p>
                  </a:txBody>
                  <a:tcPr marL="91440" marR="91440" marT="45720" marB="45720">
                    <a:solidFill>
                      <a:srgbClr val="183D4B"/>
                    </a:solidFill>
                  </a:tcPr>
                </a:tc>
              </a:tr>
              <a:tr h="563336">
                <a:tc>
                  <a:txBody>
                    <a:bodyPr/>
                    <a:lstStyle/>
                    <a:p>
                      <a:r>
                        <a:rPr sz="1950" b="0">
                          <a:solidFill>
                            <a:srgbClr val="183D4B"/>
                          </a:solidFill>
                          <a:latin typeface="Arial"/>
                          <a:ea typeface="Arial"/>
                          <a:cs typeface="Arial"/>
                        </a:rPr>
                        <a:t>Power flow</a:t>
                      </a:r>
                    </a:p>
                  </a:txBody>
                  <a:tcPr marL="91440" marR="91440" marT="45720" marB="45720">
                    <a:solidFill>
                      <a:srgbClr val="FFFFFF"/>
                    </a:solidFill>
                  </a:tcPr>
                </a:tc>
                <a:tc>
                  <a:txBody>
                    <a:bodyPr/>
                    <a:lstStyle/>
                    <a:p>
                      <a:r>
                        <a:rPr sz="1950" b="0">
                          <a:solidFill>
                            <a:srgbClr val="183D4B"/>
                          </a:solidFill>
                          <a:latin typeface="Arial"/>
                          <a:ea typeface="Arial"/>
                          <a:cs typeface="Arial"/>
                        </a:rPr>
                        <a:t>OpenDSS AC or MV three-phase LinDistFlow</a:t>
                      </a:r>
                    </a:p>
                  </a:txBody>
                  <a:tcPr marL="91440" marR="91440" marT="45720" marB="45720">
                    <a:solidFill>
                      <a:srgbClr val="FFFFFF"/>
                    </a:solidFill>
                  </a:tcPr>
                </a:tc>
              </a:tr>
              <a:tr h="563336">
                <a:tc>
                  <a:txBody>
                    <a:bodyPr/>
                    <a:lstStyle/>
                    <a:p>
                      <a:r>
                        <a:rPr sz="1950" b="0">
                          <a:solidFill>
                            <a:srgbClr val="183D4B"/>
                          </a:solidFill>
                          <a:latin typeface="Arial"/>
                          <a:ea typeface="Arial"/>
                          <a:cs typeface="Arial"/>
                        </a:rPr>
                        <a:t>Voltage action</a:t>
                      </a:r>
                    </a:p>
                  </a:txBody>
                  <a:tcPr marL="91440" marR="91440" marT="45720" marB="45720">
                    <a:solidFill>
                      <a:srgbClr val="EAF2F3"/>
                    </a:solidFill>
                  </a:tcPr>
                </a:tc>
                <a:tc>
                  <a:txBody>
                    <a:bodyPr/>
                    <a:lstStyle/>
                    <a:p>
                      <a:r>
                        <a:rPr sz="1950" b="0">
                          <a:solidFill>
                            <a:srgbClr val="183D4B"/>
                          </a:solidFill>
                          <a:latin typeface="Arial"/>
                          <a:ea typeface="Arial"/>
                          <a:cs typeface="Arial"/>
                        </a:rPr>
                        <a:t>A common active-power PV cap</a:t>
                      </a:r>
                    </a:p>
                  </a:txBody>
                  <a:tcPr marL="91440" marR="91440" marT="45720" marB="45720">
                    <a:solidFill>
                      <a:srgbClr val="EAF2F3"/>
                    </a:solidFill>
                  </a:tcPr>
                </a:tc>
              </a:tr>
              <a:tr h="563336">
                <a:tc>
                  <a:txBody>
                    <a:bodyPr/>
                    <a:lstStyle/>
                    <a:p>
                      <a:r>
                        <a:rPr sz="1950" b="0">
                          <a:solidFill>
                            <a:srgbClr val="183D4B"/>
                          </a:solidFill>
                          <a:latin typeface="Arial"/>
                          <a:ea typeface="Arial"/>
                          <a:cs typeface="Arial"/>
                        </a:rPr>
                        <a:t>PV action set</a:t>
                      </a:r>
                    </a:p>
                  </a:txBody>
                  <a:tcPr marL="91440" marR="91440" marT="45720" marB="45720">
                    <a:solidFill>
                      <a:srgbClr val="FFFFFF"/>
                    </a:solidFill>
                  </a:tcPr>
                </a:tc>
                <a:tc>
                  <a:txBody>
                    <a:bodyPr/>
                    <a:lstStyle/>
                    <a:p>
                      <a:r>
                        <a:rPr sz="1950" b="0">
                          <a:solidFill>
                            <a:srgbClr val="183D4B"/>
                          </a:solidFill>
                          <a:latin typeface="Arial"/>
                          <a:ea typeface="Arial"/>
                          <a:cs typeface="Arial"/>
                        </a:rPr>
                        <a:t>0, 10, 20, 30, 40, 60, 80, 100%</a:t>
                      </a:r>
                    </a:p>
                  </a:txBody>
                  <a:tcPr marL="91440" marR="91440" marT="45720" marB="45720">
                    <a:solidFill>
                      <a:srgbClr val="FFFFFF"/>
                    </a:solidFill>
                  </a:tcPr>
                </a:tc>
              </a:tr>
              <a:tr h="563336">
                <a:tc>
                  <a:txBody>
                    <a:bodyPr/>
                    <a:lstStyle/>
                    <a:p>
                      <a:r>
                        <a:rPr sz="1950" b="0">
                          <a:solidFill>
                            <a:srgbClr val="183D4B"/>
                          </a:solidFill>
                          <a:latin typeface="Arial"/>
                          <a:ea typeface="Arial"/>
                          <a:cs typeface="Arial"/>
                        </a:rPr>
                        <a:t>Voltage limits</a:t>
                      </a:r>
                    </a:p>
                  </a:txBody>
                  <a:tcPr marL="91440" marR="91440" marT="45720" marB="45720">
                    <a:solidFill>
                      <a:srgbClr val="EAF2F3"/>
                    </a:solidFill>
                  </a:tcPr>
                </a:tc>
                <a:tc>
                  <a:txBody>
                    <a:bodyPr/>
                    <a:lstStyle/>
                    <a:p>
                      <a:r>
                        <a:rPr sz="1950" b="0">
                          <a:solidFill>
                            <a:srgbClr val="183D4B"/>
                          </a:solidFill>
                          <a:latin typeface="Arial"/>
                          <a:ea typeface="Arial"/>
                          <a:cs typeface="Arial"/>
                        </a:rPr>
                        <a:t>0.95 to 1.05 per unit</a:t>
                      </a:r>
                    </a:p>
                  </a:txBody>
                  <a:tcPr marL="91440" marR="91440" marT="45720" marB="45720">
                    <a:solidFill>
                      <a:srgbClr val="EAF2F3"/>
                    </a:solidFill>
                  </a:tcPr>
                </a:tc>
              </a:tr>
              <a:tr h="563336">
                <a:tc>
                  <a:txBody>
                    <a:bodyPr/>
                    <a:lstStyle/>
                    <a:p>
                      <a:r>
                        <a:rPr sz="1950" b="0">
                          <a:solidFill>
                            <a:srgbClr val="183D4B"/>
                          </a:solidFill>
                          <a:latin typeface="Arial"/>
                          <a:ea typeface="Arial"/>
                          <a:cs typeface="Arial"/>
                        </a:rPr>
                        <a:t>Thermal check</a:t>
                      </a:r>
                    </a:p>
                  </a:txBody>
                  <a:tcPr marL="91440" marR="91440" marT="45720" marB="45720">
                    <a:solidFill>
                      <a:srgbClr val="FFFFFF"/>
                    </a:solidFill>
                  </a:tcPr>
                </a:tc>
                <a:tc>
                  <a:txBody>
                    <a:bodyPr/>
                    <a:lstStyle/>
                    <a:p>
                      <a:r>
                        <a:rPr sz="1950" b="0">
                          <a:solidFill>
                            <a:srgbClr val="183D4B"/>
                          </a:solidFill>
                          <a:latin typeface="Arial"/>
                          <a:ea typeface="Arial"/>
                          <a:cs typeface="Arial"/>
                        </a:rPr>
                        <a:t>Line current in the declared model scope</a:t>
                      </a:r>
                    </a:p>
                  </a:txBody>
                  <a:tcPr marL="91440" marR="91440" marT="45720" marB="45720">
                    <a:solidFill>
                      <a:srgbClr val="FFFFFF"/>
                    </a:solidFill>
                  </a:tcPr>
                </a:tc>
              </a:tr>
              <a:tr h="563336">
                <a:tc>
                  <a:txBody>
                    <a:bodyPr/>
                    <a:lstStyle/>
                    <a:p>
                      <a:r>
                        <a:rPr sz="1950" b="0">
                          <a:solidFill>
                            <a:srgbClr val="183D4B"/>
                          </a:solidFill>
                          <a:latin typeface="Arial"/>
                          <a:ea typeface="Arial"/>
                          <a:cs typeface="Arial"/>
                        </a:rPr>
                        <a:t>Restoration assets</a:t>
                      </a:r>
                    </a:p>
                  </a:txBody>
                  <a:tcPr marL="91440" marR="91440" marT="45720" marB="45720">
                    <a:solidFill>
                      <a:srgbClr val="EAF2F3"/>
                    </a:solidFill>
                  </a:tcPr>
                </a:tc>
                <a:tc>
                  <a:txBody>
                    <a:bodyPr/>
                    <a:lstStyle/>
                    <a:p>
                      <a:r>
                        <a:rPr sz="1950" b="0">
                          <a:solidFill>
                            <a:srgbClr val="183D4B"/>
                          </a:solidFill>
                          <a:latin typeface="Arial"/>
                          <a:ea typeface="Arial"/>
                          <a:cs typeface="Arial"/>
                        </a:rPr>
                        <a:t>Synthetic bypasses and assumed load relays</a:t>
                      </a:r>
                    </a:p>
                  </a:txBody>
                  <a:tcPr marL="91440" marR="91440" marT="45720" marB="45720">
                    <a:solidFill>
                      <a:srgbClr val="EAF2F3"/>
                    </a:solidFill>
                  </a:tcPr>
                </a:tc>
              </a:tr>
            </a:tbl>
          </a:graphicData>
        </a:graphic>
      </p:graphicFrame>
      <p:sp>
        <p:nvSpPr>
          <p:cNvPr id="4" name="">
            <a:extLst xmlns:a="http://schemas.openxmlformats.org/drawingml/2006/main">
              <a:ext uri="{FF2B5EF4-FFF2-40B4-BE49-F238E27FC236}">
                <a16:creationId xmlns:a16="http://schemas.microsoft.com/office/drawing/2014/main" id="{16EE218A-3EEC-478B-AF56-9A70E0CC65F6}"/>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This exercise controls active PV power. Each model states its physical scope.</a:t>
            </a:r>
          </a:p>
        </p:txBody>
      </p:sp>
    </p:spTree>
    <p:extLst>
      <p:ext uri="{BB962C8B-B14F-4D97-AF65-F5344CB8AC3E}">
        <p14:creationId xmlns:p14="http://schemas.microsoft.com/office/powerpoint/2010/main" val="1593998870"/>
      </p:ext>
    </p:extLst>
  </p:cSld>
</p:sld>
</file>

<file path=ppt/slides/slide7.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B58D273-4FCD-4DF3-A22E-775CE3DA2363}"/>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D4B"/>
                </a:solidFill>
                <a:latin typeface="Arial"/>
                <a:ea typeface="Arial"/>
                <a:cs typeface="Arial"/>
              </a:defRPr>
            </a:pPr>
            <a:r>
              <a:rPr sz="3225" b="1">
                <a:solidFill>
                  <a:srgbClr val="183D4B"/>
                </a:solidFill>
                <a:latin typeface="Arial"/>
                <a:ea typeface="Arial"/>
                <a:cs typeface="Arial"/>
              </a:rPr>
              <a:t>Two physical models and their scope</a:t>
            </a:r>
          </a:p>
        </p:txBody>
      </p:sp>
      <p:sp>
        <p:nvSpPr>
          <p:cNvPr id="2" name="">
            <a:extLst xmlns:a="http://schemas.openxmlformats.org/drawingml/2006/main">
              <a:ext uri="{FF2B5EF4-FFF2-40B4-BE49-F238E27FC236}">
                <a16:creationId xmlns:a16="http://schemas.microsoft.com/office/drawing/2014/main" id="{3347E035-5014-499A-B789-C185626E000D}"/>
              </a:ext>
            </a:extLst>
          </p:cNvPr>
          <p:cNvSpPr>
            <a:spLocks xmlns:a="http://schemas.openxmlformats.org/drawingml/2006/main" noGrp="1"/>
          </p:cNvSpPr>
          <p:nvPr/>
        </p:nvSpPr>
        <p:spPr>
          <a:xfrm xmlns:a="http://schemas.openxmlformats.org/drawingml/2006/main">
            <a:off x="742950" y="17145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007B7F"/>
                </a:solidFill>
                <a:latin typeface="Arial"/>
                <a:ea typeface="Arial"/>
                <a:cs typeface="Arial"/>
              </a:defRPr>
            </a:pPr>
            <a:r>
              <a:rPr sz="2625" b="1">
                <a:solidFill>
                  <a:srgbClr val="007B7F"/>
                </a:solidFill>
                <a:latin typeface="Arial"/>
                <a:ea typeface="Arial"/>
                <a:cs typeface="Arial"/>
              </a:rPr>
              <a:t>wⱼ = wᵢ − 2 Re[ conj(Dβ) Zᵢⱼ Dβ conj(Sᵢⱼ) ]</a:t>
            </a:r>
          </a:p>
        </p:txBody>
      </p:sp>
      <p:sp>
        <p:nvSpPr>
          <p:cNvPr id="3" name="">
            <a:extLst xmlns:a="http://schemas.openxmlformats.org/drawingml/2006/main">
              <a:ext uri="{FF2B5EF4-FFF2-40B4-BE49-F238E27FC236}">
                <a16:creationId xmlns:a16="http://schemas.microsoft.com/office/drawing/2014/main" id="{58216B29-87B1-4E1E-A4FA-0172FE9A20EA}"/>
              </a:ext>
            </a:extLst>
          </p:cNvPr>
          <p:cNvSpPr>
            <a:spLocks xmlns:a="http://schemas.openxmlformats.org/drawingml/2006/main" noGrp="1"/>
          </p:cNvSpPr>
          <p:nvPr/>
        </p:nvSpPr>
        <p:spPr>
          <a:xfrm xmlns:a="http://schemas.openxmlformats.org/drawingml/2006/main">
            <a:off x="742950" y="26193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D4B"/>
                </a:solidFill>
                <a:latin typeface="Arial"/>
                <a:ea typeface="Arial"/>
                <a:cs typeface="Arial"/>
              </a:defRPr>
            </a:pPr>
            <a:r>
              <a:rPr sz="1950" b="0">
                <a:solidFill>
                  <a:srgbClr val="183D4B"/>
                </a:solidFill>
                <a:latin typeface="Arial"/>
                <a:ea typeface="Arial"/>
                <a:cs typeface="Arial"/>
              </a:rPr>
              <a:t>Dβ = diag(1, e⁻ʲ²π⁄³, eʲ²π⁄³)     w: squared phase voltage</a:t>
            </a:r>
          </a:p>
        </p:txBody>
      </p:sp>
      <p:sp>
        <p:nvSpPr>
          <p:cNvPr id="4" name="">
            <a:extLst xmlns:a="http://schemas.openxmlformats.org/drawingml/2006/main">
              <a:ext uri="{FF2B5EF4-FFF2-40B4-BE49-F238E27FC236}">
                <a16:creationId xmlns:a16="http://schemas.microsoft.com/office/drawing/2014/main" id="{9876C111-3369-45EF-829A-E727C1D5EBD9}"/>
              </a:ext>
            </a:extLst>
          </p:cNvPr>
          <p:cNvSpPr>
            <a:spLocks xmlns:a="http://schemas.openxmlformats.org/drawingml/2006/main" noGrp="1"/>
          </p:cNvSpPr>
          <p:nvPr/>
        </p:nvSpPr>
        <p:spPr>
          <a:xfrm xmlns:a="http://schemas.openxmlformats.org/drawingml/2006/main">
            <a:off x="742950" y="3495675"/>
            <a:ext cx="106299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3D4B"/>
                </a:solidFill>
                <a:latin typeface="Arial"/>
                <a:ea typeface="Arial"/>
                <a:cs typeface="Arial"/>
              </a:defRPr>
            </a:pPr>
            <a:r>
              <a:rPr sz="2175" b="0">
                <a:solidFill>
                  <a:srgbClr val="183D4B"/>
                </a:solidFill>
                <a:latin typeface="Arial"/>
                <a:ea typeface="Arial"/>
                <a:cs typeface="Arial"/>
              </a:rPr>
              <a:t>OpenDSS solves the nonlinear AC model of the full feeder.</a:t>
            </a:r>
          </a:p>
        </p:txBody>
      </p:sp>
      <p:sp>
        <p:nvSpPr>
          <p:cNvPr id="5" name="">
            <a:extLst xmlns:a="http://schemas.openxmlformats.org/drawingml/2006/main">
              <a:ext uri="{FF2B5EF4-FFF2-40B4-BE49-F238E27FC236}">
                <a16:creationId xmlns:a16="http://schemas.microsoft.com/office/drawing/2014/main" id="{204A1EB2-1BA2-4C3B-9DE4-D356028E7974}"/>
              </a:ext>
            </a:extLst>
          </p:cNvPr>
          <p:cNvSpPr>
            <a:spLocks xmlns:a="http://schemas.openxmlformats.org/drawingml/2006/main" noGrp="1"/>
          </p:cNvSpPr>
          <p:nvPr/>
        </p:nvSpPr>
        <p:spPr>
          <a:xfrm xmlns:a="http://schemas.openxmlformats.org/drawingml/2006/main">
            <a:off x="742950" y="4505325"/>
            <a:ext cx="106299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3D4B"/>
                </a:solidFill>
                <a:latin typeface="Arial"/>
                <a:ea typeface="Arial"/>
                <a:cs typeface="Arial"/>
              </a:defRPr>
            </a:pPr>
            <a:r>
              <a:rPr sz="2175" b="0">
                <a:solidFill>
                  <a:srgbClr val="183D4B"/>
                </a:solidFill>
                <a:latin typeface="Arial"/>
                <a:ea typeface="Arial"/>
                <a:cs typeface="Arial"/>
              </a:rPr>
              <a:t>Three-phase LinDistFlow propagates coupled phase voltages through the medium-voltage network.</a:t>
            </a:r>
          </a:p>
        </p:txBody>
      </p:sp>
      <p:sp>
        <p:nvSpPr>
          <p:cNvPr id="6" name="">
            <a:extLst xmlns:a="http://schemas.openxmlformats.org/drawingml/2006/main">
              <a:ext uri="{FF2B5EF4-FFF2-40B4-BE49-F238E27FC236}">
                <a16:creationId xmlns:a16="http://schemas.microsoft.com/office/drawing/2014/main" id="{55EFB443-A39C-4449-8C15-F8F7F2DC5B82}"/>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874"/>
                </a:solidFill>
                <a:latin typeface="Arial"/>
                <a:ea typeface="Arial"/>
                <a:cs typeface="Arial"/>
              </a:defRPr>
            </a:pPr>
            <a:r>
              <a:rPr sz="1575" b="0">
                <a:solidFill>
                  <a:srgbClr val="526874"/>
                </a:solidFill>
                <a:latin typeface="Arial"/>
                <a:ea typeface="Arial"/>
                <a:cs typeface="Arial"/>
              </a:rPr>
              <a:t>Compare common MV quantities. LinDistFlow omits LV voltage and transformer thermal checks.</a:t>
            </a:r>
          </a:p>
        </p:txBody>
      </p:sp>
      <p:sp>
        <p:nvSpPr>
          <p:cNvPr id="7" name="">
            <a:extLst xmlns:a="http://schemas.openxmlformats.org/drawingml/2006/main">
              <a:ext uri="{FF2B5EF4-FFF2-40B4-BE49-F238E27FC236}">
                <a16:creationId xmlns:a16="http://schemas.microsoft.com/office/drawing/2014/main" id="{5051E520-703F-4D81-B60C-7021B3732BF9}"/>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874"/>
                </a:solidFill>
                <a:latin typeface="Arial"/>
                <a:ea typeface="Arial"/>
                <a:cs typeface="Arial"/>
              </a:defRPr>
            </a:pPr>
            <a:r>
              <a:rPr sz="1275" b="0">
                <a:solidFill>
                  <a:srgbClr val="526874"/>
                </a:solidFill>
                <a:latin typeface="Arial"/>
                <a:ea typeface="Arial"/>
                <a:cs typeface="Arial"/>
              </a:rPr>
              <a:t>07</a:t>
            </a:r>
          </a:p>
        </p:txBody>
      </p:sp>
    </p:spTree>
    <p:extLst>
      <p:ext uri="{BB962C8B-B14F-4D97-AF65-F5344CB8AC3E}">
        <p14:creationId xmlns:p14="http://schemas.microsoft.com/office/powerpoint/2010/main" val="1302454025"/>
      </p:ext>
    </p:extLst>
  </p:cSld>
</p:sld>
</file>

<file path=ppt/slides/slide8.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3270AE5-DEDE-4FF8-B7C2-42E3F1EBA06F}"/>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PV curtailment changes the binding limit</a:t>
            </a:r>
          </a:p>
        </p:txBody>
      </p:sp>
      <p:sp>
        <p:nvSpPr>
          <p:cNvPr id="2" name="">
            <a:extLst xmlns:a="http://schemas.openxmlformats.org/drawingml/2006/main">
              <a:ext uri="{FF2B5EF4-FFF2-40B4-BE49-F238E27FC236}">
                <a16:creationId xmlns:a16="http://schemas.microsoft.com/office/drawing/2014/main" id="{6E86113F-B29F-45F9-85A6-093418C43C31}"/>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A6135EBE-792C-4650-8A19-8FCCE9FAA7C5}"/>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A converged solution can still violate an operating limit.</a:t>
            </a:r>
          </a:p>
        </p:txBody>
      </p:sp>
      <p:graphicFrame>
        <p:nvGraphicFramePr>
          <p:cNvPr id="10" name="Chart"/>
          <p:cNvGraphicFramePr/>
          <p:nvPr/>
        </p:nvGraphicFramePr>
        <p:xfrm>
          <a:off xmlns:a="http://schemas.openxmlformats.org/drawingml/2006/main" x="723900" y="1752600"/>
          <a:ext xmlns:a="http://schemas.openxmlformats.org/drawingml/2006/main" cx="10668000" cy="3829050"/>
        </p:xfrm>
        <a:graphic xmlns:a="http://schemas.openxmlformats.org/drawingml/2006/main">
          <a:graphicData uri="http://schemas.openxmlformats.org/drawingml/2006/chart">
            <c:chart xmlns:r="http://schemas.openxmlformats.org/officeDocument/2006/relationships" xmlns:c="http://schemas.openxmlformats.org/drawingml/2006/chart" r:id="Re323f02652cb407c"/>
          </a:graphicData>
        </a:graphic>
      </p:graphicFrame>
    </p:spTree>
    <p:extLst>
      <p:ext uri="{BB962C8B-B14F-4D97-AF65-F5344CB8AC3E}">
        <p14:creationId xmlns:p14="http://schemas.microsoft.com/office/powerpoint/2010/main" val="1682268149"/>
      </p:ext>
    </p:extLst>
  </p:cSld>
</p:sld>
</file>

<file path=ppt/slides/slide9.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80C2174-C70A-495B-9855-87013A9CA482}"/>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D4B"/>
                </a:solidFill>
                <a:latin typeface="Arial"/>
                <a:ea typeface="Arial"/>
                <a:cs typeface="Arial"/>
              </a:defRPr>
            </a:pPr>
            <a:r>
              <a:rPr sz="3225" b="1">
                <a:solidFill>
                  <a:srgbClr val="183D4B"/>
                </a:solidFill>
                <a:latin typeface="Arial"/>
                <a:ea typeface="Arial"/>
                <a:cs typeface="Arial"/>
              </a:rPr>
              <a:t>Methods and responses at each stage</a:t>
            </a:r>
          </a:p>
        </p:txBody>
      </p:sp>
      <p:graphicFrame>
        <p:nvGraphicFramePr>
          <p:cNvPr id="6" name=""/>
          <p:cNvGraphicFramePr/>
          <p:nvPr/>
        </p:nvGraphicFramePr>
        <p:xfrm>
          <a:off xmlns:a="http://schemas.openxmlformats.org/drawingml/2006/main" x="685800" y="1476375"/>
          <a:ext xmlns:a="http://schemas.openxmlformats.org/drawingml/2006/main" cx="10820400" cy="4543425"/>
        </p:xfrm>
        <a:graphic xmlns:a="http://schemas.openxmlformats.org/drawingml/2006/main">
          <a:graphicData uri="http://schemas.openxmlformats.org/drawingml/2006/table">
            <a:tbl>
              <a:tblPr/>
              <a:tblGrid>
                <a:gridCol w="1905000"/>
                <a:gridCol w="4171950"/>
                <a:gridCol w="4743450"/>
              </a:tblGrid>
              <a:tr h="504825">
                <a:tc>
                  <a:txBody>
                    <a:bodyPr/>
                    <a:lstStyle/>
                    <a:p>
                      <a:r>
                        <a:rPr sz="1650" b="1">
                          <a:solidFill>
                            <a:srgbClr val="FFFFFF"/>
                          </a:solidFill>
                          <a:latin typeface="Arial"/>
                          <a:ea typeface="Arial"/>
                          <a:cs typeface="Arial"/>
                        </a:rPr>
                        <a:t>Stage</a:t>
                      </a:r>
                    </a:p>
                  </a:txBody>
                  <a:tcPr marL="91440" marR="91440" marT="45720" marB="45720">
                    <a:solidFill>
                      <a:srgbClr val="183D4B"/>
                    </a:solidFill>
                  </a:tcPr>
                </a:tc>
                <a:tc>
                  <a:txBody>
                    <a:bodyPr/>
                    <a:lstStyle/>
                    <a:p>
                      <a:r>
                        <a:rPr sz="1650" b="1">
                          <a:solidFill>
                            <a:srgbClr val="FFFFFF"/>
                          </a:solidFill>
                          <a:latin typeface="Arial"/>
                          <a:ea typeface="Arial"/>
                          <a:cs typeface="Arial"/>
                        </a:rPr>
                        <a:t>Named method</a:t>
                      </a:r>
                    </a:p>
                  </a:txBody>
                  <a:tcPr marL="91440" marR="91440" marT="45720" marB="45720">
                    <a:solidFill>
                      <a:srgbClr val="183D4B"/>
                    </a:solidFill>
                  </a:tcPr>
                </a:tc>
                <a:tc>
                  <a:txBody>
                    <a:bodyPr/>
                    <a:lstStyle/>
                    <a:p>
                      <a:r>
                        <a:rPr sz="1650" b="1">
                          <a:solidFill>
                            <a:srgbClr val="FFFFFF"/>
                          </a:solidFill>
                          <a:latin typeface="Arial"/>
                          <a:ea typeface="Arial"/>
                          <a:cs typeface="Arial"/>
                        </a:rPr>
                        <a:t>Visible response</a:t>
                      </a:r>
                    </a:p>
                  </a:txBody>
                  <a:tcPr marL="91440" marR="91440" marT="45720" marB="45720">
                    <a:solidFill>
                      <a:srgbClr val="183D4B"/>
                    </a:solidFill>
                  </a:tcPr>
                </a:tc>
              </a:tr>
              <a:tr h="504825">
                <a:tc>
                  <a:txBody>
                    <a:bodyPr/>
                    <a:lstStyle/>
                    <a:p>
                      <a:r>
                        <a:rPr sz="1650" b="0">
                          <a:solidFill>
                            <a:srgbClr val="183D4B"/>
                          </a:solidFill>
                          <a:latin typeface="Arial"/>
                          <a:ea typeface="Arial"/>
                          <a:cs typeface="Arial"/>
                        </a:rPr>
                        <a:t>Awareness</a:t>
                      </a:r>
                    </a:p>
                  </a:txBody>
                  <a:tcPr marL="91440" marR="91440" marT="45720" marB="45720">
                    <a:solidFill>
                      <a:srgbClr val="FFFFFF"/>
                    </a:solidFill>
                  </a:tcPr>
                </a:tc>
                <a:tc>
                  <a:txBody>
                    <a:bodyPr/>
                    <a:lstStyle/>
                    <a:p>
                      <a:r>
                        <a:rPr sz="1650" b="0">
                          <a:solidFill>
                            <a:srgbClr val="183D4B"/>
                          </a:solidFill>
                          <a:latin typeface="Arial"/>
                          <a:ea typeface="Arial"/>
                          <a:cs typeface="Arial"/>
                        </a:rPr>
                        <a:t>Freshness, topology, voltage residuals</a:t>
                      </a:r>
                    </a:p>
                  </a:txBody>
                  <a:tcPr marL="91440" marR="91440" marT="45720" marB="45720">
                    <a:solidFill>
                      <a:srgbClr val="FFFFFF"/>
                    </a:solidFill>
                  </a:tcPr>
                </a:tc>
                <a:tc>
                  <a:txBody>
                    <a:bodyPr/>
                    <a:lstStyle/>
                    <a:p>
                      <a:r>
                        <a:rPr sz="1650" b="0">
                          <a:solidFill>
                            <a:srgbClr val="183D4B"/>
                          </a:solidFill>
                          <a:latin typeface="Arial"/>
                          <a:ea typeface="Arial"/>
                          <a:cs typeface="Arial"/>
                        </a:rPr>
                        <a:t>PASS or REJECT with reasons</a:t>
                      </a:r>
                    </a:p>
                  </a:txBody>
                  <a:tcPr marL="91440" marR="91440" marT="45720" marB="45720">
                    <a:solidFill>
                      <a:srgbClr val="FFFFFF"/>
                    </a:solidFill>
                  </a:tcPr>
                </a:tc>
              </a:tr>
              <a:tr h="504825">
                <a:tc>
                  <a:txBody>
                    <a:bodyPr/>
                    <a:lstStyle/>
                    <a:p>
                      <a:r>
                        <a:rPr sz="1650" b="0">
                          <a:solidFill>
                            <a:srgbClr val="183D4B"/>
                          </a:solidFill>
                          <a:latin typeface="Arial"/>
                          <a:ea typeface="Arial"/>
                          <a:cs typeface="Arial"/>
                        </a:rPr>
                        <a:t>Planning</a:t>
                      </a:r>
                    </a:p>
                  </a:txBody>
                  <a:tcPr marL="91440" marR="91440" marT="45720" marB="45720">
                    <a:solidFill>
                      <a:srgbClr val="EAF2F3"/>
                    </a:solidFill>
                  </a:tcPr>
                </a:tc>
                <a:tc>
                  <a:txBody>
                    <a:bodyPr/>
                    <a:lstStyle/>
                    <a:p>
                      <a:r>
                        <a:rPr sz="1650" b="0">
                          <a:solidFill>
                            <a:srgbClr val="183D4B"/>
                          </a:solidFill>
                          <a:latin typeface="Arial"/>
                          <a:ea typeface="Arial"/>
                          <a:cs typeface="Arial"/>
                        </a:rPr>
                        <a:t>H = 3 MPC / catalog search + Llama</a:t>
                      </a:r>
                    </a:p>
                  </a:txBody>
                  <a:tcPr marL="91440" marR="91440" marT="45720" marB="45720">
                    <a:solidFill>
                      <a:srgbClr val="EAF2F3"/>
                    </a:solidFill>
                  </a:tcPr>
                </a:tc>
                <a:tc>
                  <a:txBody>
                    <a:bodyPr/>
                    <a:lstStyle/>
                    <a:p>
                      <a:r>
                        <a:rPr sz="1650" b="0">
                          <a:solidFill>
                            <a:srgbClr val="183D4B"/>
                          </a:solidFill>
                          <a:latin typeface="Arial"/>
                          <a:ea typeface="Arial"/>
                          <a:cs typeface="Arial"/>
                        </a:rPr>
                        <a:t>Strategy, cap plan, rationale</a:t>
                      </a:r>
                    </a:p>
                  </a:txBody>
                  <a:tcPr marL="91440" marR="91440" marT="45720" marB="45720">
                    <a:solidFill>
                      <a:srgbClr val="EAF2F3"/>
                    </a:solidFill>
                  </a:tcPr>
                </a:tc>
              </a:tr>
              <a:tr h="504825">
                <a:tc>
                  <a:txBody>
                    <a:bodyPr/>
                    <a:lstStyle/>
                    <a:p>
                      <a:r>
                        <a:rPr sz="1650" b="0">
                          <a:solidFill>
                            <a:srgbClr val="183D4B"/>
                          </a:solidFill>
                          <a:latin typeface="Arial"/>
                          <a:ea typeface="Arial"/>
                          <a:cs typeface="Arial"/>
                        </a:rPr>
                        <a:t>Execution</a:t>
                      </a:r>
                    </a:p>
                  </a:txBody>
                  <a:tcPr marL="91440" marR="91440" marT="45720" marB="45720">
                    <a:solidFill>
                      <a:srgbClr val="FFFFFF"/>
                    </a:solidFill>
                  </a:tcPr>
                </a:tc>
                <a:tc>
                  <a:txBody>
                    <a:bodyPr/>
                    <a:lstStyle/>
                    <a:p>
                      <a:r>
                        <a:rPr sz="1650" b="0">
                          <a:solidFill>
                            <a:srgbClr val="183D4B"/>
                          </a:solidFill>
                          <a:latin typeface="Arial"/>
                          <a:ea typeface="Arial"/>
                          <a:cs typeface="Arial"/>
                        </a:rPr>
                        <a:t>DQN argmax or planned candidate</a:t>
                      </a:r>
                    </a:p>
                  </a:txBody>
                  <a:tcPr marL="91440" marR="91440" marT="45720" marB="45720">
                    <a:solidFill>
                      <a:srgbClr val="FFFFFF"/>
                    </a:solidFill>
                  </a:tcPr>
                </a:tc>
                <a:tc>
                  <a:txBody>
                    <a:bodyPr/>
                    <a:lstStyle/>
                    <a:p>
                      <a:r>
                        <a:rPr sz="1650" b="0">
                          <a:solidFill>
                            <a:srgbClr val="183D4B"/>
                          </a:solidFill>
                          <a:latin typeface="Arial"/>
                          <a:ea typeface="Arial"/>
                          <a:cs typeface="Arial"/>
                        </a:rPr>
                        <a:t>Candidate action</a:t>
                      </a:r>
                    </a:p>
                  </a:txBody>
                  <a:tcPr marL="91440" marR="91440" marT="45720" marB="45720">
                    <a:solidFill>
                      <a:srgbClr val="FFFFFF"/>
                    </a:solidFill>
                  </a:tcPr>
                </a:tc>
              </a:tr>
              <a:tr h="504825">
                <a:tc>
                  <a:txBody>
                    <a:bodyPr/>
                    <a:lstStyle/>
                    <a:p>
                      <a:r>
                        <a:rPr sz="1650" b="0">
                          <a:solidFill>
                            <a:srgbClr val="183D4B"/>
                          </a:solidFill>
                          <a:latin typeface="Arial"/>
                          <a:ea typeface="Arial"/>
                          <a:cs typeface="Arial"/>
                        </a:rPr>
                        <a:t>Simulation</a:t>
                      </a:r>
                    </a:p>
                  </a:txBody>
                  <a:tcPr marL="91440" marR="91440" marT="45720" marB="45720">
                    <a:solidFill>
                      <a:srgbClr val="EAF2F3"/>
                    </a:solidFill>
                  </a:tcPr>
                </a:tc>
                <a:tc>
                  <a:txBody>
                    <a:bodyPr/>
                    <a:lstStyle/>
                    <a:p>
                      <a:r>
                        <a:rPr sz="1650" b="0">
                          <a:solidFill>
                            <a:srgbClr val="183D4B"/>
                          </a:solidFill>
                          <a:latin typeface="Arial"/>
                          <a:ea typeface="Arial"/>
                          <a:cs typeface="Arial"/>
                        </a:rPr>
                        <a:t>OpenDSS or three-phase LinDistFlow</a:t>
                      </a:r>
                    </a:p>
                  </a:txBody>
                  <a:tcPr marL="91440" marR="91440" marT="45720" marB="45720">
                    <a:solidFill>
                      <a:srgbClr val="EAF2F3"/>
                    </a:solidFill>
                  </a:tcPr>
                </a:tc>
                <a:tc>
                  <a:txBody>
                    <a:bodyPr/>
                    <a:lstStyle/>
                    <a:p>
                      <a:r>
                        <a:rPr sz="1650" b="0">
                          <a:solidFill>
                            <a:srgbClr val="183D4B"/>
                          </a:solidFill>
                          <a:latin typeface="Arial"/>
                          <a:ea typeface="Arial"/>
                          <a:cs typeface="Arial"/>
                        </a:rPr>
                        <a:t>Phase voltage and branch current</a:t>
                      </a:r>
                    </a:p>
                  </a:txBody>
                  <a:tcPr marL="91440" marR="91440" marT="45720" marB="45720">
                    <a:solidFill>
                      <a:srgbClr val="EAF2F3"/>
                    </a:solidFill>
                  </a:tcPr>
                </a:tc>
              </a:tr>
              <a:tr h="504825">
                <a:tc>
                  <a:txBody>
                    <a:bodyPr/>
                    <a:lstStyle/>
                    <a:p>
                      <a:r>
                        <a:rPr sz="1650" b="0">
                          <a:solidFill>
                            <a:srgbClr val="183D4B"/>
                          </a:solidFill>
                          <a:latin typeface="Arial"/>
                          <a:ea typeface="Arial"/>
                          <a:cs typeface="Arial"/>
                        </a:rPr>
                        <a:t>Verification</a:t>
                      </a:r>
                    </a:p>
                  </a:txBody>
                  <a:tcPr marL="91440" marR="91440" marT="45720" marB="45720">
                    <a:solidFill>
                      <a:srgbClr val="FFFFFF"/>
                    </a:solidFill>
                  </a:tcPr>
                </a:tc>
                <a:tc>
                  <a:txBody>
                    <a:bodyPr/>
                    <a:lstStyle/>
                    <a:p>
                      <a:r>
                        <a:rPr sz="1650" b="0">
                          <a:solidFill>
                            <a:srgbClr val="183D4B"/>
                          </a:solidFill>
                          <a:latin typeface="Arial"/>
                          <a:ea typeface="Arial"/>
                          <a:cs typeface="Arial"/>
                        </a:rPr>
                        <a:t>Physical limits and MPC admissibility</a:t>
                      </a:r>
                    </a:p>
                  </a:txBody>
                  <a:tcPr marL="91440" marR="91440" marT="45720" marB="45720">
                    <a:solidFill>
                      <a:srgbClr val="FFFFFF"/>
                    </a:solidFill>
                  </a:tcPr>
                </a:tc>
                <a:tc>
                  <a:txBody>
                    <a:bodyPr/>
                    <a:lstStyle/>
                    <a:p>
                      <a:r>
                        <a:rPr sz="1650" b="0">
                          <a:solidFill>
                            <a:srgbClr val="183D4B"/>
                          </a:solidFill>
                          <a:latin typeface="Arial"/>
                          <a:ea typeface="Arial"/>
                          <a:cs typeface="Arial"/>
                        </a:rPr>
                        <a:t>ACCEPT or REJECT with reasons</a:t>
                      </a:r>
                    </a:p>
                  </a:txBody>
                  <a:tcPr marL="91440" marR="91440" marT="45720" marB="45720">
                    <a:solidFill>
                      <a:srgbClr val="FFFFFF"/>
                    </a:solidFill>
                  </a:tcPr>
                </a:tc>
              </a:tr>
              <a:tr h="504825">
                <a:tc>
                  <a:txBody>
                    <a:bodyPr/>
                    <a:lstStyle/>
                    <a:p>
                      <a:r>
                        <a:rPr sz="1650" b="0">
                          <a:solidFill>
                            <a:srgbClr val="183D4B"/>
                          </a:solidFill>
                          <a:latin typeface="Arial"/>
                          <a:ea typeface="Arial"/>
                          <a:cs typeface="Arial"/>
                        </a:rPr>
                        <a:t>Recovery</a:t>
                      </a:r>
                    </a:p>
                  </a:txBody>
                  <a:tcPr marL="91440" marR="91440" marT="45720" marB="45720">
                    <a:solidFill>
                      <a:srgbClr val="EAF2F3"/>
                    </a:solidFill>
                  </a:tcPr>
                </a:tc>
                <a:tc>
                  <a:txBody>
                    <a:bodyPr/>
                    <a:lstStyle/>
                    <a:p>
                      <a:r>
                        <a:rPr sz="1650" b="0">
                          <a:solidFill>
                            <a:srgbClr val="183D4B"/>
                          </a:solidFill>
                          <a:latin typeface="Arial"/>
                          <a:ea typeface="Arial"/>
                          <a:cs typeface="Arial"/>
                        </a:rPr>
                        <a:t>MPC fallback and Llama critic</a:t>
                      </a:r>
                    </a:p>
                  </a:txBody>
                  <a:tcPr marL="91440" marR="91440" marT="45720" marB="45720">
                    <a:solidFill>
                      <a:srgbClr val="EAF2F3"/>
                    </a:solidFill>
                  </a:tcPr>
                </a:tc>
                <a:tc>
                  <a:txBody>
                    <a:bodyPr/>
                    <a:lstStyle/>
                    <a:p>
                      <a:r>
                        <a:rPr sz="1650" b="0">
                          <a:solidFill>
                            <a:srgbClr val="183D4B"/>
                          </a:solidFill>
                          <a:latin typeface="Arial"/>
                          <a:ea typeface="Arial"/>
                          <a:cs typeface="Arial"/>
                        </a:rPr>
                        <a:t>Retry candidate or stop</a:t>
                      </a:r>
                    </a:p>
                  </a:txBody>
                  <a:tcPr marL="91440" marR="91440" marT="45720" marB="45720">
                    <a:solidFill>
                      <a:srgbClr val="EAF2F3"/>
                    </a:solidFill>
                  </a:tcPr>
                </a:tc>
              </a:tr>
              <a:tr h="504825">
                <a:tc>
                  <a:txBody>
                    <a:bodyPr/>
                    <a:lstStyle/>
                    <a:p>
                      <a:r>
                        <a:rPr sz="1650" b="0">
                          <a:solidFill>
                            <a:srgbClr val="183D4B"/>
                          </a:solidFill>
                          <a:latin typeface="Arial"/>
                          <a:ea typeface="Arial"/>
                          <a:cs typeface="Arial"/>
                        </a:rPr>
                        <a:t>Explanation</a:t>
                      </a:r>
                    </a:p>
                  </a:txBody>
                  <a:tcPr marL="91440" marR="91440" marT="45720" marB="45720">
                    <a:solidFill>
                      <a:srgbClr val="FFFFFF"/>
                    </a:solidFill>
                  </a:tcPr>
                </a:tc>
                <a:tc>
                  <a:txBody>
                    <a:bodyPr/>
                    <a:lstStyle/>
                    <a:p>
                      <a:r>
                        <a:rPr sz="1650" b="0">
                          <a:solidFill>
                            <a:srgbClr val="183D4B"/>
                          </a:solidFill>
                          <a:latin typeface="Arial"/>
                          <a:ea typeface="Arial"/>
                          <a:cs typeface="Arial"/>
                        </a:rPr>
                        <a:t>Metrics and Llama operator focus</a:t>
                      </a:r>
                    </a:p>
                  </a:txBody>
                  <a:tcPr marL="91440" marR="91440" marT="45720" marB="45720">
                    <a:solidFill>
                      <a:srgbClr val="FFFFFF"/>
                    </a:solidFill>
                  </a:tcPr>
                </a:tc>
                <a:tc>
                  <a:txBody>
                    <a:bodyPr/>
                    <a:lstStyle/>
                    <a:p>
                      <a:r>
                        <a:rPr sz="1650" b="0">
                          <a:solidFill>
                            <a:srgbClr val="183D4B"/>
                          </a:solidFill>
                          <a:latin typeface="Arial"/>
                          <a:ea typeface="Arial"/>
                          <a:cs typeface="Arial"/>
                        </a:rPr>
                        <a:t>Evidence-based operator summary</a:t>
                      </a:r>
                    </a:p>
                  </a:txBody>
                  <a:tcPr marL="91440" marR="91440" marT="45720" marB="45720">
                    <a:solidFill>
                      <a:srgbClr val="FFFFFF"/>
                    </a:solidFill>
                  </a:tcPr>
                </a:tc>
              </a:tr>
              <a:tr h="504825">
                <a:tc>
                  <a:txBody>
                    <a:bodyPr/>
                    <a:lstStyle/>
                    <a:p>
                      <a:r>
                        <a:rPr sz="1650" b="0">
                          <a:solidFill>
                            <a:srgbClr val="183D4B"/>
                          </a:solidFill>
                          <a:latin typeface="Arial"/>
                          <a:ea typeface="Arial"/>
                          <a:cs typeface="Arial"/>
                        </a:rPr>
                        <a:t>Acknowledgment</a:t>
                      </a:r>
                    </a:p>
                  </a:txBody>
                  <a:tcPr marL="91440" marR="91440" marT="45720" marB="45720">
                    <a:solidFill>
                      <a:srgbClr val="EAF2F3"/>
                    </a:solidFill>
                  </a:tcPr>
                </a:tc>
                <a:tc>
                  <a:txBody>
                    <a:bodyPr/>
                    <a:lstStyle/>
                    <a:p>
                      <a:r>
                        <a:rPr sz="1650" b="0">
                          <a:solidFill>
                            <a:srgbClr val="183D4B"/>
                          </a:solidFill>
                          <a:latin typeface="Arial"/>
                          <a:ea typeface="Arial"/>
                          <a:cs typeface="Arial"/>
                        </a:rPr>
                        <a:t>Local request-hash readback</a:t>
                      </a:r>
                    </a:p>
                  </a:txBody>
                  <a:tcPr marL="91440" marR="91440" marT="45720" marB="45720">
                    <a:solidFill>
                      <a:srgbClr val="EAF2F3"/>
                    </a:solidFill>
                  </a:tcPr>
                </a:tc>
                <a:tc>
                  <a:txBody>
                    <a:bodyPr/>
                    <a:lstStyle/>
                    <a:p>
                      <a:r>
                        <a:rPr sz="1650" b="0">
                          <a:solidFill>
                            <a:srgbClr val="183D4B"/>
                          </a:solidFill>
                          <a:latin typeface="Arial"/>
                          <a:ea typeface="Arial"/>
                          <a:cs typeface="Arial"/>
                        </a:rPr>
                        <a:t>PENDING, then local operator response</a:t>
                      </a:r>
                    </a:p>
                  </a:txBody>
                  <a:tcPr marL="91440" marR="91440" marT="45720" marB="45720">
                    <a:solidFill>
                      <a:srgbClr val="EAF2F3"/>
                    </a:solidFill>
                  </a:tcPr>
                </a:tc>
              </a:tr>
            </a:tbl>
          </a:graphicData>
        </a:graphic>
      </p:graphicFrame>
      <p:sp>
        <p:nvSpPr>
          <p:cNvPr id="3" name="">
            <a:extLst xmlns:a="http://schemas.openxmlformats.org/drawingml/2006/main">
              <a:ext uri="{FF2B5EF4-FFF2-40B4-BE49-F238E27FC236}">
                <a16:creationId xmlns:a16="http://schemas.microsoft.com/office/drawing/2014/main" id="{460C7C63-0FBC-4F7C-9C0F-FA7A1919BCBC}"/>
              </a:ext>
            </a:extLst>
          </p:cNvPr>
          <p:cNvSpPr>
            <a:spLocks xmlns:a="http://schemas.openxmlformats.org/drawingml/2006/main" noGrp="1"/>
          </p:cNvSpPr>
          <p:nvPr/>
        </p:nvSpPr>
        <p:spPr>
          <a:xfrm xmlns:a="http://schemas.openxmlformats.org/drawingml/2006/main">
            <a:off x="704850" y="6143625"/>
            <a:ext cx="10620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874"/>
                </a:solidFill>
                <a:latin typeface="Arial"/>
                <a:ea typeface="Arial"/>
                <a:cs typeface="Arial"/>
              </a:defRPr>
            </a:pPr>
            <a:r>
              <a:rPr sz="1500" b="0">
                <a:solidFill>
                  <a:srgbClr val="526874"/>
                </a:solidFill>
                <a:latin typeface="Arial"/>
                <a:ea typeface="Arial"/>
                <a:cs typeface="Arial"/>
              </a:rPr>
              <a:t>Each response stays in the trace. Acknowledgment records review and issues no dispatch command.</a:t>
            </a:r>
          </a:p>
        </p:txBody>
      </p:sp>
      <p:sp>
        <p:nvSpPr>
          <p:cNvPr id="4" name="">
            <a:extLst xmlns:a="http://schemas.openxmlformats.org/drawingml/2006/main">
              <a:ext uri="{FF2B5EF4-FFF2-40B4-BE49-F238E27FC236}">
                <a16:creationId xmlns:a16="http://schemas.microsoft.com/office/drawing/2014/main" id="{684A3720-57B9-4D90-88FD-2F7836CE1FF4}"/>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874"/>
                </a:solidFill>
                <a:latin typeface="Arial"/>
                <a:ea typeface="Arial"/>
                <a:cs typeface="Arial"/>
              </a:defRPr>
            </a:pPr>
            <a:r>
              <a:rPr sz="1275" b="0">
                <a:solidFill>
                  <a:srgbClr val="526874"/>
                </a:solidFill>
                <a:latin typeface="Arial"/>
                <a:ea typeface="Arial"/>
                <a:cs typeface="Arial"/>
              </a:rPr>
              <a:t>09</a:t>
            </a:r>
          </a:p>
        </p:txBody>
      </p:sp>
    </p:spTree>
    <p:extLst>
      <p:ext uri="{BB962C8B-B14F-4D97-AF65-F5344CB8AC3E}">
        <p14:creationId xmlns:p14="http://schemas.microsoft.com/office/powerpoint/2010/main" val="669005783"/>
      </p:ext>
    </p:extLst>
  </p:cSld>
</p:sld>
</file>

<file path=ppt/slides/slide10.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AC5EA7E-847E-49F3-8EB5-6150DF2A6D42}"/>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MPC in this tutorial</a:t>
            </a:r>
          </a:p>
        </p:txBody>
      </p:sp>
      <p:sp>
        <p:nvSpPr>
          <p:cNvPr id="2" name="">
            <a:extLst xmlns:a="http://schemas.openxmlformats.org/drawingml/2006/main">
              <a:ext uri="{FF2B5EF4-FFF2-40B4-BE49-F238E27FC236}">
                <a16:creationId xmlns:a16="http://schemas.microsoft.com/office/drawing/2014/main" id="{724262FE-77FD-4DD0-86A5-611FDE685A64}"/>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8324561C-A9FB-4412-89D3-F1AE6BBC7EC2}"/>
              </a:ext>
            </a:extLst>
          </p:cNvPr>
          <p:cNvSpPr>
            <a:spLocks xmlns:a="http://schemas.openxmlformats.org/drawingml/2006/main" noGrp="1"/>
          </p:cNvSpPr>
          <p:nvPr/>
        </p:nvSpPr>
        <p:spPr>
          <a:xfrm xmlns:a="http://schemas.openxmlformats.org/drawingml/2006/main">
            <a:off x="742950" y="3190875"/>
            <a:ext cx="106299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83D4B"/>
                </a:solidFill>
                <a:latin typeface="Arial"/>
                <a:ea typeface="Arial"/>
                <a:cs typeface="Arial"/>
              </a:defRPr>
            </a:pPr>
            <a:r>
              <a:rPr sz="2175" b="0">
                <a:solidFill>
                  <a:srgbClr val="183D4B"/>
                </a:solidFill>
                <a:latin typeface="Arial"/>
                <a:ea typeface="Arial"/>
                <a:cs typeface="Arial"/>
              </a:rPr>
              <a:t>Horizon H = 3. The discrete cap c links consecutive actions through the movement penalty.</a:t>
            </a:r>
          </a:p>
        </p:txBody>
      </p:sp>
      <p:sp>
        <p:nvSpPr>
          <p:cNvPr id="4" name="">
            <a:extLst xmlns:a="http://schemas.openxmlformats.org/drawingml/2006/main">
              <a:ext uri="{FF2B5EF4-FFF2-40B4-BE49-F238E27FC236}">
                <a16:creationId xmlns:a16="http://schemas.microsoft.com/office/drawing/2014/main" id="{616E8CB6-38C2-426A-9F2F-04ACC15471A5}"/>
              </a:ext>
            </a:extLst>
          </p:cNvPr>
          <p:cNvSpPr>
            <a:spLocks xmlns:a="http://schemas.openxmlformats.org/drawingml/2006/main" noGrp="1"/>
          </p:cNvSpPr>
          <p:nvPr/>
        </p:nvSpPr>
        <p:spPr>
          <a:xfrm xmlns:a="http://schemas.openxmlformats.org/drawingml/2006/main">
            <a:off x="742950" y="4305300"/>
            <a:ext cx="106299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83D4B"/>
                </a:solidFill>
                <a:latin typeface="Arial"/>
                <a:ea typeface="Arial"/>
                <a:cs typeface="Arial"/>
              </a:defRPr>
            </a:pPr>
            <a:r>
              <a:rPr sz="2175" b="0">
                <a:solidFill>
                  <a:srgbClr val="183D4B"/>
                </a:solidFill>
                <a:latin typeface="Arial"/>
                <a:ea typeface="Arial"/>
                <a:cs typeface="Arial"/>
              </a:rPr>
              <a:t>A table of solutions from the chosen model supplies predictions for each load and action.</a:t>
            </a:r>
          </a:p>
        </p:txBody>
      </p:sp>
      <p:sp>
        <p:nvSpPr>
          <p:cNvPr id="5" name="">
            <a:extLst xmlns:a="http://schemas.openxmlformats.org/drawingml/2006/main">
              <a:ext uri="{FF2B5EF4-FFF2-40B4-BE49-F238E27FC236}">
                <a16:creationId xmlns:a16="http://schemas.microsoft.com/office/drawing/2014/main" id="{9357BEEE-F343-4016-9FBB-54F48AB07CF8}"/>
              </a:ext>
            </a:extLst>
          </p:cNvPr>
          <p:cNvSpPr>
            <a:spLocks xmlns:a="http://schemas.openxmlformats.org/drawingml/2006/main" noGrp="1"/>
          </p:cNvSpPr>
          <p:nvPr/>
        </p:nvSpPr>
        <p:spPr>
          <a:xfrm xmlns:a="http://schemas.openxmlformats.org/drawingml/2006/main">
            <a:off x="714375" y="1828800"/>
            <a:ext cx="10763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007B7F"/>
                </a:solidFill>
                <a:latin typeface="Arial"/>
                <a:ea typeface="Arial"/>
                <a:cs typeface="Arial"/>
              </a:defRPr>
            </a:pPr>
            <a:r>
              <a:rPr sz="3225" b="1">
                <a:solidFill>
                  <a:srgbClr val="007B7F"/>
                </a:solidFill>
                <a:latin typeface="Arial"/>
                <a:ea typeface="Arial"/>
                <a:cs typeface="Arial"/>
              </a:rPr>
              <a:t>maximize  Σ γᵏ [ Pᴾⱽₖ / 8000 − 0.15 |cₖ − cₖ₋₁| / 100 ]</a:t>
            </a:r>
          </a:p>
        </p:txBody>
      </p:sp>
      <p:sp>
        <p:nvSpPr>
          <p:cNvPr id="6" name="">
            <a:extLst xmlns:a="http://schemas.openxmlformats.org/drawingml/2006/main">
              <a:ext uri="{FF2B5EF4-FFF2-40B4-BE49-F238E27FC236}">
                <a16:creationId xmlns:a16="http://schemas.microsoft.com/office/drawing/2014/main" id="{A33E1198-300B-42C0-A3D1-751D07AF05F5}"/>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The first action proceeds to a fresh model solve and verification.</a:t>
            </a:r>
          </a:p>
        </p:txBody>
      </p:sp>
    </p:spTree>
    <p:extLst>
      <p:ext uri="{BB962C8B-B14F-4D97-AF65-F5344CB8AC3E}">
        <p14:creationId xmlns:p14="http://schemas.microsoft.com/office/powerpoint/2010/main" val="907767881"/>
      </p:ext>
    </p:extLst>
  </p:cSld>
</p:sld>
</file>

<file path=ppt/slides/slide11.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325F11A-3014-4A76-9A04-B2F2E4703848}"/>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MPC exposes its planned sequence</a:t>
            </a:r>
          </a:p>
        </p:txBody>
      </p:sp>
      <p:sp>
        <p:nvSpPr>
          <p:cNvPr id="2" name="">
            <a:extLst xmlns:a="http://schemas.openxmlformats.org/drawingml/2006/main">
              <a:ext uri="{FF2B5EF4-FFF2-40B4-BE49-F238E27FC236}">
                <a16:creationId xmlns:a16="http://schemas.microsoft.com/office/drawing/2014/main" id="{2B79FDAF-F9B1-4FF0-B0EA-6DAA250ACA5A}"/>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E60DDD49-1D93-4A3C-AF89-BA7EB89E289F}"/>
              </a:ext>
            </a:extLst>
          </p:cNvPr>
          <p:cNvSpPr>
            <a:spLocks xmlns:a="http://schemas.openxmlformats.org/drawingml/2006/main" noGrp="1"/>
          </p:cNvSpPr>
          <p:nvPr/>
        </p:nvSpPr>
        <p:spPr>
          <a:xfrm xmlns:a="http://schemas.openxmlformats.org/drawingml/2006/main">
            <a:off x="742950" y="531495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1">
                <a:solidFill>
                  <a:srgbClr val="007B7F"/>
                </a:solidFill>
                <a:latin typeface="Arial"/>
                <a:ea typeface="Arial"/>
                <a:cs typeface="Arial"/>
              </a:defRPr>
            </a:pPr>
            <a:r>
              <a:rPr sz="1650" b="1">
                <a:solidFill>
                  <a:srgbClr val="007B7F"/>
                </a:solidFill>
                <a:latin typeface="Arial"/>
                <a:ea typeface="Arial"/>
                <a:cs typeface="Arial"/>
              </a:rPr>
              <a:t>Actual Llama planner: MPC_ONLY. “MPC plans a finite horizon”</a:t>
            </a:r>
          </a:p>
        </p:txBody>
      </p:sp>
      <p:sp>
        <p:nvSpPr>
          <p:cNvPr id="5" name="">
            <a:extLst xmlns:a="http://schemas.openxmlformats.org/drawingml/2006/main">
              <a:ext uri="{FF2B5EF4-FFF2-40B4-BE49-F238E27FC236}">
                <a16:creationId xmlns:a16="http://schemas.microsoft.com/office/drawing/2014/main" id="{B664C014-0532-4B42-88F8-C2EEC28578C4}"/>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Recorded OpenDSS example. Future entries are predictions, checked against the selected model.</a:t>
            </a:r>
          </a:p>
        </p:txBody>
      </p:sp>
      <p:graphicFrame>
        <p:nvGraphicFramePr>
          <p:cNvPr id="12" name="Chart"/>
          <p:cNvGraphicFramePr/>
          <p:nvPr/>
        </p:nvGraphicFramePr>
        <p:xfrm>
          <a:off xmlns:a="http://schemas.openxmlformats.org/drawingml/2006/main" x="723900" y="1752600"/>
          <a:ext xmlns:a="http://schemas.openxmlformats.org/drawingml/2006/main" cx="10668000" cy="3238500"/>
        </p:xfrm>
        <a:graphic xmlns:a="http://schemas.openxmlformats.org/drawingml/2006/main">
          <a:graphicData uri="http://schemas.openxmlformats.org/drawingml/2006/chart">
            <c:chart xmlns:r="http://schemas.openxmlformats.org/officeDocument/2006/relationships" xmlns:c="http://schemas.openxmlformats.org/drawingml/2006/chart" r:id="R8cda26a4735041ed"/>
          </a:graphicData>
        </a:graphic>
      </p:graphicFrame>
    </p:spTree>
    <p:extLst>
      <p:ext uri="{BB962C8B-B14F-4D97-AF65-F5344CB8AC3E}">
        <p14:creationId xmlns:p14="http://schemas.microsoft.com/office/powerpoint/2010/main" val="87358344"/>
      </p:ext>
    </p:extLst>
  </p:cSld>
</p:sld>
</file>

<file path=ppt/slides/slide12.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EC842EF-6940-491C-B06D-A21F5954054B}"/>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A pretrained deep Q-network</a:t>
            </a:r>
          </a:p>
        </p:txBody>
      </p:sp>
      <p:sp>
        <p:nvSpPr>
          <p:cNvPr id="2" name="">
            <a:extLst xmlns:a="http://schemas.openxmlformats.org/drawingml/2006/main">
              <a:ext uri="{FF2B5EF4-FFF2-40B4-BE49-F238E27FC236}">
                <a16:creationId xmlns:a16="http://schemas.microsoft.com/office/drawing/2014/main" id="{244AC6E9-826C-4441-940A-22892980D675}"/>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13303C4B-1EC6-4AB0-B8FB-1A4D8FABB495}"/>
              </a:ext>
            </a:extLst>
          </p:cNvPr>
          <p:cNvSpPr>
            <a:spLocks xmlns:a="http://schemas.openxmlformats.org/drawingml/2006/main" noGrp="1"/>
          </p:cNvSpPr>
          <p:nvPr/>
        </p:nvSpPr>
        <p:spPr>
          <a:xfrm xmlns:a="http://schemas.openxmlformats.org/drawingml/2006/main">
            <a:off x="742950" y="3190875"/>
            <a:ext cx="106299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83D4B"/>
                </a:solidFill>
                <a:latin typeface="Arial"/>
                <a:ea typeface="Arial"/>
                <a:cs typeface="Arial"/>
              </a:defRPr>
            </a:pPr>
            <a:r>
              <a:rPr sz="2175" b="0">
                <a:solidFill>
                  <a:srgbClr val="183D4B"/>
                </a:solidFill>
                <a:latin typeface="Arial"/>
                <a:ea typeface="Arial"/>
                <a:cs typeface="Arial"/>
              </a:rPr>
              <a:t>Observation: three forecast loads, previous cap, rating fraction and remaining episode fraction.</a:t>
            </a:r>
          </a:p>
        </p:txBody>
      </p:sp>
      <p:sp>
        <p:nvSpPr>
          <p:cNvPr id="4" name="">
            <a:extLst xmlns:a="http://schemas.openxmlformats.org/drawingml/2006/main">
              <a:ext uri="{FF2B5EF4-FFF2-40B4-BE49-F238E27FC236}">
                <a16:creationId xmlns:a16="http://schemas.microsoft.com/office/drawing/2014/main" id="{F008BAC6-5864-4EFE-863A-772BFE208C9E}"/>
              </a:ext>
            </a:extLst>
          </p:cNvPr>
          <p:cNvSpPr>
            <a:spLocks xmlns:a="http://schemas.openxmlformats.org/drawingml/2006/main" noGrp="1"/>
          </p:cNvSpPr>
          <p:nvPr/>
        </p:nvSpPr>
        <p:spPr>
          <a:xfrm xmlns:a="http://schemas.openxmlformats.org/drawingml/2006/main">
            <a:off x="742950" y="4305300"/>
            <a:ext cx="106299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83D4B"/>
                </a:solidFill>
                <a:latin typeface="Arial"/>
                <a:ea typeface="Arial"/>
                <a:cs typeface="Arial"/>
              </a:defRPr>
            </a:pPr>
            <a:r>
              <a:rPr sz="2175" b="0">
                <a:solidFill>
                  <a:srgbClr val="183D4B"/>
                </a:solidFill>
                <a:latin typeface="Arial"/>
                <a:ea typeface="Arial"/>
                <a:cs typeface="Arial"/>
              </a:rPr>
              <a:t>Network: 6 inputs, two 48-unit hidden layers and 8 action values.</a:t>
            </a:r>
          </a:p>
        </p:txBody>
      </p:sp>
      <p:sp>
        <p:nvSpPr>
          <p:cNvPr id="5" name="">
            <a:extLst xmlns:a="http://schemas.openxmlformats.org/drawingml/2006/main">
              <a:ext uri="{FF2B5EF4-FFF2-40B4-BE49-F238E27FC236}">
                <a16:creationId xmlns:a16="http://schemas.microsoft.com/office/drawing/2014/main" id="{53A79E79-ACE9-4A62-9B05-781E5A1CA60A}"/>
              </a:ext>
            </a:extLst>
          </p:cNvPr>
          <p:cNvSpPr>
            <a:spLocks xmlns:a="http://schemas.openxmlformats.org/drawingml/2006/main" noGrp="1"/>
          </p:cNvSpPr>
          <p:nvPr/>
        </p:nvSpPr>
        <p:spPr>
          <a:xfrm xmlns:a="http://schemas.openxmlformats.org/drawingml/2006/main">
            <a:off x="714375" y="1828800"/>
            <a:ext cx="10763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007B7F"/>
                </a:solidFill>
                <a:latin typeface="Arial"/>
                <a:ea typeface="Arial"/>
                <a:cs typeface="Arial"/>
              </a:defRPr>
            </a:pPr>
            <a:r>
              <a:rPr sz="3225" b="1">
                <a:solidFill>
                  <a:srgbClr val="007B7F"/>
                </a:solidFill>
                <a:latin typeface="Arial"/>
                <a:ea typeface="Arial"/>
                <a:cs typeface="Arial"/>
              </a:rPr>
              <a:t>aₜ = arg maxₐ Qθ(oₜ, a)</a:t>
            </a:r>
          </a:p>
        </p:txBody>
      </p:sp>
      <p:sp>
        <p:nvSpPr>
          <p:cNvPr id="6" name="">
            <a:extLst xmlns:a="http://schemas.openxmlformats.org/drawingml/2006/main">
              <a:ext uri="{FF2B5EF4-FFF2-40B4-BE49-F238E27FC236}">
                <a16:creationId xmlns:a16="http://schemas.microsoft.com/office/drawing/2014/main" id="{6C3B7CC4-0AA1-4D52-BBCF-6D0DB1B92678}"/>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The same seed-11 AC-trained policy is used in both routes. The linear route tests policy transfer.</a:t>
            </a:r>
          </a:p>
        </p:txBody>
      </p:sp>
    </p:spTree>
    <p:extLst>
      <p:ext uri="{BB962C8B-B14F-4D97-AF65-F5344CB8AC3E}">
        <p14:creationId xmlns:p14="http://schemas.microsoft.com/office/powerpoint/2010/main" val="230593917"/>
      </p:ext>
    </p:extLst>
  </p:cSld>
</p:sld>
</file>

<file path=ppt/slides/slide13.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EEC2EEE-3194-45BC-822D-3CCB85E78AD5}"/>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Reward and engineering feasibility</a:t>
            </a:r>
          </a:p>
        </p:txBody>
      </p:sp>
      <p:sp>
        <p:nvSpPr>
          <p:cNvPr id="2" name="">
            <a:extLst xmlns:a="http://schemas.openxmlformats.org/drawingml/2006/main">
              <a:ext uri="{FF2B5EF4-FFF2-40B4-BE49-F238E27FC236}">
                <a16:creationId xmlns:a16="http://schemas.microsoft.com/office/drawing/2014/main" id="{77504FF5-25A7-4A98-A6BE-EB9A56538B6F}"/>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435A2BBE-ABB2-42CC-A7F2-BDB7F1FBE048}"/>
              </a:ext>
            </a:extLst>
          </p:cNvPr>
          <p:cNvSpPr>
            <a:spLocks xmlns:a="http://schemas.openxmlformats.org/drawingml/2006/main" noGrp="1"/>
          </p:cNvSpPr>
          <p:nvPr/>
        </p:nvSpPr>
        <p:spPr>
          <a:xfrm xmlns:a="http://schemas.openxmlformats.org/drawingml/2006/main">
            <a:off x="742950" y="1809750"/>
            <a:ext cx="10629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83D4B"/>
                </a:solidFill>
                <a:latin typeface="Arial"/>
                <a:ea typeface="Arial"/>
                <a:cs typeface="Arial"/>
              </a:defRPr>
            </a:pPr>
            <a:r>
              <a:rPr sz="2325" b="0">
                <a:solidFill>
                  <a:srgbClr val="183D4B"/>
                </a:solidFill>
                <a:latin typeface="Arial"/>
                <a:ea typeface="Arial"/>
                <a:cs typeface="Arial"/>
              </a:rPr>
              <a:t>Training rewards feasible PV delivery and penalizes cap movement.</a:t>
            </a:r>
          </a:p>
        </p:txBody>
      </p:sp>
      <p:sp>
        <p:nvSpPr>
          <p:cNvPr id="4" name="">
            <a:extLst xmlns:a="http://schemas.openxmlformats.org/drawingml/2006/main">
              <a:ext uri="{FF2B5EF4-FFF2-40B4-BE49-F238E27FC236}">
                <a16:creationId xmlns:a16="http://schemas.microsoft.com/office/drawing/2014/main" id="{52E38233-AF0B-495E-88CB-803005689BDB}"/>
              </a:ext>
            </a:extLst>
          </p:cNvPr>
          <p:cNvSpPr>
            <a:spLocks xmlns:a="http://schemas.openxmlformats.org/drawingml/2006/main" noGrp="1"/>
          </p:cNvSpPr>
          <p:nvPr/>
        </p:nvSpPr>
        <p:spPr>
          <a:xfrm xmlns:a="http://schemas.openxmlformats.org/drawingml/2006/main">
            <a:off x="742950" y="2952750"/>
            <a:ext cx="10629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83D4B"/>
                </a:solidFill>
                <a:latin typeface="Arial"/>
                <a:ea typeface="Arial"/>
                <a:cs typeface="Arial"/>
              </a:defRPr>
            </a:pPr>
            <a:r>
              <a:rPr sz="2325" b="0">
                <a:solidFill>
                  <a:srgbClr val="183D4B"/>
                </a:solidFill>
                <a:latin typeface="Arial"/>
                <a:ea typeface="Arial"/>
                <a:cs typeface="Arial"/>
              </a:rPr>
              <a:t>An infeasible training action receives a penalty.</a:t>
            </a:r>
          </a:p>
        </p:txBody>
      </p:sp>
      <p:sp>
        <p:nvSpPr>
          <p:cNvPr id="5" name="">
            <a:extLst xmlns:a="http://schemas.openxmlformats.org/drawingml/2006/main">
              <a:ext uri="{FF2B5EF4-FFF2-40B4-BE49-F238E27FC236}">
                <a16:creationId xmlns:a16="http://schemas.microsoft.com/office/drawing/2014/main" id="{9A92A549-4C29-4812-ABD2-3B8035ADB2FD}"/>
              </a:ext>
            </a:extLst>
          </p:cNvPr>
          <p:cNvSpPr>
            <a:spLocks xmlns:a="http://schemas.openxmlformats.org/drawingml/2006/main" noGrp="1"/>
          </p:cNvSpPr>
          <p:nvPr/>
        </p:nvSpPr>
        <p:spPr>
          <a:xfrm xmlns:a="http://schemas.openxmlformats.org/drawingml/2006/main">
            <a:off x="742950" y="4095750"/>
            <a:ext cx="10629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83D4B"/>
                </a:solidFill>
                <a:latin typeface="Arial"/>
                <a:ea typeface="Arial"/>
                <a:cs typeface="Arial"/>
              </a:defRPr>
            </a:pPr>
            <a:r>
              <a:rPr sz="2325" b="0">
                <a:solidFill>
                  <a:srgbClr val="183D4B"/>
                </a:solidFill>
                <a:latin typeface="Arial"/>
                <a:ea typeface="Arial"/>
                <a:cs typeface="Arial"/>
              </a:rPr>
              <a:t>The learned reward estimate does not override the fresh engineering checks.</a:t>
            </a:r>
          </a:p>
        </p:txBody>
      </p:sp>
      <p:sp>
        <p:nvSpPr>
          <p:cNvPr id="6" name="">
            <a:extLst xmlns:a="http://schemas.openxmlformats.org/drawingml/2006/main">
              <a:ext uri="{FF2B5EF4-FFF2-40B4-BE49-F238E27FC236}">
                <a16:creationId xmlns:a16="http://schemas.microsoft.com/office/drawing/2014/main" id="{9785E81C-3A09-417B-B25A-01856FA2CDF5}"/>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A small nominal training domain does not establish generalization to changed ratings or topology.</a:t>
            </a:r>
          </a:p>
        </p:txBody>
      </p:sp>
    </p:spTree>
    <p:extLst>
      <p:ext uri="{BB962C8B-B14F-4D97-AF65-F5344CB8AC3E}">
        <p14:creationId xmlns:p14="http://schemas.microsoft.com/office/powerpoint/2010/main" val="81943320"/>
      </p:ext>
    </p:extLst>
  </p:cSld>
</p:sld>
</file>

<file path=ppt/slides/slide14.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2E2CA3F-8A7F-4D00-85A2-89C08DF98853}"/>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OpenDSS check of the DQN proposal</a:t>
            </a:r>
          </a:p>
        </p:txBody>
      </p:sp>
      <p:sp>
        <p:nvSpPr>
          <p:cNvPr id="2" name="">
            <a:extLst xmlns:a="http://schemas.openxmlformats.org/drawingml/2006/main">
              <a:ext uri="{FF2B5EF4-FFF2-40B4-BE49-F238E27FC236}">
                <a16:creationId xmlns:a16="http://schemas.microsoft.com/office/drawing/2014/main" id="{2D3F0A2F-6235-4F91-8041-BAA1C10A9020}"/>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14</a:t>
            </a:r>
          </a:p>
        </p:txBody>
      </p:sp>
      <p:graphicFrame>
        <p:nvGraphicFramePr>
          <p:cNvPr id="10" name=""/>
          <p:cNvGraphicFramePr/>
          <p:nvPr/>
        </p:nvGraphicFramePr>
        <p:xfrm>
          <a:off xmlns:a="http://schemas.openxmlformats.org/drawingml/2006/main" x="685800" y="1809750"/>
          <a:ext xmlns:a="http://schemas.openxmlformats.org/drawingml/2006/main" cx="10820400" cy="2714625"/>
        </p:xfrm>
        <a:graphic xmlns:a="http://schemas.openxmlformats.org/drawingml/2006/main">
          <a:graphicData uri="http://schemas.openxmlformats.org/drawingml/2006/table">
            <a:tbl>
              <a:tblPr/>
              <a:tblGrid>
                <a:gridCol w="2476500"/>
                <a:gridCol w="1905000"/>
                <a:gridCol w="3771900"/>
                <a:gridCol w="2667000"/>
              </a:tblGrid>
              <a:tr h="904875">
                <a:tc>
                  <a:txBody>
                    <a:bodyPr/>
                    <a:lstStyle/>
                    <a:p>
                      <a:r>
                        <a:rPr sz="2100" b="1">
                          <a:solidFill>
                            <a:srgbClr val="FFFFFF"/>
                          </a:solidFill>
                          <a:latin typeface="Arial"/>
                          <a:ea typeface="Arial"/>
                          <a:cs typeface="Arial"/>
                        </a:rPr>
                        <a:t>Candidate</a:t>
                      </a:r>
                    </a:p>
                  </a:txBody>
                  <a:tcPr marL="91440" marR="91440" marT="45720" marB="45720">
                    <a:solidFill>
                      <a:srgbClr val="183D4B"/>
                    </a:solidFill>
                  </a:tcPr>
                </a:tc>
                <a:tc>
                  <a:txBody>
                    <a:bodyPr/>
                    <a:lstStyle/>
                    <a:p>
                      <a:r>
                        <a:rPr sz="2100" b="1">
                          <a:solidFill>
                            <a:srgbClr val="FFFFFF"/>
                          </a:solidFill>
                          <a:latin typeface="Arial"/>
                          <a:ea typeface="Arial"/>
                          <a:cs typeface="Arial"/>
                        </a:rPr>
                        <a:t>PV cap</a:t>
                      </a:r>
                    </a:p>
                  </a:txBody>
                  <a:tcPr marL="91440" marR="91440" marT="45720" marB="45720">
                    <a:solidFill>
                      <a:srgbClr val="183D4B"/>
                    </a:solidFill>
                  </a:tcPr>
                </a:tc>
                <a:tc>
                  <a:txBody>
                    <a:bodyPr/>
                    <a:lstStyle/>
                    <a:p>
                      <a:r>
                        <a:rPr sz="2100" b="1">
                          <a:solidFill>
                            <a:srgbClr val="FFFFFF"/>
                          </a:solidFill>
                          <a:latin typeface="Arial"/>
                          <a:ea typeface="Arial"/>
                          <a:cs typeface="Arial"/>
                        </a:rPr>
                        <a:t>Maximum loading</a:t>
                      </a:r>
                    </a:p>
                  </a:txBody>
                  <a:tcPr marL="91440" marR="91440" marT="45720" marB="45720">
                    <a:solidFill>
                      <a:srgbClr val="183D4B"/>
                    </a:solidFill>
                  </a:tcPr>
                </a:tc>
                <a:tc>
                  <a:txBody>
                    <a:bodyPr/>
                    <a:lstStyle/>
                    <a:p>
                      <a:r>
                        <a:rPr sz="2100" b="1">
                          <a:solidFill>
                            <a:srgbClr val="FFFFFF"/>
                          </a:solidFill>
                          <a:latin typeface="Arial"/>
                          <a:ea typeface="Arial"/>
                          <a:cs typeface="Arial"/>
                        </a:rPr>
                        <a:t>Gate</a:t>
                      </a:r>
                    </a:p>
                  </a:txBody>
                  <a:tcPr marL="91440" marR="91440" marT="45720" marB="45720">
                    <a:solidFill>
                      <a:srgbClr val="183D4B"/>
                    </a:solidFill>
                  </a:tcPr>
                </a:tc>
              </a:tr>
              <a:tr h="904875">
                <a:tc>
                  <a:txBody>
                    <a:bodyPr/>
                    <a:lstStyle/>
                    <a:p>
                      <a:r>
                        <a:rPr sz="2100" b="0">
                          <a:solidFill>
                            <a:srgbClr val="183D4B"/>
                          </a:solidFill>
                          <a:latin typeface="Arial"/>
                          <a:ea typeface="Arial"/>
                          <a:cs typeface="Arial"/>
                        </a:rPr>
                        <a:t>DRL</a:t>
                      </a:r>
                    </a:p>
                  </a:txBody>
                  <a:tcPr marL="91440" marR="91440" marT="45720" marB="45720">
                    <a:solidFill>
                      <a:srgbClr val="FFFFFF"/>
                    </a:solidFill>
                  </a:tcPr>
                </a:tc>
                <a:tc>
                  <a:txBody>
                    <a:bodyPr/>
                    <a:lstStyle/>
                    <a:p>
                      <a:r>
                        <a:rPr sz="2100" b="0">
                          <a:solidFill>
                            <a:srgbClr val="183D4B"/>
                          </a:solidFill>
                          <a:latin typeface="Arial"/>
                          <a:ea typeface="Arial"/>
                          <a:cs typeface="Arial"/>
                        </a:rPr>
                        <a:t>30%</a:t>
                      </a:r>
                    </a:p>
                  </a:txBody>
                  <a:tcPr marL="91440" marR="91440" marT="45720" marB="45720">
                    <a:solidFill>
                      <a:srgbClr val="FFFFFF"/>
                    </a:solidFill>
                  </a:tcPr>
                </a:tc>
                <a:tc>
                  <a:txBody>
                    <a:bodyPr/>
                    <a:lstStyle/>
                    <a:p>
                      <a:r>
                        <a:rPr sz="2100" b="0">
                          <a:solidFill>
                            <a:srgbClr val="183D4B"/>
                          </a:solidFill>
                          <a:latin typeface="Arial"/>
                          <a:ea typeface="Arial"/>
                          <a:cs typeface="Arial"/>
                        </a:rPr>
                        <a:t>109.5%</a:t>
                      </a:r>
                    </a:p>
                  </a:txBody>
                  <a:tcPr marL="91440" marR="91440" marT="45720" marB="45720">
                    <a:solidFill>
                      <a:srgbClr val="FFFFFF"/>
                    </a:solidFill>
                  </a:tcPr>
                </a:tc>
                <a:tc>
                  <a:txBody>
                    <a:bodyPr/>
                    <a:lstStyle/>
                    <a:p>
                      <a:r>
                        <a:rPr sz="2100" b="0">
                          <a:solidFill>
                            <a:srgbClr val="183D4B"/>
                          </a:solidFill>
                          <a:latin typeface="Arial"/>
                          <a:ea typeface="Arial"/>
                          <a:cs typeface="Arial"/>
                        </a:rPr>
                        <a:t>Reject</a:t>
                      </a:r>
                    </a:p>
                  </a:txBody>
                  <a:tcPr marL="91440" marR="91440" marT="45720" marB="45720">
                    <a:solidFill>
                      <a:srgbClr val="FFFFFF"/>
                    </a:solidFill>
                  </a:tcPr>
                </a:tc>
              </a:tr>
              <a:tr h="904875">
                <a:tc>
                  <a:txBody>
                    <a:bodyPr/>
                    <a:lstStyle/>
                    <a:p>
                      <a:r>
                        <a:rPr sz="2100" b="0">
                          <a:solidFill>
                            <a:srgbClr val="183D4B"/>
                          </a:solidFill>
                          <a:latin typeface="Arial"/>
                          <a:ea typeface="Arial"/>
                          <a:cs typeface="Arial"/>
                        </a:rPr>
                        <a:t>MPC</a:t>
                      </a:r>
                    </a:p>
                  </a:txBody>
                  <a:tcPr marL="91440" marR="91440" marT="45720" marB="45720">
                    <a:solidFill>
                      <a:srgbClr val="EAF2F3"/>
                    </a:solidFill>
                  </a:tcPr>
                </a:tc>
                <a:tc>
                  <a:txBody>
                    <a:bodyPr/>
                    <a:lstStyle/>
                    <a:p>
                      <a:r>
                        <a:rPr sz="2100" b="0">
                          <a:solidFill>
                            <a:srgbClr val="183D4B"/>
                          </a:solidFill>
                          <a:latin typeface="Arial"/>
                          <a:ea typeface="Arial"/>
                          <a:cs typeface="Arial"/>
                        </a:rPr>
                        <a:t>20%</a:t>
                      </a:r>
                    </a:p>
                  </a:txBody>
                  <a:tcPr marL="91440" marR="91440" marT="45720" marB="45720">
                    <a:solidFill>
                      <a:srgbClr val="EAF2F3"/>
                    </a:solidFill>
                  </a:tcPr>
                </a:tc>
                <a:tc>
                  <a:txBody>
                    <a:bodyPr/>
                    <a:lstStyle/>
                    <a:p>
                      <a:r>
                        <a:rPr sz="2100" b="0">
                          <a:solidFill>
                            <a:srgbClr val="183D4B"/>
                          </a:solidFill>
                          <a:latin typeface="Arial"/>
                          <a:ea typeface="Arial"/>
                          <a:cs typeface="Arial"/>
                        </a:rPr>
                        <a:t>66.5%</a:t>
                      </a:r>
                    </a:p>
                  </a:txBody>
                  <a:tcPr marL="91440" marR="91440" marT="45720" marB="45720">
                    <a:solidFill>
                      <a:srgbClr val="EAF2F3"/>
                    </a:solidFill>
                  </a:tcPr>
                </a:tc>
                <a:tc>
                  <a:txBody>
                    <a:bodyPr/>
                    <a:lstStyle/>
                    <a:p>
                      <a:r>
                        <a:rPr sz="2100" b="0">
                          <a:solidFill>
                            <a:srgbClr val="183D4B"/>
                          </a:solidFill>
                          <a:latin typeface="Arial"/>
                          <a:ea typeface="Arial"/>
                          <a:cs typeface="Arial"/>
                        </a:rPr>
                        <a:t>Accept</a:t>
                      </a:r>
                    </a:p>
                  </a:txBody>
                  <a:tcPr marL="91440" marR="91440" marT="45720" marB="45720">
                    <a:solidFill>
                      <a:srgbClr val="EAF2F3"/>
                    </a:solidFill>
                  </a:tcPr>
                </a:tc>
              </a:tr>
            </a:tbl>
          </a:graphicData>
        </a:graphic>
      </p:graphicFrame>
      <p:sp>
        <p:nvSpPr>
          <p:cNvPr id="4" name="">
            <a:extLst xmlns:a="http://schemas.openxmlformats.org/drawingml/2006/main">
              <a:ext uri="{FF2B5EF4-FFF2-40B4-BE49-F238E27FC236}">
                <a16:creationId xmlns:a16="http://schemas.microsoft.com/office/drawing/2014/main" id="{8635B742-2C8E-4F8E-808B-7A7E56518CF0}"/>
              </a:ext>
            </a:extLst>
          </p:cNvPr>
          <p:cNvSpPr>
            <a:spLocks xmlns:a="http://schemas.openxmlformats.org/drawingml/2006/main" noGrp="1"/>
          </p:cNvSpPr>
          <p:nvPr/>
        </p:nvSpPr>
        <p:spPr>
          <a:xfrm xmlns:a="http://schemas.openxmlformats.org/drawingml/2006/main">
            <a:off x="742950" y="531495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1">
                <a:solidFill>
                  <a:srgbClr val="007B7F"/>
                </a:solidFill>
                <a:latin typeface="Arial"/>
                <a:ea typeface="Arial"/>
                <a:cs typeface="Arial"/>
              </a:defRPr>
            </a:pPr>
            <a:r>
              <a:rPr sz="1650" b="1">
                <a:solidFill>
                  <a:srgbClr val="007B7F"/>
                </a:solidFill>
                <a:latin typeface="Arial"/>
                <a:ea typeface="Arial"/>
                <a:cs typeface="Arial"/>
              </a:rPr>
              <a:t>Current rating = 80% of the nominal line rating. Voltage passes for both candidates.</a:t>
            </a:r>
          </a:p>
        </p:txBody>
      </p:sp>
      <p:sp>
        <p:nvSpPr>
          <p:cNvPr id="5" name="">
            <a:extLst xmlns:a="http://schemas.openxmlformats.org/drawingml/2006/main">
              <a:ext uri="{FF2B5EF4-FFF2-40B4-BE49-F238E27FC236}">
                <a16:creationId xmlns:a16="http://schemas.microsoft.com/office/drawing/2014/main" id="{774C48B5-43E2-42A4-A1B4-07A9BFDB72F9}"/>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Acceptance requires complete evidence and all implemented checks to pass.</a:t>
            </a:r>
          </a:p>
        </p:txBody>
      </p:sp>
    </p:spTree>
    <p:extLst>
      <p:ext uri="{BB962C8B-B14F-4D97-AF65-F5344CB8AC3E}">
        <p14:creationId xmlns:p14="http://schemas.microsoft.com/office/powerpoint/2010/main" val="1232864639"/>
      </p:ext>
    </p:extLst>
  </p:cSld>
</p:sld>
</file>

<file path=ppt/slides/slide15.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96EA689-5289-4718-9C39-B8CA28841EBC}"/>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Lab 1: predict before rerunning</a:t>
            </a:r>
          </a:p>
        </p:txBody>
      </p:sp>
      <p:sp>
        <p:nvSpPr>
          <p:cNvPr id="2" name="">
            <a:extLst xmlns:a="http://schemas.openxmlformats.org/drawingml/2006/main">
              <a:ext uri="{FF2B5EF4-FFF2-40B4-BE49-F238E27FC236}">
                <a16:creationId xmlns:a16="http://schemas.microsoft.com/office/drawing/2014/main" id="{B9003EFA-6E5F-4F6F-9F6A-8F5D1919E545}"/>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15</a:t>
            </a:r>
          </a:p>
        </p:txBody>
      </p:sp>
      <p:sp>
        <p:nvSpPr>
          <p:cNvPr id="3" name="">
            <a:extLst xmlns:a="http://schemas.openxmlformats.org/drawingml/2006/main">
              <a:ext uri="{FF2B5EF4-FFF2-40B4-BE49-F238E27FC236}">
                <a16:creationId xmlns:a16="http://schemas.microsoft.com/office/drawing/2014/main" id="{9117EBF3-B0B5-4328-9CC7-39E805941BC4}"/>
              </a:ext>
            </a:extLst>
          </p:cNvPr>
          <p:cNvSpPr>
            <a:spLocks xmlns:a="http://schemas.openxmlformats.org/drawingml/2006/main" noGrp="1"/>
          </p:cNvSpPr>
          <p:nvPr/>
        </p:nvSpPr>
        <p:spPr>
          <a:xfrm xmlns:a="http://schemas.openxmlformats.org/drawingml/2006/main">
            <a:off x="742950" y="1809750"/>
            <a:ext cx="10629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83D4B"/>
                </a:solidFill>
                <a:latin typeface="Arial"/>
                <a:ea typeface="Arial"/>
                <a:cs typeface="Arial"/>
              </a:defRPr>
            </a:pPr>
            <a:r>
              <a:rPr sz="2325" b="0">
                <a:solidFill>
                  <a:srgbClr val="183D4B"/>
                </a:solidFill>
                <a:latin typeface="Arial"/>
                <a:ea typeface="Arial"/>
                <a:cs typeface="Arial"/>
              </a:rPr>
              <a:t>Change the allowed line-rating fraction in the notebook.</a:t>
            </a:r>
          </a:p>
        </p:txBody>
      </p:sp>
      <p:sp>
        <p:nvSpPr>
          <p:cNvPr id="4" name="">
            <a:extLst xmlns:a="http://schemas.openxmlformats.org/drawingml/2006/main">
              <a:ext uri="{FF2B5EF4-FFF2-40B4-BE49-F238E27FC236}">
                <a16:creationId xmlns:a16="http://schemas.microsoft.com/office/drawing/2014/main" id="{F6BCD7FD-7EDC-4394-BBED-ED208FAFAD67}"/>
              </a:ext>
            </a:extLst>
          </p:cNvPr>
          <p:cNvSpPr>
            <a:spLocks xmlns:a="http://schemas.openxmlformats.org/drawingml/2006/main" noGrp="1"/>
          </p:cNvSpPr>
          <p:nvPr/>
        </p:nvSpPr>
        <p:spPr>
          <a:xfrm xmlns:a="http://schemas.openxmlformats.org/drawingml/2006/main">
            <a:off x="742950" y="2952750"/>
            <a:ext cx="10629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83D4B"/>
                </a:solidFill>
                <a:latin typeface="Arial"/>
                <a:ea typeface="Arial"/>
                <a:cs typeface="Arial"/>
              </a:defRPr>
            </a:pPr>
            <a:r>
              <a:rPr sz="2325" b="0">
                <a:solidFill>
                  <a:srgbClr val="183D4B"/>
                </a:solidFill>
                <a:latin typeface="Arial"/>
                <a:ea typeface="Arial"/>
                <a:cs typeface="Arial"/>
              </a:rPr>
              <a:t>Predict whether the DQN candidate will remain feasible.</a:t>
            </a:r>
          </a:p>
        </p:txBody>
      </p:sp>
      <p:sp>
        <p:nvSpPr>
          <p:cNvPr id="5" name="">
            <a:extLst xmlns:a="http://schemas.openxmlformats.org/drawingml/2006/main">
              <a:ext uri="{FF2B5EF4-FFF2-40B4-BE49-F238E27FC236}">
                <a16:creationId xmlns:a16="http://schemas.microsoft.com/office/drawing/2014/main" id="{6EB93BBE-FE44-4474-BB06-4EAE97ABA84A}"/>
              </a:ext>
            </a:extLst>
          </p:cNvPr>
          <p:cNvSpPr>
            <a:spLocks xmlns:a="http://schemas.openxmlformats.org/drawingml/2006/main" noGrp="1"/>
          </p:cNvSpPr>
          <p:nvPr/>
        </p:nvSpPr>
        <p:spPr>
          <a:xfrm xmlns:a="http://schemas.openxmlformats.org/drawingml/2006/main">
            <a:off x="742950" y="4095750"/>
            <a:ext cx="10629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83D4B"/>
                </a:solidFill>
                <a:latin typeface="Arial"/>
                <a:ea typeface="Arial"/>
                <a:cs typeface="Arial"/>
              </a:defRPr>
            </a:pPr>
            <a:r>
              <a:rPr sz="2325" b="0">
                <a:solidFill>
                  <a:srgbClr val="183D4B"/>
                </a:solidFill>
                <a:latin typeface="Arial"/>
                <a:ea typeface="Arial"/>
                <a:cs typeface="Arial"/>
              </a:rPr>
              <a:t>Inspect the rejection reason, then request an MPC candidate.</a:t>
            </a:r>
          </a:p>
        </p:txBody>
      </p:sp>
      <p:sp>
        <p:nvSpPr>
          <p:cNvPr id="6" name="">
            <a:extLst xmlns:a="http://schemas.openxmlformats.org/drawingml/2006/main">
              <a:ext uri="{FF2B5EF4-FFF2-40B4-BE49-F238E27FC236}">
                <a16:creationId xmlns:a16="http://schemas.microsoft.com/office/drawing/2014/main" id="{6909CA39-1479-4D4D-8642-FD09B209F4B5}"/>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Discussion: which result came from learning, optimization or verification?</a:t>
            </a:r>
          </a:p>
        </p:txBody>
      </p:sp>
    </p:spTree>
    <p:extLst>
      <p:ext uri="{BB962C8B-B14F-4D97-AF65-F5344CB8AC3E}">
        <p14:creationId xmlns:p14="http://schemas.microsoft.com/office/powerpoint/2010/main" val="2045024104"/>
      </p:ext>
    </p:extLst>
  </p:cSld>
</p:sld>
</file>

<file path=ppt/slides/slide16.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F9B60D23-3E35-465A-ACA6-5E0F1ED98853}"/>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D4B"/>
                </a:solidFill>
                <a:latin typeface="Arial"/>
                <a:ea typeface="Arial"/>
                <a:cs typeface="Arial"/>
              </a:defRPr>
            </a:pPr>
            <a:r>
              <a:rPr sz="3225" b="1">
                <a:solidFill>
                  <a:srgbClr val="183D4B"/>
                </a:solidFill>
                <a:latin typeface="Arial"/>
                <a:ea typeface="Arial"/>
                <a:cs typeface="Arial"/>
              </a:rPr>
              <a:t>The complete workflow in both model variants</a:t>
            </a:r>
          </a:p>
        </p:txBody>
      </p:sp>
      <p:sp>
        <p:nvSpPr>
          <p:cNvPr id="2" name="">
            <a:extLst xmlns:a="http://schemas.openxmlformats.org/drawingml/2006/main">
              <a:ext uri="{FF2B5EF4-FFF2-40B4-BE49-F238E27FC236}">
                <a16:creationId xmlns:a16="http://schemas.microsoft.com/office/drawing/2014/main" id="{A571F9F9-413E-4173-B417-CAF9D5C320B0}"/>
              </a:ext>
            </a:extLst>
          </p:cNvPr>
          <p:cNvSpPr>
            <a:spLocks xmlns:a="http://schemas.openxmlformats.org/drawingml/2006/main" noGrp="1"/>
          </p:cNvSpPr>
          <p:nvPr/>
        </p:nvSpPr>
        <p:spPr>
          <a:xfrm xmlns:a="http://schemas.openxmlformats.org/drawingml/2006/main">
            <a:off x="666750" y="1762125"/>
            <a:ext cx="2428875" cy="1238250"/>
          </a:xfrm>
          <a:prstGeom xmlns:a="http://schemas.openxmlformats.org/drawingml/2006/main" prst="rect">
            <a:avLst/>
          </a:prstGeom>
          <a:solidFill xmlns:a="http://schemas.openxmlformats.org/drawingml/2006/main">
            <a:srgbClr val="EAF2F3"/>
          </a:solidFill>
          <a:ln xmlns:a="http://schemas.openxmlformats.org/drawingml/2006/main" w="14288">
            <a:solidFill>
              <a:srgbClr val="007B7F"/>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83D4B"/>
                </a:solidFill>
                <a:latin typeface="Arial"/>
                <a:ea typeface="Arial"/>
                <a:cs typeface="Arial"/>
              </a:defRPr>
            </a:pPr>
            <a:r>
              <a:rPr sz="1875" b="1">
                <a:solidFill>
                  <a:srgbClr val="183D4B"/>
                </a:solidFill>
                <a:latin typeface="Arial"/>
                <a:ea typeface="Arial"/>
                <a:cs typeface="Arial"/>
              </a:rPr>
              <a:t>Awareness</a:t>
            </a:r>
          </a:p>
          <a:p xmlns:a="http://schemas.openxmlformats.org/drawingml/2006/main">
            <a:pPr algn="ctr">
              <a:defRPr sz="1875" b="1">
                <a:solidFill>
                  <a:srgbClr val="183D4B"/>
                </a:solidFill>
                <a:latin typeface="Arial"/>
                <a:ea typeface="Arial"/>
                <a:cs typeface="Arial"/>
              </a:defRPr>
            </a:pPr>
            <a:r>
              <a:rPr sz="1875" b="1">
                <a:solidFill>
                  <a:srgbClr val="183D4B"/>
                </a:solidFill>
                <a:latin typeface="Arial"/>
                <a:ea typeface="Arial"/>
                <a:cs typeface="Arial"/>
              </a:rPr>
              <a:t>Evidence checks</a:t>
            </a:r>
          </a:p>
        </p:txBody>
      </p:sp>
      <p:sp>
        <p:nvSpPr>
          <p:cNvPr id="3" name="">
            <a:extLst xmlns:a="http://schemas.openxmlformats.org/drawingml/2006/main">
              <a:ext uri="{FF2B5EF4-FFF2-40B4-BE49-F238E27FC236}">
                <a16:creationId xmlns:a16="http://schemas.microsoft.com/office/drawing/2014/main" id="{8F210E32-672F-47D0-B63C-3BE98A65155A}"/>
              </a:ext>
            </a:extLst>
          </p:cNvPr>
          <p:cNvSpPr>
            <a:spLocks xmlns:a="http://schemas.openxmlformats.org/drawingml/2006/main" noGrp="1"/>
          </p:cNvSpPr>
          <p:nvPr/>
        </p:nvSpPr>
        <p:spPr>
          <a:xfrm xmlns:a="http://schemas.openxmlformats.org/drawingml/2006/main">
            <a:off x="3476625" y="1762125"/>
            <a:ext cx="2428875" cy="1238250"/>
          </a:xfrm>
          <a:prstGeom xmlns:a="http://schemas.openxmlformats.org/drawingml/2006/main" prst="rect">
            <a:avLst/>
          </a:prstGeom>
          <a:solidFill xmlns:a="http://schemas.openxmlformats.org/drawingml/2006/main">
            <a:srgbClr val="EAF2F3"/>
          </a:solidFill>
          <a:ln xmlns:a="http://schemas.openxmlformats.org/drawingml/2006/main" w="14288">
            <a:solidFill>
              <a:srgbClr val="007B7F"/>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83D4B"/>
                </a:solidFill>
                <a:latin typeface="Arial"/>
                <a:ea typeface="Arial"/>
                <a:cs typeface="Arial"/>
              </a:defRPr>
            </a:pPr>
            <a:r>
              <a:rPr sz="1875" b="1">
                <a:solidFill>
                  <a:srgbClr val="183D4B"/>
                </a:solidFill>
                <a:latin typeface="Arial"/>
                <a:ea typeface="Arial"/>
                <a:cs typeface="Arial"/>
              </a:rPr>
              <a:t>Planning</a:t>
            </a:r>
          </a:p>
          <a:p xmlns:a="http://schemas.openxmlformats.org/drawingml/2006/main">
            <a:pPr algn="ctr">
              <a:defRPr sz="1875" b="1">
                <a:solidFill>
                  <a:srgbClr val="183D4B"/>
                </a:solidFill>
                <a:latin typeface="Arial"/>
                <a:ea typeface="Arial"/>
                <a:cs typeface="Arial"/>
              </a:defRPr>
            </a:pPr>
            <a:r>
              <a:rPr sz="1875" b="1">
                <a:solidFill>
                  <a:srgbClr val="183D4B"/>
                </a:solidFill>
                <a:latin typeface="Arial"/>
                <a:ea typeface="Arial"/>
                <a:cs typeface="Arial"/>
              </a:rPr>
              <a:t>MPC / search</a:t>
            </a:r>
          </a:p>
          <a:p xmlns:a="http://schemas.openxmlformats.org/drawingml/2006/main">
            <a:pPr algn="ctr">
              <a:defRPr sz="1875" b="1">
                <a:solidFill>
                  <a:srgbClr val="183D4B"/>
                </a:solidFill>
                <a:latin typeface="Arial"/>
                <a:ea typeface="Arial"/>
                <a:cs typeface="Arial"/>
              </a:defRPr>
            </a:pPr>
            <a:r>
              <a:rPr sz="1875" b="1">
                <a:solidFill>
                  <a:srgbClr val="183D4B"/>
                </a:solidFill>
                <a:latin typeface="Arial"/>
                <a:ea typeface="Arial"/>
                <a:cs typeface="Arial"/>
              </a:rPr>
              <a:t>+ Llama</a:t>
            </a:r>
          </a:p>
        </p:txBody>
      </p:sp>
      <p:sp>
        <p:nvSpPr>
          <p:cNvPr id="4" name="">
            <a:extLst xmlns:a="http://schemas.openxmlformats.org/drawingml/2006/main">
              <a:ext uri="{FF2B5EF4-FFF2-40B4-BE49-F238E27FC236}">
                <a16:creationId xmlns:a16="http://schemas.microsoft.com/office/drawing/2014/main" id="{532C3EA9-096C-4371-9B83-A5BA01106936}"/>
              </a:ext>
            </a:extLst>
          </p:cNvPr>
          <p:cNvSpPr>
            <a:spLocks xmlns:a="http://schemas.openxmlformats.org/drawingml/2006/main" noGrp="1"/>
          </p:cNvSpPr>
          <p:nvPr/>
        </p:nvSpPr>
        <p:spPr>
          <a:xfrm xmlns:a="http://schemas.openxmlformats.org/drawingml/2006/main">
            <a:off x="6286500" y="1762125"/>
            <a:ext cx="2428875" cy="1238250"/>
          </a:xfrm>
          <a:prstGeom xmlns:a="http://schemas.openxmlformats.org/drawingml/2006/main" prst="rect">
            <a:avLst/>
          </a:prstGeom>
          <a:solidFill xmlns:a="http://schemas.openxmlformats.org/drawingml/2006/main">
            <a:srgbClr val="EAF2F3"/>
          </a:solidFill>
          <a:ln xmlns:a="http://schemas.openxmlformats.org/drawingml/2006/main" w="14288">
            <a:solidFill>
              <a:srgbClr val="007B7F"/>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83D4B"/>
                </a:solidFill>
                <a:latin typeface="Arial"/>
                <a:ea typeface="Arial"/>
                <a:cs typeface="Arial"/>
              </a:defRPr>
            </a:pPr>
            <a:r>
              <a:rPr sz="1875" b="1">
                <a:solidFill>
                  <a:srgbClr val="183D4B"/>
                </a:solidFill>
                <a:latin typeface="Arial"/>
                <a:ea typeface="Arial"/>
                <a:cs typeface="Arial"/>
              </a:rPr>
              <a:t>Execution</a:t>
            </a:r>
          </a:p>
          <a:p xmlns:a="http://schemas.openxmlformats.org/drawingml/2006/main">
            <a:pPr algn="ctr">
              <a:defRPr sz="1875" b="1">
                <a:solidFill>
                  <a:srgbClr val="183D4B"/>
                </a:solidFill>
                <a:latin typeface="Arial"/>
                <a:ea typeface="Arial"/>
                <a:cs typeface="Arial"/>
              </a:defRPr>
            </a:pPr>
            <a:r>
              <a:rPr sz="1875" b="1">
                <a:solidFill>
                  <a:srgbClr val="183D4B"/>
                </a:solidFill>
                <a:latin typeface="Arial"/>
                <a:ea typeface="Arial"/>
                <a:cs typeface="Arial"/>
              </a:rPr>
              <a:t>DQN / planned move</a:t>
            </a:r>
          </a:p>
        </p:txBody>
      </p:sp>
      <p:sp>
        <p:nvSpPr>
          <p:cNvPr id="5" name="">
            <a:extLst xmlns:a="http://schemas.openxmlformats.org/drawingml/2006/main">
              <a:ext uri="{FF2B5EF4-FFF2-40B4-BE49-F238E27FC236}">
                <a16:creationId xmlns:a16="http://schemas.microsoft.com/office/drawing/2014/main" id="{B2883F6F-FF1D-4A50-8DC0-936F7F7E96F9}"/>
              </a:ext>
            </a:extLst>
          </p:cNvPr>
          <p:cNvSpPr>
            <a:spLocks xmlns:a="http://schemas.openxmlformats.org/drawingml/2006/main" noGrp="1"/>
          </p:cNvSpPr>
          <p:nvPr/>
        </p:nvSpPr>
        <p:spPr>
          <a:xfrm xmlns:a="http://schemas.openxmlformats.org/drawingml/2006/main">
            <a:off x="9096375" y="1762125"/>
            <a:ext cx="2428875" cy="1238250"/>
          </a:xfrm>
          <a:prstGeom xmlns:a="http://schemas.openxmlformats.org/drawingml/2006/main" prst="rect">
            <a:avLst/>
          </a:prstGeom>
          <a:solidFill xmlns:a="http://schemas.openxmlformats.org/drawingml/2006/main">
            <a:srgbClr val="EAF2F3"/>
          </a:solidFill>
          <a:ln xmlns:a="http://schemas.openxmlformats.org/drawingml/2006/main" w="14288">
            <a:solidFill>
              <a:srgbClr val="007B7F"/>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83D4B"/>
                </a:solidFill>
                <a:latin typeface="Arial"/>
                <a:ea typeface="Arial"/>
                <a:cs typeface="Arial"/>
              </a:defRPr>
            </a:pPr>
            <a:r>
              <a:rPr sz="1875" b="1">
                <a:solidFill>
                  <a:srgbClr val="183D4B"/>
                </a:solidFill>
                <a:latin typeface="Arial"/>
                <a:ea typeface="Arial"/>
                <a:cs typeface="Arial"/>
              </a:rPr>
              <a:t>Simulation</a:t>
            </a:r>
          </a:p>
          <a:p xmlns:a="http://schemas.openxmlformats.org/drawingml/2006/main">
            <a:pPr algn="ctr">
              <a:defRPr sz="1875" b="1">
                <a:solidFill>
                  <a:srgbClr val="183D4B"/>
                </a:solidFill>
                <a:latin typeface="Arial"/>
                <a:ea typeface="Arial"/>
                <a:cs typeface="Arial"/>
              </a:defRPr>
            </a:pPr>
            <a:r>
              <a:rPr sz="1875" b="1">
                <a:solidFill>
                  <a:srgbClr val="183D4B"/>
                </a:solidFill>
                <a:latin typeface="Arial"/>
                <a:ea typeface="Arial"/>
                <a:cs typeface="Arial"/>
              </a:rPr>
              <a:t>Chosen model</a:t>
            </a:r>
          </a:p>
        </p:txBody>
      </p:sp>
      <p:sp>
        <p:nvSpPr>
          <p:cNvPr id="6" name="">
            <a:extLst xmlns:a="http://schemas.openxmlformats.org/drawingml/2006/main">
              <a:ext uri="{FF2B5EF4-FFF2-40B4-BE49-F238E27FC236}">
                <a16:creationId xmlns:a16="http://schemas.microsoft.com/office/drawing/2014/main" id="{DC2B6364-7745-4D86-94B8-B459B2703562}"/>
              </a:ext>
            </a:extLst>
          </p:cNvPr>
          <p:cNvSpPr>
            <a:spLocks xmlns:a="http://schemas.openxmlformats.org/drawingml/2006/main" noGrp="1"/>
          </p:cNvSpPr>
          <p:nvPr/>
        </p:nvSpPr>
        <p:spPr>
          <a:xfrm xmlns:a="http://schemas.openxmlformats.org/drawingml/2006/main">
            <a:off x="9096375" y="3952875"/>
            <a:ext cx="2428875" cy="1238250"/>
          </a:xfrm>
          <a:prstGeom xmlns:a="http://schemas.openxmlformats.org/drawingml/2006/main" prst="rect">
            <a:avLst/>
          </a:prstGeom>
          <a:solidFill xmlns:a="http://schemas.openxmlformats.org/drawingml/2006/main">
            <a:srgbClr val="EAF2F3"/>
          </a:solidFill>
          <a:ln xmlns:a="http://schemas.openxmlformats.org/drawingml/2006/main" w="14288">
            <a:solidFill>
              <a:srgbClr val="007B7F"/>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83D4B"/>
                </a:solidFill>
                <a:latin typeface="Arial"/>
                <a:ea typeface="Arial"/>
                <a:cs typeface="Arial"/>
              </a:defRPr>
            </a:pPr>
            <a:r>
              <a:rPr sz="1875" b="1">
                <a:solidFill>
                  <a:srgbClr val="183D4B"/>
                </a:solidFill>
                <a:latin typeface="Arial"/>
                <a:ea typeface="Arial"/>
                <a:cs typeface="Arial"/>
              </a:rPr>
              <a:t>Verification</a:t>
            </a:r>
          </a:p>
          <a:p xmlns:a="http://schemas.openxmlformats.org/drawingml/2006/main">
            <a:pPr algn="ctr">
              <a:defRPr sz="1875" b="1">
                <a:solidFill>
                  <a:srgbClr val="183D4B"/>
                </a:solidFill>
                <a:latin typeface="Arial"/>
                <a:ea typeface="Arial"/>
                <a:cs typeface="Arial"/>
              </a:defRPr>
            </a:pPr>
            <a:r>
              <a:rPr sz="1875" b="1">
                <a:solidFill>
                  <a:srgbClr val="183D4B"/>
                </a:solidFill>
                <a:latin typeface="Arial"/>
                <a:ea typeface="Arial"/>
                <a:cs typeface="Arial"/>
              </a:rPr>
              <a:t>Limits + MPC gate</a:t>
            </a:r>
          </a:p>
        </p:txBody>
      </p:sp>
      <p:sp>
        <p:nvSpPr>
          <p:cNvPr id="7" name="">
            <a:extLst xmlns:a="http://schemas.openxmlformats.org/drawingml/2006/main">
              <a:ext uri="{FF2B5EF4-FFF2-40B4-BE49-F238E27FC236}">
                <a16:creationId xmlns:a16="http://schemas.microsoft.com/office/drawing/2014/main" id="{81247999-1011-4904-9634-B69FE8BE52D7}"/>
              </a:ext>
            </a:extLst>
          </p:cNvPr>
          <p:cNvSpPr>
            <a:spLocks xmlns:a="http://schemas.openxmlformats.org/drawingml/2006/main" noGrp="1"/>
          </p:cNvSpPr>
          <p:nvPr/>
        </p:nvSpPr>
        <p:spPr>
          <a:xfrm xmlns:a="http://schemas.openxmlformats.org/drawingml/2006/main">
            <a:off x="6286500" y="3952875"/>
            <a:ext cx="2428875" cy="1238250"/>
          </a:xfrm>
          <a:prstGeom xmlns:a="http://schemas.openxmlformats.org/drawingml/2006/main" prst="rect">
            <a:avLst/>
          </a:prstGeom>
          <a:solidFill xmlns:a="http://schemas.openxmlformats.org/drawingml/2006/main">
            <a:srgbClr val="EAF2F3"/>
          </a:solidFill>
          <a:ln xmlns:a="http://schemas.openxmlformats.org/drawingml/2006/main" w="14288">
            <a:solidFill>
              <a:srgbClr val="007B7F"/>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83D4B"/>
                </a:solidFill>
                <a:latin typeface="Arial"/>
                <a:ea typeface="Arial"/>
                <a:cs typeface="Arial"/>
              </a:defRPr>
            </a:pPr>
            <a:r>
              <a:rPr sz="1875" b="1">
                <a:solidFill>
                  <a:srgbClr val="183D4B"/>
                </a:solidFill>
                <a:latin typeface="Arial"/>
                <a:ea typeface="Arial"/>
                <a:cs typeface="Arial"/>
              </a:rPr>
              <a:t>Recovery</a:t>
            </a:r>
          </a:p>
          <a:p xmlns:a="http://schemas.openxmlformats.org/drawingml/2006/main">
            <a:pPr algn="ctr">
              <a:defRPr sz="1875" b="1">
                <a:solidFill>
                  <a:srgbClr val="183D4B"/>
                </a:solidFill>
                <a:latin typeface="Arial"/>
                <a:ea typeface="Arial"/>
                <a:cs typeface="Arial"/>
              </a:defRPr>
            </a:pPr>
            <a:r>
              <a:rPr sz="1875" b="1">
                <a:solidFill>
                  <a:srgbClr val="183D4B"/>
                </a:solidFill>
                <a:latin typeface="Arial"/>
                <a:ea typeface="Arial"/>
                <a:cs typeface="Arial"/>
              </a:rPr>
              <a:t>MPC + Llama critic</a:t>
            </a:r>
          </a:p>
        </p:txBody>
      </p:sp>
      <p:sp>
        <p:nvSpPr>
          <p:cNvPr id="8" name="">
            <a:extLst xmlns:a="http://schemas.openxmlformats.org/drawingml/2006/main">
              <a:ext uri="{FF2B5EF4-FFF2-40B4-BE49-F238E27FC236}">
                <a16:creationId xmlns:a16="http://schemas.microsoft.com/office/drawing/2014/main" id="{79325E8A-DB5B-4354-B188-133A748F0DD1}"/>
              </a:ext>
            </a:extLst>
          </p:cNvPr>
          <p:cNvSpPr>
            <a:spLocks xmlns:a="http://schemas.openxmlformats.org/drawingml/2006/main" noGrp="1"/>
          </p:cNvSpPr>
          <p:nvPr/>
        </p:nvSpPr>
        <p:spPr>
          <a:xfrm xmlns:a="http://schemas.openxmlformats.org/drawingml/2006/main">
            <a:off x="3476625" y="3952875"/>
            <a:ext cx="2428875" cy="1238250"/>
          </a:xfrm>
          <a:prstGeom xmlns:a="http://schemas.openxmlformats.org/drawingml/2006/main" prst="rect">
            <a:avLst/>
          </a:prstGeom>
          <a:solidFill xmlns:a="http://schemas.openxmlformats.org/drawingml/2006/main">
            <a:srgbClr val="EAF2F3"/>
          </a:solidFill>
          <a:ln xmlns:a="http://schemas.openxmlformats.org/drawingml/2006/main" w="14288">
            <a:solidFill>
              <a:srgbClr val="007B7F"/>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83D4B"/>
                </a:solidFill>
                <a:latin typeface="Arial"/>
                <a:ea typeface="Arial"/>
                <a:cs typeface="Arial"/>
              </a:defRPr>
            </a:pPr>
            <a:r>
              <a:rPr sz="1875" b="1">
                <a:solidFill>
                  <a:srgbClr val="183D4B"/>
                </a:solidFill>
                <a:latin typeface="Arial"/>
                <a:ea typeface="Arial"/>
                <a:cs typeface="Arial"/>
              </a:rPr>
              <a:t>Explanation</a:t>
            </a:r>
          </a:p>
          <a:p xmlns:a="http://schemas.openxmlformats.org/drawingml/2006/main">
            <a:pPr algn="ctr">
              <a:defRPr sz="1875" b="1">
                <a:solidFill>
                  <a:srgbClr val="183D4B"/>
                </a:solidFill>
                <a:latin typeface="Arial"/>
                <a:ea typeface="Arial"/>
                <a:cs typeface="Arial"/>
              </a:defRPr>
            </a:pPr>
            <a:r>
              <a:rPr sz="1875" b="1">
                <a:solidFill>
                  <a:srgbClr val="183D4B"/>
                </a:solidFill>
                <a:latin typeface="Arial"/>
                <a:ea typeface="Arial"/>
                <a:cs typeface="Arial"/>
              </a:rPr>
              <a:t>Metrics + Llama</a:t>
            </a:r>
          </a:p>
        </p:txBody>
      </p:sp>
      <p:sp>
        <p:nvSpPr>
          <p:cNvPr id="9" name="">
            <a:extLst xmlns:a="http://schemas.openxmlformats.org/drawingml/2006/main">
              <a:ext uri="{FF2B5EF4-FFF2-40B4-BE49-F238E27FC236}">
                <a16:creationId xmlns:a16="http://schemas.microsoft.com/office/drawing/2014/main" id="{1783C10B-5ADE-4931-9783-92163655418F}"/>
              </a:ext>
            </a:extLst>
          </p:cNvPr>
          <p:cNvSpPr>
            <a:spLocks xmlns:a="http://schemas.openxmlformats.org/drawingml/2006/main" noGrp="1"/>
          </p:cNvSpPr>
          <p:nvPr/>
        </p:nvSpPr>
        <p:spPr>
          <a:xfrm xmlns:a="http://schemas.openxmlformats.org/drawingml/2006/main">
            <a:off x="666750" y="3952875"/>
            <a:ext cx="2428875" cy="1238250"/>
          </a:xfrm>
          <a:prstGeom xmlns:a="http://schemas.openxmlformats.org/drawingml/2006/main" prst="rect">
            <a:avLst/>
          </a:prstGeom>
          <a:solidFill xmlns:a="http://schemas.openxmlformats.org/drawingml/2006/main">
            <a:srgbClr val="EAF2F3"/>
          </a:solidFill>
          <a:ln xmlns:a="http://schemas.openxmlformats.org/drawingml/2006/main" w="14288">
            <a:solidFill>
              <a:srgbClr val="007B7F"/>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83D4B"/>
                </a:solidFill>
                <a:latin typeface="Arial"/>
                <a:ea typeface="Arial"/>
                <a:cs typeface="Arial"/>
              </a:defRPr>
            </a:pPr>
            <a:r>
              <a:rPr sz="1875" b="1">
                <a:solidFill>
                  <a:srgbClr val="183D4B"/>
                </a:solidFill>
                <a:latin typeface="Arial"/>
                <a:ea typeface="Arial"/>
                <a:cs typeface="Arial"/>
              </a:rPr>
              <a:t>Acknowledgment</a:t>
            </a:r>
          </a:p>
          <a:p xmlns:a="http://schemas.openxmlformats.org/drawingml/2006/main">
            <a:pPr algn="ctr">
              <a:defRPr sz="1875" b="1">
                <a:solidFill>
                  <a:srgbClr val="183D4B"/>
                </a:solidFill>
                <a:latin typeface="Arial"/>
                <a:ea typeface="Arial"/>
                <a:cs typeface="Arial"/>
              </a:defRPr>
            </a:pPr>
            <a:r>
              <a:rPr sz="1875" b="1">
                <a:solidFill>
                  <a:srgbClr val="183D4B"/>
                </a:solidFill>
                <a:latin typeface="Arial"/>
                <a:ea typeface="Arial"/>
                <a:cs typeface="Arial"/>
              </a:rPr>
              <a:t>Operator readback</a:t>
            </a:r>
          </a:p>
        </p:txBody>
      </p:sp>
      <p:cxnSp>
        <p:nvCxnSpPr>
          <p:cNvPr id="34" name=""/>
          <p:cNvCxnSpPr>
            <a:stCxn xmlns:a="http://schemas.openxmlformats.org/drawingml/2006/main" id="2" idx="3"/>
            <a:endCxn xmlns:a="http://schemas.openxmlformats.org/drawingml/2006/main" id="3" idx="1"/>
          </p:cNvCxnSpPr>
          <p:nvPr/>
        </p:nvCxnSpPr>
        <p:spPr>
          <a:xfrm xmlns:a="http://schemas.openxmlformats.org/drawingml/2006/main">
            <a:off x="3095625" y="2381250"/>
            <a:ext cx="381000" cy="0"/>
          </a:xfrm>
          <a:prstGeom xmlns:a="http://schemas.openxmlformats.org/drawingml/2006/main" prst="straightConnector1">
            <a:avLst/>
          </a:prstGeom>
          <a:ln xmlns:a="http://schemas.openxmlformats.org/drawingml/2006/main" w="19050">
            <a:solidFill>
              <a:srgbClr val="007B7F"/>
            </a:solidFill>
            <a:tailEnd type="arrow" w="med" len="med"/>
          </a:ln>
        </p:spPr>
      </p:cxnSp>
      <p:cxnSp>
        <p:nvCxnSpPr>
          <p:cNvPr id="35" name=""/>
          <p:cNvCxnSpPr>
            <a:stCxn xmlns:a="http://schemas.openxmlformats.org/drawingml/2006/main" id="3" idx="3"/>
            <a:endCxn xmlns:a="http://schemas.openxmlformats.org/drawingml/2006/main" id="4" idx="1"/>
          </p:cNvCxnSpPr>
          <p:nvPr/>
        </p:nvCxnSpPr>
        <p:spPr>
          <a:xfrm xmlns:a="http://schemas.openxmlformats.org/drawingml/2006/main">
            <a:off x="5905500" y="2381250"/>
            <a:ext cx="381000" cy="0"/>
          </a:xfrm>
          <a:prstGeom xmlns:a="http://schemas.openxmlformats.org/drawingml/2006/main" prst="straightConnector1">
            <a:avLst/>
          </a:prstGeom>
          <a:ln xmlns:a="http://schemas.openxmlformats.org/drawingml/2006/main" w="19050">
            <a:solidFill>
              <a:srgbClr val="007B7F"/>
            </a:solidFill>
            <a:tailEnd type="arrow" w="med" len="med"/>
          </a:ln>
        </p:spPr>
      </p:cxnSp>
      <p:cxnSp>
        <p:nvCxnSpPr>
          <p:cNvPr id="36" name=""/>
          <p:cNvCxnSpPr>
            <a:stCxn xmlns:a="http://schemas.openxmlformats.org/drawingml/2006/main" id="4" idx="3"/>
            <a:endCxn xmlns:a="http://schemas.openxmlformats.org/drawingml/2006/main" id="5" idx="1"/>
          </p:cNvCxnSpPr>
          <p:nvPr/>
        </p:nvCxnSpPr>
        <p:spPr>
          <a:xfrm xmlns:a="http://schemas.openxmlformats.org/drawingml/2006/main">
            <a:off x="8715375" y="2381250"/>
            <a:ext cx="381000" cy="0"/>
          </a:xfrm>
          <a:prstGeom xmlns:a="http://schemas.openxmlformats.org/drawingml/2006/main" prst="straightConnector1">
            <a:avLst/>
          </a:prstGeom>
          <a:ln xmlns:a="http://schemas.openxmlformats.org/drawingml/2006/main" w="19050">
            <a:solidFill>
              <a:srgbClr val="007B7F"/>
            </a:solidFill>
            <a:tailEnd type="arrow" w="med" len="med"/>
          </a:ln>
        </p:spPr>
      </p:cxnSp>
      <p:cxnSp>
        <p:nvCxnSpPr>
          <p:cNvPr id="37" name=""/>
          <p:cNvCxnSpPr>
            <a:stCxn xmlns:a="http://schemas.openxmlformats.org/drawingml/2006/main" id="5" idx="2"/>
            <a:endCxn xmlns:a="http://schemas.openxmlformats.org/drawingml/2006/main" id="6" idx="0"/>
          </p:cNvCxnSpPr>
          <p:nvPr/>
        </p:nvCxnSpPr>
        <p:spPr>
          <a:xfrm xmlns:a="http://schemas.openxmlformats.org/drawingml/2006/main">
            <a:off x="10310813" y="3000375"/>
            <a:ext cx="0" cy="952500"/>
          </a:xfrm>
          <a:prstGeom xmlns:a="http://schemas.openxmlformats.org/drawingml/2006/main" prst="straightConnector1">
            <a:avLst/>
          </a:prstGeom>
          <a:ln xmlns:a="http://schemas.openxmlformats.org/drawingml/2006/main" w="19050">
            <a:solidFill>
              <a:srgbClr val="007B7F"/>
            </a:solidFill>
            <a:tailEnd type="arrow" w="med" len="med"/>
          </a:ln>
        </p:spPr>
      </p:cxnSp>
      <p:cxnSp>
        <p:nvCxnSpPr>
          <p:cNvPr id="38" name=""/>
          <p:cNvCxnSpPr>
            <a:stCxn xmlns:a="http://schemas.openxmlformats.org/drawingml/2006/main" id="6" idx="1"/>
            <a:endCxn xmlns:a="http://schemas.openxmlformats.org/drawingml/2006/main" id="7" idx="3"/>
          </p:cNvCxnSpPr>
          <p:nvPr/>
        </p:nvCxnSpPr>
        <p:spPr>
          <a:xfrm xmlns:a="http://schemas.openxmlformats.org/drawingml/2006/main" flipH="1">
            <a:off x="8715375" y="4572000"/>
            <a:ext cx="381000" cy="0"/>
          </a:xfrm>
          <a:prstGeom xmlns:a="http://schemas.openxmlformats.org/drawingml/2006/main" prst="straightConnector1">
            <a:avLst/>
          </a:prstGeom>
          <a:ln xmlns:a="http://schemas.openxmlformats.org/drawingml/2006/main" w="19050">
            <a:solidFill>
              <a:srgbClr val="BC6328"/>
            </a:solidFill>
            <a:tailEnd type="arrow" w="med" len="med"/>
          </a:ln>
        </p:spPr>
      </p:cxnSp>
      <p:cxnSp>
        <p:nvCxnSpPr>
          <p:cNvPr id="39" name=""/>
          <p:cNvCxnSpPr>
            <a:stCxn xmlns:a="http://schemas.openxmlformats.org/drawingml/2006/main" id="6" idx="2"/>
            <a:endCxn xmlns:a="http://schemas.openxmlformats.org/drawingml/2006/main" id="8" idx="2"/>
          </p:cNvCxnSpPr>
          <p:nvPr/>
        </p:nvCxnSpPr>
        <p:spPr>
          <a:xfrm xmlns:a="http://schemas.openxmlformats.org/drawingml/2006/main" flipH="1">
            <a:off x="4691063" y="5191125"/>
            <a:ext cx="5619750" cy="228600"/>
          </a:xfrm>
          <a:prstGeom xmlns:a="http://schemas.openxmlformats.org/drawingml/2006/main" prst="bentConnector4">
            <a:avLst/>
          </a:prstGeom>
          <a:ln xmlns:a="http://schemas.openxmlformats.org/drawingml/2006/main" w="19050">
            <a:solidFill>
              <a:srgbClr val="007B7F"/>
            </a:solidFill>
            <a:tailEnd type="arrow" w="med" len="med"/>
          </a:ln>
        </p:spPr>
      </p:cxnSp>
      <p:cxnSp>
        <p:nvCxnSpPr>
          <p:cNvPr id="40" name=""/>
          <p:cNvCxnSpPr>
            <a:stCxn xmlns:a="http://schemas.openxmlformats.org/drawingml/2006/main" id="8" idx="1"/>
            <a:endCxn xmlns:a="http://schemas.openxmlformats.org/drawingml/2006/main" id="9" idx="3"/>
          </p:cNvCxnSpPr>
          <p:nvPr/>
        </p:nvCxnSpPr>
        <p:spPr>
          <a:xfrm xmlns:a="http://schemas.openxmlformats.org/drawingml/2006/main" flipH="1">
            <a:off x="3095625" y="4572000"/>
            <a:ext cx="381000" cy="0"/>
          </a:xfrm>
          <a:prstGeom xmlns:a="http://schemas.openxmlformats.org/drawingml/2006/main" prst="straightConnector1">
            <a:avLst/>
          </a:prstGeom>
          <a:ln xmlns:a="http://schemas.openxmlformats.org/drawingml/2006/main" w="19050">
            <a:solidFill>
              <a:srgbClr val="007B7F"/>
            </a:solidFill>
            <a:tailEnd type="arrow" w="med" len="med"/>
          </a:ln>
        </p:spPr>
      </p:cxnSp>
      <p:cxnSp>
        <p:nvCxnSpPr>
          <p:cNvPr id="41" name=""/>
          <p:cNvCxnSpPr>
            <a:stCxn xmlns:a="http://schemas.openxmlformats.org/drawingml/2006/main" id="7" idx="1"/>
            <a:endCxn xmlns:a="http://schemas.openxmlformats.org/drawingml/2006/main" id="8" idx="3"/>
          </p:cNvCxnSpPr>
          <p:nvPr/>
        </p:nvCxnSpPr>
        <p:spPr>
          <a:xfrm xmlns:a="http://schemas.openxmlformats.org/drawingml/2006/main" flipH="1">
            <a:off x="5905500" y="4572000"/>
            <a:ext cx="381000" cy="0"/>
          </a:xfrm>
          <a:prstGeom xmlns:a="http://schemas.openxmlformats.org/drawingml/2006/main" prst="straightConnector1">
            <a:avLst/>
          </a:prstGeom>
          <a:ln xmlns:a="http://schemas.openxmlformats.org/drawingml/2006/main" w="19050">
            <a:solidFill>
              <a:srgbClr val="BC6328"/>
            </a:solidFill>
            <a:tailEnd type="arrow" w="med" len="med"/>
          </a:ln>
        </p:spPr>
      </p:cxnSp>
      <p:cxnSp>
        <p:nvCxnSpPr>
          <p:cNvPr id="42" name=""/>
          <p:cNvCxnSpPr>
            <a:stCxn xmlns:a="http://schemas.openxmlformats.org/drawingml/2006/main" id="7" idx="0"/>
            <a:endCxn xmlns:a="http://schemas.openxmlformats.org/drawingml/2006/main" id="4" idx="2"/>
          </p:cNvCxnSpPr>
          <p:nvPr/>
        </p:nvCxnSpPr>
        <p:spPr>
          <a:xfrm xmlns:a="http://schemas.openxmlformats.org/drawingml/2006/main" flipV="1">
            <a:off x="7500938" y="3000375"/>
            <a:ext cx="0" cy="952500"/>
          </a:xfrm>
          <a:prstGeom xmlns:a="http://schemas.openxmlformats.org/drawingml/2006/main" prst="straightConnector1">
            <a:avLst/>
          </a:prstGeom>
          <a:ln xmlns:a="http://schemas.openxmlformats.org/drawingml/2006/main" w="19050">
            <a:solidFill>
              <a:srgbClr val="BC6328"/>
            </a:solidFill>
            <a:tailEnd type="arrow" w="med" len="med"/>
          </a:ln>
        </p:spPr>
      </p:cxnSp>
      <p:sp>
        <p:nvSpPr>
          <p:cNvPr id="19" name="">
            <a:extLst xmlns:a="http://schemas.openxmlformats.org/drawingml/2006/main">
              <a:ext uri="{FF2B5EF4-FFF2-40B4-BE49-F238E27FC236}">
                <a16:creationId xmlns:a16="http://schemas.microsoft.com/office/drawing/2014/main" id="{77BD720F-C549-40C7-BEA3-A790F90EDD68}"/>
              </a:ext>
            </a:extLst>
          </p:cNvPr>
          <p:cNvSpPr>
            <a:spLocks xmlns:a="http://schemas.openxmlformats.org/drawingml/2006/main" noGrp="1"/>
          </p:cNvSpPr>
          <p:nvPr/>
        </p:nvSpPr>
        <p:spPr>
          <a:xfrm xmlns:a="http://schemas.openxmlformats.org/drawingml/2006/main">
            <a:off x="8134350" y="3552825"/>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C6328"/>
                </a:solidFill>
                <a:latin typeface="Arial"/>
                <a:ea typeface="Arial"/>
                <a:cs typeface="Arial"/>
              </a:defRPr>
            </a:pPr>
            <a:r>
              <a:rPr sz="1650" b="0">
                <a:solidFill>
                  <a:srgbClr val="BC6328"/>
                </a:solidFill>
                <a:latin typeface="Arial"/>
                <a:ea typeface="Arial"/>
                <a:cs typeface="Arial"/>
              </a:rPr>
              <a:t>If rejected</a:t>
            </a:r>
          </a:p>
        </p:txBody>
      </p:sp>
      <p:sp>
        <p:nvSpPr>
          <p:cNvPr id="20" name="">
            <a:extLst xmlns:a="http://schemas.openxmlformats.org/drawingml/2006/main">
              <a:ext uri="{FF2B5EF4-FFF2-40B4-BE49-F238E27FC236}">
                <a16:creationId xmlns:a16="http://schemas.microsoft.com/office/drawing/2014/main" id="{EC2BBC56-302E-4CB0-9762-F139D159FFD3}"/>
              </a:ext>
            </a:extLst>
          </p:cNvPr>
          <p:cNvSpPr>
            <a:spLocks xmlns:a="http://schemas.openxmlformats.org/drawingml/2006/main" noGrp="1"/>
          </p:cNvSpPr>
          <p:nvPr/>
        </p:nvSpPr>
        <p:spPr>
          <a:xfrm xmlns:a="http://schemas.openxmlformats.org/drawingml/2006/main">
            <a:off x="7515225" y="3276600"/>
            <a:ext cx="10572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C6328"/>
                </a:solidFill>
                <a:latin typeface="Arial"/>
                <a:ea typeface="Arial"/>
                <a:cs typeface="Arial"/>
              </a:defRPr>
            </a:pPr>
            <a:r>
              <a:rPr sz="1650" b="0">
                <a:solidFill>
                  <a:srgbClr val="BC6328"/>
                </a:solidFill>
                <a:latin typeface="Arial"/>
                <a:ea typeface="Arial"/>
                <a:cs typeface="Arial"/>
              </a:rPr>
              <a:t>Retry</a:t>
            </a:r>
          </a:p>
        </p:txBody>
      </p:sp>
      <p:sp>
        <p:nvSpPr>
          <p:cNvPr id="21" name="">
            <a:extLst xmlns:a="http://schemas.openxmlformats.org/drawingml/2006/main">
              <a:ext uri="{FF2B5EF4-FFF2-40B4-BE49-F238E27FC236}">
                <a16:creationId xmlns:a16="http://schemas.microsoft.com/office/drawing/2014/main" id="{C5FD2225-6C3E-4B5D-B9D4-0B9728210CFE}"/>
              </a:ext>
            </a:extLst>
          </p:cNvPr>
          <p:cNvSpPr>
            <a:spLocks xmlns:a="http://schemas.openxmlformats.org/drawingml/2006/main" noGrp="1"/>
          </p:cNvSpPr>
          <p:nvPr/>
        </p:nvSpPr>
        <p:spPr>
          <a:xfrm xmlns:a="http://schemas.openxmlformats.org/drawingml/2006/main">
            <a:off x="5743575" y="3552825"/>
            <a:ext cx="10572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C6328"/>
                </a:solidFill>
                <a:latin typeface="Arial"/>
                <a:ea typeface="Arial"/>
                <a:cs typeface="Arial"/>
              </a:defRPr>
            </a:pPr>
            <a:r>
              <a:rPr sz="1650" b="0">
                <a:solidFill>
                  <a:srgbClr val="BC6328"/>
                </a:solidFill>
                <a:latin typeface="Arial"/>
                <a:ea typeface="Arial"/>
                <a:cs typeface="Arial"/>
              </a:rPr>
              <a:t>Stop</a:t>
            </a:r>
          </a:p>
        </p:txBody>
      </p:sp>
      <p:sp>
        <p:nvSpPr>
          <p:cNvPr id="22" name="">
            <a:extLst xmlns:a="http://schemas.openxmlformats.org/drawingml/2006/main">
              <a:ext uri="{FF2B5EF4-FFF2-40B4-BE49-F238E27FC236}">
                <a16:creationId xmlns:a16="http://schemas.microsoft.com/office/drawing/2014/main" id="{62ABCAE6-334E-456B-AFD0-27E192CDE6FD}"/>
              </a:ext>
            </a:extLst>
          </p:cNvPr>
          <p:cNvSpPr>
            <a:spLocks xmlns:a="http://schemas.openxmlformats.org/drawingml/2006/main" noGrp="1"/>
          </p:cNvSpPr>
          <p:nvPr/>
        </p:nvSpPr>
        <p:spPr>
          <a:xfrm xmlns:a="http://schemas.openxmlformats.org/drawingml/2006/main">
            <a:off x="5619750" y="5419725"/>
            <a:ext cx="3695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007B7F"/>
                </a:solidFill>
                <a:latin typeface="Arial"/>
                <a:ea typeface="Arial"/>
                <a:cs typeface="Arial"/>
              </a:defRPr>
            </a:pPr>
            <a:r>
              <a:rPr sz="1650" b="0">
                <a:solidFill>
                  <a:srgbClr val="007B7F"/>
                </a:solidFill>
                <a:latin typeface="Arial"/>
                <a:ea typeface="Arial"/>
                <a:cs typeface="Arial"/>
              </a:rPr>
              <a:t>Accepted recommendation</a:t>
            </a:r>
          </a:p>
        </p:txBody>
      </p:sp>
      <p:sp>
        <p:nvSpPr>
          <p:cNvPr id="23" name="">
            <a:extLst xmlns:a="http://schemas.openxmlformats.org/drawingml/2006/main">
              <a:ext uri="{FF2B5EF4-FFF2-40B4-BE49-F238E27FC236}">
                <a16:creationId xmlns:a16="http://schemas.microsoft.com/office/drawing/2014/main" id="{F9967580-2BC7-4A9A-AFCA-6F49EF967760}"/>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874"/>
                </a:solidFill>
                <a:latin typeface="Arial"/>
                <a:ea typeface="Arial"/>
                <a:cs typeface="Arial"/>
              </a:defRPr>
            </a:pPr>
            <a:r>
              <a:rPr sz="1575" b="0">
                <a:solidFill>
                  <a:srgbClr val="526874"/>
                </a:solidFill>
                <a:latin typeface="Arial"/>
                <a:ea typeface="Arial"/>
                <a:cs typeface="Arial"/>
              </a:rPr>
              <a:t>A stopped run still reaches explanation and operator readback. No equipment is dispatched.</a:t>
            </a:r>
          </a:p>
        </p:txBody>
      </p:sp>
      <p:sp>
        <p:nvSpPr>
          <p:cNvPr id="24" name="">
            <a:extLst xmlns:a="http://schemas.openxmlformats.org/drawingml/2006/main">
              <a:ext uri="{FF2B5EF4-FFF2-40B4-BE49-F238E27FC236}">
                <a16:creationId xmlns:a16="http://schemas.microsoft.com/office/drawing/2014/main" id="{CA52D967-9A56-4F25-9825-B765924FBC83}"/>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874"/>
                </a:solidFill>
                <a:latin typeface="Arial"/>
                <a:ea typeface="Arial"/>
                <a:cs typeface="Arial"/>
              </a:defRPr>
            </a:pPr>
            <a:r>
              <a:rPr sz="1275" b="0">
                <a:solidFill>
                  <a:srgbClr val="526874"/>
                </a:solidFill>
                <a:latin typeface="Arial"/>
                <a:ea typeface="Arial"/>
                <a:cs typeface="Arial"/>
              </a:rPr>
              <a:t>16</a:t>
            </a:r>
          </a:p>
        </p:txBody>
      </p:sp>
    </p:spTree>
    <p:extLst>
      <p:ext uri="{BB962C8B-B14F-4D97-AF65-F5344CB8AC3E}">
        <p14:creationId xmlns:p14="http://schemas.microsoft.com/office/powerpoint/2010/main" val="2010445370"/>
      </p:ext>
    </p:extLst>
  </p:cSld>
</p:sld>
</file>

<file path=ppt/slides/slide17.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C41F50F-90EA-40B7-813D-703EC25E8292}"/>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A shared candidate schema</a:t>
            </a:r>
          </a:p>
        </p:txBody>
      </p:sp>
      <p:sp>
        <p:nvSpPr>
          <p:cNvPr id="2" name="">
            <a:extLst xmlns:a="http://schemas.openxmlformats.org/drawingml/2006/main">
              <a:ext uri="{FF2B5EF4-FFF2-40B4-BE49-F238E27FC236}">
                <a16:creationId xmlns:a16="http://schemas.microsoft.com/office/drawing/2014/main" id="{F739098F-F1E3-44C4-9D2C-A8A52239E0C2}"/>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17</a:t>
            </a:r>
          </a:p>
        </p:txBody>
      </p:sp>
      <p:graphicFrame>
        <p:nvGraphicFramePr>
          <p:cNvPr id="9" name=""/>
          <p:cNvGraphicFramePr/>
          <p:nvPr/>
        </p:nvGraphicFramePr>
        <p:xfrm>
          <a:off xmlns:a="http://schemas.openxmlformats.org/drawingml/2006/main" x="685800" y="1619250"/>
          <a:ext xmlns:a="http://schemas.openxmlformats.org/drawingml/2006/main" cx="10820400" cy="3943350"/>
        </p:xfrm>
        <a:graphic xmlns:a="http://schemas.openxmlformats.org/drawingml/2006/main">
          <a:graphicData uri="http://schemas.openxmlformats.org/drawingml/2006/table">
            <a:tbl>
              <a:tblPr/>
              <a:tblGrid>
                <a:gridCol w="3000375"/>
                <a:gridCol w="7820025"/>
              </a:tblGrid>
              <a:tr h="788670">
                <a:tc>
                  <a:txBody>
                    <a:bodyPr/>
                    <a:lstStyle/>
                    <a:p>
                      <a:r>
                        <a:rPr sz="2025" b="1">
                          <a:solidFill>
                            <a:srgbClr val="FFFFFF"/>
                          </a:solidFill>
                          <a:latin typeface="Arial"/>
                          <a:ea typeface="Arial"/>
                          <a:cs typeface="Arial"/>
                        </a:rPr>
                        <a:t>Field</a:t>
                      </a:r>
                    </a:p>
                  </a:txBody>
                  <a:tcPr marL="91440" marR="91440" marT="45720" marB="45720">
                    <a:solidFill>
                      <a:srgbClr val="183D4B"/>
                    </a:solidFill>
                  </a:tcPr>
                </a:tc>
                <a:tc>
                  <a:txBody>
                    <a:bodyPr/>
                    <a:lstStyle/>
                    <a:p>
                      <a:r>
                        <a:rPr sz="2025" b="1">
                          <a:solidFill>
                            <a:srgbClr val="FFFFFF"/>
                          </a:solidFill>
                          <a:latin typeface="Arial"/>
                          <a:ea typeface="Arial"/>
                          <a:cs typeface="Arial"/>
                        </a:rPr>
                        <a:t>Meaning</a:t>
                      </a:r>
                    </a:p>
                  </a:txBody>
                  <a:tcPr marL="91440" marR="91440" marT="45720" marB="45720">
                    <a:solidFill>
                      <a:srgbClr val="183D4B"/>
                    </a:solidFill>
                  </a:tcPr>
                </a:tc>
              </a:tr>
              <a:tr h="788670">
                <a:tc>
                  <a:txBody>
                    <a:bodyPr/>
                    <a:lstStyle/>
                    <a:p>
                      <a:r>
                        <a:rPr sz="2025" b="0">
                          <a:solidFill>
                            <a:srgbClr val="183D4B"/>
                          </a:solidFill>
                          <a:latin typeface="Arial"/>
                          <a:ea typeface="Arial"/>
                          <a:cs typeface="Arial"/>
                        </a:rPr>
                        <a:t>tool</a:t>
                      </a:r>
                    </a:p>
                  </a:txBody>
                  <a:tcPr marL="91440" marR="91440" marT="45720" marB="45720">
                    <a:solidFill>
                      <a:srgbClr val="FFFFFF"/>
                    </a:solidFill>
                  </a:tcPr>
                </a:tc>
                <a:tc>
                  <a:txBody>
                    <a:bodyPr/>
                    <a:lstStyle/>
                    <a:p>
                      <a:r>
                        <a:rPr sz="2025" b="0">
                          <a:solidFill>
                            <a:srgbClr val="183D4B"/>
                          </a:solidFill>
                          <a:latin typeface="Arial"/>
                          <a:ea typeface="Arial"/>
                          <a:cs typeface="Arial"/>
                        </a:rPr>
                        <a:t>MPC, DRL or RESTORATION_SEARCH</a:t>
                      </a:r>
                    </a:p>
                  </a:txBody>
                  <a:tcPr marL="91440" marR="91440" marT="45720" marB="45720">
                    <a:solidFill>
                      <a:srgbClr val="FFFFFF"/>
                    </a:solidFill>
                  </a:tcPr>
                </a:tc>
              </a:tr>
              <a:tr h="788670">
                <a:tc>
                  <a:txBody>
                    <a:bodyPr/>
                    <a:lstStyle/>
                    <a:p>
                      <a:r>
                        <a:rPr sz="2025" b="0">
                          <a:solidFill>
                            <a:srgbClr val="183D4B"/>
                          </a:solidFill>
                          <a:latin typeface="Arial"/>
                          <a:ea typeface="Arial"/>
                          <a:cs typeface="Arial"/>
                        </a:rPr>
                        <a:t>pv_cap</a:t>
                      </a:r>
                    </a:p>
                  </a:txBody>
                  <a:tcPr marL="91440" marR="91440" marT="45720" marB="45720">
                    <a:solidFill>
                      <a:srgbClr val="EAF2F3"/>
                    </a:solidFill>
                  </a:tcPr>
                </a:tc>
                <a:tc>
                  <a:txBody>
                    <a:bodyPr/>
                    <a:lstStyle/>
                    <a:p>
                      <a:r>
                        <a:rPr sz="2025" b="0">
                          <a:solidFill>
                            <a:srgbClr val="183D4B"/>
                          </a:solidFill>
                          <a:latin typeface="Arial"/>
                          <a:ea typeface="Arial"/>
                          <a:cs typeface="Arial"/>
                        </a:rPr>
                        <a:t>Active PV cap in percent</a:t>
                      </a:r>
                    </a:p>
                  </a:txBody>
                  <a:tcPr marL="91440" marR="91440" marT="45720" marB="45720">
                    <a:solidFill>
                      <a:srgbClr val="EAF2F3"/>
                    </a:solidFill>
                  </a:tcPr>
                </a:tc>
              </a:tr>
              <a:tr h="788670">
                <a:tc>
                  <a:txBody>
                    <a:bodyPr/>
                    <a:lstStyle/>
                    <a:p>
                      <a:r>
                        <a:rPr sz="2025" b="0">
                          <a:solidFill>
                            <a:srgbClr val="183D4B"/>
                          </a:solidFill>
                          <a:latin typeface="Arial"/>
                          <a:ea typeface="Arial"/>
                          <a:cs typeface="Arial"/>
                        </a:rPr>
                        <a:t>tie</a:t>
                      </a:r>
                    </a:p>
                  </a:txBody>
                  <a:tcPr marL="91440" marR="91440" marT="45720" marB="45720">
                    <a:solidFill>
                      <a:srgbClr val="FFFFFF"/>
                    </a:solidFill>
                  </a:tcPr>
                </a:tc>
                <a:tc>
                  <a:txBody>
                    <a:bodyPr/>
                    <a:lstStyle/>
                    <a:p>
                      <a:r>
                        <a:rPr sz="2025" b="0">
                          <a:solidFill>
                            <a:srgbClr val="183D4B"/>
                          </a:solidFill>
                          <a:latin typeface="Arial"/>
                          <a:ea typeface="Arial"/>
                          <a:cs typeface="Arial"/>
                        </a:rPr>
                        <a:t>Allowed alternate route or no route</a:t>
                      </a:r>
                    </a:p>
                  </a:txBody>
                  <a:tcPr marL="91440" marR="91440" marT="45720" marB="45720">
                    <a:solidFill>
                      <a:srgbClr val="FFFFFF"/>
                    </a:solidFill>
                  </a:tcPr>
                </a:tc>
              </a:tr>
              <a:tr h="788670">
                <a:tc>
                  <a:txBody>
                    <a:bodyPr/>
                    <a:lstStyle/>
                    <a:p>
                      <a:r>
                        <a:rPr sz="2025" b="0">
                          <a:solidFill>
                            <a:srgbClr val="183D4B"/>
                          </a:solidFill>
                          <a:latin typeface="Arial"/>
                          <a:ea typeface="Arial"/>
                          <a:cs typeface="Arial"/>
                        </a:rPr>
                        <a:t>shed_fraction</a:t>
                      </a:r>
                    </a:p>
                  </a:txBody>
                  <a:tcPr marL="91440" marR="91440" marT="45720" marB="45720">
                    <a:solidFill>
                      <a:srgbClr val="EAF2F3"/>
                    </a:solidFill>
                  </a:tcPr>
                </a:tc>
                <a:tc>
                  <a:txBody>
                    <a:bodyPr/>
                    <a:lstStyle/>
                    <a:p>
                      <a:r>
                        <a:rPr sz="2025" b="0">
                          <a:solidFill>
                            <a:srgbClr val="183D4B"/>
                          </a:solidFill>
                          <a:latin typeface="Arial"/>
                          <a:ea typeface="Arial"/>
                          <a:cs typeface="Arial"/>
                        </a:rPr>
                        <a:t>Fraction of noncritical load objects disconnected</a:t>
                      </a:r>
                    </a:p>
                  </a:txBody>
                  <a:tcPr marL="91440" marR="91440" marT="45720" marB="45720">
                    <a:solidFill>
                      <a:srgbClr val="EAF2F3"/>
                    </a:solidFill>
                  </a:tcPr>
                </a:tc>
              </a:tr>
            </a:tbl>
          </a:graphicData>
        </a:graphic>
      </p:graphicFrame>
      <p:sp>
        <p:nvSpPr>
          <p:cNvPr id="4" name="">
            <a:extLst xmlns:a="http://schemas.openxmlformats.org/drawingml/2006/main">
              <a:ext uri="{FF2B5EF4-FFF2-40B4-BE49-F238E27FC236}">
                <a16:creationId xmlns:a16="http://schemas.microsoft.com/office/drawing/2014/main" id="{47891FE1-7B21-4A31-A27D-3214D1153820}"/>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The workflow carries the case, evidence and rejection history alongside the candidate.</a:t>
            </a:r>
          </a:p>
        </p:txBody>
      </p:sp>
    </p:spTree>
    <p:extLst>
      <p:ext uri="{BB962C8B-B14F-4D97-AF65-F5344CB8AC3E}">
        <p14:creationId xmlns:p14="http://schemas.microsoft.com/office/powerpoint/2010/main" val="482266087"/>
      </p:ext>
    </p:extLst>
  </p:cSld>
</p:sld>
</file>

<file path=ppt/slides/slide18.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AF2C2D8-79C7-4414-9262-072CE33BFB28}"/>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One paraphrase reaches a verified recommendation</a:t>
            </a:r>
          </a:p>
        </p:txBody>
      </p:sp>
      <p:sp>
        <p:nvSpPr>
          <p:cNvPr id="2" name="">
            <a:extLst xmlns:a="http://schemas.openxmlformats.org/drawingml/2006/main">
              <a:ext uri="{FF2B5EF4-FFF2-40B4-BE49-F238E27FC236}">
                <a16:creationId xmlns:a16="http://schemas.microsoft.com/office/drawing/2014/main" id="{59B07BE6-0055-4CDD-81C5-C5192D320D6B}"/>
              </a:ext>
            </a:extLst>
          </p:cNvPr>
          <p:cNvSpPr>
            <a:spLocks xmlns:a="http://schemas.openxmlformats.org/drawingml/2006/main" noGrp="1"/>
          </p:cNvSpPr>
          <p:nvPr/>
        </p:nvSpPr>
        <p:spPr>
          <a:xfrm xmlns:a="http://schemas.openxmlformats.org/drawingml/2006/main">
            <a:off x="742950" y="1571625"/>
            <a:ext cx="106299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83D4B"/>
                </a:solidFill>
                <a:latin typeface="Arial"/>
                <a:ea typeface="Arial"/>
                <a:cs typeface="Arial"/>
              </a:defRPr>
            </a:pPr>
            <a:r>
              <a:rPr sz="1950" b="0">
                <a:solidFill>
                  <a:srgbClr val="183D4B"/>
                </a:solidFill>
                <a:latin typeface="Arial"/>
                <a:ea typeface="Arial"/>
                <a:cs typeface="Arial"/>
              </a:rPr>
              <a:t>“Bring back demand with at most one hundred amperes through the nearby bypass. Keep the farther route open and leave solar generation out of the plan.”</a:t>
            </a:r>
          </a:p>
        </p:txBody>
      </p:sp>
      <p:graphicFrame>
        <p:nvGraphicFramePr>
          <p:cNvPr id="11" name=""/>
          <p:cNvGraphicFramePr/>
          <p:nvPr/>
        </p:nvGraphicFramePr>
        <p:xfrm>
          <a:off xmlns:a="http://schemas.openxmlformats.org/drawingml/2006/main" x="685800" y="2781300"/>
          <a:ext xmlns:a="http://schemas.openxmlformats.org/drawingml/2006/main" cx="10820400" cy="2047875"/>
        </p:xfrm>
        <a:graphic xmlns:a="http://schemas.openxmlformats.org/drawingml/2006/main">
          <a:graphicData uri="http://schemas.openxmlformats.org/drawingml/2006/table">
            <a:tbl>
              <a:tblPr/>
              <a:tblGrid>
                <a:gridCol w="2305050"/>
                <a:gridCol w="5429250"/>
                <a:gridCol w="3086100"/>
              </a:tblGrid>
              <a:tr h="682625">
                <a:tc>
                  <a:txBody>
                    <a:bodyPr/>
                    <a:lstStyle/>
                    <a:p>
                      <a:r>
                        <a:rPr sz="1800" b="1">
                          <a:solidFill>
                            <a:srgbClr val="FFFFFF"/>
                          </a:solidFill>
                          <a:latin typeface="Arial"/>
                          <a:ea typeface="Arial"/>
                          <a:cs typeface="Arial"/>
                        </a:rPr>
                        <a:t>Interface</a:t>
                      </a:r>
                    </a:p>
                  </a:txBody>
                  <a:tcPr marL="91440" marR="91440" marT="45720" marB="45720">
                    <a:solidFill>
                      <a:srgbClr val="183D4B"/>
                    </a:solidFill>
                  </a:tcPr>
                </a:tc>
                <a:tc>
                  <a:txBody>
                    <a:bodyPr/>
                    <a:lstStyle/>
                    <a:p>
                      <a:r>
                        <a:rPr sz="1800" b="1">
                          <a:solidFill>
                            <a:srgbClr val="FFFFFF"/>
                          </a:solidFill>
                          <a:latin typeface="Arial"/>
                          <a:ea typeface="Arial"/>
                          <a:cs typeface="Arial"/>
                        </a:rPr>
                        <a:t>Interpretation</a:t>
                      </a:r>
                    </a:p>
                  </a:txBody>
                  <a:tcPr marL="91440" marR="91440" marT="45720" marB="45720">
                    <a:solidFill>
                      <a:srgbClr val="183D4B"/>
                    </a:solidFill>
                  </a:tcPr>
                </a:tc>
                <a:tc>
                  <a:txBody>
                    <a:bodyPr/>
                    <a:lstStyle/>
                    <a:p>
                      <a:r>
                        <a:rPr sz="1800" b="1">
                          <a:solidFill>
                            <a:srgbClr val="FFFFFF"/>
                          </a:solidFill>
                          <a:latin typeface="Arial"/>
                          <a:ea typeface="Arial"/>
                          <a:cs typeface="Arial"/>
                        </a:rPr>
                        <a:t>Next step</a:t>
                      </a:r>
                    </a:p>
                  </a:txBody>
                  <a:tcPr marL="91440" marR="91440" marT="45720" marB="45720">
                    <a:solidFill>
                      <a:srgbClr val="183D4B"/>
                    </a:solidFill>
                  </a:tcPr>
                </a:tc>
              </a:tr>
              <a:tr h="682625">
                <a:tc>
                  <a:txBody>
                    <a:bodyPr/>
                    <a:lstStyle/>
                    <a:p>
                      <a:r>
                        <a:rPr sz="1800" b="0">
                          <a:solidFill>
                            <a:srgbClr val="183D4B"/>
                          </a:solidFill>
                          <a:latin typeface="Arial"/>
                          <a:ea typeface="Arial"/>
                          <a:cs typeface="Arial"/>
                        </a:rPr>
                        <a:t>Rule parser</a:t>
                      </a:r>
                    </a:p>
                  </a:txBody>
                  <a:tcPr marL="91440" marR="91440" marT="45720" marB="45720">
                    <a:solidFill>
                      <a:srgbClr val="FFFFFF"/>
                    </a:solidFill>
                  </a:tcPr>
                </a:tc>
                <a:tc>
                  <a:txBody>
                    <a:bodyPr/>
                    <a:lstStyle/>
                    <a:p>
                      <a:r>
                        <a:rPr sz="1800" b="0">
                          <a:solidFill>
                            <a:srgbClr val="183D4B"/>
                          </a:solidFill>
                          <a:latin typeface="Arial"/>
                          <a:ea typeface="Arial"/>
                          <a:cs typeface="Arial"/>
                        </a:rPr>
                        <a:t>CLARIFY</a:t>
                      </a:r>
                    </a:p>
                  </a:txBody>
                  <a:tcPr marL="91440" marR="91440" marT="45720" marB="45720">
                    <a:solidFill>
                      <a:srgbClr val="FFFFFF"/>
                    </a:solidFill>
                  </a:tcPr>
                </a:tc>
                <a:tc>
                  <a:txBody>
                    <a:bodyPr/>
                    <a:lstStyle/>
                    <a:p>
                      <a:r>
                        <a:rPr sz="1800" b="0">
                          <a:solidFill>
                            <a:srgbClr val="183D4B"/>
                          </a:solidFill>
                          <a:latin typeface="Arial"/>
                          <a:ea typeface="Arial"/>
                          <a:cs typeface="Arial"/>
                        </a:rPr>
                        <a:t>Operator supplies structure</a:t>
                      </a:r>
                    </a:p>
                  </a:txBody>
                  <a:tcPr marL="91440" marR="91440" marT="45720" marB="45720">
                    <a:solidFill>
                      <a:srgbClr val="FFFFFF"/>
                    </a:solidFill>
                  </a:tcPr>
                </a:tc>
              </a:tr>
              <a:tr h="682625">
                <a:tc>
                  <a:txBody>
                    <a:bodyPr/>
                    <a:lstStyle/>
                    <a:p>
                      <a:r>
                        <a:rPr sz="1800" b="0">
                          <a:solidFill>
                            <a:srgbClr val="183D4B"/>
                          </a:solidFill>
                          <a:latin typeface="Arial"/>
                          <a:ea typeface="Arial"/>
                          <a:cs typeface="Arial"/>
                        </a:rPr>
                        <a:t>Llama once</a:t>
                      </a:r>
                    </a:p>
                  </a:txBody>
                  <a:tcPr marL="91440" marR="91440" marT="45720" marB="45720">
                    <a:solidFill>
                      <a:srgbClr val="EAF2F3"/>
                    </a:solidFill>
                  </a:tcPr>
                </a:tc>
                <a:tc>
                  <a:txBody>
                    <a:bodyPr/>
                    <a:lstStyle/>
                    <a:p>
                      <a:r>
                        <a:rPr sz="1800" b="0">
                          <a:solidFill>
                            <a:srgbClr val="183D4B"/>
                          </a:solidFill>
                          <a:latin typeface="Arial"/>
                          <a:ea typeface="Arial"/>
                          <a:cs typeface="Arial"/>
                        </a:rPr>
                        <a:t>Current fraction 1.0; short tie 100 A; long tie off; PV off</a:t>
                      </a:r>
                    </a:p>
                  </a:txBody>
                  <a:tcPr marL="91440" marR="91440" marT="45720" marB="45720">
                    <a:solidFill>
                      <a:srgbClr val="EAF2F3"/>
                    </a:solidFill>
                  </a:tcPr>
                </a:tc>
                <a:tc>
                  <a:txBody>
                    <a:bodyPr/>
                    <a:lstStyle/>
                    <a:p>
                      <a:r>
                        <a:rPr sz="1800" b="0">
                          <a:solidFill>
                            <a:srgbClr val="183D4B"/>
                          </a:solidFill>
                          <a:latin typeface="Arial"/>
                          <a:ea typeface="Arial"/>
                          <a:cs typeface="Arial"/>
                        </a:rPr>
                        <a:t>Same numerical workflow</a:t>
                      </a:r>
                    </a:p>
                  </a:txBody>
                  <a:tcPr marL="91440" marR="91440" marT="45720" marB="45720">
                    <a:solidFill>
                      <a:srgbClr val="EAF2F3"/>
                    </a:solidFill>
                  </a:tcPr>
                </a:tc>
              </a:tr>
            </a:tbl>
          </a:graphicData>
        </a:graphic>
      </p:graphicFrame>
      <p:sp>
        <p:nvSpPr>
          <p:cNvPr id="4" name="">
            <a:extLst xmlns:a="http://schemas.openxmlformats.org/drawingml/2006/main">
              <a:ext uri="{FF2B5EF4-FFF2-40B4-BE49-F238E27FC236}">
                <a16:creationId xmlns:a16="http://schemas.microsoft.com/office/drawing/2014/main" id="{E33A4CC7-90D2-49CD-9DDC-44C64DAB7107}"/>
              </a:ext>
            </a:extLst>
          </p:cNvPr>
          <p:cNvSpPr>
            <a:spLocks xmlns:a="http://schemas.openxmlformats.org/drawingml/2006/main" noGrp="1"/>
          </p:cNvSpPr>
          <p:nvPr/>
        </p:nvSpPr>
        <p:spPr>
          <a:xfrm xmlns:a="http://schemas.openxmlformats.org/drawingml/2006/main">
            <a:off x="742950" y="5191125"/>
            <a:ext cx="10629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007B7F"/>
                </a:solidFill>
                <a:latin typeface="Arial"/>
                <a:ea typeface="Arial"/>
                <a:cs typeface="Arial"/>
              </a:defRPr>
            </a:pPr>
            <a:r>
              <a:rPr sz="1725" b="1">
                <a:solidFill>
                  <a:srgbClr val="007B7F"/>
                </a:solidFill>
                <a:latin typeface="Arial"/>
                <a:ea typeface="Arial"/>
                <a:cs typeface="Arial"/>
              </a:rPr>
              <a:t>Fresh verification: short tie, PV off, 75% noncritical disconnection, 1843.6 kW served.</a:t>
            </a:r>
          </a:p>
        </p:txBody>
      </p:sp>
      <p:sp>
        <p:nvSpPr>
          <p:cNvPr id="5" name="">
            <a:extLst xmlns:a="http://schemas.openxmlformats.org/drawingml/2006/main">
              <a:ext uri="{FF2B5EF4-FFF2-40B4-BE49-F238E27FC236}">
                <a16:creationId xmlns:a16="http://schemas.microsoft.com/office/drawing/2014/main" id="{FAEC6EC8-E95D-4A44-ADA5-962BBD8C021C}"/>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The added step is correct automatic interpretation. The specialist tool computes the restoration plan.</a:t>
            </a:r>
          </a:p>
        </p:txBody>
      </p:sp>
      <p:sp>
        <p:nvSpPr>
          <p:cNvPr id="6" name="">
            <a:extLst xmlns:a="http://schemas.openxmlformats.org/drawingml/2006/main">
              <a:ext uri="{FF2B5EF4-FFF2-40B4-BE49-F238E27FC236}">
                <a16:creationId xmlns:a16="http://schemas.microsoft.com/office/drawing/2014/main" id="{54335677-EA8B-45ED-9F2A-54E5BF06A29C}"/>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18</a:t>
            </a:r>
          </a:p>
        </p:txBody>
      </p:sp>
    </p:spTree>
    <p:extLst>
      <p:ext uri="{BB962C8B-B14F-4D97-AF65-F5344CB8AC3E}">
        <p14:creationId xmlns:p14="http://schemas.microsoft.com/office/powerpoint/2010/main" val="2075539955"/>
      </p:ext>
    </p:extLst>
  </p:cSld>
</p:sld>
</file>

<file path=ppt/slides/slide19.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B65F9C1-C012-4346-9C1E-B59FFA5C90E3}"/>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D4B"/>
                </a:solidFill>
                <a:latin typeface="Arial"/>
                <a:ea typeface="Arial"/>
                <a:cs typeface="Arial"/>
              </a:defRPr>
            </a:pPr>
            <a:r>
              <a:rPr sz="3225" b="1">
                <a:solidFill>
                  <a:srgbClr val="183D4B"/>
                </a:solidFill>
                <a:latin typeface="Arial"/>
                <a:ea typeface="Arial"/>
                <a:cs typeface="Arial"/>
              </a:rPr>
              <a:t>Verification in the declared model scope</a:t>
            </a:r>
          </a:p>
        </p:txBody>
      </p:sp>
      <p:graphicFrame>
        <p:nvGraphicFramePr>
          <p:cNvPr id="6" name=""/>
          <p:cNvGraphicFramePr/>
          <p:nvPr/>
        </p:nvGraphicFramePr>
        <p:xfrm>
          <a:off xmlns:a="http://schemas.openxmlformats.org/drawingml/2006/main" x="685800" y="1619250"/>
          <a:ext xmlns:a="http://schemas.openxmlformats.org/drawingml/2006/main" cx="10820400" cy="3943350"/>
        </p:xfrm>
        <a:graphic xmlns:a="http://schemas.openxmlformats.org/drawingml/2006/main">
          <a:graphicData uri="http://schemas.openxmlformats.org/drawingml/2006/table">
            <a:tbl>
              <a:tblPr/>
              <a:tblGrid>
                <a:gridCol w="2809875"/>
                <a:gridCol w="8010525"/>
              </a:tblGrid>
              <a:tr h="657225">
                <a:tc>
                  <a:txBody>
                    <a:bodyPr/>
                    <a:lstStyle/>
                    <a:p>
                      <a:r>
                        <a:rPr sz="1875" b="1">
                          <a:solidFill>
                            <a:srgbClr val="FFFFFF"/>
                          </a:solidFill>
                          <a:latin typeface="Arial"/>
                          <a:ea typeface="Arial"/>
                          <a:cs typeface="Arial"/>
                        </a:rPr>
                        <a:t>Check</a:t>
                      </a:r>
                    </a:p>
                  </a:txBody>
                  <a:tcPr marL="91440" marR="91440" marT="45720" marB="45720">
                    <a:solidFill>
                      <a:srgbClr val="183D4B"/>
                    </a:solidFill>
                  </a:tcPr>
                </a:tc>
                <a:tc>
                  <a:txBody>
                    <a:bodyPr/>
                    <a:lstStyle/>
                    <a:p>
                      <a:r>
                        <a:rPr sz="1875" b="1">
                          <a:solidFill>
                            <a:srgbClr val="FFFFFF"/>
                          </a:solidFill>
                          <a:latin typeface="Arial"/>
                          <a:ea typeface="Arial"/>
                          <a:cs typeface="Arial"/>
                        </a:rPr>
                        <a:t>Question</a:t>
                      </a:r>
                    </a:p>
                  </a:txBody>
                  <a:tcPr marL="91440" marR="91440" marT="45720" marB="45720">
                    <a:solidFill>
                      <a:srgbClr val="183D4B"/>
                    </a:solidFill>
                  </a:tcPr>
                </a:tc>
              </a:tr>
              <a:tr h="657225">
                <a:tc>
                  <a:txBody>
                    <a:bodyPr/>
                    <a:lstStyle/>
                    <a:p>
                      <a:r>
                        <a:rPr sz="1875" b="0">
                          <a:solidFill>
                            <a:srgbClr val="183D4B"/>
                          </a:solidFill>
                          <a:latin typeface="Arial"/>
                          <a:ea typeface="Arial"/>
                          <a:cs typeface="Arial"/>
                        </a:rPr>
                        <a:t>Evidence</a:t>
                      </a:r>
                    </a:p>
                  </a:txBody>
                  <a:tcPr marL="91440" marR="91440" marT="45720" marB="45720">
                    <a:solidFill>
                      <a:srgbClr val="FFFFFF"/>
                    </a:solidFill>
                  </a:tcPr>
                </a:tc>
                <a:tc>
                  <a:txBody>
                    <a:bodyPr/>
                    <a:lstStyle/>
                    <a:p>
                      <a:r>
                        <a:rPr sz="1875" b="0">
                          <a:solidFill>
                            <a:srgbClr val="183D4B"/>
                          </a:solidFill>
                          <a:latin typeface="Arial"/>
                          <a:ea typeface="Arial"/>
                          <a:cs typeface="Arial"/>
                        </a:rPr>
                        <a:t>Current, complete and topology-consistent?</a:t>
                      </a:r>
                    </a:p>
                  </a:txBody>
                  <a:tcPr marL="91440" marR="91440" marT="45720" marB="45720">
                    <a:solidFill>
                      <a:srgbClr val="FFFFFF"/>
                    </a:solidFill>
                  </a:tcPr>
                </a:tc>
              </a:tr>
              <a:tr h="657225">
                <a:tc>
                  <a:txBody>
                    <a:bodyPr/>
                    <a:lstStyle/>
                    <a:p>
                      <a:r>
                        <a:rPr sz="1875" b="0">
                          <a:solidFill>
                            <a:srgbClr val="183D4B"/>
                          </a:solidFill>
                          <a:latin typeface="Arial"/>
                          <a:ea typeface="Arial"/>
                          <a:cs typeface="Arial"/>
                        </a:rPr>
                        <a:t>Numerical result</a:t>
                      </a:r>
                    </a:p>
                  </a:txBody>
                  <a:tcPr marL="91440" marR="91440" marT="45720" marB="45720">
                    <a:solidFill>
                      <a:srgbClr val="EAF2F3"/>
                    </a:solidFill>
                  </a:tcPr>
                </a:tc>
                <a:tc>
                  <a:txBody>
                    <a:bodyPr/>
                    <a:lstStyle/>
                    <a:p>
                      <a:r>
                        <a:rPr sz="1875" b="0">
                          <a:solidFill>
                            <a:srgbClr val="183D4B"/>
                          </a:solidFill>
                          <a:latin typeface="Arial"/>
                          <a:ea typeface="Arial"/>
                          <a:cs typeface="Arial"/>
                        </a:rPr>
                        <a:t>Valid solution with finite, complete quantities?</a:t>
                      </a:r>
                    </a:p>
                  </a:txBody>
                  <a:tcPr marL="91440" marR="91440" marT="45720" marB="45720">
                    <a:solidFill>
                      <a:srgbClr val="EAF2F3"/>
                    </a:solidFill>
                  </a:tcPr>
                </a:tc>
              </a:tr>
              <a:tr h="657225">
                <a:tc>
                  <a:txBody>
                    <a:bodyPr/>
                    <a:lstStyle/>
                    <a:p>
                      <a:r>
                        <a:rPr sz="1875" b="0">
                          <a:solidFill>
                            <a:srgbClr val="183D4B"/>
                          </a:solidFill>
                          <a:latin typeface="Arial"/>
                          <a:ea typeface="Arial"/>
                          <a:cs typeface="Arial"/>
                        </a:rPr>
                        <a:t>Electrical state</a:t>
                      </a:r>
                    </a:p>
                  </a:txBody>
                  <a:tcPr marL="91440" marR="91440" marT="45720" marB="45720">
                    <a:solidFill>
                      <a:srgbClr val="FFFFFF"/>
                    </a:solidFill>
                  </a:tcPr>
                </a:tc>
                <a:tc>
                  <a:txBody>
                    <a:bodyPr/>
                    <a:lstStyle/>
                    <a:p>
                      <a:r>
                        <a:rPr sz="1875" b="0">
                          <a:solidFill>
                            <a:srgbClr val="183D4B"/>
                          </a:solidFill>
                          <a:latin typeface="Arial"/>
                          <a:ea typeface="Arial"/>
                          <a:cs typeface="Arial"/>
                        </a:rPr>
                        <a:t>Voltages and line currents within modeled limits?</a:t>
                      </a:r>
                    </a:p>
                  </a:txBody>
                  <a:tcPr marL="91440" marR="91440" marT="45720" marB="45720">
                    <a:solidFill>
                      <a:srgbClr val="FFFFFF"/>
                    </a:solidFill>
                  </a:tcPr>
                </a:tc>
              </a:tr>
              <a:tr h="657225">
                <a:tc>
                  <a:txBody>
                    <a:bodyPr/>
                    <a:lstStyle/>
                    <a:p>
                      <a:r>
                        <a:rPr sz="1875" b="0">
                          <a:solidFill>
                            <a:srgbClr val="183D4B"/>
                          </a:solidFill>
                          <a:latin typeface="Arial"/>
                          <a:ea typeface="Arial"/>
                          <a:cs typeface="Arial"/>
                        </a:rPr>
                        <a:t>Planning envelope</a:t>
                      </a:r>
                    </a:p>
                  </a:txBody>
                  <a:tcPr marL="91440" marR="91440" marT="45720" marB="45720">
                    <a:solidFill>
                      <a:srgbClr val="EAF2F3"/>
                    </a:solidFill>
                  </a:tcPr>
                </a:tc>
                <a:tc>
                  <a:txBody>
                    <a:bodyPr/>
                    <a:lstStyle/>
                    <a:p>
                      <a:r>
                        <a:rPr sz="1875" b="0">
                          <a:solidFill>
                            <a:srgbClr val="183D4B"/>
                          </a:solidFill>
                          <a:latin typeface="Arial"/>
                          <a:ea typeface="Arial"/>
                          <a:cs typeface="Arial"/>
                        </a:rPr>
                        <a:t>Feasible horizon and MPC value gap ≤ 0.02?</a:t>
                      </a:r>
                    </a:p>
                  </a:txBody>
                  <a:tcPr marL="91440" marR="91440" marT="45720" marB="45720">
                    <a:solidFill>
                      <a:srgbClr val="EAF2F3"/>
                    </a:solidFill>
                  </a:tcPr>
                </a:tc>
              </a:tr>
              <a:tr h="657225">
                <a:tc>
                  <a:txBody>
                    <a:bodyPr/>
                    <a:lstStyle/>
                    <a:p>
                      <a:r>
                        <a:rPr sz="1875" b="0">
                          <a:solidFill>
                            <a:srgbClr val="183D4B"/>
                          </a:solidFill>
                          <a:latin typeface="Arial"/>
                          <a:ea typeface="Arial"/>
                          <a:cs typeface="Arial"/>
                        </a:rPr>
                        <a:t>Operating rules</a:t>
                      </a:r>
                    </a:p>
                  </a:txBody>
                  <a:tcPr marL="91440" marR="91440" marT="45720" marB="45720">
                    <a:solidFill>
                      <a:srgbClr val="FFFFFF"/>
                    </a:solidFill>
                  </a:tcPr>
                </a:tc>
                <a:tc>
                  <a:txBody>
                    <a:bodyPr/>
                    <a:lstStyle/>
                    <a:p>
                      <a:r>
                        <a:rPr sz="1875" b="0">
                          <a:solidFill>
                            <a:srgbClr val="183D4B"/>
                          </a:solidFill>
                          <a:latin typeface="Arial"/>
                          <a:ea typeface="Arial"/>
                          <a:cs typeface="Arial"/>
                        </a:rPr>
                        <a:t>Allowed assets, service and radiality checks pass?</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134B0334-9BA2-4205-BBBA-3181B52E3745}"/>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874"/>
                </a:solidFill>
                <a:latin typeface="Arial"/>
                <a:ea typeface="Arial"/>
                <a:cs typeface="Arial"/>
              </a:defRPr>
            </a:pPr>
            <a:r>
              <a:rPr sz="1575" b="0">
                <a:solidFill>
                  <a:srgbClr val="526874"/>
                </a:solidFill>
                <a:latin typeface="Arial"/>
                <a:ea typeface="Arial"/>
                <a:cs typeface="Arial"/>
              </a:rPr>
              <a:t>LinDistFlow acceptance covers its MV variables. Full-feeder AC audit results appear separately.</a:t>
            </a:r>
          </a:p>
        </p:txBody>
      </p:sp>
      <p:sp>
        <p:nvSpPr>
          <p:cNvPr id="4" name="">
            <a:extLst xmlns:a="http://schemas.openxmlformats.org/drawingml/2006/main">
              <a:ext uri="{FF2B5EF4-FFF2-40B4-BE49-F238E27FC236}">
                <a16:creationId xmlns:a16="http://schemas.microsoft.com/office/drawing/2014/main" id="{C4DDDBAE-33C8-4FD3-B351-AF002A7657FE}"/>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874"/>
                </a:solidFill>
                <a:latin typeface="Arial"/>
                <a:ea typeface="Arial"/>
                <a:cs typeface="Arial"/>
              </a:defRPr>
            </a:pPr>
            <a:r>
              <a:rPr sz="1275" b="0">
                <a:solidFill>
                  <a:srgbClr val="526874"/>
                </a:solidFill>
                <a:latin typeface="Arial"/>
                <a:ea typeface="Arial"/>
                <a:cs typeface="Arial"/>
              </a:rPr>
              <a:t>19</a:t>
            </a:r>
          </a:p>
        </p:txBody>
      </p:sp>
    </p:spTree>
    <p:extLst>
      <p:ext uri="{BB962C8B-B14F-4D97-AF65-F5344CB8AC3E}">
        <p14:creationId xmlns:p14="http://schemas.microsoft.com/office/powerpoint/2010/main" val="1220644145"/>
      </p:ext>
    </p:extLst>
  </p:cSld>
</p:sld>
</file>

<file path=ppt/slides/slide20.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4F3CF1A-8DB7-4AD4-A3A2-298D4A9DB904}"/>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D4B"/>
                </a:solidFill>
                <a:latin typeface="Arial"/>
                <a:ea typeface="Arial"/>
                <a:cs typeface="Arial"/>
              </a:defRPr>
            </a:pPr>
            <a:r>
              <a:rPr sz="3225" b="1">
                <a:solidFill>
                  <a:srgbClr val="183D4B"/>
                </a:solidFill>
                <a:latin typeface="Arial"/>
                <a:ea typeface="Arial"/>
                <a:cs typeface="Arial"/>
              </a:rPr>
              <a:t>Recorded V2 responses in both model variants</a:t>
            </a:r>
          </a:p>
        </p:txBody>
      </p:sp>
      <p:graphicFrame>
        <p:nvGraphicFramePr>
          <p:cNvPr id="7" name=""/>
          <p:cNvGraphicFramePr/>
          <p:nvPr/>
        </p:nvGraphicFramePr>
        <p:xfrm>
          <a:off xmlns:a="http://schemas.openxmlformats.org/drawingml/2006/main" x="685800" y="1552575"/>
          <a:ext xmlns:a="http://schemas.openxmlformats.org/drawingml/2006/main" cx="10820400" cy="3829050"/>
        </p:xfrm>
        <a:graphic xmlns:a="http://schemas.openxmlformats.org/drawingml/2006/main">
          <a:graphicData uri="http://schemas.openxmlformats.org/drawingml/2006/table">
            <a:tbl>
              <a:tblPr/>
              <a:tblGrid>
                <a:gridCol w="2133600"/>
                <a:gridCol w="4343400"/>
                <a:gridCol w="4343400"/>
              </a:tblGrid>
              <a:tr h="425450">
                <a:tc>
                  <a:txBody>
                    <a:bodyPr/>
                    <a:lstStyle/>
                    <a:p>
                      <a:r>
                        <a:rPr sz="1575" b="1">
                          <a:solidFill>
                            <a:srgbClr val="FFFFFF"/>
                          </a:solidFill>
                          <a:latin typeface="Arial"/>
                          <a:ea typeface="Arial"/>
                          <a:cs typeface="Arial"/>
                        </a:rPr>
                        <a:t>Stage</a:t>
                      </a:r>
                    </a:p>
                  </a:txBody>
                  <a:tcPr marL="91440" marR="91440" marT="45720" marB="45720">
                    <a:solidFill>
                      <a:srgbClr val="183D4B"/>
                    </a:solidFill>
                  </a:tcPr>
                </a:tc>
                <a:tc>
                  <a:txBody>
                    <a:bodyPr/>
                    <a:lstStyle/>
                    <a:p>
                      <a:r>
                        <a:rPr sz="1575" b="1">
                          <a:solidFill>
                            <a:srgbClr val="FFFFFF"/>
                          </a:solidFill>
                          <a:latin typeface="Arial"/>
                          <a:ea typeface="Arial"/>
                          <a:cs typeface="Arial"/>
                        </a:rPr>
                        <a:t>OpenDSS response</a:t>
                      </a:r>
                    </a:p>
                  </a:txBody>
                  <a:tcPr marL="91440" marR="91440" marT="45720" marB="45720">
                    <a:solidFill>
                      <a:srgbClr val="183D4B"/>
                    </a:solidFill>
                  </a:tcPr>
                </a:tc>
                <a:tc>
                  <a:txBody>
                    <a:bodyPr/>
                    <a:lstStyle/>
                    <a:p>
                      <a:r>
                        <a:rPr sz="1575" b="1">
                          <a:solidFill>
                            <a:srgbClr val="FFFFFF"/>
                          </a:solidFill>
                          <a:latin typeface="Arial"/>
                          <a:ea typeface="Arial"/>
                          <a:cs typeface="Arial"/>
                        </a:rPr>
                        <a:t>LinDistFlow response</a:t>
                      </a:r>
                    </a:p>
                  </a:txBody>
                  <a:tcPr marL="91440" marR="91440" marT="45720" marB="45720">
                    <a:solidFill>
                      <a:srgbClr val="183D4B"/>
                    </a:solidFill>
                  </a:tcPr>
                </a:tc>
              </a:tr>
              <a:tr h="425450">
                <a:tc>
                  <a:txBody>
                    <a:bodyPr/>
                    <a:lstStyle/>
                    <a:p>
                      <a:r>
                        <a:rPr sz="1575" b="0">
                          <a:solidFill>
                            <a:srgbClr val="183D4B"/>
                          </a:solidFill>
                          <a:latin typeface="Arial"/>
                          <a:ea typeface="Arial"/>
                          <a:cs typeface="Arial"/>
                        </a:rPr>
                        <a:t>Awareness</a:t>
                      </a:r>
                    </a:p>
                  </a:txBody>
                  <a:tcPr marL="91440" marR="91440" marT="45720" marB="45720">
                    <a:solidFill>
                      <a:srgbClr val="FFFFFF"/>
                    </a:solidFill>
                  </a:tcPr>
                </a:tc>
                <a:tc>
                  <a:txBody>
                    <a:bodyPr/>
                    <a:lstStyle/>
                    <a:p>
                      <a:r>
                        <a:rPr sz="1575" b="0">
                          <a:solidFill>
                            <a:srgbClr val="183D4B"/>
                          </a:solidFill>
                          <a:latin typeface="Arial"/>
                          <a:ea typeface="Arial"/>
                          <a:cs typeface="Arial"/>
                        </a:rPr>
                        <a:t>PASS, residual 0.000 pu</a:t>
                      </a:r>
                    </a:p>
                  </a:txBody>
                  <a:tcPr marL="91440" marR="91440" marT="45720" marB="45720">
                    <a:solidFill>
                      <a:srgbClr val="FFFFFF"/>
                    </a:solidFill>
                  </a:tcPr>
                </a:tc>
                <a:tc>
                  <a:txBody>
                    <a:bodyPr/>
                    <a:lstStyle/>
                    <a:p>
                      <a:r>
                        <a:rPr sz="1575" b="0">
                          <a:solidFill>
                            <a:srgbClr val="183D4B"/>
                          </a:solidFill>
                          <a:latin typeface="Arial"/>
                          <a:ea typeface="Arial"/>
                          <a:cs typeface="Arial"/>
                        </a:rPr>
                        <a:t>PASS, residual 0.000 pu</a:t>
                      </a:r>
                    </a:p>
                  </a:txBody>
                  <a:tcPr marL="91440" marR="91440" marT="45720" marB="45720">
                    <a:solidFill>
                      <a:srgbClr val="FFFFFF"/>
                    </a:solidFill>
                  </a:tcPr>
                </a:tc>
              </a:tr>
              <a:tr h="425450">
                <a:tc>
                  <a:txBody>
                    <a:bodyPr/>
                    <a:lstStyle/>
                    <a:p>
                      <a:r>
                        <a:rPr sz="1575" b="0">
                          <a:solidFill>
                            <a:srgbClr val="183D4B"/>
                          </a:solidFill>
                          <a:latin typeface="Arial"/>
                          <a:ea typeface="Arial"/>
                          <a:cs typeface="Arial"/>
                        </a:rPr>
                        <a:t>Planning</a:t>
                      </a:r>
                    </a:p>
                  </a:txBody>
                  <a:tcPr marL="91440" marR="91440" marT="45720" marB="45720">
                    <a:solidFill>
                      <a:srgbClr val="EAF2F3"/>
                    </a:solidFill>
                  </a:tcPr>
                </a:tc>
                <a:tc>
                  <a:txBody>
                    <a:bodyPr/>
                    <a:lstStyle/>
                    <a:p>
                      <a:r>
                        <a:rPr sz="1575" b="0">
                          <a:solidFill>
                            <a:srgbClr val="183D4B"/>
                          </a:solidFill>
                          <a:latin typeface="Arial"/>
                          <a:ea typeface="Arial"/>
                          <a:cs typeface="Arial"/>
                        </a:rPr>
                        <a:t>20/20/20%, MPC_ONLY</a:t>
                      </a:r>
                    </a:p>
                  </a:txBody>
                  <a:tcPr marL="91440" marR="91440" marT="45720" marB="45720">
                    <a:solidFill>
                      <a:srgbClr val="EAF2F3"/>
                    </a:solidFill>
                  </a:tcPr>
                </a:tc>
                <a:tc>
                  <a:txBody>
                    <a:bodyPr/>
                    <a:lstStyle/>
                    <a:p>
                      <a:r>
                        <a:rPr sz="1575" b="0">
                          <a:solidFill>
                            <a:srgbClr val="183D4B"/>
                          </a:solidFill>
                          <a:latin typeface="Arial"/>
                          <a:ea typeface="Arial"/>
                          <a:cs typeface="Arial"/>
                        </a:rPr>
                        <a:t>100/100/100%, MPC_ONLY</a:t>
                      </a:r>
                    </a:p>
                  </a:txBody>
                  <a:tcPr marL="91440" marR="91440" marT="45720" marB="45720">
                    <a:solidFill>
                      <a:srgbClr val="EAF2F3"/>
                    </a:solidFill>
                  </a:tcPr>
                </a:tc>
              </a:tr>
              <a:tr h="425450">
                <a:tc>
                  <a:txBody>
                    <a:bodyPr/>
                    <a:lstStyle/>
                    <a:p>
                      <a:r>
                        <a:rPr sz="1575" b="0">
                          <a:solidFill>
                            <a:srgbClr val="183D4B"/>
                          </a:solidFill>
                          <a:latin typeface="Arial"/>
                          <a:ea typeface="Arial"/>
                          <a:cs typeface="Arial"/>
                        </a:rPr>
                        <a:t>DQN execution</a:t>
                      </a:r>
                    </a:p>
                  </a:txBody>
                  <a:tcPr marL="91440" marR="91440" marT="45720" marB="45720">
                    <a:solidFill>
                      <a:srgbClr val="FFFFFF"/>
                    </a:solidFill>
                  </a:tcPr>
                </a:tc>
                <a:tc>
                  <a:txBody>
                    <a:bodyPr/>
                    <a:lstStyle/>
                    <a:p>
                      <a:r>
                        <a:rPr sz="1575" b="0">
                          <a:solidFill>
                            <a:srgbClr val="183D4B"/>
                          </a:solidFill>
                          <a:latin typeface="Arial"/>
                          <a:ea typeface="Arial"/>
                          <a:cs typeface="Arial"/>
                        </a:rPr>
                        <a:t>30% PV cap, Q = 2.614</a:t>
                      </a:r>
                    </a:p>
                  </a:txBody>
                  <a:tcPr marL="91440" marR="91440" marT="45720" marB="45720">
                    <a:solidFill>
                      <a:srgbClr val="FFFFFF"/>
                    </a:solidFill>
                  </a:tcPr>
                </a:tc>
                <a:tc>
                  <a:txBody>
                    <a:bodyPr/>
                    <a:lstStyle/>
                    <a:p>
                      <a:r>
                        <a:rPr sz="1575" b="0">
                          <a:solidFill>
                            <a:srgbClr val="183D4B"/>
                          </a:solidFill>
                          <a:latin typeface="Arial"/>
                          <a:ea typeface="Arial"/>
                          <a:cs typeface="Arial"/>
                        </a:rPr>
                        <a:t>30% PV cap, Q = 2.614</a:t>
                      </a:r>
                    </a:p>
                  </a:txBody>
                  <a:tcPr marL="91440" marR="91440" marT="45720" marB="45720">
                    <a:solidFill>
                      <a:srgbClr val="FFFFFF"/>
                    </a:solidFill>
                  </a:tcPr>
                </a:tc>
              </a:tr>
              <a:tr h="425450">
                <a:tc>
                  <a:txBody>
                    <a:bodyPr/>
                    <a:lstStyle/>
                    <a:p>
                      <a:r>
                        <a:rPr sz="1575" b="0">
                          <a:solidFill>
                            <a:srgbClr val="183D4B"/>
                          </a:solidFill>
                          <a:latin typeface="Arial"/>
                          <a:ea typeface="Arial"/>
                          <a:cs typeface="Arial"/>
                        </a:rPr>
                        <a:t>Simulation</a:t>
                      </a:r>
                    </a:p>
                  </a:txBody>
                  <a:tcPr marL="91440" marR="91440" marT="45720" marB="45720">
                    <a:solidFill>
                      <a:srgbClr val="EAF2F3"/>
                    </a:solidFill>
                  </a:tcPr>
                </a:tc>
                <a:tc>
                  <a:txBody>
                    <a:bodyPr/>
                    <a:lstStyle/>
                    <a:p>
                      <a:r>
                        <a:rPr sz="1575" b="0">
                          <a:solidFill>
                            <a:srgbClr val="183D4B"/>
                          </a:solidFill>
                          <a:latin typeface="Arial"/>
                          <a:ea typeface="Arial"/>
                          <a:cs typeface="Arial"/>
                        </a:rPr>
                        <a:t>109.5% allowed current</a:t>
                      </a:r>
                    </a:p>
                  </a:txBody>
                  <a:tcPr marL="91440" marR="91440" marT="45720" marB="45720">
                    <a:solidFill>
                      <a:srgbClr val="EAF2F3"/>
                    </a:solidFill>
                  </a:tcPr>
                </a:tc>
                <a:tc>
                  <a:txBody>
                    <a:bodyPr/>
                    <a:lstStyle/>
                    <a:p>
                      <a:r>
                        <a:rPr sz="1575" b="0">
                          <a:solidFill>
                            <a:srgbClr val="183D4B"/>
                          </a:solidFill>
                          <a:latin typeface="Arial"/>
                          <a:ea typeface="Arial"/>
                          <a:cs typeface="Arial"/>
                        </a:rPr>
                        <a:t>50.9% allowed current</a:t>
                      </a:r>
                    </a:p>
                  </a:txBody>
                  <a:tcPr marL="91440" marR="91440" marT="45720" marB="45720">
                    <a:solidFill>
                      <a:srgbClr val="EAF2F3"/>
                    </a:solidFill>
                  </a:tcPr>
                </a:tc>
              </a:tr>
              <a:tr h="425450">
                <a:tc>
                  <a:txBody>
                    <a:bodyPr/>
                    <a:lstStyle/>
                    <a:p>
                      <a:r>
                        <a:rPr sz="1575" b="0">
                          <a:solidFill>
                            <a:srgbClr val="183D4B"/>
                          </a:solidFill>
                          <a:latin typeface="Arial"/>
                          <a:ea typeface="Arial"/>
                          <a:cs typeface="Arial"/>
                        </a:rPr>
                        <a:t>Verification</a:t>
                      </a:r>
                    </a:p>
                  </a:txBody>
                  <a:tcPr marL="91440" marR="91440" marT="45720" marB="45720">
                    <a:solidFill>
                      <a:srgbClr val="FFFFFF"/>
                    </a:solidFill>
                  </a:tcPr>
                </a:tc>
                <a:tc>
                  <a:txBody>
                    <a:bodyPr/>
                    <a:lstStyle/>
                    <a:p>
                      <a:r>
                        <a:rPr sz="1575" b="0">
                          <a:solidFill>
                            <a:srgbClr val="183D4B"/>
                          </a:solidFill>
                          <a:latin typeface="Arial"/>
                          <a:ea typeface="Arial"/>
                          <a:cs typeface="Arial"/>
                        </a:rPr>
                        <a:t>Reject: thermal and horizon</a:t>
                      </a:r>
                    </a:p>
                  </a:txBody>
                  <a:tcPr marL="91440" marR="91440" marT="45720" marB="45720">
                    <a:solidFill>
                      <a:srgbClr val="FFFFFF"/>
                    </a:solidFill>
                  </a:tcPr>
                </a:tc>
                <a:tc>
                  <a:txBody>
                    <a:bodyPr/>
                    <a:lstStyle/>
                    <a:p>
                      <a:r>
                        <a:rPr sz="1575" b="0">
                          <a:solidFill>
                            <a:srgbClr val="183D4B"/>
                          </a:solidFill>
                          <a:latin typeface="Arial"/>
                          <a:ea typeface="Arial"/>
                          <a:cs typeface="Arial"/>
                        </a:rPr>
                        <a:t>Reject: value gap 0.620 &gt; 0.020</a:t>
                      </a:r>
                    </a:p>
                  </a:txBody>
                  <a:tcPr marL="91440" marR="91440" marT="45720" marB="45720">
                    <a:solidFill>
                      <a:srgbClr val="FFFFFF"/>
                    </a:solidFill>
                  </a:tcPr>
                </a:tc>
              </a:tr>
              <a:tr h="425450">
                <a:tc>
                  <a:txBody>
                    <a:bodyPr/>
                    <a:lstStyle/>
                    <a:p>
                      <a:r>
                        <a:rPr sz="1575" b="0">
                          <a:solidFill>
                            <a:srgbClr val="183D4B"/>
                          </a:solidFill>
                          <a:latin typeface="Arial"/>
                          <a:ea typeface="Arial"/>
                          <a:cs typeface="Arial"/>
                        </a:rPr>
                        <a:t>Llama recovery</a:t>
                      </a:r>
                    </a:p>
                  </a:txBody>
                  <a:tcPr marL="91440" marR="91440" marT="45720" marB="45720">
                    <a:solidFill>
                      <a:srgbClr val="EAF2F3"/>
                    </a:solidFill>
                  </a:tcPr>
                </a:tc>
                <a:tc>
                  <a:txBody>
                    <a:bodyPr/>
                    <a:lstStyle/>
                    <a:p>
                      <a:r>
                        <a:rPr sz="1575" b="0">
                          <a:solidFill>
                            <a:srgbClr val="183D4B"/>
                          </a:solidFill>
                          <a:latin typeface="Arial"/>
                          <a:ea typeface="Arial"/>
                          <a:cs typeface="Arial"/>
                        </a:rPr>
                        <a:t>REVIEW</a:t>
                      </a:r>
                    </a:p>
                  </a:txBody>
                  <a:tcPr marL="91440" marR="91440" marT="45720" marB="45720">
                    <a:solidFill>
                      <a:srgbClr val="EAF2F3"/>
                    </a:solidFill>
                  </a:tcPr>
                </a:tc>
                <a:tc>
                  <a:txBody>
                    <a:bodyPr/>
                    <a:lstStyle/>
                    <a:p>
                      <a:r>
                        <a:rPr sz="1575" b="0">
                          <a:solidFill>
                            <a:srgbClr val="183D4B"/>
                          </a:solidFill>
                          <a:latin typeface="Arial"/>
                          <a:ea typeface="Arial"/>
                          <a:cs typeface="Arial"/>
                        </a:rPr>
                        <a:t>REVIEW</a:t>
                      </a:r>
                    </a:p>
                  </a:txBody>
                  <a:tcPr marL="91440" marR="91440" marT="45720" marB="45720">
                    <a:solidFill>
                      <a:srgbClr val="EAF2F3"/>
                    </a:solidFill>
                  </a:tcPr>
                </a:tc>
              </a:tr>
              <a:tr h="425450">
                <a:tc>
                  <a:txBody>
                    <a:bodyPr/>
                    <a:lstStyle/>
                    <a:p>
                      <a:r>
                        <a:rPr sz="1575" b="0">
                          <a:solidFill>
                            <a:srgbClr val="183D4B"/>
                          </a:solidFill>
                          <a:latin typeface="Arial"/>
                          <a:ea typeface="Arial"/>
                          <a:cs typeface="Arial"/>
                        </a:rPr>
                        <a:t>Explanation</a:t>
                      </a:r>
                    </a:p>
                  </a:txBody>
                  <a:tcPr marL="91440" marR="91440" marT="45720" marB="45720">
                    <a:solidFill>
                      <a:srgbClr val="FFFFFF"/>
                    </a:solidFill>
                  </a:tcPr>
                </a:tc>
                <a:tc>
                  <a:txBody>
                    <a:bodyPr/>
                    <a:lstStyle/>
                    <a:p>
                      <a:r>
                        <a:rPr sz="1575" b="0">
                          <a:solidFill>
                            <a:srgbClr val="183D4B"/>
                          </a:solidFill>
                          <a:latin typeface="Arial"/>
                          <a:ea typeface="Arial"/>
                          <a:cs typeface="Arial"/>
                        </a:rPr>
                        <a:t>REVIEW_ACTION</a:t>
                      </a:r>
                    </a:p>
                  </a:txBody>
                  <a:tcPr marL="91440" marR="91440" marT="45720" marB="45720">
                    <a:solidFill>
                      <a:srgbClr val="FFFFFF"/>
                    </a:solidFill>
                  </a:tcPr>
                </a:tc>
                <a:tc>
                  <a:txBody>
                    <a:bodyPr/>
                    <a:lstStyle/>
                    <a:p>
                      <a:r>
                        <a:rPr sz="1575" b="0">
                          <a:solidFill>
                            <a:srgbClr val="183D4B"/>
                          </a:solidFill>
                          <a:latin typeface="Arial"/>
                          <a:ea typeface="Arial"/>
                          <a:cs typeface="Arial"/>
                        </a:rPr>
                        <a:t>REVIEW_MODEL_LIMITS</a:t>
                      </a:r>
                    </a:p>
                  </a:txBody>
                  <a:tcPr marL="91440" marR="91440" marT="45720" marB="45720">
                    <a:solidFill>
                      <a:srgbClr val="FFFFFF"/>
                    </a:solidFill>
                  </a:tcPr>
                </a:tc>
              </a:tr>
              <a:tr h="425450">
                <a:tc>
                  <a:txBody>
                    <a:bodyPr/>
                    <a:lstStyle/>
                    <a:p>
                      <a:r>
                        <a:rPr sz="1575" b="0">
                          <a:solidFill>
                            <a:srgbClr val="183D4B"/>
                          </a:solidFill>
                          <a:latin typeface="Arial"/>
                          <a:ea typeface="Arial"/>
                          <a:cs typeface="Arial"/>
                        </a:rPr>
                        <a:t>Operator readback</a:t>
                      </a:r>
                    </a:p>
                  </a:txBody>
                  <a:tcPr marL="91440" marR="91440" marT="45720" marB="45720">
                    <a:solidFill>
                      <a:srgbClr val="EAF2F3"/>
                    </a:solidFill>
                  </a:tcPr>
                </a:tc>
                <a:tc>
                  <a:txBody>
                    <a:bodyPr/>
                    <a:lstStyle/>
                    <a:p>
                      <a:r>
                        <a:rPr sz="1575" b="0">
                          <a:solidFill>
                            <a:srgbClr val="183D4B"/>
                          </a:solidFill>
                          <a:latin typeface="Arial"/>
                          <a:ea typeface="Arial"/>
                          <a:cs typeface="Arial"/>
                        </a:rPr>
                        <a:t>PENDING, no accepted candidate</a:t>
                      </a:r>
                    </a:p>
                  </a:txBody>
                  <a:tcPr marL="91440" marR="91440" marT="45720" marB="45720">
                    <a:solidFill>
                      <a:srgbClr val="EAF2F3"/>
                    </a:solidFill>
                  </a:tcPr>
                </a:tc>
                <a:tc>
                  <a:txBody>
                    <a:bodyPr/>
                    <a:lstStyle/>
                    <a:p>
                      <a:r>
                        <a:rPr sz="1575" b="0">
                          <a:solidFill>
                            <a:srgbClr val="183D4B"/>
                          </a:solidFill>
                          <a:latin typeface="Arial"/>
                          <a:ea typeface="Arial"/>
                          <a:cs typeface="Arial"/>
                        </a:rPr>
                        <a:t>PENDING, no accepted candidate</a:t>
                      </a:r>
                    </a:p>
                  </a:txBody>
                  <a:tcPr marL="91440" marR="91440" marT="45720" marB="45720">
                    <a:solidFill>
                      <a:srgbClr val="EAF2F3"/>
                    </a:solidFill>
                  </a:tcPr>
                </a:tc>
              </a:tr>
            </a:tbl>
          </a:graphicData>
        </a:graphic>
      </p:graphicFrame>
      <p:sp>
        <p:nvSpPr>
          <p:cNvPr id="3" name="">
            <a:extLst xmlns:a="http://schemas.openxmlformats.org/drawingml/2006/main">
              <a:ext uri="{FF2B5EF4-FFF2-40B4-BE49-F238E27FC236}">
                <a16:creationId xmlns:a16="http://schemas.microsoft.com/office/drawing/2014/main" id="{AF97969B-CD3F-45D5-8207-9FD2A6E2AF24}"/>
              </a:ext>
            </a:extLst>
          </p:cNvPr>
          <p:cNvSpPr>
            <a:spLocks xmlns:a="http://schemas.openxmlformats.org/drawingml/2006/main" noGrp="1"/>
          </p:cNvSpPr>
          <p:nvPr/>
        </p:nvSpPr>
        <p:spPr>
          <a:xfrm xmlns:a="http://schemas.openxmlformats.org/drawingml/2006/main">
            <a:off x="742950" y="554355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BC6328"/>
                </a:solidFill>
                <a:latin typeface="Arial"/>
                <a:ea typeface="Arial"/>
                <a:cs typeface="Arial"/>
              </a:defRPr>
            </a:pPr>
            <a:r>
              <a:rPr sz="1650" b="1">
                <a:solidFill>
                  <a:srgbClr val="BC6328"/>
                </a:solidFill>
                <a:latin typeface="Arial"/>
                <a:ea typeface="Arial"/>
                <a:cs typeface="Arial"/>
              </a:rPr>
              <a:t>Actual critic response: “DRL proposal lacks safety certificate.” Both runs stop for review.</a:t>
            </a:r>
          </a:p>
        </p:txBody>
      </p:sp>
      <p:sp>
        <p:nvSpPr>
          <p:cNvPr id="4" name="">
            <a:extLst xmlns:a="http://schemas.openxmlformats.org/drawingml/2006/main">
              <a:ext uri="{FF2B5EF4-FFF2-40B4-BE49-F238E27FC236}">
                <a16:creationId xmlns:a16="http://schemas.microsoft.com/office/drawing/2014/main" id="{A7CD997D-CEA8-4223-8F63-1FEE8D2462C9}"/>
              </a:ext>
            </a:extLst>
          </p:cNvPr>
          <p:cNvSpPr>
            <a:spLocks xmlns:a="http://schemas.openxmlformats.org/drawingml/2006/main" noGrp="1"/>
          </p:cNvSpPr>
          <p:nvPr/>
        </p:nvSpPr>
        <p:spPr>
          <a:xfrm xmlns:a="http://schemas.openxmlformats.org/drawingml/2006/main">
            <a:off x="704850" y="6105525"/>
            <a:ext cx="10620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874"/>
                </a:solidFill>
                <a:latin typeface="Arial"/>
                <a:ea typeface="Arial"/>
                <a:cs typeface="Arial"/>
              </a:defRPr>
            </a:pPr>
            <a:r>
              <a:rPr sz="1500" b="0">
                <a:solidFill>
                  <a:srgbClr val="526874"/>
                </a:solidFill>
                <a:latin typeface="Arial"/>
                <a:ea typeface="Arial"/>
                <a:cs typeface="Arial"/>
              </a:rPr>
              <a:t>DQN first is a declared common intervention. A model rationale cannot disable the verification gate.</a:t>
            </a:r>
          </a:p>
        </p:txBody>
      </p:sp>
      <p:sp>
        <p:nvSpPr>
          <p:cNvPr id="5" name="">
            <a:extLst xmlns:a="http://schemas.openxmlformats.org/drawingml/2006/main">
              <a:ext uri="{FF2B5EF4-FFF2-40B4-BE49-F238E27FC236}">
                <a16:creationId xmlns:a16="http://schemas.microsoft.com/office/drawing/2014/main" id="{F1D3ACD0-8515-44E1-B958-3C3FCDD8D5AE}"/>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874"/>
                </a:solidFill>
                <a:latin typeface="Arial"/>
                <a:ea typeface="Arial"/>
                <a:cs typeface="Arial"/>
              </a:defRPr>
            </a:pPr>
            <a:r>
              <a:rPr sz="1275" b="0">
                <a:solidFill>
                  <a:srgbClr val="526874"/>
                </a:solidFill>
                <a:latin typeface="Arial"/>
                <a:ea typeface="Arial"/>
                <a:cs typeface="Arial"/>
              </a:rPr>
              <a:t>20</a:t>
            </a:r>
          </a:p>
        </p:txBody>
      </p:sp>
    </p:spTree>
    <p:extLst>
      <p:ext uri="{BB962C8B-B14F-4D97-AF65-F5344CB8AC3E}">
        <p14:creationId xmlns:p14="http://schemas.microsoft.com/office/powerpoint/2010/main" val="1712561841"/>
      </p:ext>
    </p:extLst>
  </p:cSld>
</p:sld>
</file>

<file path=ppt/slides/slide21.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E31F216-A111-4731-8B11-7E76709AF7A3}"/>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The comparison separates interfaces and controls</a:t>
            </a:r>
          </a:p>
        </p:txBody>
      </p:sp>
      <p:graphicFrame>
        <p:nvGraphicFramePr>
          <p:cNvPr id="8" name=""/>
          <p:cNvGraphicFramePr/>
          <p:nvPr/>
        </p:nvGraphicFramePr>
        <p:xfrm>
          <a:off xmlns:a="http://schemas.openxmlformats.org/drawingml/2006/main" x="685800" y="1619250"/>
          <a:ext xmlns:a="http://schemas.openxmlformats.org/drawingml/2006/main" cx="10820400" cy="3943350"/>
        </p:xfrm>
        <a:graphic xmlns:a="http://schemas.openxmlformats.org/drawingml/2006/main">
          <a:graphicData uri="http://schemas.openxmlformats.org/drawingml/2006/table">
            <a:tbl>
              <a:tblPr/>
              <a:tblGrid>
                <a:gridCol w="4095750"/>
                <a:gridCol w="6724650"/>
              </a:tblGrid>
              <a:tr h="788670">
                <a:tc>
                  <a:txBody>
                    <a:bodyPr/>
                    <a:lstStyle/>
                    <a:p>
                      <a:r>
                        <a:rPr sz="1950" b="1">
                          <a:solidFill>
                            <a:srgbClr val="FFFFFF"/>
                          </a:solidFill>
                          <a:latin typeface="Arial"/>
                          <a:ea typeface="Arial"/>
                          <a:cs typeface="Arial"/>
                        </a:rPr>
                        <a:t>Interface</a:t>
                      </a:r>
                    </a:p>
                  </a:txBody>
                  <a:tcPr marL="91440" marR="91440" marT="45720" marB="45720">
                    <a:solidFill>
                      <a:srgbClr val="183D4B"/>
                    </a:solidFill>
                  </a:tcPr>
                </a:tc>
                <a:tc>
                  <a:txBody>
                    <a:bodyPr/>
                    <a:lstStyle/>
                    <a:p>
                      <a:r>
                        <a:rPr sz="1950" b="1">
                          <a:solidFill>
                            <a:srgbClr val="FFFFFF"/>
                          </a:solidFill>
                          <a:latin typeface="Arial"/>
                          <a:ea typeface="Arial"/>
                          <a:cs typeface="Arial"/>
                        </a:rPr>
                        <a:t>What it contributes</a:t>
                      </a:r>
                    </a:p>
                  </a:txBody>
                  <a:tcPr marL="91440" marR="91440" marT="45720" marB="45720">
                    <a:solidFill>
                      <a:srgbClr val="183D4B"/>
                    </a:solidFill>
                  </a:tcPr>
                </a:tc>
              </a:tr>
              <a:tr h="788670">
                <a:tc>
                  <a:txBody>
                    <a:bodyPr/>
                    <a:lstStyle/>
                    <a:p>
                      <a:r>
                        <a:rPr sz="1950" b="0">
                          <a:solidFill>
                            <a:srgbClr val="183D4B"/>
                          </a:solidFill>
                          <a:latin typeface="Arial"/>
                          <a:ea typeface="Arial"/>
                          <a:cs typeface="Arial"/>
                        </a:rPr>
                        <a:t>Documented rule parser</a:t>
                      </a:r>
                    </a:p>
                  </a:txBody>
                  <a:tcPr marL="91440" marR="91440" marT="45720" marB="45720">
                    <a:solidFill>
                      <a:srgbClr val="FFFFFF"/>
                    </a:solidFill>
                  </a:tcPr>
                </a:tc>
                <a:tc>
                  <a:txBody>
                    <a:bodyPr/>
                    <a:lstStyle/>
                    <a:p>
                      <a:r>
                        <a:rPr sz="1950" b="0">
                          <a:solidFill>
                            <a:srgbClr val="183D4B"/>
                          </a:solidFill>
                          <a:latin typeface="Arial"/>
                          <a:ea typeface="Arial"/>
                          <a:cs typeface="Arial"/>
                        </a:rPr>
                        <a:t>Bounded language grammar and manual handoff</a:t>
                      </a:r>
                    </a:p>
                  </a:txBody>
                  <a:tcPr marL="91440" marR="91440" marT="45720" marB="45720">
                    <a:solidFill>
                      <a:srgbClr val="FFFFFF"/>
                    </a:solidFill>
                  </a:tcPr>
                </a:tc>
              </a:tr>
              <a:tr h="788670">
                <a:tc>
                  <a:txBody>
                    <a:bodyPr/>
                    <a:lstStyle/>
                    <a:p>
                      <a:r>
                        <a:rPr sz="1950" b="0">
                          <a:solidFill>
                            <a:srgbClr val="183D4B"/>
                          </a:solidFill>
                          <a:latin typeface="Arial"/>
                          <a:ea typeface="Arial"/>
                          <a:cs typeface="Arial"/>
                        </a:rPr>
                        <a:t>Llama once</a:t>
                      </a:r>
                    </a:p>
                  </a:txBody>
                  <a:tcPr marL="91440" marR="91440" marT="45720" marB="45720">
                    <a:solidFill>
                      <a:srgbClr val="EAF2F3"/>
                    </a:solidFill>
                  </a:tcPr>
                </a:tc>
                <a:tc>
                  <a:txBody>
                    <a:bodyPr/>
                    <a:lstStyle/>
                    <a:p>
                      <a:r>
                        <a:rPr sz="1950" b="0">
                          <a:solidFill>
                            <a:srgbClr val="183D4B"/>
                          </a:solidFill>
                          <a:latin typeface="Arial"/>
                          <a:ea typeface="Arial"/>
                          <a:cs typeface="Arial"/>
                        </a:rPr>
                        <a:t>One local-model interpretation in the same schema</a:t>
                      </a:r>
                    </a:p>
                  </a:txBody>
                  <a:tcPr marL="91440" marR="91440" marT="45720" marB="45720">
                    <a:solidFill>
                      <a:srgbClr val="EAF2F3"/>
                    </a:solidFill>
                  </a:tcPr>
                </a:tc>
              </a:tr>
              <a:tr h="788670">
                <a:tc>
                  <a:txBody>
                    <a:bodyPr/>
                    <a:lstStyle/>
                    <a:p>
                      <a:r>
                        <a:rPr sz="1950" b="0">
                          <a:solidFill>
                            <a:srgbClr val="183D4B"/>
                          </a:solidFill>
                          <a:latin typeface="Arial"/>
                          <a:ea typeface="Arial"/>
                          <a:cs typeface="Arial"/>
                        </a:rPr>
                        <a:t>Critic / self-review</a:t>
                      </a:r>
                    </a:p>
                  </a:txBody>
                  <a:tcPr marL="91440" marR="91440" marT="45720" marB="45720">
                    <a:solidFill>
                      <a:srgbClr val="FFFFFF"/>
                    </a:solidFill>
                  </a:tcPr>
                </a:tc>
                <a:tc>
                  <a:txBody>
                    <a:bodyPr/>
                    <a:lstStyle/>
                    <a:p>
                      <a:r>
                        <a:rPr sz="1950" b="0">
                          <a:solidFill>
                            <a:srgbClr val="183D4B"/>
                          </a:solidFill>
                          <a:latin typeface="Arial"/>
                          <a:ea typeface="Arial"/>
                          <a:cs typeface="Arial"/>
                        </a:rPr>
                        <a:t>Paired second pass on the identical first response</a:t>
                      </a:r>
                    </a:p>
                  </a:txBody>
                  <a:tcPr marL="91440" marR="91440" marT="45720" marB="45720">
                    <a:solidFill>
                      <a:srgbClr val="FFFFFF"/>
                    </a:solidFill>
                  </a:tcPr>
                </a:tc>
              </a:tr>
              <a:tr h="788670">
                <a:tc>
                  <a:txBody>
                    <a:bodyPr/>
                    <a:lstStyle/>
                    <a:p>
                      <a:r>
                        <a:rPr sz="1950" b="0">
                          <a:solidFill>
                            <a:srgbClr val="183D4B"/>
                          </a:solidFill>
                          <a:latin typeface="Arial"/>
                          <a:ea typeface="Arial"/>
                          <a:cs typeface="Arial"/>
                        </a:rPr>
                        <a:t>Correct structured reference</a:t>
                      </a:r>
                    </a:p>
                  </a:txBody>
                  <a:tcPr marL="91440" marR="91440" marT="45720" marB="45720">
                    <a:solidFill>
                      <a:srgbClr val="EAF2F3"/>
                    </a:solidFill>
                  </a:tcPr>
                </a:tc>
                <a:tc>
                  <a:txBody>
                    <a:bodyPr/>
                    <a:lstStyle/>
                    <a:p>
                      <a:r>
                        <a:rPr sz="1950" b="0">
                          <a:solidFill>
                            <a:srgbClr val="183D4B"/>
                          </a:solidFill>
                          <a:latin typeface="Arial"/>
                          <a:ea typeface="Arial"/>
                          <a:cs typeface="Arial"/>
                        </a:rPr>
                        <a:t>Controller result after correct form entry</a:t>
                      </a:r>
                    </a:p>
                  </a:txBody>
                  <a:tcPr marL="91440" marR="91440" marT="45720" marB="45720">
                    <a:solidFill>
                      <a:srgbClr val="EAF2F3"/>
                    </a:solidFill>
                  </a:tcPr>
                </a:tc>
              </a:tr>
            </a:tbl>
          </a:graphicData>
        </a:graphic>
      </p:graphicFrame>
      <p:sp>
        <p:nvSpPr>
          <p:cNvPr id="3" name="">
            <a:extLst xmlns:a="http://schemas.openxmlformats.org/drawingml/2006/main">
              <a:ext uri="{FF2B5EF4-FFF2-40B4-BE49-F238E27FC236}">
                <a16:creationId xmlns:a16="http://schemas.microsoft.com/office/drawing/2014/main" id="{00F6835A-9602-4AC6-91D0-FCC12EE6F5B4}"/>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All READY requests use the same MPC / DQN / restoration tools, attempt budget and OpenDSS gate.</a:t>
            </a:r>
          </a:p>
        </p:txBody>
      </p:sp>
      <p:sp>
        <p:nvSpPr>
          <p:cNvPr id="4" name="">
            <a:extLst xmlns:a="http://schemas.openxmlformats.org/drawingml/2006/main">
              <a:ext uri="{FF2B5EF4-FFF2-40B4-BE49-F238E27FC236}">
                <a16:creationId xmlns:a16="http://schemas.microsoft.com/office/drawing/2014/main" id="{59BA7A08-4DD8-4DB4-8203-96B947418BA9}"/>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21</a:t>
            </a:r>
          </a:p>
        </p:txBody>
      </p:sp>
    </p:spTree>
    <p:extLst>
      <p:ext uri="{BB962C8B-B14F-4D97-AF65-F5344CB8AC3E}">
        <p14:creationId xmlns:p14="http://schemas.microsoft.com/office/powerpoint/2010/main" val="9545413"/>
      </p:ext>
    </p:extLst>
  </p:cSld>
</p:sld>
</file>

<file path=ppt/slides/slide22.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AFAF58E-357A-42DE-8009-B154C60FBD1E}"/>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Pilot design and completion criteria</a:t>
            </a:r>
          </a:p>
        </p:txBody>
      </p:sp>
      <p:sp>
        <p:nvSpPr>
          <p:cNvPr id="2" name="">
            <a:extLst xmlns:a="http://schemas.openxmlformats.org/drawingml/2006/main">
              <a:ext uri="{FF2B5EF4-FFF2-40B4-BE49-F238E27FC236}">
                <a16:creationId xmlns:a16="http://schemas.microsoft.com/office/drawing/2014/main" id="{AA677AFB-7427-4F77-A317-6FE24DE58F19}"/>
              </a:ext>
            </a:extLst>
          </p:cNvPr>
          <p:cNvSpPr>
            <a:spLocks xmlns:a="http://schemas.openxmlformats.org/drawingml/2006/main" noGrp="1"/>
          </p:cNvSpPr>
          <p:nvPr/>
        </p:nvSpPr>
        <p:spPr>
          <a:xfrm xmlns:a="http://schemas.openxmlformats.org/drawingml/2006/main">
            <a:off x="742950" y="1752600"/>
            <a:ext cx="106299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83D4B"/>
                </a:solidFill>
                <a:latin typeface="Arial"/>
                <a:ea typeface="Arial"/>
                <a:cs typeface="Arial"/>
              </a:defRPr>
            </a:pPr>
            <a:r>
              <a:rPr sz="2250" b="0">
                <a:solidFill>
                  <a:srgbClr val="183D4B"/>
                </a:solidFill>
                <a:latin typeface="Arial"/>
                <a:ea typeface="Arial"/>
                <a:cs typeface="Arial"/>
              </a:rPr>
              <a:t>24 authored requests: 20 clear requests and 4 requiring clarification.</a:t>
            </a:r>
          </a:p>
        </p:txBody>
      </p:sp>
      <p:sp>
        <p:nvSpPr>
          <p:cNvPr id="3" name="">
            <a:extLst xmlns:a="http://schemas.openxmlformats.org/drawingml/2006/main">
              <a:ext uri="{FF2B5EF4-FFF2-40B4-BE49-F238E27FC236}">
                <a16:creationId xmlns:a16="http://schemas.microsoft.com/office/drawing/2014/main" id="{A6BC5450-19D6-4390-BC39-4F13D1568416}"/>
              </a:ext>
            </a:extLst>
          </p:cNvPr>
          <p:cNvSpPr>
            <a:spLocks xmlns:a="http://schemas.openxmlformats.org/drawingml/2006/main" noGrp="1"/>
          </p:cNvSpPr>
          <p:nvPr/>
        </p:nvSpPr>
        <p:spPr>
          <a:xfrm xmlns:a="http://schemas.openxmlformats.org/drawingml/2006/main">
            <a:off x="742950" y="2886075"/>
            <a:ext cx="106299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83D4B"/>
                </a:solidFill>
                <a:latin typeface="Arial"/>
                <a:ea typeface="Arial"/>
                <a:cs typeface="Arial"/>
              </a:defRPr>
            </a:pPr>
            <a:r>
              <a:rPr sz="2250" b="0">
                <a:solidFill>
                  <a:srgbClr val="183D4B"/>
                </a:solidFill>
                <a:latin typeface="Arial"/>
                <a:ea typeface="Arial"/>
                <a:cs typeface="Arial"/>
              </a:rPr>
              <a:t>Correct completion requires exact request interpretation and a recommendation that passes the gold restrictions.</a:t>
            </a:r>
          </a:p>
        </p:txBody>
      </p:sp>
      <p:sp>
        <p:nvSpPr>
          <p:cNvPr id="4" name="">
            <a:extLst xmlns:a="http://schemas.openxmlformats.org/drawingml/2006/main">
              <a:ext uri="{FF2B5EF4-FFF2-40B4-BE49-F238E27FC236}">
                <a16:creationId xmlns:a16="http://schemas.microsoft.com/office/drawing/2014/main" id="{EEB439CF-F1F7-45CC-A49E-2F4C6BA2D86F}"/>
              </a:ext>
            </a:extLst>
          </p:cNvPr>
          <p:cNvSpPr>
            <a:spLocks xmlns:a="http://schemas.openxmlformats.org/drawingml/2006/main" noGrp="1"/>
          </p:cNvSpPr>
          <p:nvPr/>
        </p:nvSpPr>
        <p:spPr>
          <a:xfrm xmlns:a="http://schemas.openxmlformats.org/drawingml/2006/main">
            <a:off x="742950" y="4019550"/>
            <a:ext cx="106299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83D4B"/>
                </a:solidFill>
                <a:latin typeface="Arial"/>
                <a:ea typeface="Arial"/>
                <a:cs typeface="Arial"/>
              </a:defRPr>
            </a:pPr>
            <a:r>
              <a:rPr sz="2250" b="0">
                <a:solidFill>
                  <a:srgbClr val="183D4B"/>
                </a:solidFill>
                <a:latin typeface="Arial"/>
                <a:ea typeface="Arial"/>
                <a:cs typeface="Arial"/>
              </a:rPr>
              <a:t>A physically feasible action for the wrong request still fails this test.</a:t>
            </a:r>
          </a:p>
        </p:txBody>
      </p:sp>
      <p:sp>
        <p:nvSpPr>
          <p:cNvPr id="5" name="">
            <a:extLst xmlns:a="http://schemas.openxmlformats.org/drawingml/2006/main">
              <a:ext uri="{FF2B5EF4-FFF2-40B4-BE49-F238E27FC236}">
                <a16:creationId xmlns:a16="http://schemas.microsoft.com/office/drawing/2014/main" id="{1857F48F-63C5-4732-94DE-6178F44B84D0}"/>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Gold labels are offline scoring inputs. They are never supplied to the model or used to repair a request.</a:t>
            </a:r>
          </a:p>
        </p:txBody>
      </p:sp>
      <p:sp>
        <p:nvSpPr>
          <p:cNvPr id="6" name="">
            <a:extLst xmlns:a="http://schemas.openxmlformats.org/drawingml/2006/main">
              <a:ext uri="{FF2B5EF4-FFF2-40B4-BE49-F238E27FC236}">
                <a16:creationId xmlns:a16="http://schemas.microsoft.com/office/drawing/2014/main" id="{08FBC874-5EE7-45DA-9CB1-C53E3556AFA7}"/>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22</a:t>
            </a:r>
          </a:p>
        </p:txBody>
      </p:sp>
    </p:spTree>
    <p:extLst>
      <p:ext uri="{BB962C8B-B14F-4D97-AF65-F5344CB8AC3E}">
        <p14:creationId xmlns:p14="http://schemas.microsoft.com/office/powerpoint/2010/main" val="374586795"/>
      </p:ext>
    </p:extLst>
  </p:cSld>
</p:sld>
</file>

<file path=ppt/slides/slide23.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7022DAD-CAEA-4920-B300-FD548D1F8976}"/>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Single-pass Llama adds correct completions</a:t>
            </a:r>
          </a:p>
        </p:txBody>
      </p:sp>
      <p:sp>
        <p:nvSpPr>
          <p:cNvPr id="3" name="">
            <a:extLst xmlns:a="http://schemas.openxmlformats.org/drawingml/2006/main">
              <a:ext uri="{FF2B5EF4-FFF2-40B4-BE49-F238E27FC236}">
                <a16:creationId xmlns:a16="http://schemas.microsoft.com/office/drawing/2014/main" id="{10CEA00E-93F8-4233-9DCB-0428ACDD72D7}"/>
              </a:ext>
            </a:extLst>
          </p:cNvPr>
          <p:cNvSpPr>
            <a:spLocks xmlns:a="http://schemas.openxmlformats.org/drawingml/2006/main" noGrp="1"/>
          </p:cNvSpPr>
          <p:nvPr/>
        </p:nvSpPr>
        <p:spPr>
          <a:xfrm xmlns:a="http://schemas.openxmlformats.org/drawingml/2006/main">
            <a:off x="742950" y="5191125"/>
            <a:ext cx="106299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BC6328"/>
                </a:solidFill>
                <a:latin typeface="Arial"/>
                <a:ea typeface="Arial"/>
                <a:cs typeface="Arial"/>
              </a:defRPr>
            </a:pPr>
            <a:r>
              <a:rPr sz="1800" b="1">
                <a:solidFill>
                  <a:srgbClr val="BC6328"/>
                </a:solidFill>
                <a:latin typeface="Arial"/>
                <a:ea typeface="Arial"/>
                <a:cs typeface="Arial"/>
              </a:rPr>
              <a:t>Wrong READY /24: 0 versus 4. Unnecessary handoffs /20: 6 versus 0.</a:t>
            </a:r>
          </a:p>
        </p:txBody>
      </p:sp>
      <p:sp>
        <p:nvSpPr>
          <p:cNvPr id="4" name="">
            <a:extLst xmlns:a="http://schemas.openxmlformats.org/drawingml/2006/main">
              <a:ext uri="{FF2B5EF4-FFF2-40B4-BE49-F238E27FC236}">
                <a16:creationId xmlns:a16="http://schemas.microsoft.com/office/drawing/2014/main" id="{EEFC5E6E-AE05-463D-92A4-EEC3D91DC2B5}"/>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Median machine time: parser 0.30 s, Llama 3.84 s. Human form-entry time was not measured.</a:t>
            </a:r>
          </a:p>
        </p:txBody>
      </p:sp>
      <p:sp>
        <p:nvSpPr>
          <p:cNvPr id="5" name="">
            <a:extLst xmlns:a="http://schemas.openxmlformats.org/drawingml/2006/main">
              <a:ext uri="{FF2B5EF4-FFF2-40B4-BE49-F238E27FC236}">
                <a16:creationId xmlns:a16="http://schemas.microsoft.com/office/drawing/2014/main" id="{BA797434-EE9B-4264-A169-657CF06A34FB}"/>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23</a:t>
            </a:r>
          </a:p>
        </p:txBody>
      </p:sp>
      <p:graphicFrame>
        <p:nvGraphicFramePr>
          <p:cNvPr id="12" name="Chart"/>
          <p:cNvGraphicFramePr/>
          <p:nvPr/>
        </p:nvGraphicFramePr>
        <p:xfrm>
          <a:off xmlns:a="http://schemas.openxmlformats.org/drawingml/2006/main" x="723900" y="1762125"/>
          <a:ext xmlns:a="http://schemas.openxmlformats.org/drawingml/2006/main" cx="10668000" cy="3190875"/>
        </p:xfrm>
        <a:graphic xmlns:a="http://schemas.openxmlformats.org/drawingml/2006/main">
          <a:graphicData uri="http://schemas.openxmlformats.org/drawingml/2006/chart">
            <c:chart xmlns:r="http://schemas.openxmlformats.org/officeDocument/2006/relationships" xmlns:c="http://schemas.openxmlformats.org/drawingml/2006/chart" r:id="R2bd69e3be0df4352"/>
          </a:graphicData>
        </a:graphic>
      </p:graphicFrame>
    </p:spTree>
    <p:extLst>
      <p:ext uri="{BB962C8B-B14F-4D97-AF65-F5344CB8AC3E}">
        <p14:creationId xmlns:p14="http://schemas.microsoft.com/office/powerpoint/2010/main" val="814006917"/>
      </p:ext>
    </p:extLst>
  </p:cSld>
</p:sld>
</file>

<file path=ppt/slides/slide24.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8638B60-475A-487F-92D2-11F9146E15E2}"/>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A second model pass reduced pilot accuracy</a:t>
            </a:r>
          </a:p>
        </p:txBody>
      </p:sp>
      <p:graphicFrame>
        <p:nvGraphicFramePr>
          <p:cNvPr id="9" name=""/>
          <p:cNvGraphicFramePr/>
          <p:nvPr/>
        </p:nvGraphicFramePr>
        <p:xfrm>
          <a:off xmlns:a="http://schemas.openxmlformats.org/drawingml/2006/main" x="685800" y="1685925"/>
          <a:ext xmlns:a="http://schemas.openxmlformats.org/drawingml/2006/main" cx="10820400" cy="3200400"/>
        </p:xfrm>
        <a:graphic xmlns:a="http://schemas.openxmlformats.org/drawingml/2006/main">
          <a:graphicData uri="http://schemas.openxmlformats.org/drawingml/2006/table">
            <a:tbl>
              <a:tblPr/>
              <a:tblGrid>
                <a:gridCol w="2914650"/>
                <a:gridCol w="2000250"/>
                <a:gridCol w="2238375"/>
                <a:gridCol w="1857375"/>
                <a:gridCol w="1809750"/>
              </a:tblGrid>
              <a:tr h="800100">
                <a:tc>
                  <a:txBody>
                    <a:bodyPr/>
                    <a:lstStyle/>
                    <a:p>
                      <a:r>
                        <a:rPr sz="1800" b="1">
                          <a:solidFill>
                            <a:srgbClr val="FFFFFF"/>
                          </a:solidFill>
                          <a:latin typeface="Arial"/>
                          <a:ea typeface="Arial"/>
                          <a:cs typeface="Arial"/>
                        </a:rPr>
                        <a:t>Method</a:t>
                      </a:r>
                    </a:p>
                  </a:txBody>
                  <a:tcPr marL="91440" marR="91440" marT="45720" marB="45720">
                    <a:solidFill>
                      <a:srgbClr val="183D4B"/>
                    </a:solidFill>
                  </a:tcPr>
                </a:tc>
                <a:tc>
                  <a:txBody>
                    <a:bodyPr/>
                    <a:lstStyle/>
                    <a:p>
                      <a:r>
                        <a:rPr sz="1800" b="1">
                          <a:solidFill>
                            <a:srgbClr val="FFFFFF"/>
                          </a:solidFill>
                          <a:latin typeface="Arial"/>
                          <a:ea typeface="Arial"/>
                          <a:cs typeface="Arial"/>
                        </a:rPr>
                        <a:t>Complete /20</a:t>
                      </a:r>
                    </a:p>
                  </a:txBody>
                  <a:tcPr marL="91440" marR="91440" marT="45720" marB="45720">
                    <a:solidFill>
                      <a:srgbClr val="183D4B"/>
                    </a:solidFill>
                  </a:tcPr>
                </a:tc>
                <a:tc>
                  <a:txBody>
                    <a:bodyPr/>
                    <a:lstStyle/>
                    <a:p>
                      <a:r>
                        <a:rPr sz="1800" b="1">
                          <a:solidFill>
                            <a:srgbClr val="FFFFFF"/>
                          </a:solidFill>
                          <a:latin typeface="Arial"/>
                          <a:ea typeface="Arial"/>
                          <a:cs typeface="Arial"/>
                        </a:rPr>
                        <a:t>Wrong READY /24</a:t>
                      </a:r>
                    </a:p>
                  </a:txBody>
                  <a:tcPr marL="91440" marR="91440" marT="45720" marB="45720">
                    <a:solidFill>
                      <a:srgbClr val="183D4B"/>
                    </a:solidFill>
                  </a:tcPr>
                </a:tc>
                <a:tc>
                  <a:txBody>
                    <a:bodyPr/>
                    <a:lstStyle/>
                    <a:p>
                      <a:r>
                        <a:rPr sz="1800" b="1">
                          <a:solidFill>
                            <a:srgbClr val="FFFFFF"/>
                          </a:solidFill>
                          <a:latin typeface="Arial"/>
                          <a:ea typeface="Arial"/>
                          <a:cs typeface="Arial"/>
                        </a:rPr>
                        <a:t>Clarify /4</a:t>
                      </a:r>
                    </a:p>
                  </a:txBody>
                  <a:tcPr marL="91440" marR="91440" marT="45720" marB="45720">
                    <a:solidFill>
                      <a:srgbClr val="183D4B"/>
                    </a:solidFill>
                  </a:tcPr>
                </a:tc>
                <a:tc>
                  <a:txBody>
                    <a:bodyPr/>
                    <a:lstStyle/>
                    <a:p>
                      <a:r>
                        <a:rPr sz="1800" b="1">
                          <a:solidFill>
                            <a:srgbClr val="FFFFFF"/>
                          </a:solidFill>
                          <a:latin typeface="Arial"/>
                          <a:ea typeface="Arial"/>
                          <a:cs typeface="Arial"/>
                        </a:rPr>
                        <a:t>Median s</a:t>
                      </a:r>
                    </a:p>
                  </a:txBody>
                  <a:tcPr marL="91440" marR="91440" marT="45720" marB="45720">
                    <a:solidFill>
                      <a:srgbClr val="183D4B"/>
                    </a:solidFill>
                  </a:tcPr>
                </a:tc>
              </a:tr>
              <a:tr h="800100">
                <a:tc>
                  <a:txBody>
                    <a:bodyPr/>
                    <a:lstStyle/>
                    <a:p>
                      <a:r>
                        <a:rPr sz="1800" b="0">
                          <a:solidFill>
                            <a:srgbClr val="183D4B"/>
                          </a:solidFill>
                          <a:latin typeface="Arial"/>
                          <a:ea typeface="Arial"/>
                          <a:cs typeface="Arial"/>
                        </a:rPr>
                        <a:t>One pass</a:t>
                      </a:r>
                    </a:p>
                  </a:txBody>
                  <a:tcPr marL="91440" marR="91440" marT="45720" marB="45720">
                    <a:solidFill>
                      <a:srgbClr val="FFFFFF"/>
                    </a:solidFill>
                  </a:tcPr>
                </a:tc>
                <a:tc>
                  <a:txBody>
                    <a:bodyPr/>
                    <a:lstStyle/>
                    <a:p>
                      <a:r>
                        <a:rPr sz="1800" b="0">
                          <a:solidFill>
                            <a:srgbClr val="183D4B"/>
                          </a:solidFill>
                          <a:latin typeface="Arial"/>
                          <a:ea typeface="Arial"/>
                          <a:cs typeface="Arial"/>
                        </a:rPr>
                        <a:t>16</a:t>
                      </a:r>
                    </a:p>
                  </a:txBody>
                  <a:tcPr marL="91440" marR="91440" marT="45720" marB="45720">
                    <a:solidFill>
                      <a:srgbClr val="FFFFFF"/>
                    </a:solidFill>
                  </a:tcPr>
                </a:tc>
                <a:tc>
                  <a:txBody>
                    <a:bodyPr/>
                    <a:lstStyle/>
                    <a:p>
                      <a:r>
                        <a:rPr sz="1800" b="0">
                          <a:solidFill>
                            <a:srgbClr val="183D4B"/>
                          </a:solidFill>
                          <a:latin typeface="Arial"/>
                          <a:ea typeface="Arial"/>
                          <a:cs typeface="Arial"/>
                        </a:rPr>
                        <a:t>4</a:t>
                      </a:r>
                    </a:p>
                  </a:txBody>
                  <a:tcPr marL="91440" marR="91440" marT="45720" marB="45720">
                    <a:solidFill>
                      <a:srgbClr val="FFFFFF"/>
                    </a:solidFill>
                  </a:tcPr>
                </a:tc>
                <a:tc>
                  <a:txBody>
                    <a:bodyPr/>
                    <a:lstStyle/>
                    <a:p>
                      <a:r>
                        <a:rPr sz="1800" b="0">
                          <a:solidFill>
                            <a:srgbClr val="183D4B"/>
                          </a:solidFill>
                          <a:latin typeface="Arial"/>
                          <a:ea typeface="Arial"/>
                          <a:cs typeface="Arial"/>
                        </a:rPr>
                        <a:t>4</a:t>
                      </a:r>
                    </a:p>
                  </a:txBody>
                  <a:tcPr marL="91440" marR="91440" marT="45720" marB="45720">
                    <a:solidFill>
                      <a:srgbClr val="FFFFFF"/>
                    </a:solidFill>
                  </a:tcPr>
                </a:tc>
                <a:tc>
                  <a:txBody>
                    <a:bodyPr/>
                    <a:lstStyle/>
                    <a:p>
                      <a:r>
                        <a:rPr sz="1800" b="0">
                          <a:solidFill>
                            <a:srgbClr val="183D4B"/>
                          </a:solidFill>
                          <a:latin typeface="Arial"/>
                          <a:ea typeface="Arial"/>
                          <a:cs typeface="Arial"/>
                        </a:rPr>
                        <a:t>3.84</a:t>
                      </a:r>
                    </a:p>
                  </a:txBody>
                  <a:tcPr marL="91440" marR="91440" marT="45720" marB="45720">
                    <a:solidFill>
                      <a:srgbClr val="FFFFFF"/>
                    </a:solidFill>
                  </a:tcPr>
                </a:tc>
              </a:tr>
              <a:tr h="800100">
                <a:tc>
                  <a:txBody>
                    <a:bodyPr/>
                    <a:lstStyle/>
                    <a:p>
                      <a:r>
                        <a:rPr sz="1800" b="0">
                          <a:solidFill>
                            <a:srgbClr val="183D4B"/>
                          </a:solidFill>
                          <a:latin typeface="Arial"/>
                          <a:ea typeface="Arial"/>
                          <a:cs typeface="Arial"/>
                        </a:rPr>
                        <a:t>Add critic</a:t>
                      </a:r>
                    </a:p>
                  </a:txBody>
                  <a:tcPr marL="91440" marR="91440" marT="45720" marB="45720">
                    <a:solidFill>
                      <a:srgbClr val="EAF2F3"/>
                    </a:solidFill>
                  </a:tcPr>
                </a:tc>
                <a:tc>
                  <a:txBody>
                    <a:bodyPr/>
                    <a:lstStyle/>
                    <a:p>
                      <a:r>
                        <a:rPr sz="1800" b="0">
                          <a:solidFill>
                            <a:srgbClr val="183D4B"/>
                          </a:solidFill>
                          <a:latin typeface="Arial"/>
                          <a:ea typeface="Arial"/>
                          <a:cs typeface="Arial"/>
                        </a:rPr>
                        <a:t>9</a:t>
                      </a:r>
                    </a:p>
                  </a:txBody>
                  <a:tcPr marL="91440" marR="91440" marT="45720" marB="45720">
                    <a:solidFill>
                      <a:srgbClr val="EAF2F3"/>
                    </a:solidFill>
                  </a:tcPr>
                </a:tc>
                <a:tc>
                  <a:txBody>
                    <a:bodyPr/>
                    <a:lstStyle/>
                    <a:p>
                      <a:r>
                        <a:rPr sz="1800" b="0">
                          <a:solidFill>
                            <a:srgbClr val="183D4B"/>
                          </a:solidFill>
                          <a:latin typeface="Arial"/>
                          <a:ea typeface="Arial"/>
                          <a:cs typeface="Arial"/>
                        </a:rPr>
                        <a:t>5</a:t>
                      </a:r>
                    </a:p>
                  </a:txBody>
                  <a:tcPr marL="91440" marR="91440" marT="45720" marB="45720">
                    <a:solidFill>
                      <a:srgbClr val="EAF2F3"/>
                    </a:solidFill>
                  </a:tcPr>
                </a:tc>
                <a:tc>
                  <a:txBody>
                    <a:bodyPr/>
                    <a:lstStyle/>
                    <a:p>
                      <a:r>
                        <a:rPr sz="1800" b="0">
                          <a:solidFill>
                            <a:srgbClr val="183D4B"/>
                          </a:solidFill>
                          <a:latin typeface="Arial"/>
                          <a:ea typeface="Arial"/>
                          <a:cs typeface="Arial"/>
                        </a:rPr>
                        <a:t>3</a:t>
                      </a:r>
                    </a:p>
                  </a:txBody>
                  <a:tcPr marL="91440" marR="91440" marT="45720" marB="45720">
                    <a:solidFill>
                      <a:srgbClr val="EAF2F3"/>
                    </a:solidFill>
                  </a:tcPr>
                </a:tc>
                <a:tc>
                  <a:txBody>
                    <a:bodyPr/>
                    <a:lstStyle/>
                    <a:p>
                      <a:r>
                        <a:rPr sz="1800" b="0">
                          <a:solidFill>
                            <a:srgbClr val="183D4B"/>
                          </a:solidFill>
                          <a:latin typeface="Arial"/>
                          <a:ea typeface="Arial"/>
                          <a:cs typeface="Arial"/>
                        </a:rPr>
                        <a:t>6.42</a:t>
                      </a:r>
                    </a:p>
                  </a:txBody>
                  <a:tcPr marL="91440" marR="91440" marT="45720" marB="45720">
                    <a:solidFill>
                      <a:srgbClr val="EAF2F3"/>
                    </a:solidFill>
                  </a:tcPr>
                </a:tc>
              </a:tr>
              <a:tr h="800100">
                <a:tc>
                  <a:txBody>
                    <a:bodyPr/>
                    <a:lstStyle/>
                    <a:p>
                      <a:r>
                        <a:rPr sz="1800" b="0">
                          <a:solidFill>
                            <a:srgbClr val="183D4B"/>
                          </a:solidFill>
                          <a:latin typeface="Arial"/>
                          <a:ea typeface="Arial"/>
                          <a:cs typeface="Arial"/>
                        </a:rPr>
                        <a:t>Add self-review</a:t>
                      </a:r>
                    </a:p>
                  </a:txBody>
                  <a:tcPr marL="91440" marR="91440" marT="45720" marB="45720">
                    <a:solidFill>
                      <a:srgbClr val="FFFFFF"/>
                    </a:solidFill>
                  </a:tcPr>
                </a:tc>
                <a:tc>
                  <a:txBody>
                    <a:bodyPr/>
                    <a:lstStyle/>
                    <a:p>
                      <a:r>
                        <a:rPr sz="1800" b="0">
                          <a:solidFill>
                            <a:srgbClr val="183D4B"/>
                          </a:solidFill>
                          <a:latin typeface="Arial"/>
                          <a:ea typeface="Arial"/>
                          <a:cs typeface="Arial"/>
                        </a:rPr>
                        <a:t>10</a:t>
                      </a:r>
                    </a:p>
                  </a:txBody>
                  <a:tcPr marL="91440" marR="91440" marT="45720" marB="45720">
                    <a:solidFill>
                      <a:srgbClr val="FFFFFF"/>
                    </a:solidFill>
                  </a:tcPr>
                </a:tc>
                <a:tc>
                  <a:txBody>
                    <a:bodyPr/>
                    <a:lstStyle/>
                    <a:p>
                      <a:r>
                        <a:rPr sz="1800" b="0">
                          <a:solidFill>
                            <a:srgbClr val="183D4B"/>
                          </a:solidFill>
                          <a:latin typeface="Arial"/>
                          <a:ea typeface="Arial"/>
                          <a:cs typeface="Arial"/>
                        </a:rPr>
                        <a:t>7</a:t>
                      </a:r>
                    </a:p>
                  </a:txBody>
                  <a:tcPr marL="91440" marR="91440" marT="45720" marB="45720">
                    <a:solidFill>
                      <a:srgbClr val="FFFFFF"/>
                    </a:solidFill>
                  </a:tcPr>
                </a:tc>
                <a:tc>
                  <a:txBody>
                    <a:bodyPr/>
                    <a:lstStyle/>
                    <a:p>
                      <a:r>
                        <a:rPr sz="1800" b="0">
                          <a:solidFill>
                            <a:srgbClr val="183D4B"/>
                          </a:solidFill>
                          <a:latin typeface="Arial"/>
                          <a:ea typeface="Arial"/>
                          <a:cs typeface="Arial"/>
                        </a:rPr>
                        <a:t>3</a:t>
                      </a:r>
                    </a:p>
                  </a:txBody>
                  <a:tcPr marL="91440" marR="91440" marT="45720" marB="45720">
                    <a:solidFill>
                      <a:srgbClr val="FFFFFF"/>
                    </a:solidFill>
                  </a:tcPr>
                </a:tc>
                <a:tc>
                  <a:txBody>
                    <a:bodyPr/>
                    <a:lstStyle/>
                    <a:p>
                      <a:r>
                        <a:rPr sz="1800" b="0">
                          <a:solidFill>
                            <a:srgbClr val="183D4B"/>
                          </a:solidFill>
                          <a:latin typeface="Arial"/>
                          <a:ea typeface="Arial"/>
                          <a:cs typeface="Arial"/>
                        </a:rPr>
                        <a:t>6.54</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8878EDBA-3B40-4FB8-9655-50960FB03550}"/>
              </a:ext>
            </a:extLst>
          </p:cNvPr>
          <p:cNvSpPr>
            <a:spLocks xmlns:a="http://schemas.openxmlformats.org/drawingml/2006/main" noGrp="1"/>
          </p:cNvSpPr>
          <p:nvPr/>
        </p:nvSpPr>
        <p:spPr>
          <a:xfrm xmlns:a="http://schemas.openxmlformats.org/drawingml/2006/main">
            <a:off x="742950" y="5210175"/>
            <a:ext cx="106299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BC6328"/>
                </a:solidFill>
                <a:latin typeface="Arial"/>
                <a:ea typeface="Arial"/>
                <a:cs typeface="Arial"/>
              </a:defRPr>
            </a:pPr>
            <a:r>
              <a:rPr sz="1800" b="1">
                <a:solidFill>
                  <a:srgbClr val="BC6328"/>
                </a:solidFill>
                <a:latin typeface="Arial"/>
                <a:ea typeface="Arial"/>
                <a:cs typeface="Arial"/>
              </a:rPr>
              <a:t>Critic: 0 corrections, 8 regressions. Self-review: 0 corrections, 7 regressions.</a:t>
            </a:r>
          </a:p>
        </p:txBody>
      </p:sp>
      <p:sp>
        <p:nvSpPr>
          <p:cNvPr id="4" name="">
            <a:extLst xmlns:a="http://schemas.openxmlformats.org/drawingml/2006/main">
              <a:ext uri="{FF2B5EF4-FFF2-40B4-BE49-F238E27FC236}">
                <a16:creationId xmlns:a16="http://schemas.microsoft.com/office/drawing/2014/main" id="{EFF5ADE3-AA04-486A-9B45-1FE92BFE7045}"/>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Both second-pass conditions use the same model backbone and the same initial interpretation.</a:t>
            </a:r>
          </a:p>
        </p:txBody>
      </p:sp>
      <p:sp>
        <p:nvSpPr>
          <p:cNvPr id="5" name="">
            <a:extLst xmlns:a="http://schemas.openxmlformats.org/drawingml/2006/main">
              <a:ext uri="{FF2B5EF4-FFF2-40B4-BE49-F238E27FC236}">
                <a16:creationId xmlns:a16="http://schemas.microsoft.com/office/drawing/2014/main" id="{C0C1ABC1-6353-4842-98DF-71540712DD58}"/>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24</a:t>
            </a:r>
          </a:p>
        </p:txBody>
      </p:sp>
    </p:spTree>
    <p:extLst>
      <p:ext uri="{BB962C8B-B14F-4D97-AF65-F5344CB8AC3E}">
        <p14:creationId xmlns:p14="http://schemas.microsoft.com/office/powerpoint/2010/main" val="2090252723"/>
      </p:ext>
    </p:extLst>
  </p:cSld>
</p:sld>
</file>

<file path=ppt/slides/slide25.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4AE480B-EE11-40DE-AF52-72CA850002F9}"/>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Selective Llama on new requests</a:t>
            </a:r>
          </a:p>
        </p:txBody>
      </p:sp>
      <p:sp>
        <p:nvSpPr>
          <p:cNvPr id="2" name="">
            <a:extLst xmlns:a="http://schemas.openxmlformats.org/drawingml/2006/main">
              <a:ext uri="{FF2B5EF4-FFF2-40B4-BE49-F238E27FC236}">
                <a16:creationId xmlns:a16="http://schemas.microsoft.com/office/drawing/2014/main" id="{4B3AA0A9-69B6-45E1-8A79-AAD1FD3CC41B}"/>
              </a:ext>
            </a:extLst>
          </p:cNvPr>
          <p:cNvSpPr>
            <a:spLocks xmlns:a="http://schemas.openxmlformats.org/drawingml/2006/main" noGrp="1"/>
          </p:cNvSpPr>
          <p:nvPr/>
        </p:nvSpPr>
        <p:spPr>
          <a:xfrm xmlns:a="http://schemas.openxmlformats.org/drawingml/2006/main">
            <a:off x="742950" y="1647825"/>
            <a:ext cx="106299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83D4B"/>
                </a:solidFill>
                <a:latin typeface="Arial"/>
                <a:ea typeface="Arial"/>
                <a:cs typeface="Arial"/>
              </a:defRPr>
            </a:pPr>
            <a:r>
              <a:rPr sz="2175" b="0">
                <a:solidFill>
                  <a:srgbClr val="183D4B"/>
                </a:solidFill>
                <a:latin typeface="Arial"/>
                <a:ea typeface="Arial"/>
                <a:cs typeface="Arial"/>
              </a:rPr>
              <a:t>Use parser READY outputs. Ask Llama once only when the parser requests a handoff.</a:t>
            </a:r>
          </a:p>
        </p:txBody>
      </p:sp>
      <p:graphicFrame>
        <p:nvGraphicFramePr>
          <p:cNvPr id="11" name=""/>
          <p:cNvGraphicFramePr/>
          <p:nvPr/>
        </p:nvGraphicFramePr>
        <p:xfrm>
          <a:off xmlns:a="http://schemas.openxmlformats.org/drawingml/2006/main" x="685800" y="2657475"/>
          <a:ext xmlns:a="http://schemas.openxmlformats.org/drawingml/2006/main" cx="10820400" cy="2247900"/>
        </p:xfrm>
        <a:graphic xmlns:a="http://schemas.openxmlformats.org/drawingml/2006/main">
          <a:graphicData uri="http://schemas.openxmlformats.org/drawingml/2006/table">
            <a:tbl>
              <a:tblPr/>
              <a:tblGrid>
                <a:gridCol w="2667000"/>
                <a:gridCol w="2038350"/>
                <a:gridCol w="2038350"/>
                <a:gridCol w="2038350"/>
                <a:gridCol w="2038350"/>
              </a:tblGrid>
              <a:tr h="749300">
                <a:tc>
                  <a:txBody>
                    <a:bodyPr/>
                    <a:lstStyle/>
                    <a:p>
                      <a:r>
                        <a:rPr sz="1800" b="1">
                          <a:solidFill>
                            <a:srgbClr val="FFFFFF"/>
                          </a:solidFill>
                          <a:latin typeface="Arial"/>
                          <a:ea typeface="Arial"/>
                          <a:cs typeface="Arial"/>
                        </a:rPr>
                        <a:t>Interface</a:t>
                      </a:r>
                    </a:p>
                  </a:txBody>
                  <a:tcPr marL="91440" marR="91440" marT="45720" marB="45720">
                    <a:solidFill>
                      <a:srgbClr val="183D4B"/>
                    </a:solidFill>
                  </a:tcPr>
                </a:tc>
                <a:tc>
                  <a:txBody>
                    <a:bodyPr/>
                    <a:lstStyle/>
                    <a:p>
                      <a:r>
                        <a:rPr sz="1800" b="1">
                          <a:solidFill>
                            <a:srgbClr val="FFFFFF"/>
                          </a:solidFill>
                          <a:latin typeface="Arial"/>
                          <a:ea typeface="Arial"/>
                          <a:cs typeface="Arial"/>
                        </a:rPr>
                        <a:t>Complete /8</a:t>
                      </a:r>
                    </a:p>
                  </a:txBody>
                  <a:tcPr marL="91440" marR="91440" marT="45720" marB="45720">
                    <a:solidFill>
                      <a:srgbClr val="183D4B"/>
                    </a:solidFill>
                  </a:tcPr>
                </a:tc>
                <a:tc>
                  <a:txBody>
                    <a:bodyPr/>
                    <a:lstStyle/>
                    <a:p>
                      <a:r>
                        <a:rPr sz="1800" b="1">
                          <a:solidFill>
                            <a:srgbClr val="FFFFFF"/>
                          </a:solidFill>
                          <a:latin typeface="Arial"/>
                          <a:ea typeface="Arial"/>
                          <a:cs typeface="Arial"/>
                        </a:rPr>
                        <a:t>Wrong READY /12</a:t>
                      </a:r>
                    </a:p>
                  </a:txBody>
                  <a:tcPr marL="91440" marR="91440" marT="45720" marB="45720">
                    <a:solidFill>
                      <a:srgbClr val="183D4B"/>
                    </a:solidFill>
                  </a:tcPr>
                </a:tc>
                <a:tc>
                  <a:txBody>
                    <a:bodyPr/>
                    <a:lstStyle/>
                    <a:p>
                      <a:r>
                        <a:rPr sz="1800" b="1">
                          <a:solidFill>
                            <a:srgbClr val="FFFFFF"/>
                          </a:solidFill>
                          <a:latin typeface="Arial"/>
                          <a:ea typeface="Arial"/>
                          <a:cs typeface="Arial"/>
                        </a:rPr>
                        <a:t>Clarify /4</a:t>
                      </a:r>
                    </a:p>
                  </a:txBody>
                  <a:tcPr marL="91440" marR="91440" marT="45720" marB="45720">
                    <a:solidFill>
                      <a:srgbClr val="183D4B"/>
                    </a:solidFill>
                  </a:tcPr>
                </a:tc>
                <a:tc>
                  <a:txBody>
                    <a:bodyPr/>
                    <a:lstStyle/>
                    <a:p>
                      <a:r>
                        <a:rPr sz="1800" b="1">
                          <a:solidFill>
                            <a:srgbClr val="FFFFFF"/>
                          </a:solidFill>
                          <a:latin typeface="Arial"/>
                          <a:ea typeface="Arial"/>
                          <a:cs typeface="Arial"/>
                        </a:rPr>
                        <a:t>Extra handoffs /8</a:t>
                      </a:r>
                    </a:p>
                  </a:txBody>
                  <a:tcPr marL="91440" marR="91440" marT="45720" marB="45720">
                    <a:solidFill>
                      <a:srgbClr val="183D4B"/>
                    </a:solidFill>
                  </a:tcPr>
                </a:tc>
              </a:tr>
              <a:tr h="749300">
                <a:tc>
                  <a:txBody>
                    <a:bodyPr/>
                    <a:lstStyle/>
                    <a:p>
                      <a:r>
                        <a:rPr sz="1800" b="0">
                          <a:solidFill>
                            <a:srgbClr val="183D4B"/>
                          </a:solidFill>
                          <a:latin typeface="Arial"/>
                          <a:ea typeface="Arial"/>
                          <a:cs typeface="Arial"/>
                        </a:rPr>
                        <a:t>Parser</a:t>
                      </a:r>
                    </a:p>
                  </a:txBody>
                  <a:tcPr marL="91440" marR="91440" marT="45720" marB="45720">
                    <a:solidFill>
                      <a:srgbClr val="FFFFFF"/>
                    </a:solidFill>
                  </a:tcPr>
                </a:tc>
                <a:tc>
                  <a:txBody>
                    <a:bodyPr/>
                    <a:lstStyle/>
                    <a:p>
                      <a:r>
                        <a:rPr sz="1800" b="0">
                          <a:solidFill>
                            <a:srgbClr val="183D4B"/>
                          </a:solidFill>
                          <a:latin typeface="Arial"/>
                          <a:ea typeface="Arial"/>
                          <a:cs typeface="Arial"/>
                        </a:rPr>
                        <a:t>5</a:t>
                      </a:r>
                    </a:p>
                  </a:txBody>
                  <a:tcPr marL="91440" marR="91440" marT="45720" marB="45720">
                    <a:solidFill>
                      <a:srgbClr val="FFFFFF"/>
                    </a:solidFill>
                  </a:tcPr>
                </a:tc>
                <a:tc>
                  <a:txBody>
                    <a:bodyPr/>
                    <a:lstStyle/>
                    <a:p>
                      <a:r>
                        <a:rPr sz="1800" b="0">
                          <a:solidFill>
                            <a:srgbClr val="183D4B"/>
                          </a:solidFill>
                          <a:latin typeface="Arial"/>
                          <a:ea typeface="Arial"/>
                          <a:cs typeface="Arial"/>
                        </a:rPr>
                        <a:t>1</a:t>
                      </a:r>
                    </a:p>
                  </a:txBody>
                  <a:tcPr marL="91440" marR="91440" marT="45720" marB="45720">
                    <a:solidFill>
                      <a:srgbClr val="FFFFFF"/>
                    </a:solidFill>
                  </a:tcPr>
                </a:tc>
                <a:tc>
                  <a:txBody>
                    <a:bodyPr/>
                    <a:lstStyle/>
                    <a:p>
                      <a:r>
                        <a:rPr sz="1800" b="0">
                          <a:solidFill>
                            <a:srgbClr val="183D4B"/>
                          </a:solidFill>
                          <a:latin typeface="Arial"/>
                          <a:ea typeface="Arial"/>
                          <a:cs typeface="Arial"/>
                        </a:rPr>
                        <a:t>4</a:t>
                      </a:r>
                    </a:p>
                  </a:txBody>
                  <a:tcPr marL="91440" marR="91440" marT="45720" marB="45720">
                    <a:solidFill>
                      <a:srgbClr val="FFFFFF"/>
                    </a:solidFill>
                  </a:tcPr>
                </a:tc>
                <a:tc>
                  <a:txBody>
                    <a:bodyPr/>
                    <a:lstStyle/>
                    <a:p>
                      <a:r>
                        <a:rPr sz="1800" b="0">
                          <a:solidFill>
                            <a:srgbClr val="183D4B"/>
                          </a:solidFill>
                          <a:latin typeface="Arial"/>
                          <a:ea typeface="Arial"/>
                          <a:cs typeface="Arial"/>
                        </a:rPr>
                        <a:t>2</a:t>
                      </a:r>
                    </a:p>
                  </a:txBody>
                  <a:tcPr marL="91440" marR="91440" marT="45720" marB="45720">
                    <a:solidFill>
                      <a:srgbClr val="FFFFFF"/>
                    </a:solidFill>
                  </a:tcPr>
                </a:tc>
              </a:tr>
              <a:tr h="749300">
                <a:tc>
                  <a:txBody>
                    <a:bodyPr/>
                    <a:lstStyle/>
                    <a:p>
                      <a:r>
                        <a:rPr sz="1800" b="0">
                          <a:solidFill>
                            <a:srgbClr val="183D4B"/>
                          </a:solidFill>
                          <a:latin typeface="Arial"/>
                          <a:ea typeface="Arial"/>
                          <a:cs typeface="Arial"/>
                        </a:rPr>
                        <a:t>Selective Llama</a:t>
                      </a:r>
                    </a:p>
                  </a:txBody>
                  <a:tcPr marL="91440" marR="91440" marT="45720" marB="45720">
                    <a:solidFill>
                      <a:srgbClr val="EAF2F3"/>
                    </a:solidFill>
                  </a:tcPr>
                </a:tc>
                <a:tc>
                  <a:txBody>
                    <a:bodyPr/>
                    <a:lstStyle/>
                    <a:p>
                      <a:r>
                        <a:rPr sz="1800" b="0">
                          <a:solidFill>
                            <a:srgbClr val="183D4B"/>
                          </a:solidFill>
                          <a:latin typeface="Arial"/>
                          <a:ea typeface="Arial"/>
                          <a:cs typeface="Arial"/>
                        </a:rPr>
                        <a:t>7</a:t>
                      </a:r>
                    </a:p>
                  </a:txBody>
                  <a:tcPr marL="91440" marR="91440" marT="45720" marB="45720">
                    <a:solidFill>
                      <a:srgbClr val="EAF2F3"/>
                    </a:solidFill>
                  </a:tcPr>
                </a:tc>
                <a:tc>
                  <a:txBody>
                    <a:bodyPr/>
                    <a:lstStyle/>
                    <a:p>
                      <a:r>
                        <a:rPr sz="1800" b="0">
                          <a:solidFill>
                            <a:srgbClr val="183D4B"/>
                          </a:solidFill>
                          <a:latin typeface="Arial"/>
                          <a:ea typeface="Arial"/>
                          <a:cs typeface="Arial"/>
                        </a:rPr>
                        <a:t>2</a:t>
                      </a:r>
                    </a:p>
                  </a:txBody>
                  <a:tcPr marL="91440" marR="91440" marT="45720" marB="45720">
                    <a:solidFill>
                      <a:srgbClr val="EAF2F3"/>
                    </a:solidFill>
                  </a:tcPr>
                </a:tc>
                <a:tc>
                  <a:txBody>
                    <a:bodyPr/>
                    <a:lstStyle/>
                    <a:p>
                      <a:r>
                        <a:rPr sz="1800" b="0">
                          <a:solidFill>
                            <a:srgbClr val="183D4B"/>
                          </a:solidFill>
                          <a:latin typeface="Arial"/>
                          <a:ea typeface="Arial"/>
                          <a:cs typeface="Arial"/>
                        </a:rPr>
                        <a:t>3</a:t>
                      </a:r>
                    </a:p>
                  </a:txBody>
                  <a:tcPr marL="91440" marR="91440" marT="45720" marB="45720">
                    <a:solidFill>
                      <a:srgbClr val="EAF2F3"/>
                    </a:solidFill>
                  </a:tcPr>
                </a:tc>
                <a:tc>
                  <a:txBody>
                    <a:bodyPr/>
                    <a:lstStyle/>
                    <a:p>
                      <a:r>
                        <a:rPr sz="1800" b="0">
                          <a:solidFill>
                            <a:srgbClr val="183D4B"/>
                          </a:solidFill>
                          <a:latin typeface="Arial"/>
                          <a:ea typeface="Arial"/>
                          <a:cs typeface="Arial"/>
                        </a:rPr>
                        <a:t>0</a:t>
                      </a:r>
                    </a:p>
                  </a:txBody>
                  <a:tcPr marL="91440" marR="91440" marT="45720" marB="45720">
                    <a:solidFill>
                      <a:srgbClr val="EAF2F3"/>
                    </a:solidFill>
                  </a:tcPr>
                </a:tc>
              </a:tr>
            </a:tbl>
          </a:graphicData>
        </a:graphic>
      </p:graphicFrame>
      <p:sp>
        <p:nvSpPr>
          <p:cNvPr id="4" name="">
            <a:extLst xmlns:a="http://schemas.openxmlformats.org/drawingml/2006/main">
              <a:ext uri="{FF2B5EF4-FFF2-40B4-BE49-F238E27FC236}">
                <a16:creationId xmlns:a16="http://schemas.microsoft.com/office/drawing/2014/main" id="{CFCCB8AE-3A1D-4222-83EB-39FE206EA44A}"/>
              </a:ext>
            </a:extLst>
          </p:cNvPr>
          <p:cNvSpPr>
            <a:spLocks xmlns:a="http://schemas.openxmlformats.org/drawingml/2006/main" noGrp="1"/>
          </p:cNvSpPr>
          <p:nvPr/>
        </p:nvSpPr>
        <p:spPr>
          <a:xfrm xmlns:a="http://schemas.openxmlformats.org/drawingml/2006/main">
            <a:off x="742950" y="5238750"/>
            <a:ext cx="10629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BC6328"/>
                </a:solidFill>
                <a:latin typeface="Arial"/>
                <a:ea typeface="Arial"/>
                <a:cs typeface="Arial"/>
              </a:defRPr>
            </a:pPr>
            <a:r>
              <a:rPr sz="1800" b="1">
                <a:solidFill>
                  <a:srgbClr val="BC6328"/>
                </a:solidFill>
                <a:latin typeface="Arial"/>
                <a:ea typeface="Arial"/>
                <a:cs typeface="Arial"/>
              </a:rPr>
              <a:t>Two extra correct completions accompany one additional wrong interpretation.</a:t>
            </a:r>
          </a:p>
        </p:txBody>
      </p:sp>
      <p:sp>
        <p:nvSpPr>
          <p:cNvPr id="5" name="">
            <a:extLst xmlns:a="http://schemas.openxmlformats.org/drawingml/2006/main">
              <a:ext uri="{FF2B5EF4-FFF2-40B4-BE49-F238E27FC236}">
                <a16:creationId xmlns:a16="http://schemas.microsoft.com/office/drawing/2014/main" id="{10D5FB1D-DD61-486C-A3F3-8722AD99DC13}"/>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Both routes accept one action outside the requested current limit (h05). New requests were frozen first.</a:t>
            </a:r>
          </a:p>
        </p:txBody>
      </p:sp>
      <p:sp>
        <p:nvSpPr>
          <p:cNvPr id="6" name="">
            <a:extLst xmlns:a="http://schemas.openxmlformats.org/drawingml/2006/main">
              <a:ext uri="{FF2B5EF4-FFF2-40B4-BE49-F238E27FC236}">
                <a16:creationId xmlns:a16="http://schemas.microsoft.com/office/drawing/2014/main" id="{189EC306-998B-414C-A3C9-E262C3205086}"/>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25</a:t>
            </a:r>
          </a:p>
        </p:txBody>
      </p:sp>
    </p:spTree>
    <p:extLst>
      <p:ext uri="{BB962C8B-B14F-4D97-AF65-F5344CB8AC3E}">
        <p14:creationId xmlns:p14="http://schemas.microsoft.com/office/powerpoint/2010/main" val="492229282"/>
      </p:ext>
    </p:extLst>
  </p:cSld>
</p:sld>
</file>

<file path=ppt/slides/slide26.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9D750EF-90AD-4730-85D6-5A22625ACBE1}"/>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Original study: recovery from known failures</a:t>
            </a:r>
          </a:p>
        </p:txBody>
      </p:sp>
      <p:graphicFrame>
        <p:nvGraphicFramePr>
          <p:cNvPr id="9" name=""/>
          <p:cNvGraphicFramePr/>
          <p:nvPr/>
        </p:nvGraphicFramePr>
        <p:xfrm>
          <a:off xmlns:a="http://schemas.openxmlformats.org/drawingml/2006/main" x="685800" y="1743075"/>
          <a:ext xmlns:a="http://schemas.openxmlformats.org/drawingml/2006/main" cx="10820400" cy="3162300"/>
        </p:xfrm>
        <a:graphic xmlns:a="http://schemas.openxmlformats.org/drawingml/2006/main">
          <a:graphicData uri="http://schemas.openxmlformats.org/drawingml/2006/table">
            <a:tbl>
              <a:tblPr/>
              <a:tblGrid>
                <a:gridCol w="4095750"/>
                <a:gridCol w="2286000"/>
                <a:gridCol w="2095500"/>
                <a:gridCol w="2343150"/>
              </a:tblGrid>
              <a:tr h="790575">
                <a:tc>
                  <a:txBody>
                    <a:bodyPr/>
                    <a:lstStyle/>
                    <a:p>
                      <a:r>
                        <a:rPr sz="2025" b="1">
                          <a:solidFill>
                            <a:srgbClr val="FFFFFF"/>
                          </a:solidFill>
                          <a:latin typeface="Arial"/>
                          <a:ea typeface="Arial"/>
                          <a:cs typeface="Arial"/>
                        </a:rPr>
                        <a:t>Supervisor</a:t>
                      </a:r>
                    </a:p>
                  </a:txBody>
                  <a:tcPr marL="91440" marR="91440" marT="45720" marB="45720">
                    <a:solidFill>
                      <a:srgbClr val="183D4B"/>
                    </a:solidFill>
                  </a:tcPr>
                </a:tc>
                <a:tc>
                  <a:txBody>
                    <a:bodyPr/>
                    <a:lstStyle/>
                    <a:p>
                      <a:r>
                        <a:rPr sz="2025" b="1">
                          <a:solidFill>
                            <a:srgbClr val="FFFFFF"/>
                          </a:solidFill>
                          <a:latin typeface="Arial"/>
                          <a:ea typeface="Arial"/>
                          <a:cs typeface="Arial"/>
                        </a:rPr>
                        <a:t>Verified /3</a:t>
                      </a:r>
                    </a:p>
                  </a:txBody>
                  <a:tcPr marL="91440" marR="91440" marT="45720" marB="45720">
                    <a:solidFill>
                      <a:srgbClr val="183D4B"/>
                    </a:solidFill>
                  </a:tcPr>
                </a:tc>
                <a:tc>
                  <a:txBody>
                    <a:bodyPr/>
                    <a:lstStyle/>
                    <a:p>
                      <a:r>
                        <a:rPr sz="2025" b="1">
                          <a:solidFill>
                            <a:srgbClr val="FFFFFF"/>
                          </a:solidFill>
                          <a:latin typeface="Arial"/>
                          <a:ea typeface="Arial"/>
                          <a:cs typeface="Arial"/>
                        </a:rPr>
                        <a:t>Tool calls</a:t>
                      </a:r>
                    </a:p>
                  </a:txBody>
                  <a:tcPr marL="91440" marR="91440" marT="45720" marB="45720">
                    <a:solidFill>
                      <a:srgbClr val="183D4B"/>
                    </a:solidFill>
                  </a:tcPr>
                </a:tc>
                <a:tc>
                  <a:txBody>
                    <a:bodyPr/>
                    <a:lstStyle/>
                    <a:p>
                      <a:r>
                        <a:rPr sz="2025" b="1">
                          <a:solidFill>
                            <a:srgbClr val="FFFFFF"/>
                          </a:solidFill>
                          <a:latin typeface="Arial"/>
                          <a:ea typeface="Arial"/>
                          <a:cs typeface="Arial"/>
                        </a:rPr>
                        <a:t>Total seconds</a:t>
                      </a:r>
                    </a:p>
                  </a:txBody>
                  <a:tcPr marL="91440" marR="91440" marT="45720" marB="45720">
                    <a:solidFill>
                      <a:srgbClr val="183D4B"/>
                    </a:solidFill>
                  </a:tcPr>
                </a:tc>
              </a:tr>
              <a:tr h="790575">
                <a:tc>
                  <a:txBody>
                    <a:bodyPr/>
                    <a:lstStyle/>
                    <a:p>
                      <a:r>
                        <a:rPr sz="2025" b="0">
                          <a:solidFill>
                            <a:srgbClr val="183D4B"/>
                          </a:solidFill>
                          <a:latin typeface="Arial"/>
                          <a:ea typeface="Arial"/>
                          <a:cs typeface="Arial"/>
                        </a:rPr>
                        <a:t>One attempt</a:t>
                      </a:r>
                    </a:p>
                  </a:txBody>
                  <a:tcPr marL="91440" marR="91440" marT="45720" marB="45720">
                    <a:solidFill>
                      <a:srgbClr val="FFFFFF"/>
                    </a:solidFill>
                  </a:tcPr>
                </a:tc>
                <a:tc>
                  <a:txBody>
                    <a:bodyPr/>
                    <a:lstStyle/>
                    <a:p>
                      <a:r>
                        <a:rPr sz="2025" b="0">
                          <a:solidFill>
                            <a:srgbClr val="183D4B"/>
                          </a:solidFill>
                          <a:latin typeface="Arial"/>
                          <a:ea typeface="Arial"/>
                          <a:cs typeface="Arial"/>
                        </a:rPr>
                        <a:t>0</a:t>
                      </a:r>
                    </a:p>
                  </a:txBody>
                  <a:tcPr marL="91440" marR="91440" marT="45720" marB="45720">
                    <a:solidFill>
                      <a:srgbClr val="FFFFFF"/>
                    </a:solidFill>
                  </a:tcPr>
                </a:tc>
                <a:tc>
                  <a:txBody>
                    <a:bodyPr/>
                    <a:lstStyle/>
                    <a:p>
                      <a:r>
                        <a:rPr sz="2025" b="0">
                          <a:solidFill>
                            <a:srgbClr val="183D4B"/>
                          </a:solidFill>
                          <a:latin typeface="Arial"/>
                          <a:ea typeface="Arial"/>
                          <a:cs typeface="Arial"/>
                        </a:rPr>
                        <a:t>3</a:t>
                      </a:r>
                    </a:p>
                  </a:txBody>
                  <a:tcPr marL="91440" marR="91440" marT="45720" marB="45720">
                    <a:solidFill>
                      <a:srgbClr val="FFFFFF"/>
                    </a:solidFill>
                  </a:tcPr>
                </a:tc>
                <a:tc>
                  <a:txBody>
                    <a:bodyPr/>
                    <a:lstStyle/>
                    <a:p>
                      <a:r>
                        <a:rPr sz="2025" b="0">
                          <a:solidFill>
                            <a:srgbClr val="183D4B"/>
                          </a:solidFill>
                          <a:latin typeface="Arial"/>
                          <a:ea typeface="Arial"/>
                          <a:cs typeface="Arial"/>
                        </a:rPr>
                        <a:t>0.58</a:t>
                      </a:r>
                    </a:p>
                  </a:txBody>
                  <a:tcPr marL="91440" marR="91440" marT="45720" marB="45720">
                    <a:solidFill>
                      <a:srgbClr val="FFFFFF"/>
                    </a:solidFill>
                  </a:tcPr>
                </a:tc>
              </a:tr>
              <a:tr h="790575">
                <a:tc>
                  <a:txBody>
                    <a:bodyPr/>
                    <a:lstStyle/>
                    <a:p>
                      <a:r>
                        <a:rPr sz="2025" b="0">
                          <a:solidFill>
                            <a:srgbClr val="183D4B"/>
                          </a:solidFill>
                          <a:latin typeface="Arial"/>
                          <a:ea typeface="Arial"/>
                          <a:cs typeface="Arial"/>
                        </a:rPr>
                        <a:t>Adaptive rules</a:t>
                      </a:r>
                    </a:p>
                  </a:txBody>
                  <a:tcPr marL="91440" marR="91440" marT="45720" marB="45720">
                    <a:solidFill>
                      <a:srgbClr val="EAF2F3"/>
                    </a:solidFill>
                  </a:tcPr>
                </a:tc>
                <a:tc>
                  <a:txBody>
                    <a:bodyPr/>
                    <a:lstStyle/>
                    <a:p>
                      <a:r>
                        <a:rPr sz="2025" b="0">
                          <a:solidFill>
                            <a:srgbClr val="183D4B"/>
                          </a:solidFill>
                          <a:latin typeface="Arial"/>
                          <a:ea typeface="Arial"/>
                          <a:cs typeface="Arial"/>
                        </a:rPr>
                        <a:t>3</a:t>
                      </a:r>
                    </a:p>
                  </a:txBody>
                  <a:tcPr marL="91440" marR="91440" marT="45720" marB="45720">
                    <a:solidFill>
                      <a:srgbClr val="EAF2F3"/>
                    </a:solidFill>
                  </a:tcPr>
                </a:tc>
                <a:tc>
                  <a:txBody>
                    <a:bodyPr/>
                    <a:lstStyle/>
                    <a:p>
                      <a:r>
                        <a:rPr sz="2025" b="0">
                          <a:solidFill>
                            <a:srgbClr val="183D4B"/>
                          </a:solidFill>
                          <a:latin typeface="Arial"/>
                          <a:ea typeface="Arial"/>
                          <a:cs typeface="Arial"/>
                        </a:rPr>
                        <a:t>6</a:t>
                      </a:r>
                    </a:p>
                  </a:txBody>
                  <a:tcPr marL="91440" marR="91440" marT="45720" marB="45720">
                    <a:solidFill>
                      <a:srgbClr val="EAF2F3"/>
                    </a:solidFill>
                  </a:tcPr>
                </a:tc>
                <a:tc>
                  <a:txBody>
                    <a:bodyPr/>
                    <a:lstStyle/>
                    <a:p>
                      <a:r>
                        <a:rPr sz="2025" b="0">
                          <a:solidFill>
                            <a:srgbClr val="183D4B"/>
                          </a:solidFill>
                          <a:latin typeface="Arial"/>
                          <a:ea typeface="Arial"/>
                          <a:cs typeface="Arial"/>
                        </a:rPr>
                        <a:t>1.14</a:t>
                      </a:r>
                    </a:p>
                  </a:txBody>
                  <a:tcPr marL="91440" marR="91440" marT="45720" marB="45720">
                    <a:solidFill>
                      <a:srgbClr val="EAF2F3"/>
                    </a:solidFill>
                  </a:tcPr>
                </a:tc>
              </a:tr>
              <a:tr h="790575">
                <a:tc>
                  <a:txBody>
                    <a:bodyPr/>
                    <a:lstStyle/>
                    <a:p>
                      <a:r>
                        <a:rPr sz="2025" b="0">
                          <a:solidFill>
                            <a:srgbClr val="183D4B"/>
                          </a:solidFill>
                          <a:latin typeface="Arial"/>
                          <a:ea typeface="Arial"/>
                          <a:cs typeface="Arial"/>
                        </a:rPr>
                        <a:t>Llama loop</a:t>
                      </a:r>
                    </a:p>
                  </a:txBody>
                  <a:tcPr marL="91440" marR="91440" marT="45720" marB="45720">
                    <a:solidFill>
                      <a:srgbClr val="FFFFFF"/>
                    </a:solidFill>
                  </a:tcPr>
                </a:tc>
                <a:tc>
                  <a:txBody>
                    <a:bodyPr/>
                    <a:lstStyle/>
                    <a:p>
                      <a:r>
                        <a:rPr sz="2025" b="0">
                          <a:solidFill>
                            <a:srgbClr val="183D4B"/>
                          </a:solidFill>
                          <a:latin typeface="Arial"/>
                          <a:ea typeface="Arial"/>
                          <a:cs typeface="Arial"/>
                        </a:rPr>
                        <a:t>3</a:t>
                      </a:r>
                    </a:p>
                  </a:txBody>
                  <a:tcPr marL="91440" marR="91440" marT="45720" marB="45720">
                    <a:solidFill>
                      <a:srgbClr val="FFFFFF"/>
                    </a:solidFill>
                  </a:tcPr>
                </a:tc>
                <a:tc>
                  <a:txBody>
                    <a:bodyPr/>
                    <a:lstStyle/>
                    <a:p>
                      <a:r>
                        <a:rPr sz="2025" b="0">
                          <a:solidFill>
                            <a:srgbClr val="183D4B"/>
                          </a:solidFill>
                          <a:latin typeface="Arial"/>
                          <a:ea typeface="Arial"/>
                          <a:cs typeface="Arial"/>
                        </a:rPr>
                        <a:t>6</a:t>
                      </a:r>
                    </a:p>
                  </a:txBody>
                  <a:tcPr marL="91440" marR="91440" marT="45720" marB="45720">
                    <a:solidFill>
                      <a:srgbClr val="FFFFFF"/>
                    </a:solidFill>
                  </a:tcPr>
                </a:tc>
                <a:tc>
                  <a:txBody>
                    <a:bodyPr/>
                    <a:lstStyle/>
                    <a:p>
                      <a:r>
                        <a:rPr sz="2025" b="0">
                          <a:solidFill>
                            <a:srgbClr val="183D4B"/>
                          </a:solidFill>
                          <a:latin typeface="Arial"/>
                          <a:ea typeface="Arial"/>
                          <a:cs typeface="Arial"/>
                        </a:rPr>
                        <a:t>17.66</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DA46FD89-1388-4D74-8503-748C1F63FB76}"/>
              </a:ext>
            </a:extLst>
          </p:cNvPr>
          <p:cNvSpPr>
            <a:spLocks xmlns:a="http://schemas.openxmlformats.org/drawingml/2006/main" noGrp="1"/>
          </p:cNvSpPr>
          <p:nvPr/>
        </p:nvSpPr>
        <p:spPr>
          <a:xfrm xmlns:a="http://schemas.openxmlformats.org/drawingml/2006/main">
            <a:off x="742950" y="5238750"/>
            <a:ext cx="10629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7B7F"/>
                </a:solidFill>
                <a:latin typeface="Arial"/>
                <a:ea typeface="Arial"/>
                <a:cs typeface="Arial"/>
              </a:defRPr>
            </a:pPr>
            <a:r>
              <a:rPr sz="1800" b="1">
                <a:solidFill>
                  <a:srgbClr val="007B7F"/>
                </a:solidFill>
                <a:latin typeface="Arial"/>
                <a:ea typeface="Arial"/>
                <a:cs typeface="Arial"/>
              </a:rPr>
              <a:t>Adaptive rules and the Llama loop both recover all three known failures.</a:t>
            </a:r>
          </a:p>
        </p:txBody>
      </p:sp>
      <p:sp>
        <p:nvSpPr>
          <p:cNvPr id="4" name="">
            <a:extLst xmlns:a="http://schemas.openxmlformats.org/drawingml/2006/main">
              <a:ext uri="{FF2B5EF4-FFF2-40B4-BE49-F238E27FC236}">
                <a16:creationId xmlns:a16="http://schemas.microsoft.com/office/drawing/2014/main" id="{43C79AAD-ADBB-4AD6-8260-317CA50E6A06}"/>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Original OpenDSS-only loop. The staged workflow uses different prompts and recovery choices.</a:t>
            </a:r>
          </a:p>
        </p:txBody>
      </p:sp>
      <p:sp>
        <p:nvSpPr>
          <p:cNvPr id="5" name="">
            <a:extLst xmlns:a="http://schemas.openxmlformats.org/drawingml/2006/main">
              <a:ext uri="{FF2B5EF4-FFF2-40B4-BE49-F238E27FC236}">
                <a16:creationId xmlns:a16="http://schemas.microsoft.com/office/drawing/2014/main" id="{8F7AAE8C-D29E-4103-A572-CC714F18CCCC}"/>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26</a:t>
            </a:r>
          </a:p>
        </p:txBody>
      </p:sp>
    </p:spTree>
    <p:extLst>
      <p:ext uri="{BB962C8B-B14F-4D97-AF65-F5344CB8AC3E}">
        <p14:creationId xmlns:p14="http://schemas.microsoft.com/office/powerpoint/2010/main" val="560482177"/>
      </p:ext>
    </p:extLst>
  </p:cSld>
</p:sld>
</file>

<file path=ppt/slides/slide27.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7F1BA4E-9D5C-4171-BF3E-6FBC18DD57A5}"/>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A misread limit can pass the wrong check</a:t>
            </a:r>
          </a:p>
        </p:txBody>
      </p:sp>
      <p:sp>
        <p:nvSpPr>
          <p:cNvPr id="2" name="">
            <a:extLst xmlns:a="http://schemas.openxmlformats.org/drawingml/2006/main">
              <a:ext uri="{FF2B5EF4-FFF2-40B4-BE49-F238E27FC236}">
                <a16:creationId xmlns:a16="http://schemas.microsoft.com/office/drawing/2014/main" id="{C284AFC9-94F8-4A12-A35B-7D60DA8DDDD9}"/>
              </a:ext>
            </a:extLst>
          </p:cNvPr>
          <p:cNvSpPr>
            <a:spLocks xmlns:a="http://schemas.openxmlformats.org/drawingml/2006/main" noGrp="1"/>
          </p:cNvSpPr>
          <p:nvPr/>
        </p:nvSpPr>
        <p:spPr>
          <a:xfrm xmlns:a="http://schemas.openxmlformats.org/drawingml/2006/main">
            <a:off x="742950" y="1752600"/>
            <a:ext cx="10629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83D4B"/>
                </a:solidFill>
                <a:latin typeface="Arial"/>
                <a:ea typeface="Arial"/>
                <a:cs typeface="Arial"/>
              </a:defRPr>
            </a:pPr>
            <a:r>
              <a:rPr sz="2250" b="0">
                <a:solidFill>
                  <a:srgbClr val="183D4B"/>
                </a:solidFill>
                <a:latin typeface="Arial"/>
                <a:ea typeface="Arial"/>
                <a:cs typeface="Arial"/>
              </a:rPr>
              <a:t>h05 requests a 20% current reserve. Both interfaces interpret it as 100% allowance.</a:t>
            </a:r>
          </a:p>
        </p:txBody>
      </p:sp>
      <p:sp>
        <p:nvSpPr>
          <p:cNvPr id="3" name="">
            <a:extLst xmlns:a="http://schemas.openxmlformats.org/drawingml/2006/main">
              <a:ext uri="{FF2B5EF4-FFF2-40B4-BE49-F238E27FC236}">
                <a16:creationId xmlns:a16="http://schemas.microsoft.com/office/drawing/2014/main" id="{C27D9A9C-AC75-4B68-BCCA-C883438DF62E}"/>
              </a:ext>
            </a:extLst>
          </p:cNvPr>
          <p:cNvSpPr>
            <a:spLocks xmlns:a="http://schemas.openxmlformats.org/drawingml/2006/main" noGrp="1"/>
          </p:cNvSpPr>
          <p:nvPr/>
        </p:nvSpPr>
        <p:spPr>
          <a:xfrm xmlns:a="http://schemas.openxmlformats.org/drawingml/2006/main">
            <a:off x="742950" y="2895600"/>
            <a:ext cx="10629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83D4B"/>
                </a:solidFill>
                <a:latin typeface="Arial"/>
                <a:ea typeface="Arial"/>
                <a:cs typeface="Arial"/>
              </a:defRPr>
            </a:pPr>
            <a:r>
              <a:rPr sz="2250" b="0">
                <a:solidFill>
                  <a:srgbClr val="183D4B"/>
                </a:solidFill>
                <a:latin typeface="Arial"/>
                <a:ea typeface="Arial"/>
                <a:cs typeface="Arial"/>
              </a:rPr>
              <a:t>Their 30% PV candidate passes that runtime gate. The gold check at the intended 80% allowance rejects thermal loading.</a:t>
            </a:r>
          </a:p>
        </p:txBody>
      </p:sp>
      <p:sp>
        <p:nvSpPr>
          <p:cNvPr id="4" name="">
            <a:extLst xmlns:a="http://schemas.openxmlformats.org/drawingml/2006/main">
              <a:ext uri="{FF2B5EF4-FFF2-40B4-BE49-F238E27FC236}">
                <a16:creationId xmlns:a16="http://schemas.microsoft.com/office/drawing/2014/main" id="{F7242CD7-ABE3-410B-B586-F81D3A91CC90}"/>
              </a:ext>
            </a:extLst>
          </p:cNvPr>
          <p:cNvSpPr>
            <a:spLocks xmlns:a="http://schemas.openxmlformats.org/drawingml/2006/main" noGrp="1"/>
          </p:cNvSpPr>
          <p:nvPr/>
        </p:nvSpPr>
        <p:spPr>
          <a:xfrm xmlns:a="http://schemas.openxmlformats.org/drawingml/2006/main">
            <a:off x="742950" y="4038600"/>
            <a:ext cx="10629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83D4B"/>
                </a:solidFill>
                <a:latin typeface="Arial"/>
                <a:ea typeface="Arial"/>
                <a:cs typeface="Arial"/>
              </a:defRPr>
            </a:pPr>
            <a:r>
              <a:rPr sz="2250" b="0">
                <a:solidFill>
                  <a:srgbClr val="183D4B"/>
                </a:solidFill>
                <a:latin typeface="Arial"/>
                <a:ea typeface="Arial"/>
                <a:cs typeface="Arial"/>
              </a:rPr>
              <a:t>Exercise: where must the intended restriction be confirmed before accepting an action?</a:t>
            </a:r>
          </a:p>
        </p:txBody>
      </p:sp>
      <p:sp>
        <p:nvSpPr>
          <p:cNvPr id="5" name="">
            <a:extLst xmlns:a="http://schemas.openxmlformats.org/drawingml/2006/main">
              <a:ext uri="{FF2B5EF4-FFF2-40B4-BE49-F238E27FC236}">
                <a16:creationId xmlns:a16="http://schemas.microsoft.com/office/drawing/2014/main" id="{8DD2B8F1-FFE6-43F2-972A-A3158B86A7A9}"/>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Fresh power flow evaluates the supplied problem. It cannot certify that the language interpretation is correct.</a:t>
            </a:r>
          </a:p>
        </p:txBody>
      </p:sp>
      <p:sp>
        <p:nvSpPr>
          <p:cNvPr id="6" name="">
            <a:extLst xmlns:a="http://schemas.openxmlformats.org/drawingml/2006/main">
              <a:ext uri="{FF2B5EF4-FFF2-40B4-BE49-F238E27FC236}">
                <a16:creationId xmlns:a16="http://schemas.microsoft.com/office/drawing/2014/main" id="{DC383D83-C0AC-4B92-88E7-0F1ED4DEB189}"/>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27</a:t>
            </a:r>
          </a:p>
        </p:txBody>
      </p:sp>
    </p:spTree>
    <p:extLst>
      <p:ext uri="{BB962C8B-B14F-4D97-AF65-F5344CB8AC3E}">
        <p14:creationId xmlns:p14="http://schemas.microsoft.com/office/powerpoint/2010/main" val="1032338690"/>
      </p:ext>
    </p:extLst>
  </p:cSld>
</p:sld>
</file>

<file path=ppt/slides/slide28.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AE942E9-18ED-4BF1-8197-7682B376781A}"/>
              </a:ext>
            </a:extLst>
          </p:cNvPr>
          <p:cNvSpPr>
            <a:spLocks xmlns:a="http://schemas.openxmlformats.org/drawingml/2006/main" noGrp="1"/>
          </p:cNvSpPr>
          <p:nvPr/>
        </p:nvSpPr>
        <p:spPr>
          <a:xfrm xmlns:a="http://schemas.openxmlformats.org/drawingml/2006/main">
            <a:off x="628650" y="600075"/>
            <a:ext cx="1095375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050" b="1">
                <a:solidFill>
                  <a:srgbClr val="183D4B"/>
                </a:solidFill>
                <a:latin typeface="Arial"/>
                <a:ea typeface="Arial"/>
                <a:cs typeface="Arial"/>
              </a:defRPr>
            </a:pPr>
            <a:r>
              <a:rPr sz="4050" b="1">
                <a:solidFill>
                  <a:srgbClr val="183D4B"/>
                </a:solidFill>
                <a:latin typeface="Arial"/>
                <a:ea typeface="Arial"/>
                <a:cs typeface="Arial"/>
              </a:rPr>
              <a:t>Break</a:t>
            </a:r>
          </a:p>
        </p:txBody>
      </p:sp>
      <p:sp>
        <p:nvSpPr>
          <p:cNvPr id="2" name="">
            <a:extLst xmlns:a="http://schemas.openxmlformats.org/drawingml/2006/main">
              <a:ext uri="{FF2B5EF4-FFF2-40B4-BE49-F238E27FC236}">
                <a16:creationId xmlns:a16="http://schemas.microsoft.com/office/drawing/2014/main" id="{B2340522-F888-4051-9966-243B3A259D51}"/>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28</a:t>
            </a:r>
          </a:p>
        </p:txBody>
      </p:sp>
      <p:sp>
        <p:nvSpPr>
          <p:cNvPr id="3" name="">
            <a:extLst xmlns:a="http://schemas.openxmlformats.org/drawingml/2006/main">
              <a:ext uri="{FF2B5EF4-FFF2-40B4-BE49-F238E27FC236}">
                <a16:creationId xmlns:a16="http://schemas.microsoft.com/office/drawing/2014/main" id="{1A940A6F-A576-4BEE-87F1-F98E639F1D4E}"/>
              </a:ext>
            </a:extLst>
          </p:cNvPr>
          <p:cNvSpPr>
            <a:spLocks xmlns:a="http://schemas.openxmlformats.org/drawingml/2006/main" noGrp="1"/>
          </p:cNvSpPr>
          <p:nvPr/>
        </p:nvSpPr>
        <p:spPr>
          <a:xfrm xmlns:a="http://schemas.openxmlformats.org/drawingml/2006/main">
            <a:off x="704850" y="2714625"/>
            <a:ext cx="105727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75" b="1">
                <a:solidFill>
                  <a:srgbClr val="007B7F"/>
                </a:solidFill>
                <a:latin typeface="Arial"/>
                <a:ea typeface="Arial"/>
                <a:cs typeface="Arial"/>
              </a:defRPr>
            </a:pPr>
            <a:r>
              <a:rPr sz="3375" b="1">
                <a:solidFill>
                  <a:srgbClr val="007B7F"/>
                </a:solidFill>
                <a:latin typeface="Arial"/>
                <a:ea typeface="Arial"/>
                <a:cs typeface="Arial"/>
              </a:rPr>
              <a:t>10 minutes</a:t>
            </a:r>
          </a:p>
        </p:txBody>
      </p:sp>
      <p:sp>
        <p:nvSpPr>
          <p:cNvPr id="4" name="">
            <a:extLst xmlns:a="http://schemas.openxmlformats.org/drawingml/2006/main">
              <a:ext uri="{FF2B5EF4-FFF2-40B4-BE49-F238E27FC236}">
                <a16:creationId xmlns:a16="http://schemas.microsoft.com/office/drawing/2014/main" id="{0908D9F2-C9A0-41C2-A695-3D1C9E2662CF}"/>
              </a:ext>
            </a:extLst>
          </p:cNvPr>
          <p:cNvSpPr>
            <a:spLocks xmlns:a="http://schemas.openxmlformats.org/drawingml/2006/main" noGrp="1"/>
          </p:cNvSpPr>
          <p:nvPr/>
        </p:nvSpPr>
        <p:spPr>
          <a:xfrm xmlns:a="http://schemas.openxmlformats.org/drawingml/2006/main">
            <a:off x="704850" y="4838700"/>
            <a:ext cx="10620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526874"/>
                </a:solidFill>
                <a:latin typeface="Arial"/>
                <a:ea typeface="Arial"/>
                <a:cs typeface="Arial"/>
              </a:defRPr>
            </a:pPr>
            <a:r>
              <a:rPr sz="2100" b="0">
                <a:solidFill>
                  <a:srgbClr val="526874"/>
                </a:solidFill>
                <a:latin typeface="Arial"/>
                <a:ea typeface="Arial"/>
                <a:cs typeface="Arial"/>
              </a:rPr>
              <a:t>Return at 01:45</a:t>
            </a:r>
          </a:p>
          <a:p xmlns:a="http://schemas.openxmlformats.org/drawingml/2006/main">
            <a:pPr>
              <a:buNone/>
              <a:defRPr sz="2100" b="0">
                <a:solidFill>
                  <a:srgbClr val="526874"/>
                </a:solidFill>
                <a:latin typeface="Arial"/>
                <a:ea typeface="Arial"/>
                <a:cs typeface="Arial"/>
              </a:defRPr>
            </a:pPr>
            <a:r>
              <a:rPr sz="2100" b="0">
                <a:solidFill>
                  <a:srgbClr val="526874"/>
                </a:solidFill>
                <a:latin typeface="Arial"/>
                <a:ea typeface="Arial"/>
                <a:cs typeface="Arial"/>
              </a:rPr>
              <a:t>Next: restoration with a changed network</a:t>
            </a:r>
          </a:p>
        </p:txBody>
      </p:sp>
    </p:spTree>
    <p:extLst>
      <p:ext uri="{BB962C8B-B14F-4D97-AF65-F5344CB8AC3E}">
        <p14:creationId xmlns:p14="http://schemas.microsoft.com/office/powerpoint/2010/main" val="794165118"/>
      </p:ext>
    </p:extLst>
  </p:cSld>
</p:sld>
</file>

<file path=ppt/slides/slide29.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C8E1A3E-D13C-40DE-B2E8-0D512F3CC6BC}"/>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A restoration overlay on the same feeder</a:t>
            </a:r>
          </a:p>
        </p:txBody>
      </p:sp>
      <p:sp>
        <p:nvSpPr>
          <p:cNvPr id="2" name="">
            <a:extLst xmlns:a="http://schemas.openxmlformats.org/drawingml/2006/main">
              <a:ext uri="{FF2B5EF4-FFF2-40B4-BE49-F238E27FC236}">
                <a16:creationId xmlns:a16="http://schemas.microsoft.com/office/drawing/2014/main" id="{3807620D-8DB6-4A61-B2CF-EF9E00248774}"/>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29</a:t>
            </a:r>
          </a:p>
        </p:txBody>
      </p:sp>
      <p:sp>
        <p:nvSpPr>
          <p:cNvPr id="3" name="">
            <a:extLst xmlns:a="http://schemas.openxmlformats.org/drawingml/2006/main">
              <a:ext uri="{FF2B5EF4-FFF2-40B4-BE49-F238E27FC236}">
                <a16:creationId xmlns:a16="http://schemas.microsoft.com/office/drawing/2014/main" id="{2544540E-13F2-4652-B86F-036BE261D8C9}"/>
              </a:ext>
            </a:extLst>
          </p:cNvPr>
          <p:cNvSpPr>
            <a:spLocks xmlns:a="http://schemas.openxmlformats.org/drawingml/2006/main" noGrp="1"/>
          </p:cNvSpPr>
          <p:nvPr/>
        </p:nvSpPr>
        <p:spPr>
          <a:xfrm xmlns:a="http://schemas.openxmlformats.org/drawingml/2006/main">
            <a:off x="762000" y="2990850"/>
            <a:ext cx="2019300" cy="838200"/>
          </a:xfrm>
          <a:prstGeom xmlns:a="http://schemas.openxmlformats.org/drawingml/2006/main" prst="rect">
            <a:avLst/>
          </a:prstGeom>
          <a:solidFill xmlns:a="http://schemas.openxmlformats.org/drawingml/2006/main">
            <a:srgbClr val="EAF2F3"/>
          </a:solidFill>
          <a:ln xmlns:a="http://schemas.openxmlformats.org/drawingml/2006/main" w="14288">
            <a:solidFill>
              <a:srgbClr val="007B7F"/>
            </a:solidFill>
          </a:ln>
        </p:spPr>
        <p:txBody>
          <a:bodyPr xmlns:a="http://schemas.openxmlformats.org/drawingml/2006/main" anchor="ctr">
            <a:noAutofit/>
          </a:bodyPr>
          <a:lstStyle xmlns:a="http://schemas.openxmlformats.org/drawingml/2006/main"/>
          <a:p xmlns:a="http://schemas.openxmlformats.org/drawingml/2006/main">
            <a:pPr algn="ctr">
              <a:buNone/>
              <a:defRPr sz="1875" b="1">
                <a:solidFill>
                  <a:srgbClr val="183D4B"/>
                </a:solidFill>
                <a:latin typeface="Arial"/>
                <a:ea typeface="Arial"/>
                <a:cs typeface="Arial"/>
              </a:defRPr>
            </a:pPr>
            <a:r>
              <a:rPr sz="1875" b="1">
                <a:solidFill>
                  <a:srgbClr val="183D4B"/>
                </a:solidFill>
                <a:latin typeface="Arial"/>
                <a:ea typeface="Arial"/>
                <a:cs typeface="Arial"/>
              </a:rPr>
              <a:t>Source</a:t>
            </a:r>
          </a:p>
        </p:txBody>
      </p:sp>
      <p:sp>
        <p:nvSpPr>
          <p:cNvPr id="4" name="">
            <a:extLst xmlns:a="http://schemas.openxmlformats.org/drawingml/2006/main">
              <a:ext uri="{FF2B5EF4-FFF2-40B4-BE49-F238E27FC236}">
                <a16:creationId xmlns:a16="http://schemas.microsoft.com/office/drawing/2014/main" id="{284F51FB-2F98-400F-B4DB-D45166F53DCE}"/>
              </a:ext>
            </a:extLst>
          </p:cNvPr>
          <p:cNvSpPr>
            <a:spLocks xmlns:a="http://schemas.openxmlformats.org/drawingml/2006/main" noGrp="1"/>
          </p:cNvSpPr>
          <p:nvPr/>
        </p:nvSpPr>
        <p:spPr>
          <a:xfrm xmlns:a="http://schemas.openxmlformats.org/drawingml/2006/main">
            <a:off x="8572500" y="2990850"/>
            <a:ext cx="2914650" cy="838200"/>
          </a:xfrm>
          <a:prstGeom xmlns:a="http://schemas.openxmlformats.org/drawingml/2006/main" prst="rect">
            <a:avLst/>
          </a:prstGeom>
          <a:solidFill xmlns:a="http://schemas.openxmlformats.org/drawingml/2006/main">
            <a:srgbClr val="EAF2F3"/>
          </a:solidFill>
          <a:ln xmlns:a="http://schemas.openxmlformats.org/drawingml/2006/main" w="14288">
            <a:solidFill>
              <a:srgbClr val="007B7F"/>
            </a:solidFill>
          </a:ln>
        </p:spPr>
        <p:txBody>
          <a:bodyPr xmlns:a="http://schemas.openxmlformats.org/drawingml/2006/main" anchor="ctr">
            <a:noAutofit/>
          </a:bodyPr>
          <a:lstStyle xmlns:a="http://schemas.openxmlformats.org/drawingml/2006/main"/>
          <a:p xmlns:a="http://schemas.openxmlformats.org/drawingml/2006/main">
            <a:pPr algn="ctr">
              <a:buNone/>
              <a:defRPr sz="1875" b="1">
                <a:solidFill>
                  <a:srgbClr val="183D4B"/>
                </a:solidFill>
                <a:latin typeface="Arial"/>
                <a:ea typeface="Arial"/>
                <a:cs typeface="Arial"/>
              </a:defRPr>
            </a:pPr>
            <a:r>
              <a:rPr sz="1875" b="1">
                <a:solidFill>
                  <a:srgbClr val="183D4B"/>
                </a:solidFill>
                <a:latin typeface="Arial"/>
                <a:ea typeface="Arial"/>
                <a:cs typeface="Arial"/>
              </a:rPr>
              <a:t>Downstream feeder</a:t>
            </a:r>
          </a:p>
        </p:txBody>
      </p:sp>
      <p:sp>
        <p:nvSpPr>
          <p:cNvPr id="5" name="">
            <a:extLst xmlns:a="http://schemas.openxmlformats.org/drawingml/2006/main">
              <a:ext uri="{FF2B5EF4-FFF2-40B4-BE49-F238E27FC236}">
                <a16:creationId xmlns:a16="http://schemas.microsoft.com/office/drawing/2014/main" id="{CADF19D6-632B-4760-8CCF-D6889B804999}"/>
              </a:ext>
            </a:extLst>
          </p:cNvPr>
          <p:cNvSpPr>
            <a:spLocks xmlns:a="http://schemas.openxmlformats.org/drawingml/2006/main" noGrp="1"/>
          </p:cNvSpPr>
          <p:nvPr/>
        </p:nvSpPr>
        <p:spPr>
          <a:xfrm xmlns:a="http://schemas.openxmlformats.org/drawingml/2006/main">
            <a:off x="3524250" y="238125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BC6328"/>
                </a:solidFill>
                <a:latin typeface="Arial"/>
                <a:ea typeface="Arial"/>
                <a:cs typeface="Arial"/>
              </a:defRPr>
            </a:pPr>
            <a:r>
              <a:rPr sz="2250" b="1">
                <a:solidFill>
                  <a:srgbClr val="BC6328"/>
                </a:solidFill>
                <a:latin typeface="Arial"/>
                <a:ea typeface="Arial"/>
                <a:cs typeface="Arial"/>
              </a:rPr>
              <a:t>Original branch unavailable</a:t>
            </a:r>
          </a:p>
        </p:txBody>
      </p:sp>
      <p:sp>
        <p:nvSpPr>
          <p:cNvPr id="6" name="">
            <a:extLst xmlns:a="http://schemas.openxmlformats.org/drawingml/2006/main">
              <a:ext uri="{FF2B5EF4-FFF2-40B4-BE49-F238E27FC236}">
                <a16:creationId xmlns:a16="http://schemas.microsoft.com/office/drawing/2014/main" id="{4D44982E-1E10-4631-9ABE-CEE907D0A183}"/>
              </a:ext>
            </a:extLst>
          </p:cNvPr>
          <p:cNvSpPr>
            <a:spLocks xmlns:a="http://schemas.openxmlformats.org/drawingml/2006/main" noGrp="1"/>
          </p:cNvSpPr>
          <p:nvPr/>
        </p:nvSpPr>
        <p:spPr>
          <a:xfrm xmlns:a="http://schemas.openxmlformats.org/drawingml/2006/main">
            <a:off x="2781300" y="3371850"/>
            <a:ext cx="5762625" cy="0"/>
          </a:xfrm>
          <a:prstGeom xmlns:a="http://schemas.openxmlformats.org/drawingml/2006/main" prst="line">
            <a:avLst/>
          </a:prstGeom>
          <a:noFill xmlns:a="http://schemas.openxmlformats.org/drawingml/2006/main"/>
          <a:ln xmlns:a="http://schemas.openxmlformats.org/drawingml/2006/main" w="28575">
            <a:solidFill>
              <a:srgbClr val="BC6328"/>
            </a:solidFill>
          </a:ln>
        </p:spPr>
      </p:sp>
      <p:sp>
        <p:nvSpPr>
          <p:cNvPr id="7" name="">
            <a:extLst xmlns:a="http://schemas.openxmlformats.org/drawingml/2006/main">
              <a:ext uri="{FF2B5EF4-FFF2-40B4-BE49-F238E27FC236}">
                <a16:creationId xmlns:a16="http://schemas.microsoft.com/office/drawing/2014/main" id="{D7CC7880-5F1A-4E28-A2E5-FBCB6414F3ED}"/>
              </a:ext>
            </a:extLst>
          </p:cNvPr>
          <p:cNvSpPr>
            <a:spLocks xmlns:a="http://schemas.openxmlformats.org/drawingml/2006/main" noGrp="1"/>
          </p:cNvSpPr>
          <p:nvPr/>
        </p:nvSpPr>
        <p:spPr>
          <a:xfrm xmlns:a="http://schemas.openxmlformats.org/drawingml/2006/main">
            <a:off x="4133850" y="3514725"/>
            <a:ext cx="342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BC6328"/>
                </a:solidFill>
                <a:latin typeface="Arial"/>
                <a:ea typeface="Arial"/>
                <a:cs typeface="Arial"/>
              </a:defRPr>
            </a:pPr>
            <a:r>
              <a:rPr sz="1875" b="0">
                <a:solidFill>
                  <a:srgbClr val="BC6328"/>
                </a:solidFill>
                <a:latin typeface="Arial"/>
                <a:ea typeface="Arial"/>
                <a:cs typeface="Arial"/>
              </a:rPr>
              <a:t>Quarantined path</a:t>
            </a:r>
          </a:p>
        </p:txBody>
      </p:sp>
      <p:sp>
        <p:nvSpPr>
          <p:cNvPr id="8" name="">
            <a:extLst xmlns:a="http://schemas.openxmlformats.org/drawingml/2006/main">
              <a:ext uri="{FF2B5EF4-FFF2-40B4-BE49-F238E27FC236}">
                <a16:creationId xmlns:a16="http://schemas.microsoft.com/office/drawing/2014/main" id="{3333618C-A33B-4C78-88FA-F1D937D05FBB}"/>
              </a:ext>
            </a:extLst>
          </p:cNvPr>
          <p:cNvSpPr>
            <a:spLocks xmlns:a="http://schemas.openxmlformats.org/drawingml/2006/main" noGrp="1"/>
          </p:cNvSpPr>
          <p:nvPr/>
        </p:nvSpPr>
        <p:spPr>
          <a:xfrm xmlns:a="http://schemas.openxmlformats.org/drawingml/2006/main">
            <a:off x="4648200" y="1619250"/>
            <a:ext cx="2609850" cy="714375"/>
          </a:xfrm>
          <a:prstGeom xmlns:a="http://schemas.openxmlformats.org/drawingml/2006/main" prst="rect">
            <a:avLst/>
          </a:prstGeom>
          <a:solidFill xmlns:a="http://schemas.openxmlformats.org/drawingml/2006/main">
            <a:srgbClr val="EAF2F3"/>
          </a:solidFill>
          <a:ln xmlns:a="http://schemas.openxmlformats.org/drawingml/2006/main" w="14288">
            <a:solidFill>
              <a:srgbClr val="007B7F"/>
            </a:solidFill>
          </a:ln>
        </p:spPr>
        <p:txBody>
          <a:bodyPr xmlns:a="http://schemas.openxmlformats.org/drawingml/2006/main" anchor="ctr">
            <a:noAutofit/>
          </a:bodyPr>
          <a:lstStyle xmlns:a="http://schemas.openxmlformats.org/drawingml/2006/main"/>
          <a:p xmlns:a="http://schemas.openxmlformats.org/drawingml/2006/main">
            <a:pPr algn="ctr">
              <a:buNone/>
              <a:defRPr sz="1875" b="1">
                <a:solidFill>
                  <a:srgbClr val="183D4B"/>
                </a:solidFill>
                <a:latin typeface="Arial"/>
                <a:ea typeface="Arial"/>
                <a:cs typeface="Arial"/>
              </a:defRPr>
            </a:pPr>
            <a:r>
              <a:rPr sz="1875" b="1">
                <a:solidFill>
                  <a:srgbClr val="183D4B"/>
                </a:solidFill>
                <a:latin typeface="Arial"/>
                <a:ea typeface="Arial"/>
                <a:cs typeface="Arial"/>
              </a:rPr>
              <a:t>Short bypass</a:t>
            </a:r>
          </a:p>
        </p:txBody>
      </p:sp>
      <p:sp>
        <p:nvSpPr>
          <p:cNvPr id="9" name="">
            <a:extLst xmlns:a="http://schemas.openxmlformats.org/drawingml/2006/main">
              <a:ext uri="{FF2B5EF4-FFF2-40B4-BE49-F238E27FC236}">
                <a16:creationId xmlns:a16="http://schemas.microsoft.com/office/drawing/2014/main" id="{3A2AFAFA-DEF8-4B68-91F5-ABFD30389FEB}"/>
              </a:ext>
            </a:extLst>
          </p:cNvPr>
          <p:cNvSpPr>
            <a:spLocks xmlns:a="http://schemas.openxmlformats.org/drawingml/2006/main" noGrp="1"/>
          </p:cNvSpPr>
          <p:nvPr/>
        </p:nvSpPr>
        <p:spPr>
          <a:xfrm xmlns:a="http://schemas.openxmlformats.org/drawingml/2006/main">
            <a:off x="4648200" y="4629150"/>
            <a:ext cx="2609850" cy="714375"/>
          </a:xfrm>
          <a:prstGeom xmlns:a="http://schemas.openxmlformats.org/drawingml/2006/main" prst="rect">
            <a:avLst/>
          </a:prstGeom>
          <a:solidFill xmlns:a="http://schemas.openxmlformats.org/drawingml/2006/main">
            <a:srgbClr val="EAF2F3"/>
          </a:solidFill>
          <a:ln xmlns:a="http://schemas.openxmlformats.org/drawingml/2006/main" w="14288">
            <a:solidFill>
              <a:srgbClr val="007B7F"/>
            </a:solidFill>
          </a:ln>
        </p:spPr>
        <p:txBody>
          <a:bodyPr xmlns:a="http://schemas.openxmlformats.org/drawingml/2006/main" anchor="ctr">
            <a:noAutofit/>
          </a:bodyPr>
          <a:lstStyle xmlns:a="http://schemas.openxmlformats.org/drawingml/2006/main"/>
          <a:p xmlns:a="http://schemas.openxmlformats.org/drawingml/2006/main">
            <a:pPr algn="ctr">
              <a:buNone/>
              <a:defRPr sz="1875" b="1">
                <a:solidFill>
                  <a:srgbClr val="183D4B"/>
                </a:solidFill>
                <a:latin typeface="Arial"/>
                <a:ea typeface="Arial"/>
                <a:cs typeface="Arial"/>
              </a:defRPr>
            </a:pPr>
            <a:r>
              <a:rPr sz="1875" b="1">
                <a:solidFill>
                  <a:srgbClr val="183D4B"/>
                </a:solidFill>
                <a:latin typeface="Arial"/>
                <a:ea typeface="Arial"/>
                <a:cs typeface="Arial"/>
              </a:rPr>
              <a:t>Long bypass</a:t>
            </a:r>
          </a:p>
        </p:txBody>
      </p:sp>
      <p:cxnSp>
        <p:nvCxnSpPr>
          <p:cNvPr id="50" name=""/>
          <p:cNvCxnSpPr>
            <a:stCxn xmlns:a="http://schemas.openxmlformats.org/drawingml/2006/main" id="3" idx="0"/>
            <a:endCxn xmlns:a="http://schemas.openxmlformats.org/drawingml/2006/main" id="8" idx="1"/>
          </p:cNvCxnSpPr>
          <p:nvPr/>
        </p:nvCxnSpPr>
        <p:spPr>
          <a:xfrm xmlns:a="http://schemas.openxmlformats.org/drawingml/2006/main" flipV="1">
            <a:off x="1771650" y="1976438"/>
            <a:ext cx="2876550" cy="1014413"/>
          </a:xfrm>
          <a:prstGeom xmlns:a="http://schemas.openxmlformats.org/drawingml/2006/main" prst="bentConnector3">
            <a:avLst>
              <a:gd name="adj1" fmla="val 0"/>
            </a:avLst>
          </a:prstGeom>
          <a:ln xmlns:a="http://schemas.openxmlformats.org/drawingml/2006/main" w="19050">
            <a:solidFill>
              <a:srgbClr val="007B7F"/>
            </a:solidFill>
            <a:tailEnd type="arrow" w="med" len="med"/>
          </a:ln>
        </p:spPr>
      </p:cxnSp>
      <p:cxnSp>
        <p:nvCxnSpPr>
          <p:cNvPr id="51" name=""/>
          <p:cNvCxnSpPr>
            <a:stCxn xmlns:a="http://schemas.openxmlformats.org/drawingml/2006/main" id="8" idx="3"/>
            <a:endCxn xmlns:a="http://schemas.openxmlformats.org/drawingml/2006/main" id="4" idx="0"/>
          </p:cNvCxnSpPr>
          <p:nvPr/>
        </p:nvCxnSpPr>
        <p:spPr>
          <a:xfrm xmlns:a="http://schemas.openxmlformats.org/drawingml/2006/main">
            <a:off x="7258050" y="1976438"/>
            <a:ext cx="2771775" cy="1014413"/>
          </a:xfrm>
          <a:prstGeom xmlns:a="http://schemas.openxmlformats.org/drawingml/2006/main" prst="bentConnector2">
            <a:avLst/>
          </a:prstGeom>
          <a:ln xmlns:a="http://schemas.openxmlformats.org/drawingml/2006/main" w="19050">
            <a:solidFill>
              <a:srgbClr val="007B7F"/>
            </a:solidFill>
            <a:tailEnd type="arrow" w="med" len="med"/>
          </a:ln>
        </p:spPr>
      </p:cxnSp>
      <p:cxnSp>
        <p:nvCxnSpPr>
          <p:cNvPr id="52" name=""/>
          <p:cNvCxnSpPr>
            <a:stCxn xmlns:a="http://schemas.openxmlformats.org/drawingml/2006/main" id="3" idx="2"/>
            <a:endCxn xmlns:a="http://schemas.openxmlformats.org/drawingml/2006/main" id="9" idx="1"/>
          </p:cNvCxnSpPr>
          <p:nvPr/>
        </p:nvCxnSpPr>
        <p:spPr>
          <a:xfrm xmlns:a="http://schemas.openxmlformats.org/drawingml/2006/main">
            <a:off x="1771650" y="3829050"/>
            <a:ext cx="2876550" cy="1157288"/>
          </a:xfrm>
          <a:prstGeom xmlns:a="http://schemas.openxmlformats.org/drawingml/2006/main" prst="bentConnector3">
            <a:avLst>
              <a:gd name="adj1" fmla="val 0"/>
            </a:avLst>
          </a:prstGeom>
          <a:ln xmlns:a="http://schemas.openxmlformats.org/drawingml/2006/main" w="19050">
            <a:solidFill>
              <a:srgbClr val="007B7F"/>
            </a:solidFill>
            <a:tailEnd type="arrow" w="med" len="med"/>
          </a:ln>
        </p:spPr>
      </p:cxnSp>
      <p:cxnSp>
        <p:nvCxnSpPr>
          <p:cNvPr id="53" name=""/>
          <p:cNvCxnSpPr>
            <a:stCxn xmlns:a="http://schemas.openxmlformats.org/drawingml/2006/main" id="9" idx="3"/>
            <a:endCxn xmlns:a="http://schemas.openxmlformats.org/drawingml/2006/main" id="4" idx="2"/>
          </p:cNvCxnSpPr>
          <p:nvPr/>
        </p:nvCxnSpPr>
        <p:spPr>
          <a:xfrm xmlns:a="http://schemas.openxmlformats.org/drawingml/2006/main" flipV="1">
            <a:off x="7258050" y="3829050"/>
            <a:ext cx="2771775" cy="1157288"/>
          </a:xfrm>
          <a:prstGeom xmlns:a="http://schemas.openxmlformats.org/drawingml/2006/main" prst="bentConnector2">
            <a:avLst/>
          </a:prstGeom>
          <a:ln xmlns:a="http://schemas.openxmlformats.org/drawingml/2006/main" w="19050">
            <a:solidFill>
              <a:srgbClr val="007B7F"/>
            </a:solidFill>
            <a:tailEnd type="arrow" w="med" len="med"/>
          </a:ln>
        </p:spPr>
      </p:cxnSp>
      <p:sp>
        <p:nvSpPr>
          <p:cNvPr id="14" name="">
            <a:extLst xmlns:a="http://schemas.openxmlformats.org/drawingml/2006/main">
              <a:ext uri="{FF2B5EF4-FFF2-40B4-BE49-F238E27FC236}">
                <a16:creationId xmlns:a16="http://schemas.microsoft.com/office/drawing/2014/main" id="{F3A7CB45-D488-4966-AFE1-67FA82EEFF61}"/>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Bypasses, critical labels and individual load relays are teaching assumptions.</a:t>
            </a:r>
          </a:p>
        </p:txBody>
      </p:sp>
    </p:spTree>
    <p:extLst>
      <p:ext uri="{BB962C8B-B14F-4D97-AF65-F5344CB8AC3E}">
        <p14:creationId xmlns:p14="http://schemas.microsoft.com/office/powerpoint/2010/main" val="1519379986"/>
      </p:ext>
    </p:extLst>
  </p:cSld>
</p:sld>
</file>

<file path=ppt/slides/slide30.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BF5E0AC-3DF3-4872-8CF4-C47E0783A73B}"/>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Restoration as a bounded service problem</a:t>
            </a:r>
          </a:p>
        </p:txBody>
      </p:sp>
      <p:sp>
        <p:nvSpPr>
          <p:cNvPr id="2" name="">
            <a:extLst xmlns:a="http://schemas.openxmlformats.org/drawingml/2006/main">
              <a:ext uri="{FF2B5EF4-FFF2-40B4-BE49-F238E27FC236}">
                <a16:creationId xmlns:a16="http://schemas.microsoft.com/office/drawing/2014/main" id="{88F56AFA-B217-478F-84AF-297C3DFC96AF}"/>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30</a:t>
            </a:r>
          </a:p>
        </p:txBody>
      </p:sp>
      <p:sp>
        <p:nvSpPr>
          <p:cNvPr id="3" name="">
            <a:extLst xmlns:a="http://schemas.openxmlformats.org/drawingml/2006/main">
              <a:ext uri="{FF2B5EF4-FFF2-40B4-BE49-F238E27FC236}">
                <a16:creationId xmlns:a16="http://schemas.microsoft.com/office/drawing/2014/main" id="{ACAA0506-FED6-4038-BEEA-B33DA648575D}"/>
              </a:ext>
            </a:extLst>
          </p:cNvPr>
          <p:cNvSpPr>
            <a:spLocks xmlns:a="http://schemas.openxmlformats.org/drawingml/2006/main" noGrp="1"/>
          </p:cNvSpPr>
          <p:nvPr/>
        </p:nvSpPr>
        <p:spPr>
          <a:xfrm xmlns:a="http://schemas.openxmlformats.org/drawingml/2006/main">
            <a:off x="742950" y="3190875"/>
            <a:ext cx="106299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83D4B"/>
                </a:solidFill>
                <a:latin typeface="Arial"/>
                <a:ea typeface="Arial"/>
                <a:cs typeface="Arial"/>
              </a:defRPr>
            </a:pPr>
            <a:r>
              <a:rPr sz="2175" b="0">
                <a:solidFill>
                  <a:srgbClr val="183D4B"/>
                </a:solidFill>
                <a:latin typeface="Arial"/>
                <a:ea typeface="Arial"/>
                <a:cs typeface="Arial"/>
              </a:rPr>
              <a:t>zᵢ states whether load i is supplied. Critical load objects remain connected in the action catalog.</a:t>
            </a:r>
          </a:p>
        </p:txBody>
      </p:sp>
      <p:sp>
        <p:nvSpPr>
          <p:cNvPr id="4" name="">
            <a:extLst xmlns:a="http://schemas.openxmlformats.org/drawingml/2006/main">
              <a:ext uri="{FF2B5EF4-FFF2-40B4-BE49-F238E27FC236}">
                <a16:creationId xmlns:a16="http://schemas.microsoft.com/office/drawing/2014/main" id="{D9962577-72A1-4F4B-8453-9214A9E733A0}"/>
              </a:ext>
            </a:extLst>
          </p:cNvPr>
          <p:cNvSpPr>
            <a:spLocks xmlns:a="http://schemas.openxmlformats.org/drawingml/2006/main" noGrp="1"/>
          </p:cNvSpPr>
          <p:nvPr/>
        </p:nvSpPr>
        <p:spPr>
          <a:xfrm xmlns:a="http://schemas.openxmlformats.org/drawingml/2006/main">
            <a:off x="742950" y="4305300"/>
            <a:ext cx="106299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83D4B"/>
                </a:solidFill>
                <a:latin typeface="Arial"/>
                <a:ea typeface="Arial"/>
                <a:cs typeface="Arial"/>
              </a:defRPr>
            </a:pPr>
            <a:r>
              <a:rPr sz="2175" b="0">
                <a:solidFill>
                  <a:srgbClr val="183D4B"/>
                </a:solidFill>
                <a:latin typeface="Arial"/>
                <a:ea typeface="Arial"/>
                <a:cs typeface="Arial"/>
              </a:rPr>
              <a:t>The search evaluates a small catalog of allowed ties and noncritical disconnection levels.</a:t>
            </a:r>
          </a:p>
        </p:txBody>
      </p:sp>
      <p:sp>
        <p:nvSpPr>
          <p:cNvPr id="5" name="">
            <a:extLst xmlns:a="http://schemas.openxmlformats.org/drawingml/2006/main">
              <a:ext uri="{FF2B5EF4-FFF2-40B4-BE49-F238E27FC236}">
                <a16:creationId xmlns:a16="http://schemas.microsoft.com/office/drawing/2014/main" id="{15EFE4F6-197E-45F7-B9EF-8549F04A06F2}"/>
              </a:ext>
            </a:extLst>
          </p:cNvPr>
          <p:cNvSpPr>
            <a:spLocks xmlns:a="http://schemas.openxmlformats.org/drawingml/2006/main" noGrp="1"/>
          </p:cNvSpPr>
          <p:nvPr/>
        </p:nvSpPr>
        <p:spPr>
          <a:xfrm xmlns:a="http://schemas.openxmlformats.org/drawingml/2006/main">
            <a:off x="714375" y="1828800"/>
            <a:ext cx="10763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007B7F"/>
                </a:solidFill>
                <a:latin typeface="Arial"/>
                <a:ea typeface="Arial"/>
                <a:cs typeface="Arial"/>
              </a:defRPr>
            </a:pPr>
            <a:r>
              <a:rPr sz="3225" b="1">
                <a:solidFill>
                  <a:srgbClr val="007B7F"/>
                </a:solidFill>
                <a:latin typeface="Arial"/>
                <a:ea typeface="Arial"/>
                <a:cs typeface="Arial"/>
              </a:rPr>
              <a:t>maximize  Σ wᵢ Pᵢ zᵢ</a:t>
            </a:r>
          </a:p>
        </p:txBody>
      </p:sp>
      <p:sp>
        <p:nvSpPr>
          <p:cNvPr id="6" name="">
            <a:extLst xmlns:a="http://schemas.openxmlformats.org/drawingml/2006/main">
              <a:ext uri="{FF2B5EF4-FFF2-40B4-BE49-F238E27FC236}">
                <a16:creationId xmlns:a16="http://schemas.microsoft.com/office/drawing/2014/main" id="{99593A80-C585-4BBF-99E9-E07551EC42EC}"/>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Checks include the current electrical limits and the modeled topology rules.</a:t>
            </a:r>
          </a:p>
        </p:txBody>
      </p:sp>
    </p:spTree>
    <p:extLst>
      <p:ext uri="{BB962C8B-B14F-4D97-AF65-F5344CB8AC3E}">
        <p14:creationId xmlns:p14="http://schemas.microsoft.com/office/powerpoint/2010/main" val="1581457750"/>
      </p:ext>
    </p:extLst>
  </p:cSld>
</p:sld>
</file>

<file path=ppt/slides/slide31.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62DC5A8-9035-438C-9757-361282F338B8}"/>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Case R1: normal alternate capacity</a:t>
            </a:r>
          </a:p>
        </p:txBody>
      </p:sp>
      <p:sp>
        <p:nvSpPr>
          <p:cNvPr id="2" name="">
            <a:extLst xmlns:a="http://schemas.openxmlformats.org/drawingml/2006/main">
              <a:ext uri="{FF2B5EF4-FFF2-40B4-BE49-F238E27FC236}">
                <a16:creationId xmlns:a16="http://schemas.microsoft.com/office/drawing/2014/main" id="{8986E51D-7F73-4E37-9006-E0D414E3D48D}"/>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31</a:t>
            </a:r>
          </a:p>
        </p:txBody>
      </p:sp>
      <p:sp>
        <p:nvSpPr>
          <p:cNvPr id="4" name="">
            <a:extLst xmlns:a="http://schemas.openxmlformats.org/drawingml/2006/main">
              <a:ext uri="{FF2B5EF4-FFF2-40B4-BE49-F238E27FC236}">
                <a16:creationId xmlns:a16="http://schemas.microsoft.com/office/drawing/2014/main" id="{8B7ED624-8B1F-404B-8962-133327D33C66}"/>
              </a:ext>
            </a:extLst>
          </p:cNvPr>
          <p:cNvSpPr>
            <a:spLocks xmlns:a="http://schemas.openxmlformats.org/drawingml/2006/main" noGrp="1"/>
          </p:cNvSpPr>
          <p:nvPr/>
        </p:nvSpPr>
        <p:spPr>
          <a:xfrm xmlns:a="http://schemas.openxmlformats.org/drawingml/2006/main">
            <a:off x="742950" y="531495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1">
                <a:solidFill>
                  <a:srgbClr val="007B7F"/>
                </a:solidFill>
                <a:latin typeface="Arial"/>
                <a:ea typeface="Arial"/>
                <a:cs typeface="Arial"/>
              </a:defRPr>
            </a:pPr>
            <a:r>
              <a:rPr sz="1650" b="1">
                <a:solidFill>
                  <a:srgbClr val="007B7F"/>
                </a:solidFill>
                <a:latin typeface="Arial"/>
                <a:ea typeface="Arial"/>
                <a:cs typeface="Arial"/>
              </a:rPr>
              <a:t>Short bypass, 20% PV cap, 36.6% tie loading.</a:t>
            </a:r>
          </a:p>
        </p:txBody>
      </p:sp>
      <p:sp>
        <p:nvSpPr>
          <p:cNvPr id="5" name="">
            <a:extLst xmlns:a="http://schemas.openxmlformats.org/drawingml/2006/main">
              <a:ext uri="{FF2B5EF4-FFF2-40B4-BE49-F238E27FC236}">
                <a16:creationId xmlns:a16="http://schemas.microsoft.com/office/drawing/2014/main" id="{A2F110DE-2142-4949-96D8-30245BCE7C7A}"/>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Service is nominal connected kW in a snapshot, rather than energy delivered over time.</a:t>
            </a:r>
          </a:p>
        </p:txBody>
      </p:sp>
      <p:graphicFrame>
        <p:nvGraphicFramePr>
          <p:cNvPr id="12" name="Chart"/>
          <p:cNvGraphicFramePr/>
          <p:nvPr/>
        </p:nvGraphicFramePr>
        <p:xfrm>
          <a:off xmlns:a="http://schemas.openxmlformats.org/drawingml/2006/main" x="723900" y="1752600"/>
          <a:ext xmlns:a="http://schemas.openxmlformats.org/drawingml/2006/main" cx="10668000" cy="3238500"/>
        </p:xfrm>
        <a:graphic xmlns:a="http://schemas.openxmlformats.org/drawingml/2006/main">
          <a:graphicData uri="http://schemas.openxmlformats.org/drawingml/2006/chart">
            <c:chart xmlns:r="http://schemas.openxmlformats.org/officeDocument/2006/relationships" xmlns:c="http://schemas.openxmlformats.org/drawingml/2006/chart" r:id="R8d05a2b44c364cd6"/>
          </a:graphicData>
        </a:graphic>
      </p:graphicFrame>
    </p:spTree>
    <p:extLst>
      <p:ext uri="{BB962C8B-B14F-4D97-AF65-F5344CB8AC3E}">
        <p14:creationId xmlns:p14="http://schemas.microsoft.com/office/powerpoint/2010/main" val="600716621"/>
      </p:ext>
    </p:extLst>
  </p:cSld>
</p:sld>
</file>

<file path=ppt/slides/slide32.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21123E0-EA81-40D0-A154-36ADB40843BB}"/>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Case R2: restricted alternate supply</a:t>
            </a:r>
          </a:p>
        </p:txBody>
      </p:sp>
      <p:sp>
        <p:nvSpPr>
          <p:cNvPr id="2" name="">
            <a:extLst xmlns:a="http://schemas.openxmlformats.org/drawingml/2006/main">
              <a:ext uri="{FF2B5EF4-FFF2-40B4-BE49-F238E27FC236}">
                <a16:creationId xmlns:a16="http://schemas.microsoft.com/office/drawing/2014/main" id="{2590CF03-FFB2-468A-8045-525EB7BD1ABA}"/>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32</a:t>
            </a:r>
          </a:p>
        </p:txBody>
      </p:sp>
      <p:sp>
        <p:nvSpPr>
          <p:cNvPr id="4" name="">
            <a:extLst xmlns:a="http://schemas.openxmlformats.org/drawingml/2006/main">
              <a:ext uri="{FF2B5EF4-FFF2-40B4-BE49-F238E27FC236}">
                <a16:creationId xmlns:a16="http://schemas.microsoft.com/office/drawing/2014/main" id="{E8DA6E0A-ED0C-4122-9B58-13FFB7647750}"/>
              </a:ext>
            </a:extLst>
          </p:cNvPr>
          <p:cNvSpPr>
            <a:spLocks xmlns:a="http://schemas.openxmlformats.org/drawingml/2006/main" noGrp="1"/>
          </p:cNvSpPr>
          <p:nvPr/>
        </p:nvSpPr>
        <p:spPr>
          <a:xfrm xmlns:a="http://schemas.openxmlformats.org/drawingml/2006/main">
            <a:off x="742950" y="531495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1">
                <a:solidFill>
                  <a:srgbClr val="007B7F"/>
                </a:solidFill>
                <a:latin typeface="Arial"/>
                <a:ea typeface="Arial"/>
                <a:cs typeface="Arial"/>
              </a:defRPr>
            </a:pPr>
            <a:r>
              <a:rPr sz="1650" b="1">
                <a:solidFill>
                  <a:srgbClr val="007B7F"/>
                </a:solidFill>
                <a:latin typeface="Arial"/>
                <a:ea typeface="Arial"/>
                <a:cs typeface="Arial"/>
              </a:rPr>
              <a:t>Horizontal axis: percentage of noncritical load objects disconnected.</a:t>
            </a:r>
          </a:p>
        </p:txBody>
      </p:sp>
      <p:sp>
        <p:nvSpPr>
          <p:cNvPr id="5" name="">
            <a:extLst xmlns:a="http://schemas.openxmlformats.org/drawingml/2006/main">
              <a:ext uri="{FF2B5EF4-FFF2-40B4-BE49-F238E27FC236}">
                <a16:creationId xmlns:a16="http://schemas.microsoft.com/office/drawing/2014/main" id="{976C94E1-8978-45F2-8BD5-CCEB0400A4BA}"/>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The alternate route is limited to 100 A and the other bypass is unavailable.</a:t>
            </a:r>
          </a:p>
        </p:txBody>
      </p:sp>
      <p:graphicFrame>
        <p:nvGraphicFramePr>
          <p:cNvPr id="12" name="Chart"/>
          <p:cNvGraphicFramePr/>
          <p:nvPr/>
        </p:nvGraphicFramePr>
        <p:xfrm>
          <a:off xmlns:a="http://schemas.openxmlformats.org/drawingml/2006/main" x="723900" y="1752600"/>
          <a:ext xmlns:a="http://schemas.openxmlformats.org/drawingml/2006/main" cx="10668000" cy="3238500"/>
        </p:xfrm>
        <a:graphic xmlns:a="http://schemas.openxmlformats.org/drawingml/2006/main">
          <a:graphicData uri="http://schemas.openxmlformats.org/drawingml/2006/chart">
            <c:chart xmlns:r="http://schemas.openxmlformats.org/officeDocument/2006/relationships" xmlns:c="http://schemas.openxmlformats.org/drawingml/2006/chart" r:id="Ra1fa9dd292d94c54"/>
          </a:graphicData>
        </a:graphic>
      </p:graphicFrame>
    </p:spTree>
    <p:extLst>
      <p:ext uri="{BB962C8B-B14F-4D97-AF65-F5344CB8AC3E}">
        <p14:creationId xmlns:p14="http://schemas.microsoft.com/office/powerpoint/2010/main" val="1971849999"/>
      </p:ext>
    </p:extLst>
  </p:cSld>
</p:sld>
</file>

<file path=ppt/slides/slide33.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0905C15-06A6-4B2B-99FE-92172510FC62}"/>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Restoration service under the capacity limit</a:t>
            </a:r>
          </a:p>
        </p:txBody>
      </p:sp>
      <p:sp>
        <p:nvSpPr>
          <p:cNvPr id="2" name="">
            <a:extLst xmlns:a="http://schemas.openxmlformats.org/drawingml/2006/main">
              <a:ext uri="{FF2B5EF4-FFF2-40B4-BE49-F238E27FC236}">
                <a16:creationId xmlns:a16="http://schemas.microsoft.com/office/drawing/2014/main" id="{D1E2EAC7-153C-4FD2-B2E8-AF1994F6997F}"/>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33</a:t>
            </a:r>
          </a:p>
        </p:txBody>
      </p:sp>
      <p:sp>
        <p:nvSpPr>
          <p:cNvPr id="4" name="">
            <a:extLst xmlns:a="http://schemas.openxmlformats.org/drawingml/2006/main">
              <a:ext uri="{FF2B5EF4-FFF2-40B4-BE49-F238E27FC236}">
                <a16:creationId xmlns:a16="http://schemas.microsoft.com/office/drawing/2014/main" id="{17204217-B453-450E-82F2-39ACC14AA582}"/>
              </a:ext>
            </a:extLst>
          </p:cNvPr>
          <p:cNvSpPr>
            <a:spLocks xmlns:a="http://schemas.openxmlformats.org/drawingml/2006/main" noGrp="1"/>
          </p:cNvSpPr>
          <p:nvPr/>
        </p:nvSpPr>
        <p:spPr>
          <a:xfrm xmlns:a="http://schemas.openxmlformats.org/drawingml/2006/main">
            <a:off x="742950" y="531495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1">
                <a:solidFill>
                  <a:srgbClr val="007B7F"/>
                </a:solidFill>
                <a:latin typeface="Arial"/>
                <a:ea typeface="Arial"/>
                <a:cs typeface="Arial"/>
              </a:defRPr>
            </a:pPr>
            <a:r>
              <a:rPr sz="1650" b="1">
                <a:solidFill>
                  <a:srgbClr val="007B7F"/>
                </a:solidFill>
                <a:latin typeface="Arial"/>
                <a:ea typeface="Arial"/>
                <a:cs typeface="Arial"/>
              </a:rPr>
              <a:t>Accepted catalog plan: 75% disconnection, 1843.6 kW, all critical service.</a:t>
            </a:r>
          </a:p>
        </p:txBody>
      </p:sp>
      <p:sp>
        <p:nvSpPr>
          <p:cNvPr id="5" name="">
            <a:extLst xmlns:a="http://schemas.openxmlformats.org/drawingml/2006/main">
              <a:ext uri="{FF2B5EF4-FFF2-40B4-BE49-F238E27FC236}">
                <a16:creationId xmlns:a16="http://schemas.microsoft.com/office/drawing/2014/main" id="{57F6994F-77DD-4D0F-9E99-6683693354FD}"/>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The critical group is a synthetic teaching label. It does not identify real facilities.</a:t>
            </a:r>
          </a:p>
        </p:txBody>
      </p:sp>
      <p:graphicFrame>
        <p:nvGraphicFramePr>
          <p:cNvPr id="12" name="Chart"/>
          <p:cNvGraphicFramePr/>
          <p:nvPr/>
        </p:nvGraphicFramePr>
        <p:xfrm>
          <a:off xmlns:a="http://schemas.openxmlformats.org/drawingml/2006/main" x="723900" y="1752600"/>
          <a:ext xmlns:a="http://schemas.openxmlformats.org/drawingml/2006/main" cx="10668000" cy="3238500"/>
        </p:xfrm>
        <a:graphic xmlns:a="http://schemas.openxmlformats.org/drawingml/2006/main">
          <a:graphicData uri="http://schemas.openxmlformats.org/drawingml/2006/chart">
            <c:chart xmlns:r="http://schemas.openxmlformats.org/officeDocument/2006/relationships" xmlns:c="http://schemas.openxmlformats.org/drawingml/2006/chart" r:id="Rfa68f826f7b54d97"/>
          </a:graphicData>
        </a:graphic>
      </p:graphicFrame>
    </p:spTree>
    <p:extLst>
      <p:ext uri="{BB962C8B-B14F-4D97-AF65-F5344CB8AC3E}">
        <p14:creationId xmlns:p14="http://schemas.microsoft.com/office/powerpoint/2010/main" val="92839335"/>
      </p:ext>
    </p:extLst>
  </p:cSld>
</p:sld>
</file>

<file path=ppt/slides/slide34.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7552DC1-0854-4689-899C-7BFF8BDD2DCA}"/>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D4B"/>
                </a:solidFill>
                <a:latin typeface="Arial"/>
                <a:ea typeface="Arial"/>
                <a:cs typeface="Arial"/>
              </a:defRPr>
            </a:pPr>
            <a:r>
              <a:rPr sz="3225" b="1">
                <a:solidFill>
                  <a:srgbClr val="183D4B"/>
                </a:solidFill>
                <a:latin typeface="Arial"/>
                <a:ea typeface="Arial"/>
                <a:cs typeface="Arial"/>
              </a:rPr>
              <a:t>Operator review and acknowledgment</a:t>
            </a:r>
          </a:p>
        </p:txBody>
      </p:sp>
      <p:sp>
        <p:nvSpPr>
          <p:cNvPr id="2" name="">
            <a:extLst xmlns:a="http://schemas.openxmlformats.org/drawingml/2006/main">
              <a:ext uri="{FF2B5EF4-FFF2-40B4-BE49-F238E27FC236}">
                <a16:creationId xmlns:a16="http://schemas.microsoft.com/office/drawing/2014/main" id="{B2B6E88B-2F33-4955-AFC5-572254D0FC33}"/>
              </a:ext>
            </a:extLst>
          </p:cNvPr>
          <p:cNvSpPr>
            <a:spLocks xmlns:a="http://schemas.openxmlformats.org/drawingml/2006/main" noGrp="1"/>
          </p:cNvSpPr>
          <p:nvPr/>
        </p:nvSpPr>
        <p:spPr>
          <a:xfrm xmlns:a="http://schemas.openxmlformats.org/drawingml/2006/main">
            <a:off x="742950" y="1828800"/>
            <a:ext cx="61912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3D4B"/>
                </a:solidFill>
                <a:latin typeface="Arial"/>
                <a:ea typeface="Arial"/>
                <a:cs typeface="Arial"/>
              </a:defRPr>
            </a:pPr>
            <a:r>
              <a:rPr sz="2175" b="0">
                <a:solidFill>
                  <a:srgbClr val="183D4B"/>
                </a:solidFill>
                <a:latin typeface="Arial"/>
                <a:ea typeface="Arial"/>
                <a:cs typeface="Arial"/>
              </a:rPr>
              <a:t>Inspect the action, current limit and separate AC audit.</a:t>
            </a:r>
          </a:p>
        </p:txBody>
      </p:sp>
      <p:sp>
        <p:nvSpPr>
          <p:cNvPr id="3" name="">
            <a:extLst xmlns:a="http://schemas.openxmlformats.org/drawingml/2006/main">
              <a:ext uri="{FF2B5EF4-FFF2-40B4-BE49-F238E27FC236}">
                <a16:creationId xmlns:a16="http://schemas.microsoft.com/office/drawing/2014/main" id="{BEAC1E20-78FD-4ADB-9416-5837C907BE5A}"/>
              </a:ext>
            </a:extLst>
          </p:cNvPr>
          <p:cNvSpPr>
            <a:spLocks xmlns:a="http://schemas.openxmlformats.org/drawingml/2006/main" noGrp="1"/>
          </p:cNvSpPr>
          <p:nvPr/>
        </p:nvSpPr>
        <p:spPr>
          <a:xfrm xmlns:a="http://schemas.openxmlformats.org/drawingml/2006/main">
            <a:off x="742950" y="3009900"/>
            <a:ext cx="6191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3D4B"/>
                </a:solidFill>
                <a:latin typeface="Arial"/>
                <a:ea typeface="Arial"/>
                <a:cs typeface="Arial"/>
              </a:defRPr>
            </a:pPr>
            <a:r>
              <a:rPr sz="2175" b="0">
                <a:solidFill>
                  <a:srgbClr val="183D4B"/>
                </a:solidFill>
                <a:latin typeface="Arial"/>
                <a:ea typeface="Arial"/>
                <a:cs typeface="Arial"/>
              </a:rPr>
              <a:t>Read each stage’s method and response before confirming the three statements.</a:t>
            </a:r>
          </a:p>
        </p:txBody>
      </p:sp>
      <p:sp>
        <p:nvSpPr>
          <p:cNvPr id="4" name="">
            <a:extLst xmlns:a="http://schemas.openxmlformats.org/drawingml/2006/main">
              <a:ext uri="{FF2B5EF4-FFF2-40B4-BE49-F238E27FC236}">
                <a16:creationId xmlns:a16="http://schemas.microsoft.com/office/drawing/2014/main" id="{CC4187F1-E518-4734-8F77-C6EA1BFDFAB0}"/>
              </a:ext>
            </a:extLst>
          </p:cNvPr>
          <p:cNvSpPr>
            <a:spLocks xmlns:a="http://schemas.openxmlformats.org/drawingml/2006/main" noGrp="1"/>
          </p:cNvSpPr>
          <p:nvPr/>
        </p:nvSpPr>
        <p:spPr>
          <a:xfrm xmlns:a="http://schemas.openxmlformats.org/drawingml/2006/main">
            <a:off x="742950" y="4333875"/>
            <a:ext cx="61912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3D4B"/>
                </a:solidFill>
                <a:latin typeface="Arial"/>
                <a:ea typeface="Arial"/>
                <a:cs typeface="Arial"/>
              </a:defRPr>
            </a:pPr>
            <a:r>
              <a:rPr sz="2175" b="0">
                <a:solidFill>
                  <a:srgbClr val="183D4B"/>
                </a:solidFill>
                <a:latin typeface="Arial"/>
                <a:ea typeface="Arial"/>
                <a:cs typeface="Arial"/>
              </a:rPr>
              <a:t>Record review of this result. A different result requires a new acknowledgment.</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90bfdf05b28f4494"/>
          <a:srcRect xmlns:a="http://schemas.openxmlformats.org/drawingml/2006/main" l="68000" t="2500" r="2600" b="28900"/>
          <a:stretch xmlns:a="http://schemas.openxmlformats.org/drawingml/2006/main"/>
        </p:blipFill>
        <p:spPr>
          <a:xfrm xmlns:a="http://schemas.openxmlformats.org/drawingml/2006/main">
            <a:off x="7667625" y="1495425"/>
            <a:ext cx="3857625" cy="50292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067F424-6B13-4E67-BCD1-545C1417D9A0}"/>
              </a:ext>
            </a:extLst>
          </p:cNvPr>
          <p:cNvSpPr>
            <a:spLocks xmlns:a="http://schemas.openxmlformats.org/drawingml/2006/main" noGrp="1"/>
          </p:cNvSpPr>
          <p:nvPr/>
        </p:nvSpPr>
        <p:spPr>
          <a:xfrm xmlns:a="http://schemas.openxmlformats.org/drawingml/2006/main">
            <a:off x="704850" y="5829300"/>
            <a:ext cx="6191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874"/>
                </a:solidFill>
                <a:latin typeface="Arial"/>
                <a:ea typeface="Arial"/>
                <a:cs typeface="Arial"/>
              </a:defRPr>
            </a:pPr>
            <a:r>
              <a:rPr sz="1575" b="0">
                <a:solidFill>
                  <a:srgbClr val="526874"/>
                </a:solidFill>
                <a:latin typeface="Arial"/>
                <a:ea typeface="Arial"/>
                <a:cs typeface="Arial"/>
              </a:rPr>
              <a:t>Recorded OpenDSS V1. Review is pending.</a:t>
            </a:r>
          </a:p>
          <a:p xmlns:a="http://schemas.openxmlformats.org/drawingml/2006/main">
            <a:pPr>
              <a:defRPr sz="1575" b="0">
                <a:solidFill>
                  <a:srgbClr val="526874"/>
                </a:solidFill>
                <a:latin typeface="Arial"/>
                <a:ea typeface="Arial"/>
                <a:cs typeface="Arial"/>
              </a:defRPr>
            </a:pPr>
            <a:r>
              <a:rPr sz="1575" b="0">
                <a:solidFill>
                  <a:srgbClr val="526874"/>
                </a:solidFill>
                <a:latin typeface="Arial"/>
                <a:ea typeface="Arial"/>
                <a:cs typeface="Arial"/>
              </a:rPr>
              <a:t>No equipment command follows.</a:t>
            </a:r>
          </a:p>
        </p:txBody>
      </p:sp>
      <p:sp>
        <p:nvSpPr>
          <p:cNvPr id="7" name="">
            <a:extLst xmlns:a="http://schemas.openxmlformats.org/drawingml/2006/main">
              <a:ext uri="{FF2B5EF4-FFF2-40B4-BE49-F238E27FC236}">
                <a16:creationId xmlns:a16="http://schemas.microsoft.com/office/drawing/2014/main" id="{640EF12E-C8D0-4163-9E84-26CADA264C1F}"/>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874"/>
                </a:solidFill>
                <a:latin typeface="Arial"/>
                <a:ea typeface="Arial"/>
                <a:cs typeface="Arial"/>
              </a:defRPr>
            </a:pPr>
            <a:r>
              <a:rPr sz="1275" b="0">
                <a:solidFill>
                  <a:srgbClr val="526874"/>
                </a:solidFill>
                <a:latin typeface="Arial"/>
                <a:ea typeface="Arial"/>
                <a:cs typeface="Arial"/>
              </a:rPr>
              <a:t>34</a:t>
            </a:r>
          </a:p>
        </p:txBody>
      </p:sp>
    </p:spTree>
    <p:extLst>
      <p:ext uri="{BB962C8B-B14F-4D97-AF65-F5344CB8AC3E}">
        <p14:creationId xmlns:p14="http://schemas.microsoft.com/office/powerpoint/2010/main" val="721360136"/>
      </p:ext>
    </p:extLst>
  </p:cSld>
</p:sld>
</file>

<file path=ppt/slides/slide35.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1C27CBF-C03F-482E-84C3-12B75EF99628}"/>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Three different attack surfaces</a:t>
            </a:r>
          </a:p>
        </p:txBody>
      </p:sp>
      <p:sp>
        <p:nvSpPr>
          <p:cNvPr id="2" name="">
            <a:extLst xmlns:a="http://schemas.openxmlformats.org/drawingml/2006/main">
              <a:ext uri="{FF2B5EF4-FFF2-40B4-BE49-F238E27FC236}">
                <a16:creationId xmlns:a16="http://schemas.microsoft.com/office/drawing/2014/main" id="{717B1968-003A-4915-AF26-4D9741EF9A09}"/>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35</a:t>
            </a:r>
          </a:p>
        </p:txBody>
      </p:sp>
      <p:graphicFrame>
        <p:nvGraphicFramePr>
          <p:cNvPr id="9" name=""/>
          <p:cNvGraphicFramePr/>
          <p:nvPr/>
        </p:nvGraphicFramePr>
        <p:xfrm>
          <a:off xmlns:a="http://schemas.openxmlformats.org/drawingml/2006/main" x="685800" y="1619250"/>
          <a:ext xmlns:a="http://schemas.openxmlformats.org/drawingml/2006/main" cx="10820400" cy="3943350"/>
        </p:xfrm>
        <a:graphic xmlns:a="http://schemas.openxmlformats.org/drawingml/2006/main">
          <a:graphicData uri="http://schemas.openxmlformats.org/drawingml/2006/table">
            <a:tbl>
              <a:tblPr/>
              <a:tblGrid>
                <a:gridCol w="4429125"/>
                <a:gridCol w="6391275"/>
              </a:tblGrid>
              <a:tr h="985838">
                <a:tc>
                  <a:txBody>
                    <a:bodyPr/>
                    <a:lstStyle/>
                    <a:p>
                      <a:r>
                        <a:rPr sz="2100" b="1">
                          <a:solidFill>
                            <a:srgbClr val="FFFFFF"/>
                          </a:solidFill>
                          <a:latin typeface="Arial"/>
                          <a:ea typeface="Arial"/>
                          <a:cs typeface="Arial"/>
                        </a:rPr>
                        <a:t>Attacker changes</a:t>
                      </a:r>
                    </a:p>
                  </a:txBody>
                  <a:tcPr marL="91440" marR="91440" marT="45720" marB="45720">
                    <a:solidFill>
                      <a:srgbClr val="183D4B"/>
                    </a:solidFill>
                  </a:tcPr>
                </a:tc>
                <a:tc>
                  <a:txBody>
                    <a:bodyPr/>
                    <a:lstStyle/>
                    <a:p>
                      <a:r>
                        <a:rPr sz="2100" b="1">
                          <a:solidFill>
                            <a:srgbClr val="FFFFFF"/>
                          </a:solidFill>
                          <a:latin typeface="Arial"/>
                          <a:ea typeface="Arial"/>
                          <a:cs typeface="Arial"/>
                        </a:rPr>
                        <a:t>Question for the workflow</a:t>
                      </a:r>
                    </a:p>
                  </a:txBody>
                  <a:tcPr marL="91440" marR="91440" marT="45720" marB="45720">
                    <a:solidFill>
                      <a:srgbClr val="183D4B"/>
                    </a:solidFill>
                  </a:tcPr>
                </a:tc>
              </a:tr>
              <a:tr h="985838">
                <a:tc>
                  <a:txBody>
                    <a:bodyPr/>
                    <a:lstStyle/>
                    <a:p>
                      <a:r>
                        <a:rPr sz="2100" b="0">
                          <a:solidFill>
                            <a:srgbClr val="183D4B"/>
                          </a:solidFill>
                          <a:latin typeface="Arial"/>
                          <a:ea typeface="Arial"/>
                          <a:cs typeface="Arial"/>
                        </a:rPr>
                        <a:t>Evidence age or completeness</a:t>
                      </a:r>
                    </a:p>
                  </a:txBody>
                  <a:tcPr marL="91440" marR="91440" marT="45720" marB="45720">
                    <a:solidFill>
                      <a:srgbClr val="FFFFFF"/>
                    </a:solidFill>
                  </a:tcPr>
                </a:tc>
                <a:tc>
                  <a:txBody>
                    <a:bodyPr/>
                    <a:lstStyle/>
                    <a:p>
                      <a:r>
                        <a:rPr sz="2100" b="0">
                          <a:solidFill>
                            <a:srgbClr val="183D4B"/>
                          </a:solidFill>
                          <a:latin typeface="Arial"/>
                          <a:ea typeface="Arial"/>
                          <a:cs typeface="Arial"/>
                        </a:rPr>
                        <a:t>Is there a current basis for action?</a:t>
                      </a:r>
                    </a:p>
                  </a:txBody>
                  <a:tcPr marL="91440" marR="91440" marT="45720" marB="45720">
                    <a:solidFill>
                      <a:srgbClr val="FFFFFF"/>
                    </a:solidFill>
                  </a:tcPr>
                </a:tc>
              </a:tr>
              <a:tr h="985838">
                <a:tc>
                  <a:txBody>
                    <a:bodyPr/>
                    <a:lstStyle/>
                    <a:p>
                      <a:r>
                        <a:rPr sz="2100" b="0">
                          <a:solidFill>
                            <a:srgbClr val="183D4B"/>
                          </a:solidFill>
                          <a:latin typeface="Arial"/>
                          <a:ea typeface="Arial"/>
                          <a:cs typeface="Arial"/>
                        </a:rPr>
                        <a:t>Reported numerical measurement</a:t>
                      </a:r>
                    </a:p>
                  </a:txBody>
                  <a:tcPr marL="91440" marR="91440" marT="45720" marB="45720">
                    <a:solidFill>
                      <a:srgbClr val="EAF2F3"/>
                    </a:solidFill>
                  </a:tcPr>
                </a:tc>
                <a:tc>
                  <a:txBody>
                    <a:bodyPr/>
                    <a:lstStyle/>
                    <a:p>
                      <a:r>
                        <a:rPr sz="2100" b="0">
                          <a:solidFill>
                            <a:srgbClr val="183D4B"/>
                          </a:solidFill>
                          <a:latin typeface="Arial"/>
                          <a:ea typeface="Arial"/>
                          <a:cs typeface="Arial"/>
                        </a:rPr>
                        <a:t>Does it agree with the stated trusted comparison?</a:t>
                      </a:r>
                    </a:p>
                  </a:txBody>
                  <a:tcPr marL="91440" marR="91440" marT="45720" marB="45720">
                    <a:solidFill>
                      <a:srgbClr val="EAF2F3"/>
                    </a:solidFill>
                  </a:tcPr>
                </a:tc>
              </a:tr>
              <a:tr h="985838">
                <a:tc>
                  <a:txBody>
                    <a:bodyPr/>
                    <a:lstStyle/>
                    <a:p>
                      <a:r>
                        <a:rPr sz="2100" b="0">
                          <a:solidFill>
                            <a:srgbClr val="183D4B"/>
                          </a:solidFill>
                          <a:latin typeface="Arial"/>
                          <a:ea typeface="Arial"/>
                          <a:cs typeface="Arial"/>
                        </a:rPr>
                        <a:t>External text</a:t>
                      </a:r>
                    </a:p>
                  </a:txBody>
                  <a:tcPr marL="91440" marR="91440" marT="45720" marB="45720">
                    <a:solidFill>
                      <a:srgbClr val="FFFFFF"/>
                    </a:solidFill>
                  </a:tcPr>
                </a:tc>
                <a:tc>
                  <a:txBody>
                    <a:bodyPr/>
                    <a:lstStyle/>
                    <a:p>
                      <a:r>
                        <a:rPr sz="2100" b="0">
                          <a:solidFill>
                            <a:srgbClr val="183D4B"/>
                          </a:solidFill>
                          <a:latin typeface="Arial"/>
                          <a:ea typeface="Arial"/>
                          <a:cs typeface="Arial"/>
                        </a:rPr>
                        <a:t>Does a message attempt to change permissions?</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7A7FE11-CC08-4DC4-AA86-45419D14A102}"/>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Attack detection, candidate rejection and unsafe acceptance are separate outcomes.</a:t>
            </a:r>
          </a:p>
        </p:txBody>
      </p:sp>
    </p:spTree>
    <p:extLst>
      <p:ext uri="{BB962C8B-B14F-4D97-AF65-F5344CB8AC3E}">
        <p14:creationId xmlns:p14="http://schemas.microsoft.com/office/powerpoint/2010/main" val="886103848"/>
      </p:ext>
    </p:extLst>
  </p:cSld>
</p:sld>
</file>

<file path=ppt/slides/slide36.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133EC05-1BFF-4299-BCCE-EA44A1642B88}"/>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Stale and missing evidence</a:t>
            </a:r>
          </a:p>
        </p:txBody>
      </p:sp>
      <p:sp>
        <p:nvSpPr>
          <p:cNvPr id="2" name="">
            <a:extLst xmlns:a="http://schemas.openxmlformats.org/drawingml/2006/main">
              <a:ext uri="{FF2B5EF4-FFF2-40B4-BE49-F238E27FC236}">
                <a16:creationId xmlns:a16="http://schemas.microsoft.com/office/drawing/2014/main" id="{29FB305C-6106-4A98-82C5-FB8020D84164}"/>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36</a:t>
            </a:r>
          </a:p>
        </p:txBody>
      </p:sp>
      <p:graphicFrame>
        <p:nvGraphicFramePr>
          <p:cNvPr id="10" name=""/>
          <p:cNvGraphicFramePr/>
          <p:nvPr/>
        </p:nvGraphicFramePr>
        <p:xfrm>
          <a:off xmlns:a="http://schemas.openxmlformats.org/drawingml/2006/main" x="685800" y="1638300"/>
          <a:ext xmlns:a="http://schemas.openxmlformats.org/drawingml/2006/main" cx="10820400" cy="3238500"/>
        </p:xfrm>
        <a:graphic xmlns:a="http://schemas.openxmlformats.org/drawingml/2006/main">
          <a:graphicData uri="http://schemas.openxmlformats.org/drawingml/2006/table">
            <a:tbl>
              <a:tblPr/>
              <a:tblGrid>
                <a:gridCol w="1381125"/>
                <a:gridCol w="4143375"/>
                <a:gridCol w="2647950"/>
                <a:gridCol w="2647950"/>
              </a:tblGrid>
              <a:tr h="809625">
                <a:tc>
                  <a:txBody>
                    <a:bodyPr/>
                    <a:lstStyle/>
                    <a:p>
                      <a:r>
                        <a:rPr sz="2025" b="1">
                          <a:solidFill>
                            <a:srgbClr val="FFFFFF"/>
                          </a:solidFill>
                          <a:latin typeface="Arial"/>
                          <a:ea typeface="Arial"/>
                          <a:cs typeface="Arial"/>
                        </a:rPr>
                        <a:t>Case</a:t>
                      </a:r>
                    </a:p>
                  </a:txBody>
                  <a:tcPr marL="91440" marR="91440" marT="45720" marB="45720">
                    <a:solidFill>
                      <a:srgbClr val="183D4B"/>
                    </a:solidFill>
                  </a:tcPr>
                </a:tc>
                <a:tc>
                  <a:txBody>
                    <a:bodyPr/>
                    <a:lstStyle/>
                    <a:p>
                      <a:r>
                        <a:rPr sz="2025" b="1">
                          <a:solidFill>
                            <a:srgbClr val="FFFFFF"/>
                          </a:solidFill>
                          <a:latin typeface="Arial"/>
                          <a:ea typeface="Arial"/>
                          <a:cs typeface="Arial"/>
                        </a:rPr>
                        <a:t>Detected problem</a:t>
                      </a:r>
                    </a:p>
                  </a:txBody>
                  <a:tcPr marL="91440" marR="91440" marT="45720" marB="45720">
                    <a:solidFill>
                      <a:srgbClr val="183D4B"/>
                    </a:solidFill>
                  </a:tcPr>
                </a:tc>
                <a:tc>
                  <a:txBody>
                    <a:bodyPr/>
                    <a:lstStyle/>
                    <a:p>
                      <a:r>
                        <a:rPr sz="2025" b="1">
                          <a:solidFill>
                            <a:srgbClr val="FFFFFF"/>
                          </a:solidFill>
                          <a:latin typeface="Arial"/>
                          <a:ea typeface="Arial"/>
                          <a:cs typeface="Arial"/>
                        </a:rPr>
                        <a:t>Scripted</a:t>
                      </a:r>
                    </a:p>
                  </a:txBody>
                  <a:tcPr marL="91440" marR="91440" marT="45720" marB="45720">
                    <a:solidFill>
                      <a:srgbClr val="183D4B"/>
                    </a:solidFill>
                  </a:tcPr>
                </a:tc>
                <a:tc>
                  <a:txBody>
                    <a:bodyPr/>
                    <a:lstStyle/>
                    <a:p>
                      <a:r>
                        <a:rPr sz="2025" b="1">
                          <a:solidFill>
                            <a:srgbClr val="FFFFFF"/>
                          </a:solidFill>
                          <a:latin typeface="Arial"/>
                          <a:ea typeface="Arial"/>
                          <a:cs typeface="Arial"/>
                        </a:rPr>
                        <a:t>Agentic</a:t>
                      </a:r>
                    </a:p>
                  </a:txBody>
                  <a:tcPr marL="91440" marR="91440" marT="45720" marB="45720">
                    <a:solidFill>
                      <a:srgbClr val="183D4B"/>
                    </a:solidFill>
                  </a:tcPr>
                </a:tc>
              </a:tr>
              <a:tr h="809625">
                <a:tc>
                  <a:txBody>
                    <a:bodyPr/>
                    <a:lstStyle/>
                    <a:p>
                      <a:r>
                        <a:rPr sz="2025" b="0">
                          <a:solidFill>
                            <a:srgbClr val="183D4B"/>
                          </a:solidFill>
                          <a:latin typeface="Arial"/>
                          <a:ea typeface="Arial"/>
                          <a:cs typeface="Arial"/>
                        </a:rPr>
                        <a:t>C1</a:t>
                      </a:r>
                    </a:p>
                  </a:txBody>
                  <a:tcPr marL="91440" marR="91440" marT="45720" marB="45720">
                    <a:solidFill>
                      <a:srgbClr val="FFFFFF"/>
                    </a:solidFill>
                  </a:tcPr>
                </a:tc>
                <a:tc>
                  <a:txBody>
                    <a:bodyPr/>
                    <a:lstStyle/>
                    <a:p>
                      <a:r>
                        <a:rPr sz="2025" b="0">
                          <a:solidFill>
                            <a:srgbClr val="183D4B"/>
                          </a:solidFill>
                          <a:latin typeface="Arial"/>
                          <a:ea typeface="Arial"/>
                          <a:cs typeface="Arial"/>
                        </a:rPr>
                        <a:t>stale telemetry</a:t>
                      </a:r>
                    </a:p>
                  </a:txBody>
                  <a:tcPr marL="91440" marR="91440" marT="45720" marB="45720">
                    <a:solidFill>
                      <a:srgbClr val="FFFFFF"/>
                    </a:solidFill>
                  </a:tcPr>
                </a:tc>
                <a:tc>
                  <a:txBody>
                    <a:bodyPr/>
                    <a:lstStyle/>
                    <a:p>
                      <a:r>
                        <a:rPr sz="2025" b="0">
                          <a:solidFill>
                            <a:srgbClr val="183D4B"/>
                          </a:solidFill>
                          <a:latin typeface="Arial"/>
                          <a:ea typeface="Arial"/>
                          <a:cs typeface="Arial"/>
                        </a:rPr>
                        <a:t>Review</a:t>
                      </a:r>
                    </a:p>
                  </a:txBody>
                  <a:tcPr marL="91440" marR="91440" marT="45720" marB="45720">
                    <a:solidFill>
                      <a:srgbClr val="FFFFFF"/>
                    </a:solidFill>
                  </a:tcPr>
                </a:tc>
                <a:tc>
                  <a:txBody>
                    <a:bodyPr/>
                    <a:lstStyle/>
                    <a:p>
                      <a:r>
                        <a:rPr sz="2025" b="0">
                          <a:solidFill>
                            <a:srgbClr val="183D4B"/>
                          </a:solidFill>
                          <a:latin typeface="Arial"/>
                          <a:ea typeface="Arial"/>
                          <a:cs typeface="Arial"/>
                        </a:rPr>
                        <a:t>Review</a:t>
                      </a:r>
                    </a:p>
                  </a:txBody>
                  <a:tcPr marL="91440" marR="91440" marT="45720" marB="45720">
                    <a:solidFill>
                      <a:srgbClr val="FFFFFF"/>
                    </a:solidFill>
                  </a:tcPr>
                </a:tc>
              </a:tr>
              <a:tr h="809625">
                <a:tc>
                  <a:txBody>
                    <a:bodyPr/>
                    <a:lstStyle/>
                    <a:p>
                      <a:r>
                        <a:rPr sz="2025" b="0">
                          <a:solidFill>
                            <a:srgbClr val="183D4B"/>
                          </a:solidFill>
                          <a:latin typeface="Arial"/>
                          <a:ea typeface="Arial"/>
                          <a:cs typeface="Arial"/>
                        </a:rPr>
                        <a:t>C4</a:t>
                      </a:r>
                    </a:p>
                  </a:txBody>
                  <a:tcPr marL="91440" marR="91440" marT="45720" marB="45720">
                    <a:solidFill>
                      <a:srgbClr val="EAF2F3"/>
                    </a:solidFill>
                  </a:tcPr>
                </a:tc>
                <a:tc>
                  <a:txBody>
                    <a:bodyPr/>
                    <a:lstStyle/>
                    <a:p>
                      <a:r>
                        <a:rPr sz="2025" b="0">
                          <a:solidFill>
                            <a:srgbClr val="183D4B"/>
                          </a:solidFill>
                          <a:latin typeface="Arial"/>
                          <a:ea typeface="Arial"/>
                          <a:cs typeface="Arial"/>
                        </a:rPr>
                        <a:t>topology mismatch</a:t>
                      </a:r>
                    </a:p>
                  </a:txBody>
                  <a:tcPr marL="91440" marR="91440" marT="45720" marB="45720">
                    <a:solidFill>
                      <a:srgbClr val="EAF2F3"/>
                    </a:solidFill>
                  </a:tcPr>
                </a:tc>
                <a:tc>
                  <a:txBody>
                    <a:bodyPr/>
                    <a:lstStyle/>
                    <a:p>
                      <a:r>
                        <a:rPr sz="2025" b="0">
                          <a:solidFill>
                            <a:srgbClr val="183D4B"/>
                          </a:solidFill>
                          <a:latin typeface="Arial"/>
                          <a:ea typeface="Arial"/>
                          <a:cs typeface="Arial"/>
                        </a:rPr>
                        <a:t>Review</a:t>
                      </a:r>
                    </a:p>
                  </a:txBody>
                  <a:tcPr marL="91440" marR="91440" marT="45720" marB="45720">
                    <a:solidFill>
                      <a:srgbClr val="EAF2F3"/>
                    </a:solidFill>
                  </a:tcPr>
                </a:tc>
                <a:tc>
                  <a:txBody>
                    <a:bodyPr/>
                    <a:lstStyle/>
                    <a:p>
                      <a:r>
                        <a:rPr sz="2025" b="0">
                          <a:solidFill>
                            <a:srgbClr val="183D4B"/>
                          </a:solidFill>
                          <a:latin typeface="Arial"/>
                          <a:ea typeface="Arial"/>
                          <a:cs typeface="Arial"/>
                        </a:rPr>
                        <a:t>Review</a:t>
                      </a:r>
                    </a:p>
                  </a:txBody>
                  <a:tcPr marL="91440" marR="91440" marT="45720" marB="45720">
                    <a:solidFill>
                      <a:srgbClr val="EAF2F3"/>
                    </a:solidFill>
                  </a:tcPr>
                </a:tc>
              </a:tr>
              <a:tr h="809625">
                <a:tc>
                  <a:txBody>
                    <a:bodyPr/>
                    <a:lstStyle/>
                    <a:p>
                      <a:r>
                        <a:rPr sz="2025" b="0">
                          <a:solidFill>
                            <a:srgbClr val="183D4B"/>
                          </a:solidFill>
                          <a:latin typeface="Arial"/>
                          <a:ea typeface="Arial"/>
                          <a:cs typeface="Arial"/>
                        </a:rPr>
                        <a:t>C5</a:t>
                      </a:r>
                    </a:p>
                  </a:txBody>
                  <a:tcPr marL="91440" marR="91440" marT="45720" marB="45720">
                    <a:solidFill>
                      <a:srgbClr val="FFFFFF"/>
                    </a:solidFill>
                  </a:tcPr>
                </a:tc>
                <a:tc>
                  <a:txBody>
                    <a:bodyPr/>
                    <a:lstStyle/>
                    <a:p>
                      <a:r>
                        <a:rPr sz="2025" b="0">
                          <a:solidFill>
                            <a:srgbClr val="183D4B"/>
                          </a:solidFill>
                          <a:latin typeface="Arial"/>
                          <a:ea typeface="Arial"/>
                          <a:cs typeface="Arial"/>
                        </a:rPr>
                        <a:t>missing evidence</a:t>
                      </a:r>
                    </a:p>
                  </a:txBody>
                  <a:tcPr marL="91440" marR="91440" marT="45720" marB="45720">
                    <a:solidFill>
                      <a:srgbClr val="FFFFFF"/>
                    </a:solidFill>
                  </a:tcPr>
                </a:tc>
                <a:tc>
                  <a:txBody>
                    <a:bodyPr/>
                    <a:lstStyle/>
                    <a:p>
                      <a:r>
                        <a:rPr sz="2025" b="0">
                          <a:solidFill>
                            <a:srgbClr val="183D4B"/>
                          </a:solidFill>
                          <a:latin typeface="Arial"/>
                          <a:ea typeface="Arial"/>
                          <a:cs typeface="Arial"/>
                        </a:rPr>
                        <a:t>Review</a:t>
                      </a:r>
                    </a:p>
                  </a:txBody>
                  <a:tcPr marL="91440" marR="91440" marT="45720" marB="45720">
                    <a:solidFill>
                      <a:srgbClr val="FFFFFF"/>
                    </a:solidFill>
                  </a:tcPr>
                </a:tc>
                <a:tc>
                  <a:txBody>
                    <a:bodyPr/>
                    <a:lstStyle/>
                    <a:p>
                      <a:r>
                        <a:rPr sz="2025" b="0">
                          <a:solidFill>
                            <a:srgbClr val="183D4B"/>
                          </a:solidFill>
                          <a:latin typeface="Arial"/>
                          <a:ea typeface="Arial"/>
                          <a:cs typeface="Arial"/>
                        </a:rPr>
                        <a:t>Review</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12184C1-FA6F-43E0-B21C-DE1B7B72B19C}"/>
              </a:ext>
            </a:extLst>
          </p:cNvPr>
          <p:cNvSpPr>
            <a:spLocks xmlns:a="http://schemas.openxmlformats.org/drawingml/2006/main" noGrp="1"/>
          </p:cNvSpPr>
          <p:nvPr/>
        </p:nvSpPr>
        <p:spPr>
          <a:xfrm xmlns:a="http://schemas.openxmlformats.org/drawingml/2006/main">
            <a:off x="742950" y="531495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1">
                <a:solidFill>
                  <a:srgbClr val="007B7F"/>
                </a:solidFill>
                <a:latin typeface="Arial"/>
                <a:ea typeface="Arial"/>
                <a:cs typeface="Arial"/>
              </a:defRPr>
            </a:pPr>
            <a:r>
              <a:rPr sz="1650" b="1">
                <a:solidFill>
                  <a:srgbClr val="007B7F"/>
                </a:solidFill>
                <a:latin typeface="Arial"/>
                <a:ea typeface="Arial"/>
                <a:cs typeface="Arial"/>
              </a:rPr>
              <a:t>Both workflows request review before making a controller call.</a:t>
            </a:r>
          </a:p>
        </p:txBody>
      </p:sp>
      <p:sp>
        <p:nvSpPr>
          <p:cNvPr id="5" name="">
            <a:extLst xmlns:a="http://schemas.openxmlformats.org/drawingml/2006/main">
              <a:ext uri="{FF2B5EF4-FFF2-40B4-BE49-F238E27FC236}">
                <a16:creationId xmlns:a16="http://schemas.microsoft.com/office/drawing/2014/main" id="{F0EFCEDD-2019-4D60-B84E-81C152BB9BF1}"/>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The system stops before planning when required evidence is invalid.</a:t>
            </a:r>
          </a:p>
        </p:txBody>
      </p:sp>
    </p:spTree>
    <p:extLst>
      <p:ext uri="{BB962C8B-B14F-4D97-AF65-F5344CB8AC3E}">
        <p14:creationId xmlns:p14="http://schemas.microsoft.com/office/powerpoint/2010/main" val="1186338734"/>
      </p:ext>
    </p:extLst>
  </p:cSld>
</p:sld>
</file>

<file path=ppt/slides/slide37.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C1895B8-442F-459E-9041-75AA6C4A49D5}"/>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A measurement-residual check</a:t>
            </a:r>
          </a:p>
        </p:txBody>
      </p:sp>
      <p:sp>
        <p:nvSpPr>
          <p:cNvPr id="2" name="">
            <a:extLst xmlns:a="http://schemas.openxmlformats.org/drawingml/2006/main">
              <a:ext uri="{FF2B5EF4-FFF2-40B4-BE49-F238E27FC236}">
                <a16:creationId xmlns:a16="http://schemas.microsoft.com/office/drawing/2014/main" id="{C2BC2C4E-6A7C-4053-880D-9400B7000D23}"/>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37</a:t>
            </a:r>
          </a:p>
        </p:txBody>
      </p:sp>
      <p:sp>
        <p:nvSpPr>
          <p:cNvPr id="4" name="">
            <a:extLst xmlns:a="http://schemas.openxmlformats.org/drawingml/2006/main">
              <a:ext uri="{FF2B5EF4-FFF2-40B4-BE49-F238E27FC236}">
                <a16:creationId xmlns:a16="http://schemas.microsoft.com/office/drawing/2014/main" id="{7BD0D2F5-4C58-4CA0-A691-8F7CB488D0A9}"/>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A threshold can miss coordinated attacks and reject benign model mismatch.</a:t>
            </a:r>
          </a:p>
        </p:txBody>
      </p:sp>
      <p:graphicFrame>
        <p:nvGraphicFramePr>
          <p:cNvPr id="10" name="Chart"/>
          <p:cNvGraphicFramePr/>
          <p:nvPr/>
        </p:nvGraphicFramePr>
        <p:xfrm>
          <a:off xmlns:a="http://schemas.openxmlformats.org/drawingml/2006/main" x="723900" y="1752600"/>
          <a:ext xmlns:a="http://schemas.openxmlformats.org/drawingml/2006/main" cx="10668000" cy="3829050"/>
        </p:xfrm>
        <a:graphic xmlns:a="http://schemas.openxmlformats.org/drawingml/2006/main">
          <a:graphicData uri="http://schemas.openxmlformats.org/drawingml/2006/chart">
            <c:chart xmlns:r="http://schemas.openxmlformats.org/officeDocument/2006/relationships" xmlns:c="http://schemas.openxmlformats.org/drawingml/2006/chart" r:id="R00180e5289e34404"/>
          </a:graphicData>
        </a:graphic>
      </p:graphicFrame>
    </p:spTree>
    <p:extLst>
      <p:ext uri="{BB962C8B-B14F-4D97-AF65-F5344CB8AC3E}">
        <p14:creationId xmlns:p14="http://schemas.microsoft.com/office/powerpoint/2010/main" val="527010009"/>
      </p:ext>
    </p:extLst>
  </p:cSld>
</p:sld>
</file>

<file path=ppt/slides/slide38.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AC5E384-0F8F-4747-B274-C941B5F8E686}"/>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83D4B"/>
                </a:solidFill>
                <a:latin typeface="Arial"/>
                <a:ea typeface="Arial"/>
                <a:cs typeface="Arial"/>
              </a:defRPr>
            </a:pPr>
            <a:r>
              <a:rPr sz="3225" b="1">
                <a:solidFill>
                  <a:srgbClr val="183D4B"/>
                </a:solidFill>
                <a:latin typeface="Arial"/>
                <a:ea typeface="Arial"/>
                <a:cs typeface="Arial"/>
              </a:rPr>
              <a:t>Untrusted text and bounded tool access</a:t>
            </a:r>
          </a:p>
        </p:txBody>
      </p:sp>
      <p:sp>
        <p:nvSpPr>
          <p:cNvPr id="2" name="">
            <a:extLst xmlns:a="http://schemas.openxmlformats.org/drawingml/2006/main">
              <a:ext uri="{FF2B5EF4-FFF2-40B4-BE49-F238E27FC236}">
                <a16:creationId xmlns:a16="http://schemas.microsoft.com/office/drawing/2014/main" id="{04AF0CD2-36FC-47FF-B7FA-BEE86A080A61}"/>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26874"/>
                </a:solidFill>
                <a:latin typeface="Arial"/>
                <a:ea typeface="Arial"/>
                <a:cs typeface="Arial"/>
              </a:defRPr>
            </a:pPr>
            <a:r>
              <a:rPr sz="1275" b="0">
                <a:solidFill>
                  <a:srgbClr val="526874"/>
                </a:solidFill>
                <a:latin typeface="Arial"/>
                <a:ea typeface="Arial"/>
                <a:cs typeface="Arial"/>
              </a:rPr>
              <a:t>38</a:t>
            </a:r>
          </a:p>
        </p:txBody>
      </p:sp>
      <p:sp>
        <p:nvSpPr>
          <p:cNvPr id="3" name="">
            <a:extLst xmlns:a="http://schemas.openxmlformats.org/drawingml/2006/main">
              <a:ext uri="{FF2B5EF4-FFF2-40B4-BE49-F238E27FC236}">
                <a16:creationId xmlns:a16="http://schemas.microsoft.com/office/drawing/2014/main" id="{33142016-EF85-4778-96B6-F77771D92704}"/>
              </a:ext>
            </a:extLst>
          </p:cNvPr>
          <p:cNvSpPr>
            <a:spLocks xmlns:a="http://schemas.openxmlformats.org/drawingml/2006/main" noGrp="1"/>
          </p:cNvSpPr>
          <p:nvPr/>
        </p:nvSpPr>
        <p:spPr>
          <a:xfrm xmlns:a="http://schemas.openxmlformats.org/drawingml/2006/main">
            <a:off x="742950" y="1762125"/>
            <a:ext cx="106299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83D4B"/>
                </a:solidFill>
                <a:latin typeface="Arial"/>
                <a:ea typeface="Arial"/>
                <a:cs typeface="Arial"/>
              </a:defRPr>
            </a:pPr>
            <a:r>
              <a:rPr sz="2250" b="0">
                <a:solidFill>
                  <a:srgbClr val="183D4B"/>
                </a:solidFill>
                <a:latin typeface="Arial"/>
                <a:ea typeface="Arial"/>
                <a:cs typeface="Arial"/>
              </a:rPr>
              <a:t>The external note requests bypassing verification and restoring full PV.</a:t>
            </a:r>
          </a:p>
        </p:txBody>
      </p:sp>
      <p:sp>
        <p:nvSpPr>
          <p:cNvPr id="4" name="">
            <a:extLst xmlns:a="http://schemas.openxmlformats.org/drawingml/2006/main">
              <a:ext uri="{FF2B5EF4-FFF2-40B4-BE49-F238E27FC236}">
                <a16:creationId xmlns:a16="http://schemas.microsoft.com/office/drawing/2014/main" id="{ADB86ECA-CFE2-4DF5-968D-E35D5DED8694}"/>
              </a:ext>
            </a:extLst>
          </p:cNvPr>
          <p:cNvSpPr>
            <a:spLocks xmlns:a="http://schemas.openxmlformats.org/drawingml/2006/main" noGrp="1"/>
          </p:cNvSpPr>
          <p:nvPr/>
        </p:nvSpPr>
        <p:spPr>
          <a:xfrm xmlns:a="http://schemas.openxmlformats.org/drawingml/2006/main">
            <a:off x="742950" y="2857500"/>
            <a:ext cx="106299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83D4B"/>
                </a:solidFill>
                <a:latin typeface="Arial"/>
                <a:ea typeface="Arial"/>
                <a:cs typeface="Arial"/>
              </a:defRPr>
            </a:pPr>
            <a:r>
              <a:rPr sz="2250" b="0">
                <a:solidFill>
                  <a:srgbClr val="183D4B"/>
                </a:solidFill>
                <a:latin typeface="Arial"/>
                <a:ea typeface="Arial"/>
                <a:cs typeface="Arial"/>
              </a:rPr>
              <a:t>Observed Llama request: MPC.</a:t>
            </a:r>
          </a:p>
        </p:txBody>
      </p:sp>
      <p:sp>
        <p:nvSpPr>
          <p:cNvPr id="5" name="">
            <a:extLst xmlns:a="http://schemas.openxmlformats.org/drawingml/2006/main">
              <a:ext uri="{FF2B5EF4-FFF2-40B4-BE49-F238E27FC236}">
                <a16:creationId xmlns:a16="http://schemas.microsoft.com/office/drawing/2014/main" id="{6A5DC024-C325-42D6-90E6-F2BCFD46225A}"/>
              </a:ext>
            </a:extLst>
          </p:cNvPr>
          <p:cNvSpPr>
            <a:spLocks xmlns:a="http://schemas.openxmlformats.org/drawingml/2006/main" noGrp="1"/>
          </p:cNvSpPr>
          <p:nvPr/>
        </p:nvSpPr>
        <p:spPr>
          <a:xfrm xmlns:a="http://schemas.openxmlformats.org/drawingml/2006/main">
            <a:off x="742950" y="3952875"/>
            <a:ext cx="106299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83D4B"/>
                </a:solidFill>
                <a:latin typeface="Arial"/>
                <a:ea typeface="Arial"/>
                <a:cs typeface="Arial"/>
              </a:defRPr>
            </a:pPr>
            <a:r>
              <a:rPr sz="2250" b="0">
                <a:solidFill>
                  <a:srgbClr val="183D4B"/>
                </a:solidFill>
                <a:latin typeface="Arial"/>
                <a:ea typeface="Arial"/>
                <a:cs typeface="Arial"/>
              </a:rPr>
              <a:t>Observed outcome: Recommend, 30% PV cap, 87.6% maximum loading.</a:t>
            </a:r>
          </a:p>
        </p:txBody>
      </p:sp>
      <p:sp>
        <p:nvSpPr>
          <p:cNvPr id="6" name="">
            <a:extLst xmlns:a="http://schemas.openxmlformats.org/drawingml/2006/main">
              <a:ext uri="{FF2B5EF4-FFF2-40B4-BE49-F238E27FC236}">
                <a16:creationId xmlns:a16="http://schemas.microsoft.com/office/drawing/2014/main" id="{2252395B-07A8-4193-921D-F57791436C4C}"/>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26874"/>
                </a:solidFill>
                <a:latin typeface="Arial"/>
                <a:ea typeface="Arial"/>
                <a:cs typeface="Arial"/>
              </a:defRPr>
            </a:pPr>
            <a:r>
              <a:rPr sz="1575" b="0">
                <a:solidFill>
                  <a:srgbClr val="526874"/>
                </a:solidFill>
                <a:latin typeface="Arial"/>
                <a:ea typeface="Arial"/>
                <a:cs typeface="Arial"/>
              </a:rPr>
              <a:t>One observed response does not establish general prompt-injection robustness.</a:t>
            </a:r>
          </a:p>
        </p:txBody>
      </p:sp>
    </p:spTree>
    <p:extLst>
      <p:ext uri="{BB962C8B-B14F-4D97-AF65-F5344CB8AC3E}">
        <p14:creationId xmlns:p14="http://schemas.microsoft.com/office/powerpoint/2010/main" val="1539794179"/>
      </p:ext>
    </p:extLst>
  </p:cSld>
</p:sld>
</file>

<file path=ppt/slides/slide39.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EB0D908-BACA-43EF-84DE-3436212AA30A}"/>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D4B"/>
                </a:solidFill>
                <a:latin typeface="Arial"/>
                <a:ea typeface="Arial"/>
                <a:cs typeface="Arial"/>
              </a:defRPr>
            </a:pPr>
            <a:r>
              <a:rPr sz="3225" b="1">
                <a:solidFill>
                  <a:srgbClr val="183D4B"/>
                </a:solidFill>
                <a:latin typeface="Arial"/>
                <a:ea typeface="Arial"/>
                <a:cs typeface="Arial"/>
              </a:rPr>
              <a:t>Matched model and supervisor results</a:t>
            </a:r>
          </a:p>
        </p:txBody>
      </p:sp>
      <p:graphicFrame>
        <p:nvGraphicFramePr>
          <p:cNvPr id="7" name=""/>
          <p:cNvGraphicFramePr/>
          <p:nvPr/>
        </p:nvGraphicFramePr>
        <p:xfrm>
          <a:off xmlns:a="http://schemas.openxmlformats.org/drawingml/2006/main" x="685800" y="1676400"/>
          <a:ext xmlns:a="http://schemas.openxmlformats.org/drawingml/2006/main" cx="10820400" cy="3352800"/>
        </p:xfrm>
        <a:graphic xmlns:a="http://schemas.openxmlformats.org/drawingml/2006/main">
          <a:graphicData uri="http://schemas.openxmlformats.org/drawingml/2006/table">
            <a:tbl>
              <a:tblPr/>
              <a:tblGrid>
                <a:gridCol w="3209925"/>
                <a:gridCol w="1533525"/>
                <a:gridCol w="2276475"/>
                <a:gridCol w="1895475"/>
                <a:gridCol w="1905000"/>
              </a:tblGrid>
              <a:tr h="670560">
                <a:tc>
                  <a:txBody>
                    <a:bodyPr/>
                    <a:lstStyle/>
                    <a:p>
                      <a:r>
                        <a:rPr sz="1800" b="1">
                          <a:solidFill>
                            <a:srgbClr val="FFFFFF"/>
                          </a:solidFill>
                          <a:latin typeface="Arial"/>
                          <a:ea typeface="Arial"/>
                          <a:cs typeface="Arial"/>
                        </a:rPr>
                        <a:t>Model / supervisor</a:t>
                      </a:r>
                    </a:p>
                  </a:txBody>
                  <a:tcPr marL="91440" marR="91440" marT="45720" marB="45720">
                    <a:solidFill>
                      <a:srgbClr val="183D4B"/>
                    </a:solidFill>
                  </a:tcPr>
                </a:tc>
                <a:tc>
                  <a:txBody>
                    <a:bodyPr/>
                    <a:lstStyle/>
                    <a:p>
                      <a:r>
                        <a:rPr sz="1800" b="1">
                          <a:solidFill>
                            <a:srgbClr val="FFFFFF"/>
                          </a:solidFill>
                          <a:latin typeface="Arial"/>
                          <a:ea typeface="Arial"/>
                          <a:cs typeface="Arial"/>
                        </a:rPr>
                        <a:t>Issued /8</a:t>
                      </a:r>
                    </a:p>
                  </a:txBody>
                  <a:tcPr marL="91440" marR="91440" marT="45720" marB="45720">
                    <a:solidFill>
                      <a:srgbClr val="183D4B"/>
                    </a:solidFill>
                  </a:tcPr>
                </a:tc>
                <a:tc>
                  <a:txBody>
                    <a:bodyPr/>
                    <a:lstStyle/>
                    <a:p>
                      <a:r>
                        <a:rPr sz="1800" b="1">
                          <a:solidFill>
                            <a:srgbClr val="FFFFFF"/>
                          </a:solidFill>
                          <a:latin typeface="Arial"/>
                          <a:ea typeface="Arial"/>
                          <a:cs typeface="Arial"/>
                        </a:rPr>
                        <a:t>AC pass / issued</a:t>
                      </a:r>
                    </a:p>
                  </a:txBody>
                  <a:tcPr marL="91440" marR="91440" marT="45720" marB="45720">
                    <a:solidFill>
                      <a:srgbClr val="183D4B"/>
                    </a:solidFill>
                  </a:tcPr>
                </a:tc>
                <a:tc>
                  <a:txBody>
                    <a:bodyPr/>
                    <a:lstStyle/>
                    <a:p>
                      <a:r>
                        <a:rPr sz="1800" b="1">
                          <a:solidFill>
                            <a:srgbClr val="FFFFFF"/>
                          </a:solidFill>
                          <a:latin typeface="Arial"/>
                          <a:ea typeface="Arial"/>
                          <a:cs typeface="Arial"/>
                        </a:rPr>
                        <a:t>Median s</a:t>
                      </a:r>
                    </a:p>
                  </a:txBody>
                  <a:tcPr marL="91440" marR="91440" marT="45720" marB="45720">
                    <a:solidFill>
                      <a:srgbClr val="183D4B"/>
                    </a:solidFill>
                  </a:tcPr>
                </a:tc>
                <a:tc>
                  <a:txBody>
                    <a:bodyPr/>
                    <a:lstStyle/>
                    <a:p>
                      <a:r>
                        <a:rPr sz="1800" b="1">
                          <a:solidFill>
                            <a:srgbClr val="FFFFFF"/>
                          </a:solidFill>
                          <a:latin typeface="Arial"/>
                          <a:ea typeface="Arial"/>
                          <a:cs typeface="Arial"/>
                        </a:rPr>
                        <a:t>Llama calls</a:t>
                      </a:r>
                    </a:p>
                  </a:txBody>
                  <a:tcPr marL="91440" marR="91440" marT="45720" marB="45720">
                    <a:solidFill>
                      <a:srgbClr val="183D4B"/>
                    </a:solidFill>
                  </a:tcPr>
                </a:tc>
              </a:tr>
              <a:tr h="670560">
                <a:tc>
                  <a:txBody>
                    <a:bodyPr/>
                    <a:lstStyle/>
                    <a:p>
                      <a:r>
                        <a:rPr sz="1800" b="0">
                          <a:solidFill>
                            <a:srgbClr val="183D4B"/>
                          </a:solidFill>
                          <a:latin typeface="Arial"/>
                          <a:ea typeface="Arial"/>
                          <a:cs typeface="Arial"/>
                        </a:rPr>
                        <a:t>OpenDSS / fixed</a:t>
                      </a:r>
                    </a:p>
                  </a:txBody>
                  <a:tcPr marL="91440" marR="91440" marT="45720" marB="45720">
                    <a:solidFill>
                      <a:srgbClr val="FFFFFF"/>
                    </a:solidFill>
                  </a:tcPr>
                </a:tc>
                <a:tc>
                  <a:txBody>
                    <a:bodyPr/>
                    <a:lstStyle/>
                    <a:p>
                      <a:r>
                        <a:rPr sz="1800" b="0">
                          <a:solidFill>
                            <a:srgbClr val="183D4B"/>
                          </a:solidFill>
                          <a:latin typeface="Arial"/>
                          <a:ea typeface="Arial"/>
                          <a:cs typeface="Arial"/>
                        </a:rPr>
                        <a:t>5</a:t>
                      </a:r>
                    </a:p>
                  </a:txBody>
                  <a:tcPr marL="91440" marR="91440" marT="45720" marB="45720">
                    <a:solidFill>
                      <a:srgbClr val="FFFFFF"/>
                    </a:solidFill>
                  </a:tcPr>
                </a:tc>
                <a:tc>
                  <a:txBody>
                    <a:bodyPr/>
                    <a:lstStyle/>
                    <a:p>
                      <a:r>
                        <a:rPr sz="1800" b="0">
                          <a:solidFill>
                            <a:srgbClr val="183D4B"/>
                          </a:solidFill>
                          <a:latin typeface="Arial"/>
                          <a:ea typeface="Arial"/>
                          <a:cs typeface="Arial"/>
                        </a:rPr>
                        <a:t>5 / 5</a:t>
                      </a:r>
                    </a:p>
                  </a:txBody>
                  <a:tcPr marL="91440" marR="91440" marT="45720" marB="45720">
                    <a:solidFill>
                      <a:srgbClr val="FFFFFF"/>
                    </a:solidFill>
                  </a:tcPr>
                </a:tc>
                <a:tc>
                  <a:txBody>
                    <a:bodyPr/>
                    <a:lstStyle/>
                    <a:p>
                      <a:r>
                        <a:rPr sz="1800" b="0">
                          <a:solidFill>
                            <a:srgbClr val="183D4B"/>
                          </a:solidFill>
                          <a:latin typeface="Arial"/>
                          <a:ea typeface="Arial"/>
                          <a:cs typeface="Arial"/>
                        </a:rPr>
                        <a:t>0.34</a:t>
                      </a:r>
                    </a:p>
                  </a:txBody>
                  <a:tcPr marL="91440" marR="91440" marT="45720" marB="45720">
                    <a:solidFill>
                      <a:srgbClr val="FFFFFF"/>
                    </a:solidFill>
                  </a:tcPr>
                </a:tc>
                <a:tc>
                  <a:txBody>
                    <a:bodyPr/>
                    <a:lstStyle/>
                    <a:p>
                      <a:r>
                        <a:rPr sz="1800" b="0">
                          <a:solidFill>
                            <a:srgbClr val="183D4B"/>
                          </a:solidFill>
                          <a:latin typeface="Arial"/>
                          <a:ea typeface="Arial"/>
                          <a:cs typeface="Arial"/>
                        </a:rPr>
                        <a:t>0</a:t>
                      </a:r>
                    </a:p>
                  </a:txBody>
                  <a:tcPr marL="91440" marR="91440" marT="45720" marB="45720">
                    <a:solidFill>
                      <a:srgbClr val="FFFFFF"/>
                    </a:solidFill>
                  </a:tcPr>
                </a:tc>
              </a:tr>
              <a:tr h="670560">
                <a:tc>
                  <a:txBody>
                    <a:bodyPr/>
                    <a:lstStyle/>
                    <a:p>
                      <a:r>
                        <a:rPr sz="1800" b="0">
                          <a:solidFill>
                            <a:srgbClr val="183D4B"/>
                          </a:solidFill>
                          <a:latin typeface="Arial"/>
                          <a:ea typeface="Arial"/>
                          <a:cs typeface="Arial"/>
                        </a:rPr>
                        <a:t>OpenDSS / agentic</a:t>
                      </a:r>
                    </a:p>
                  </a:txBody>
                  <a:tcPr marL="91440" marR="91440" marT="45720" marB="45720">
                    <a:solidFill>
                      <a:srgbClr val="EAF2F3"/>
                    </a:solidFill>
                  </a:tcPr>
                </a:tc>
                <a:tc>
                  <a:txBody>
                    <a:bodyPr/>
                    <a:lstStyle/>
                    <a:p>
                      <a:r>
                        <a:rPr sz="1800" b="0">
                          <a:solidFill>
                            <a:srgbClr val="183D4B"/>
                          </a:solidFill>
                          <a:latin typeface="Arial"/>
                          <a:ea typeface="Arial"/>
                          <a:cs typeface="Arial"/>
                        </a:rPr>
                        <a:t>4</a:t>
                      </a:r>
                    </a:p>
                  </a:txBody>
                  <a:tcPr marL="91440" marR="91440" marT="45720" marB="45720">
                    <a:solidFill>
                      <a:srgbClr val="EAF2F3"/>
                    </a:solidFill>
                  </a:tcPr>
                </a:tc>
                <a:tc>
                  <a:txBody>
                    <a:bodyPr/>
                    <a:lstStyle/>
                    <a:p>
                      <a:r>
                        <a:rPr sz="1800" b="0">
                          <a:solidFill>
                            <a:srgbClr val="183D4B"/>
                          </a:solidFill>
                          <a:latin typeface="Arial"/>
                          <a:ea typeface="Arial"/>
                          <a:cs typeface="Arial"/>
                        </a:rPr>
                        <a:t>4 / 4</a:t>
                      </a:r>
                    </a:p>
                  </a:txBody>
                  <a:tcPr marL="91440" marR="91440" marT="45720" marB="45720">
                    <a:solidFill>
                      <a:srgbClr val="EAF2F3"/>
                    </a:solidFill>
                  </a:tcPr>
                </a:tc>
                <a:tc>
                  <a:txBody>
                    <a:bodyPr/>
                    <a:lstStyle/>
                    <a:p>
                      <a:r>
                        <a:rPr sz="1800" b="0">
                          <a:solidFill>
                            <a:srgbClr val="183D4B"/>
                          </a:solidFill>
                          <a:latin typeface="Arial"/>
                          <a:ea typeface="Arial"/>
                          <a:cs typeface="Arial"/>
                        </a:rPr>
                        <a:t>6.63</a:t>
                      </a:r>
                    </a:p>
                  </a:txBody>
                  <a:tcPr marL="91440" marR="91440" marT="45720" marB="45720">
                    <a:solidFill>
                      <a:srgbClr val="EAF2F3"/>
                    </a:solidFill>
                  </a:tcPr>
                </a:tc>
                <a:tc>
                  <a:txBody>
                    <a:bodyPr/>
                    <a:lstStyle/>
                    <a:p>
                      <a:r>
                        <a:rPr sz="1800" b="0">
                          <a:solidFill>
                            <a:srgbClr val="183D4B"/>
                          </a:solidFill>
                          <a:latin typeface="Arial"/>
                          <a:ea typeface="Arial"/>
                          <a:cs typeface="Arial"/>
                        </a:rPr>
                        <a:t>13</a:t>
                      </a:r>
                    </a:p>
                  </a:txBody>
                  <a:tcPr marL="91440" marR="91440" marT="45720" marB="45720">
                    <a:solidFill>
                      <a:srgbClr val="EAF2F3"/>
                    </a:solidFill>
                  </a:tcPr>
                </a:tc>
              </a:tr>
              <a:tr h="670560">
                <a:tc>
                  <a:txBody>
                    <a:bodyPr/>
                    <a:lstStyle/>
                    <a:p>
                      <a:r>
                        <a:rPr sz="1800" b="0">
                          <a:solidFill>
                            <a:srgbClr val="183D4B"/>
                          </a:solidFill>
                          <a:latin typeface="Arial"/>
                          <a:ea typeface="Arial"/>
                          <a:cs typeface="Arial"/>
                        </a:rPr>
                        <a:t>LinDistFlow / fixed</a:t>
                      </a:r>
                    </a:p>
                  </a:txBody>
                  <a:tcPr marL="91440" marR="91440" marT="45720" marB="45720">
                    <a:solidFill>
                      <a:srgbClr val="FFFFFF"/>
                    </a:solidFill>
                  </a:tcPr>
                </a:tc>
                <a:tc>
                  <a:txBody>
                    <a:bodyPr/>
                    <a:lstStyle/>
                    <a:p>
                      <a:r>
                        <a:rPr sz="1800" b="0">
                          <a:solidFill>
                            <a:srgbClr val="183D4B"/>
                          </a:solidFill>
                          <a:latin typeface="Arial"/>
                          <a:ea typeface="Arial"/>
                          <a:cs typeface="Arial"/>
                        </a:rPr>
                        <a:t>6</a:t>
                      </a:r>
                    </a:p>
                  </a:txBody>
                  <a:tcPr marL="91440" marR="91440" marT="45720" marB="45720">
                    <a:solidFill>
                      <a:srgbClr val="FFFFFF"/>
                    </a:solidFill>
                  </a:tcPr>
                </a:tc>
                <a:tc>
                  <a:txBody>
                    <a:bodyPr/>
                    <a:lstStyle/>
                    <a:p>
                      <a:r>
                        <a:rPr sz="1800" b="0">
                          <a:solidFill>
                            <a:srgbClr val="183D4B"/>
                          </a:solidFill>
                          <a:latin typeface="Arial"/>
                          <a:ea typeface="Arial"/>
                          <a:cs typeface="Arial"/>
                        </a:rPr>
                        <a:t>2 / 6</a:t>
                      </a:r>
                    </a:p>
                  </a:txBody>
                  <a:tcPr marL="91440" marR="91440" marT="45720" marB="45720">
                    <a:solidFill>
                      <a:srgbClr val="FFFFFF"/>
                    </a:solidFill>
                  </a:tcPr>
                </a:tc>
                <a:tc>
                  <a:txBody>
                    <a:bodyPr/>
                    <a:lstStyle/>
                    <a:p>
                      <a:r>
                        <a:rPr sz="1800" b="0">
                          <a:solidFill>
                            <a:srgbClr val="183D4B"/>
                          </a:solidFill>
                          <a:latin typeface="Arial"/>
                          <a:ea typeface="Arial"/>
                          <a:cs typeface="Arial"/>
                        </a:rPr>
                        <a:t>0.14</a:t>
                      </a:r>
                    </a:p>
                  </a:txBody>
                  <a:tcPr marL="91440" marR="91440" marT="45720" marB="45720">
                    <a:solidFill>
                      <a:srgbClr val="FFFFFF"/>
                    </a:solidFill>
                  </a:tcPr>
                </a:tc>
                <a:tc>
                  <a:txBody>
                    <a:bodyPr/>
                    <a:lstStyle/>
                    <a:p>
                      <a:r>
                        <a:rPr sz="1800" b="0">
                          <a:solidFill>
                            <a:srgbClr val="183D4B"/>
                          </a:solidFill>
                          <a:latin typeface="Arial"/>
                          <a:ea typeface="Arial"/>
                          <a:cs typeface="Arial"/>
                        </a:rPr>
                        <a:t>0</a:t>
                      </a:r>
                    </a:p>
                  </a:txBody>
                  <a:tcPr marL="91440" marR="91440" marT="45720" marB="45720">
                    <a:solidFill>
                      <a:srgbClr val="FFFFFF"/>
                    </a:solidFill>
                  </a:tcPr>
                </a:tc>
              </a:tr>
              <a:tr h="670560">
                <a:tc>
                  <a:txBody>
                    <a:bodyPr/>
                    <a:lstStyle/>
                    <a:p>
                      <a:r>
                        <a:rPr sz="1800" b="0">
                          <a:solidFill>
                            <a:srgbClr val="183D4B"/>
                          </a:solidFill>
                          <a:latin typeface="Arial"/>
                          <a:ea typeface="Arial"/>
                          <a:cs typeface="Arial"/>
                        </a:rPr>
                        <a:t>LinDistFlow / agentic</a:t>
                      </a:r>
                    </a:p>
                  </a:txBody>
                  <a:tcPr marL="91440" marR="91440" marT="45720" marB="45720">
                    <a:solidFill>
                      <a:srgbClr val="EAF2F3"/>
                    </a:solidFill>
                  </a:tcPr>
                </a:tc>
                <a:tc>
                  <a:txBody>
                    <a:bodyPr/>
                    <a:lstStyle/>
                    <a:p>
                      <a:r>
                        <a:rPr sz="1800" b="0">
                          <a:solidFill>
                            <a:srgbClr val="183D4B"/>
                          </a:solidFill>
                          <a:latin typeface="Arial"/>
                          <a:ea typeface="Arial"/>
                          <a:cs typeface="Arial"/>
                        </a:rPr>
                        <a:t>5</a:t>
                      </a:r>
                    </a:p>
                  </a:txBody>
                  <a:tcPr marL="91440" marR="91440" marT="45720" marB="45720">
                    <a:solidFill>
                      <a:srgbClr val="EAF2F3"/>
                    </a:solidFill>
                  </a:tcPr>
                </a:tc>
                <a:tc>
                  <a:txBody>
                    <a:bodyPr/>
                    <a:lstStyle/>
                    <a:p>
                      <a:r>
                        <a:rPr sz="1800" b="0">
                          <a:solidFill>
                            <a:srgbClr val="183D4B"/>
                          </a:solidFill>
                          <a:latin typeface="Arial"/>
                          <a:ea typeface="Arial"/>
                          <a:cs typeface="Arial"/>
                        </a:rPr>
                        <a:t>2 / 5</a:t>
                      </a:r>
                    </a:p>
                  </a:txBody>
                  <a:tcPr marL="91440" marR="91440" marT="45720" marB="45720">
                    <a:solidFill>
                      <a:srgbClr val="EAF2F3"/>
                    </a:solidFill>
                  </a:tcPr>
                </a:tc>
                <a:tc>
                  <a:txBody>
                    <a:bodyPr/>
                    <a:lstStyle/>
                    <a:p>
                      <a:r>
                        <a:rPr sz="1800" b="0">
                          <a:solidFill>
                            <a:srgbClr val="183D4B"/>
                          </a:solidFill>
                          <a:latin typeface="Arial"/>
                          <a:ea typeface="Arial"/>
                          <a:cs typeface="Arial"/>
                        </a:rPr>
                        <a:t>5.79</a:t>
                      </a:r>
                    </a:p>
                  </a:txBody>
                  <a:tcPr marL="91440" marR="91440" marT="45720" marB="45720">
                    <a:solidFill>
                      <a:srgbClr val="EAF2F3"/>
                    </a:solidFill>
                  </a:tcPr>
                </a:tc>
                <a:tc>
                  <a:txBody>
                    <a:bodyPr/>
                    <a:lstStyle/>
                    <a:p>
                      <a:r>
                        <a:rPr sz="1800" b="0">
                          <a:solidFill>
                            <a:srgbClr val="183D4B"/>
                          </a:solidFill>
                          <a:latin typeface="Arial"/>
                          <a:ea typeface="Arial"/>
                          <a:cs typeface="Arial"/>
                        </a:rPr>
                        <a:t>13</a:t>
                      </a:r>
                    </a:p>
                  </a:txBody>
                  <a:tcPr marL="91440" marR="91440" marT="45720" marB="45720">
                    <a:solidFill>
                      <a:srgbClr val="EAF2F3"/>
                    </a:solidFill>
                  </a:tcPr>
                </a:tc>
              </a:tr>
            </a:tbl>
          </a:graphicData>
        </a:graphic>
      </p:graphicFrame>
      <p:sp>
        <p:nvSpPr>
          <p:cNvPr id="3" name="">
            <a:extLst xmlns:a="http://schemas.openxmlformats.org/drawingml/2006/main">
              <a:ext uri="{FF2B5EF4-FFF2-40B4-BE49-F238E27FC236}">
                <a16:creationId xmlns:a16="http://schemas.microsoft.com/office/drawing/2014/main" id="{9E64E8C2-2E04-4C5F-A929-2C781D62E42A}"/>
              </a:ext>
            </a:extLst>
          </p:cNvPr>
          <p:cNvSpPr>
            <a:spLocks xmlns:a="http://schemas.openxmlformats.org/drawingml/2006/main" noGrp="1"/>
          </p:cNvSpPr>
          <p:nvPr/>
        </p:nvSpPr>
        <p:spPr>
          <a:xfrm xmlns:a="http://schemas.openxmlformats.org/drawingml/2006/main">
            <a:off x="742950" y="5238750"/>
            <a:ext cx="10629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C6328"/>
                </a:solidFill>
                <a:latin typeface="Arial"/>
                <a:ea typeface="Arial"/>
                <a:cs typeface="Arial"/>
              </a:defRPr>
            </a:pPr>
            <a:r>
              <a:rPr sz="1875" b="1">
                <a:solidFill>
                  <a:srgbClr val="BC6328"/>
                </a:solidFill>
                <a:latin typeface="Arial"/>
                <a:ea typeface="Arial"/>
                <a:cs typeface="Arial"/>
              </a:rPr>
              <a:t>A correct hold also prevents a recommendation. These counts are not accuracy rates.</a:t>
            </a:r>
          </a:p>
        </p:txBody>
      </p:sp>
      <p:sp>
        <p:nvSpPr>
          <p:cNvPr id="4" name="">
            <a:extLst xmlns:a="http://schemas.openxmlformats.org/drawingml/2006/main">
              <a:ext uri="{FF2B5EF4-FFF2-40B4-BE49-F238E27FC236}">
                <a16:creationId xmlns:a16="http://schemas.microsoft.com/office/drawing/2014/main" id="{344EFA0A-380F-404D-B61B-BCE8B3454D40}"/>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874"/>
                </a:solidFill>
                <a:latin typeface="Arial"/>
                <a:ea typeface="Arial"/>
                <a:cs typeface="Arial"/>
              </a:defRPr>
            </a:pPr>
            <a:r>
              <a:rPr sz="1575" b="0">
                <a:solidFill>
                  <a:srgbClr val="526874"/>
                </a:solidFill>
                <a:latin typeface="Arial"/>
                <a:ea typeface="Arial"/>
                <a:cs typeface="Arial"/>
              </a:rPr>
              <a:t>32 fixed-order runs. Timing excludes model-table setup and the separate AC audits.</a:t>
            </a:r>
          </a:p>
        </p:txBody>
      </p:sp>
      <p:sp>
        <p:nvSpPr>
          <p:cNvPr id="5" name="">
            <a:extLst xmlns:a="http://schemas.openxmlformats.org/drawingml/2006/main">
              <a:ext uri="{FF2B5EF4-FFF2-40B4-BE49-F238E27FC236}">
                <a16:creationId xmlns:a16="http://schemas.microsoft.com/office/drawing/2014/main" id="{C010DB36-45BB-4907-A364-86C11D4097B6}"/>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874"/>
                </a:solidFill>
                <a:latin typeface="Arial"/>
                <a:ea typeface="Arial"/>
                <a:cs typeface="Arial"/>
              </a:defRPr>
            </a:pPr>
            <a:r>
              <a:rPr sz="1275" b="0">
                <a:solidFill>
                  <a:srgbClr val="526874"/>
                </a:solidFill>
                <a:latin typeface="Arial"/>
                <a:ea typeface="Arial"/>
                <a:cs typeface="Arial"/>
              </a:rPr>
              <a:t>39</a:t>
            </a:r>
          </a:p>
        </p:txBody>
      </p:sp>
    </p:spTree>
    <p:extLst>
      <p:ext uri="{BB962C8B-B14F-4D97-AF65-F5344CB8AC3E}">
        <p14:creationId xmlns:p14="http://schemas.microsoft.com/office/powerpoint/2010/main" val="1163015442"/>
      </p:ext>
    </p:extLst>
  </p:cSld>
</p:sld>
</file>

<file path=ppt/slides/slide40.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A81AEA2-2539-4CCA-A2AB-BD17E965F423}"/>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D4B"/>
                </a:solidFill>
                <a:latin typeface="Arial"/>
                <a:ea typeface="Arial"/>
                <a:cs typeface="Arial"/>
              </a:defRPr>
            </a:pPr>
            <a:r>
              <a:rPr sz="3225" b="1">
                <a:solidFill>
                  <a:srgbClr val="183D4B"/>
                </a:solidFill>
                <a:latin typeface="Arial"/>
                <a:ea typeface="Arial"/>
                <a:cs typeface="Arial"/>
              </a:rPr>
              <a:t>MV error and omitted LV constraints</a:t>
            </a:r>
          </a:p>
        </p:txBody>
      </p:sp>
      <p:graphicFrame>
        <p:nvGraphicFramePr>
          <p:cNvPr id="7" name="Chart"/>
          <p:cNvGraphicFramePr/>
          <p:nvPr/>
        </p:nvGraphicFramePr>
        <p:xfrm>
          <a:off xmlns:a="http://schemas.openxmlformats.org/drawingml/2006/main" x="723900" y="1762125"/>
          <a:ext xmlns:a="http://schemas.openxmlformats.org/drawingml/2006/main" cx="10668000" cy="3190875"/>
        </p:xfrm>
        <a:graphic xmlns:a="http://schemas.openxmlformats.org/drawingml/2006/main">
          <a:graphicData uri="http://schemas.openxmlformats.org/drawingml/2006/chart">
            <c:chart xmlns:r="http://schemas.openxmlformats.org/officeDocument/2006/relationships" xmlns:c="http://schemas.openxmlformats.org/drawingml/2006/chart" r:id="R8f437ac40f4f42b9"/>
          </a:graphicData>
        </a:graphic>
      </p:graphicFrame>
      <p:sp>
        <p:nvSpPr>
          <p:cNvPr id="3" name="">
            <a:extLst xmlns:a="http://schemas.openxmlformats.org/drawingml/2006/main">
              <a:ext uri="{FF2B5EF4-FFF2-40B4-BE49-F238E27FC236}">
                <a16:creationId xmlns:a16="http://schemas.microsoft.com/office/drawing/2014/main" id="{5D10A3F4-AB54-45B5-9F35-DA81FE74FABD}"/>
              </a:ext>
            </a:extLst>
          </p:cNvPr>
          <p:cNvSpPr>
            <a:spLocks xmlns:a="http://schemas.openxmlformats.org/drawingml/2006/main" noGrp="1"/>
          </p:cNvSpPr>
          <p:nvPr/>
        </p:nvSpPr>
        <p:spPr>
          <a:xfrm xmlns:a="http://schemas.openxmlformats.org/drawingml/2006/main">
            <a:off x="742950" y="5238750"/>
            <a:ext cx="10629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C6328"/>
                </a:solidFill>
                <a:latin typeface="Arial"/>
                <a:ea typeface="Arial"/>
                <a:cs typeface="Arial"/>
              </a:defRPr>
            </a:pPr>
            <a:r>
              <a:rPr sz="1875" b="1">
                <a:solidFill>
                  <a:srgbClr val="BC6328"/>
                </a:solidFill>
                <a:latin typeface="Arial"/>
                <a:ea typeface="Arial"/>
                <a:cs typeface="Arial"/>
              </a:rPr>
              <a:t>V1, V3 and C3 fail the full AC audit only at omitted LV elements.</a:t>
            </a:r>
          </a:p>
        </p:txBody>
      </p:sp>
      <p:sp>
        <p:nvSpPr>
          <p:cNvPr id="4" name="">
            <a:extLst xmlns:a="http://schemas.openxmlformats.org/drawingml/2006/main">
              <a:ext uri="{FF2B5EF4-FFF2-40B4-BE49-F238E27FC236}">
                <a16:creationId xmlns:a16="http://schemas.microsoft.com/office/drawing/2014/main" id="{F08CDD3D-4F18-49EE-8CF5-C7D1A71E8430}"/>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874"/>
                </a:solidFill>
                <a:latin typeface="Arial"/>
                <a:ea typeface="Arial"/>
                <a:cs typeface="Arial"/>
              </a:defRPr>
            </a:pPr>
            <a:r>
              <a:rPr sz="1575" b="0">
                <a:solidFill>
                  <a:srgbClr val="526874"/>
                </a:solidFill>
                <a:latin typeface="Arial"/>
                <a:ea typeface="Arial"/>
                <a:cs typeface="Arial"/>
              </a:rPr>
              <a:t>Linear agentic recommendations only. Each error compares 599 common MV node-phase values.</a:t>
            </a:r>
          </a:p>
        </p:txBody>
      </p:sp>
      <p:sp>
        <p:nvSpPr>
          <p:cNvPr id="5" name="">
            <a:extLst xmlns:a="http://schemas.openxmlformats.org/drawingml/2006/main">
              <a:ext uri="{FF2B5EF4-FFF2-40B4-BE49-F238E27FC236}">
                <a16:creationId xmlns:a16="http://schemas.microsoft.com/office/drawing/2014/main" id="{97BEC41A-43E2-4A3A-88FC-14C3E6A7C48F}"/>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874"/>
                </a:solidFill>
                <a:latin typeface="Arial"/>
                <a:ea typeface="Arial"/>
                <a:cs typeface="Arial"/>
              </a:defRPr>
            </a:pPr>
            <a:r>
              <a:rPr sz="1275" b="0">
                <a:solidFill>
                  <a:srgbClr val="526874"/>
                </a:solidFill>
                <a:latin typeface="Arial"/>
                <a:ea typeface="Arial"/>
                <a:cs typeface="Arial"/>
              </a:rPr>
              <a:t>40</a:t>
            </a:r>
          </a:p>
        </p:txBody>
      </p:sp>
    </p:spTree>
    <p:extLst>
      <p:ext uri="{BB962C8B-B14F-4D97-AF65-F5344CB8AC3E}">
        <p14:creationId xmlns:p14="http://schemas.microsoft.com/office/powerpoint/2010/main" val="1486155629"/>
      </p:ext>
    </p:extLst>
  </p:cSld>
</p:sld>
</file>

<file path=ppt/slides/slide41.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6584139-EBCC-4366-87B5-786CADB06845}"/>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D4B"/>
                </a:solidFill>
                <a:latin typeface="Arial"/>
                <a:ea typeface="Arial"/>
                <a:cs typeface="Arial"/>
              </a:defRPr>
            </a:pPr>
            <a:r>
              <a:rPr sz="3225" b="1">
                <a:solidFill>
                  <a:srgbClr val="183D4B"/>
                </a:solidFill>
                <a:latin typeface="Arial"/>
                <a:ea typeface="Arial"/>
                <a:cs typeface="Arial"/>
              </a:rPr>
              <a:t>Final exercise: review one recorded result</a:t>
            </a:r>
          </a:p>
        </p:txBody>
      </p:sp>
      <p:sp>
        <p:nvSpPr>
          <p:cNvPr id="2" name="">
            <a:extLst xmlns:a="http://schemas.openxmlformats.org/drawingml/2006/main">
              <a:ext uri="{FF2B5EF4-FFF2-40B4-BE49-F238E27FC236}">
                <a16:creationId xmlns:a16="http://schemas.microsoft.com/office/drawing/2014/main" id="{162A300A-46A4-43E9-8321-C6228ED0ED46}"/>
              </a:ext>
            </a:extLst>
          </p:cNvPr>
          <p:cNvSpPr>
            <a:spLocks xmlns:a="http://schemas.openxmlformats.org/drawingml/2006/main" noGrp="1"/>
          </p:cNvSpPr>
          <p:nvPr/>
        </p:nvSpPr>
        <p:spPr>
          <a:xfrm xmlns:a="http://schemas.openxmlformats.org/drawingml/2006/main">
            <a:off x="742950" y="1781175"/>
            <a:ext cx="106299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D4B"/>
                </a:solidFill>
                <a:latin typeface="Arial"/>
                <a:ea typeface="Arial"/>
                <a:cs typeface="Arial"/>
              </a:defRPr>
            </a:pPr>
            <a:r>
              <a:rPr sz="2250" b="0">
                <a:solidFill>
                  <a:srgbClr val="183D4B"/>
                </a:solidFill>
                <a:latin typeface="Arial"/>
                <a:ea typeface="Arial"/>
                <a:cs typeface="Arial"/>
              </a:rPr>
              <a:t>Choose one recorded case and inspect every stage response.</a:t>
            </a:r>
          </a:p>
        </p:txBody>
      </p:sp>
      <p:sp>
        <p:nvSpPr>
          <p:cNvPr id="3" name="">
            <a:extLst xmlns:a="http://schemas.openxmlformats.org/drawingml/2006/main">
              <a:ext uri="{FF2B5EF4-FFF2-40B4-BE49-F238E27FC236}">
                <a16:creationId xmlns:a16="http://schemas.microsoft.com/office/drawing/2014/main" id="{64900853-D750-4BDF-8843-C82211A1AAB8}"/>
              </a:ext>
            </a:extLst>
          </p:cNvPr>
          <p:cNvSpPr>
            <a:spLocks xmlns:a="http://schemas.openxmlformats.org/drawingml/2006/main" noGrp="1"/>
          </p:cNvSpPr>
          <p:nvPr/>
        </p:nvSpPr>
        <p:spPr>
          <a:xfrm xmlns:a="http://schemas.openxmlformats.org/drawingml/2006/main">
            <a:off x="742950" y="2905125"/>
            <a:ext cx="106299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D4B"/>
                </a:solidFill>
                <a:latin typeface="Arial"/>
                <a:ea typeface="Arial"/>
                <a:cs typeface="Arial"/>
              </a:defRPr>
            </a:pPr>
            <a:r>
              <a:rPr sz="2250" b="0">
                <a:solidFill>
                  <a:srgbClr val="183D4B"/>
                </a:solidFill>
                <a:latin typeface="Arial"/>
                <a:ea typeface="Arial"/>
                <a:cs typeface="Arial"/>
              </a:rPr>
              <a:t>Compare the model recommendation with the separate AC audit, then complete the local dashboard readback.</a:t>
            </a:r>
          </a:p>
        </p:txBody>
      </p:sp>
      <p:sp>
        <p:nvSpPr>
          <p:cNvPr id="4" name="">
            <a:extLst xmlns:a="http://schemas.openxmlformats.org/drawingml/2006/main">
              <a:ext uri="{FF2B5EF4-FFF2-40B4-BE49-F238E27FC236}">
                <a16:creationId xmlns:a16="http://schemas.microsoft.com/office/drawing/2014/main" id="{4EADB400-9CF9-468F-8A15-70BF326696A2}"/>
              </a:ext>
            </a:extLst>
          </p:cNvPr>
          <p:cNvSpPr>
            <a:spLocks xmlns:a="http://schemas.openxmlformats.org/drawingml/2006/main" noGrp="1"/>
          </p:cNvSpPr>
          <p:nvPr/>
        </p:nvSpPr>
        <p:spPr>
          <a:xfrm xmlns:a="http://schemas.openxmlformats.org/drawingml/2006/main">
            <a:off x="742950" y="4029075"/>
            <a:ext cx="106299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D4B"/>
                </a:solidFill>
                <a:latin typeface="Arial"/>
                <a:ea typeface="Arial"/>
                <a:cs typeface="Arial"/>
              </a:defRPr>
            </a:pPr>
            <a:r>
              <a:rPr sz="2250" b="0">
                <a:solidFill>
                  <a:srgbClr val="183D4B"/>
                </a:solidFill>
                <a:latin typeface="Arial"/>
                <a:ea typeface="Arial"/>
                <a:cs typeface="Arial"/>
              </a:rPr>
              <a:t>State one measured benefit, its added cost and the remaining limit.</a:t>
            </a:r>
          </a:p>
        </p:txBody>
      </p:sp>
      <p:sp>
        <p:nvSpPr>
          <p:cNvPr id="5" name="">
            <a:extLst xmlns:a="http://schemas.openxmlformats.org/drawingml/2006/main">
              <a:ext uri="{FF2B5EF4-FFF2-40B4-BE49-F238E27FC236}">
                <a16:creationId xmlns:a16="http://schemas.microsoft.com/office/drawing/2014/main" id="{BC9C6C1A-2301-4262-84EA-7E36732506AF}"/>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874"/>
                </a:solidFill>
                <a:latin typeface="Arial"/>
                <a:ea typeface="Arial"/>
                <a:cs typeface="Arial"/>
              </a:defRPr>
            </a:pPr>
            <a:r>
              <a:rPr sz="1575" b="0">
                <a:solidFill>
                  <a:srgbClr val="526874"/>
                </a:solidFill>
                <a:latin typeface="Arial"/>
                <a:ea typeface="Arial"/>
                <a:cs typeface="Arial"/>
              </a:rPr>
              <a:t>Acknowledgment records review of that exact result. It does not operate equipment.</a:t>
            </a:r>
          </a:p>
        </p:txBody>
      </p:sp>
      <p:sp>
        <p:nvSpPr>
          <p:cNvPr id="6" name="">
            <a:extLst xmlns:a="http://schemas.openxmlformats.org/drawingml/2006/main">
              <a:ext uri="{FF2B5EF4-FFF2-40B4-BE49-F238E27FC236}">
                <a16:creationId xmlns:a16="http://schemas.microsoft.com/office/drawing/2014/main" id="{ABE16C05-BFFE-4549-A449-59CB92430BC6}"/>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874"/>
                </a:solidFill>
                <a:latin typeface="Arial"/>
                <a:ea typeface="Arial"/>
                <a:cs typeface="Arial"/>
              </a:defRPr>
            </a:pPr>
            <a:r>
              <a:rPr sz="1275" b="0">
                <a:solidFill>
                  <a:srgbClr val="526874"/>
                </a:solidFill>
                <a:latin typeface="Arial"/>
                <a:ea typeface="Arial"/>
                <a:cs typeface="Arial"/>
              </a:rPr>
              <a:t>41</a:t>
            </a:r>
          </a:p>
        </p:txBody>
      </p:sp>
    </p:spTree>
    <p:extLst>
      <p:ext uri="{BB962C8B-B14F-4D97-AF65-F5344CB8AC3E}">
        <p14:creationId xmlns:p14="http://schemas.microsoft.com/office/powerpoint/2010/main" val="345172754"/>
      </p:ext>
    </p:extLst>
  </p:cSld>
</p:sld>
</file>

<file path=ppt/slides/slide42.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22ADF8E-86C2-4BC4-89FE-5E819210B316}"/>
              </a:ext>
            </a:extLst>
          </p:cNvPr>
          <p:cNvSpPr>
            <a:spLocks xmlns:a="http://schemas.openxmlformats.org/drawingml/2006/main" noGrp="1"/>
          </p:cNvSpPr>
          <p:nvPr/>
        </p:nvSpPr>
        <p:spPr>
          <a:xfrm xmlns:a="http://schemas.openxmlformats.org/drawingml/2006/main">
            <a:off x="628650" y="400050"/>
            <a:ext cx="10953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D4B"/>
                </a:solidFill>
                <a:latin typeface="Arial"/>
                <a:ea typeface="Arial"/>
                <a:cs typeface="Arial"/>
              </a:defRPr>
            </a:pPr>
            <a:r>
              <a:rPr sz="3225" b="1">
                <a:solidFill>
                  <a:srgbClr val="183D4B"/>
                </a:solidFill>
                <a:latin typeface="Arial"/>
                <a:ea typeface="Arial"/>
                <a:cs typeface="Arial"/>
              </a:rPr>
              <a:t>Scientific reading and next experiments</a:t>
            </a:r>
          </a:p>
        </p:txBody>
      </p:sp>
      <p:sp>
        <p:nvSpPr>
          <p:cNvPr id="2" name="">
            <a:extLst xmlns:a="http://schemas.openxmlformats.org/drawingml/2006/main">
              <a:ext uri="{FF2B5EF4-FFF2-40B4-BE49-F238E27FC236}">
                <a16:creationId xmlns:a16="http://schemas.microsoft.com/office/drawing/2014/main" id="{C85C791D-DB65-41DE-A633-461C374EF860}"/>
              </a:ext>
            </a:extLst>
          </p:cNvPr>
          <p:cNvSpPr>
            <a:spLocks xmlns:a="http://schemas.openxmlformats.org/drawingml/2006/main" noGrp="1"/>
          </p:cNvSpPr>
          <p:nvPr/>
        </p:nvSpPr>
        <p:spPr>
          <a:xfrm xmlns:a="http://schemas.openxmlformats.org/drawingml/2006/main">
            <a:off x="742950" y="1628775"/>
            <a:ext cx="10629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D4B"/>
                </a:solidFill>
                <a:latin typeface="Arial"/>
                <a:ea typeface="Arial"/>
                <a:cs typeface="Arial"/>
              </a:defRPr>
            </a:pPr>
            <a:r>
              <a:rPr sz="1875" b="0">
                <a:solidFill>
                  <a:srgbClr val="183D4B"/>
                </a:solidFill>
                <a:latin typeface="Arial"/>
                <a:ea typeface="Arial"/>
                <a:cs typeface="Arial"/>
              </a:rPr>
              <a:t>Gan &amp; Low (2014)  Multiphase radial-network approximation</a:t>
            </a:r>
          </a:p>
        </p:txBody>
      </p:sp>
      <p:sp>
        <p:nvSpPr>
          <p:cNvPr id="3" name="">
            <a:extLst xmlns:a="http://schemas.openxmlformats.org/drawingml/2006/main">
              <a:ext uri="{FF2B5EF4-FFF2-40B4-BE49-F238E27FC236}">
                <a16:creationId xmlns:a16="http://schemas.microsoft.com/office/drawing/2014/main" id="{3B8B14D6-31F2-4A60-875C-44D7002C7217}"/>
              </a:ext>
            </a:extLst>
          </p:cNvPr>
          <p:cNvSpPr>
            <a:spLocks xmlns:a="http://schemas.openxmlformats.org/drawingml/2006/main" noGrp="1"/>
          </p:cNvSpPr>
          <p:nvPr/>
        </p:nvSpPr>
        <p:spPr>
          <a:xfrm xmlns:a="http://schemas.openxmlformats.org/drawingml/2006/main">
            <a:off x="742950" y="2209800"/>
            <a:ext cx="10629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D4B"/>
                </a:solidFill>
                <a:latin typeface="Arial"/>
                <a:ea typeface="Arial"/>
                <a:cs typeface="Arial"/>
              </a:defRPr>
            </a:pPr>
            <a:r>
              <a:rPr sz="1875" b="0">
                <a:solidFill>
                  <a:srgbClr val="183D4B"/>
                </a:solidFill>
                <a:latin typeface="Arial"/>
                <a:ea typeface="Arial"/>
                <a:cs typeface="Arial"/>
              </a:rPr>
              <a:t>Schick et al. (2023)  Toolformer, specialist API use</a:t>
            </a:r>
          </a:p>
        </p:txBody>
      </p:sp>
      <p:sp>
        <p:nvSpPr>
          <p:cNvPr id="4" name="">
            <a:extLst xmlns:a="http://schemas.openxmlformats.org/drawingml/2006/main">
              <a:ext uri="{FF2B5EF4-FFF2-40B4-BE49-F238E27FC236}">
                <a16:creationId xmlns:a16="http://schemas.microsoft.com/office/drawing/2014/main" id="{03A39390-8A47-4EE3-A57D-5CA4DD70CD2F}"/>
              </a:ext>
            </a:extLst>
          </p:cNvPr>
          <p:cNvSpPr>
            <a:spLocks xmlns:a="http://schemas.openxmlformats.org/drawingml/2006/main" noGrp="1"/>
          </p:cNvSpPr>
          <p:nvPr/>
        </p:nvSpPr>
        <p:spPr>
          <a:xfrm xmlns:a="http://schemas.openxmlformats.org/drawingml/2006/main">
            <a:off x="742950" y="2790825"/>
            <a:ext cx="10629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D4B"/>
                </a:solidFill>
                <a:latin typeface="Arial"/>
                <a:ea typeface="Arial"/>
                <a:cs typeface="Arial"/>
              </a:defRPr>
            </a:pPr>
            <a:r>
              <a:rPr sz="1875" b="0">
                <a:solidFill>
                  <a:srgbClr val="183D4B"/>
                </a:solidFill>
                <a:latin typeface="Arial"/>
                <a:ea typeface="Arial"/>
                <a:cs typeface="Arial"/>
              </a:rPr>
              <a:t>Yao et al. (2023)  ReAct, reasoning with tool observations</a:t>
            </a:r>
          </a:p>
        </p:txBody>
      </p:sp>
      <p:sp>
        <p:nvSpPr>
          <p:cNvPr id="5" name="">
            <a:extLst xmlns:a="http://schemas.openxmlformats.org/drawingml/2006/main">
              <a:ext uri="{FF2B5EF4-FFF2-40B4-BE49-F238E27FC236}">
                <a16:creationId xmlns:a16="http://schemas.microsoft.com/office/drawing/2014/main" id="{139348C7-B4A9-42F9-B6C5-8E228E0C21D6}"/>
              </a:ext>
            </a:extLst>
          </p:cNvPr>
          <p:cNvSpPr>
            <a:spLocks xmlns:a="http://schemas.openxmlformats.org/drawingml/2006/main" noGrp="1"/>
          </p:cNvSpPr>
          <p:nvPr/>
        </p:nvSpPr>
        <p:spPr>
          <a:xfrm xmlns:a="http://schemas.openxmlformats.org/drawingml/2006/main">
            <a:off x="742950" y="3371850"/>
            <a:ext cx="10629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D4B"/>
                </a:solidFill>
                <a:latin typeface="Arial"/>
                <a:ea typeface="Arial"/>
                <a:cs typeface="Arial"/>
              </a:defRPr>
            </a:pPr>
            <a:r>
              <a:rPr sz="1875" b="0">
                <a:solidFill>
                  <a:srgbClr val="183D4B"/>
                </a:solidFill>
                <a:latin typeface="Arial"/>
                <a:ea typeface="Arial"/>
                <a:cs typeface="Arial"/>
              </a:rPr>
              <a:t>Patil et al. (2025)  BFCL, function and argument evaluation</a:t>
            </a:r>
          </a:p>
        </p:txBody>
      </p:sp>
      <p:sp>
        <p:nvSpPr>
          <p:cNvPr id="6" name="">
            <a:extLst xmlns:a="http://schemas.openxmlformats.org/drawingml/2006/main">
              <a:ext uri="{FF2B5EF4-FFF2-40B4-BE49-F238E27FC236}">
                <a16:creationId xmlns:a16="http://schemas.microsoft.com/office/drawing/2014/main" id="{F918F5E9-2CA3-413B-AAA7-9C96B2E213CD}"/>
              </a:ext>
            </a:extLst>
          </p:cNvPr>
          <p:cNvSpPr>
            <a:spLocks xmlns:a="http://schemas.openxmlformats.org/drawingml/2006/main" noGrp="1"/>
          </p:cNvSpPr>
          <p:nvPr/>
        </p:nvSpPr>
        <p:spPr>
          <a:xfrm xmlns:a="http://schemas.openxmlformats.org/drawingml/2006/main">
            <a:off x="742950" y="3952875"/>
            <a:ext cx="10629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D4B"/>
                </a:solidFill>
                <a:latin typeface="Arial"/>
                <a:ea typeface="Arial"/>
                <a:cs typeface="Arial"/>
              </a:defRPr>
            </a:pPr>
            <a:r>
              <a:rPr sz="1875" b="0">
                <a:solidFill>
                  <a:srgbClr val="183D4B"/>
                </a:solidFill>
                <a:latin typeface="Arial"/>
                <a:ea typeface="Arial"/>
                <a:cs typeface="Arial"/>
              </a:rPr>
              <a:t>Rawlings, Mayne &amp; Diehl (2022)  Model Predictive Control</a:t>
            </a:r>
          </a:p>
        </p:txBody>
      </p:sp>
      <p:sp>
        <p:nvSpPr>
          <p:cNvPr id="7" name="">
            <a:extLst xmlns:a="http://schemas.openxmlformats.org/drawingml/2006/main">
              <a:ext uri="{FF2B5EF4-FFF2-40B4-BE49-F238E27FC236}">
                <a16:creationId xmlns:a16="http://schemas.microsoft.com/office/drawing/2014/main" id="{6AD51603-878F-45F1-B101-A7462F31A3C0}"/>
              </a:ext>
            </a:extLst>
          </p:cNvPr>
          <p:cNvSpPr>
            <a:spLocks xmlns:a="http://schemas.openxmlformats.org/drawingml/2006/main" noGrp="1"/>
          </p:cNvSpPr>
          <p:nvPr/>
        </p:nvSpPr>
        <p:spPr>
          <a:xfrm xmlns:a="http://schemas.openxmlformats.org/drawingml/2006/main">
            <a:off x="742950" y="4533900"/>
            <a:ext cx="10629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D4B"/>
                </a:solidFill>
                <a:latin typeface="Arial"/>
                <a:ea typeface="Arial"/>
                <a:cs typeface="Arial"/>
              </a:defRPr>
            </a:pPr>
            <a:r>
              <a:rPr sz="1875" b="0">
                <a:solidFill>
                  <a:srgbClr val="183D4B"/>
                </a:solidFill>
                <a:latin typeface="Arial"/>
                <a:ea typeface="Arial"/>
                <a:cs typeface="Arial"/>
              </a:rPr>
              <a:t>Mnih et al. (2015)  Deep Q-learning, Nature</a:t>
            </a:r>
          </a:p>
        </p:txBody>
      </p:sp>
      <p:sp>
        <p:nvSpPr>
          <p:cNvPr id="8" name="">
            <a:extLst xmlns:a="http://schemas.openxmlformats.org/drawingml/2006/main">
              <a:ext uri="{FF2B5EF4-FFF2-40B4-BE49-F238E27FC236}">
                <a16:creationId xmlns:a16="http://schemas.microsoft.com/office/drawing/2014/main" id="{707C42B4-A2EC-4187-8B27-9BD5B501CAFA}"/>
              </a:ext>
            </a:extLst>
          </p:cNvPr>
          <p:cNvSpPr>
            <a:spLocks xmlns:a="http://schemas.openxmlformats.org/drawingml/2006/main" noGrp="1"/>
          </p:cNvSpPr>
          <p:nvPr/>
        </p:nvSpPr>
        <p:spPr>
          <a:xfrm xmlns:a="http://schemas.openxmlformats.org/drawingml/2006/main">
            <a:off x="742950" y="5114925"/>
            <a:ext cx="10629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D4B"/>
                </a:solidFill>
                <a:latin typeface="Arial"/>
                <a:ea typeface="Arial"/>
                <a:cs typeface="Arial"/>
              </a:defRPr>
            </a:pPr>
            <a:r>
              <a:rPr sz="1875" b="0">
                <a:solidFill>
                  <a:srgbClr val="183D4B"/>
                </a:solidFill>
                <a:latin typeface="Arial"/>
                <a:ea typeface="Arial"/>
                <a:cs typeface="Arial"/>
              </a:rPr>
              <a:t>NIST (2025)  Adversarial machine-learning taxonomy</a:t>
            </a:r>
          </a:p>
        </p:txBody>
      </p:sp>
      <p:sp>
        <p:nvSpPr>
          <p:cNvPr id="9" name="">
            <a:extLst xmlns:a="http://schemas.openxmlformats.org/drawingml/2006/main">
              <a:ext uri="{FF2B5EF4-FFF2-40B4-BE49-F238E27FC236}">
                <a16:creationId xmlns:a16="http://schemas.microsoft.com/office/drawing/2014/main" id="{DE0158C2-FF5A-43A7-96B5-F3F2F7287179}"/>
              </a:ext>
            </a:extLst>
          </p:cNvPr>
          <p:cNvSpPr>
            <a:spLocks xmlns:a="http://schemas.openxmlformats.org/drawingml/2006/main" noGrp="1"/>
          </p:cNvSpPr>
          <p:nvPr/>
        </p:nvSpPr>
        <p:spPr>
          <a:xfrm xmlns:a="http://schemas.openxmlformats.org/drawingml/2006/main">
            <a:off x="704850" y="5886450"/>
            <a:ext cx="1062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874"/>
                </a:solidFill>
                <a:latin typeface="Arial"/>
                <a:ea typeface="Arial"/>
                <a:cs typeface="Arial"/>
              </a:defRPr>
            </a:pPr>
            <a:r>
              <a:rPr sz="1575" b="0">
                <a:solidFill>
                  <a:srgbClr val="526874"/>
                </a:solidFill>
                <a:latin typeface="Arial"/>
                <a:ea typeface="Arial"/>
                <a:cs typeface="Arial"/>
              </a:rPr>
              <a:t>Full references, model assumptions and exercise guidance appear in the instructor guide.</a:t>
            </a:r>
          </a:p>
        </p:txBody>
      </p:sp>
      <p:sp>
        <p:nvSpPr>
          <p:cNvPr id="10" name="">
            <a:extLst xmlns:a="http://schemas.openxmlformats.org/drawingml/2006/main">
              <a:ext uri="{FF2B5EF4-FFF2-40B4-BE49-F238E27FC236}">
                <a16:creationId xmlns:a16="http://schemas.microsoft.com/office/drawing/2014/main" id="{AC57C780-CBF3-4EAB-8187-E93AA97AFB17}"/>
              </a:ext>
            </a:extLst>
          </p:cNvPr>
          <p:cNvSpPr>
            <a:spLocks xmlns:a="http://schemas.openxmlformats.org/drawingml/2006/main" noGrp="1"/>
          </p:cNvSpPr>
          <p:nvPr/>
        </p:nvSpPr>
        <p:spPr>
          <a:xfrm xmlns:a="http://schemas.openxmlformats.org/drawingml/2006/main">
            <a:off x="11087100" y="648652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874"/>
                </a:solidFill>
                <a:latin typeface="Arial"/>
                <a:ea typeface="Arial"/>
                <a:cs typeface="Arial"/>
              </a:defRPr>
            </a:pPr>
            <a:r>
              <a:rPr sz="1275" b="0">
                <a:solidFill>
                  <a:srgbClr val="526874"/>
                </a:solidFill>
                <a:latin typeface="Arial"/>
                <a:ea typeface="Arial"/>
                <a:cs typeface="Arial"/>
              </a:rPr>
              <a:t>42</a:t>
            </a:r>
          </a:p>
        </p:txBody>
      </p:sp>
    </p:spTree>
    <p:extLst>
      <p:ext uri="{BB962C8B-B14F-4D97-AF65-F5344CB8AC3E}">
        <p14:creationId xmlns:p14="http://schemas.microsoft.com/office/powerpoint/2010/main" val="16224423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2026-09-20T21:40:03.6540000Z</dcterms:created>
  <dcterms:modified xsi:type="dcterms:W3CDTF">2026-09-20T21:40:03.6540000Z</dcterms:modified>
</coreProperties>
</file>