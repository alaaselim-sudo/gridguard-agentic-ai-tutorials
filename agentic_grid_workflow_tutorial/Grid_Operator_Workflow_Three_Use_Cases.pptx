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3.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charts/chart4.xml" ContentType="application/vnd.openxmlformats-officedocument.drawingml.chart+xml"/>
  <Override PartName="/ppt/notesSlides/notesSlide31.xml" ContentType="application/vnd.openxmlformats-officedocument.presentationml.notesSlide+xml"/>
  <Override PartName="/ppt/slides/slide32.xml" ContentType="application/vnd.openxmlformats-officedocument.presentationml.slide+xml"/>
  <Override PartName="/ppt/slides/charts/chart5.xml" ContentType="application/vnd.openxmlformats-officedocument.drawingml.chart+xml"/>
  <Override PartName="/ppt/notesSlides/notesSlide32.xml" ContentType="application/vnd.openxmlformats-officedocument.presentationml.notesSlide+xml"/>
  <Override PartName="/ppt/slides/slide33.xml" ContentType="application/vnd.openxmlformats-officedocument.presentationml.slide+xml"/>
  <Override PartName="/ppt/slides/charts/chart6.xml" ContentType="application/vnd.openxmlformats-officedocument.drawingml.chart+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slides/charts/chart7.xml" ContentType="application/vnd.openxmlformats-officedocument.drawingml.chart+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slides/charts/chart8.xml" ContentType="application/vnd.openxmlformats-officedocument.drawingml.chart+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c4eed7ccef24723" /><Relationship Type="http://schemas.openxmlformats.org/officeDocument/2006/relationships/extended-properties" Target="/docProps/app.xml" Id="Rf504f6ca454542dd" /><Relationship Type="http://schemas.openxmlformats.org/officeDocument/2006/relationships/officeDocument" Target="/ppt/presentation.xml" Id="R8b347fa6c3ef419a" /></Relationships>
</file>

<file path=ppt/presentation.xml><?xml version="1.0" encoding="utf-8"?>
<p:presentation xmlns:p="http://schemas.openxmlformats.org/presentationml/2006/main">
  <p:sldMasterIdLst>
    <p:sldMasterId xmlns:r="http://schemas.openxmlformats.org/officeDocument/2006/relationships" id="2147483648" r:id="R5074fdeea0044286"/>
  </p:sldMasterIdLst>
  <p:notesMasterIdLst>
    <p:notesMasterId xmlns:r="http://schemas.openxmlformats.org/officeDocument/2006/relationships" r:id="R69e44876fed649f0"/>
  </p:notesMasterIdLst>
  <p:sldIdLst>
    <p:sldId xmlns:r="http://schemas.openxmlformats.org/officeDocument/2006/relationships" id="256" r:id="R8f1aa6d148814ecf"/>
    <p:sldId xmlns:r="http://schemas.openxmlformats.org/officeDocument/2006/relationships" id="257" r:id="Rf6b56d2839d34a1d"/>
    <p:sldId xmlns:r="http://schemas.openxmlformats.org/officeDocument/2006/relationships" id="258" r:id="Rb97a0acf81894b51"/>
    <p:sldId xmlns:r="http://schemas.openxmlformats.org/officeDocument/2006/relationships" id="259" r:id="R7ea4db2dd5374105"/>
    <p:sldId xmlns:r="http://schemas.openxmlformats.org/officeDocument/2006/relationships" id="260" r:id="Rd6771f6b5ab14ce6"/>
    <p:sldId xmlns:r="http://schemas.openxmlformats.org/officeDocument/2006/relationships" id="261" r:id="Rd044a4afd6f640e6"/>
    <p:sldId xmlns:r="http://schemas.openxmlformats.org/officeDocument/2006/relationships" id="262" r:id="R4cb69049e3a44632"/>
    <p:sldId xmlns:r="http://schemas.openxmlformats.org/officeDocument/2006/relationships" id="263" r:id="R6f6ac925db334214"/>
    <p:sldId xmlns:r="http://schemas.openxmlformats.org/officeDocument/2006/relationships" id="264" r:id="R7f509481aa434bcf"/>
    <p:sldId xmlns:r="http://schemas.openxmlformats.org/officeDocument/2006/relationships" id="265" r:id="Rab8a214f5f34472a"/>
    <p:sldId xmlns:r="http://schemas.openxmlformats.org/officeDocument/2006/relationships" id="266" r:id="Ra7bcef812c7a4360"/>
    <p:sldId xmlns:r="http://schemas.openxmlformats.org/officeDocument/2006/relationships" id="267" r:id="Rc8314f8c252e4240"/>
    <p:sldId xmlns:r="http://schemas.openxmlformats.org/officeDocument/2006/relationships" id="268" r:id="Rc50b0f622f184fa7"/>
    <p:sldId xmlns:r="http://schemas.openxmlformats.org/officeDocument/2006/relationships" id="269" r:id="R25a991067fc640f1"/>
    <p:sldId xmlns:r="http://schemas.openxmlformats.org/officeDocument/2006/relationships" id="270" r:id="R08bf58a6567441fd"/>
    <p:sldId xmlns:r="http://schemas.openxmlformats.org/officeDocument/2006/relationships" id="271" r:id="R7be268a623294693"/>
    <p:sldId xmlns:r="http://schemas.openxmlformats.org/officeDocument/2006/relationships" id="272" r:id="R6d290d2cf9f34232"/>
    <p:sldId xmlns:r="http://schemas.openxmlformats.org/officeDocument/2006/relationships" id="273" r:id="R59b067343cca4c38"/>
    <p:sldId xmlns:r="http://schemas.openxmlformats.org/officeDocument/2006/relationships" id="274" r:id="R6357c0acf09044d6"/>
    <p:sldId xmlns:r="http://schemas.openxmlformats.org/officeDocument/2006/relationships" id="275" r:id="Rd8bb805c1af1471c"/>
    <p:sldId xmlns:r="http://schemas.openxmlformats.org/officeDocument/2006/relationships" id="276" r:id="R1c6259f54718438b"/>
    <p:sldId xmlns:r="http://schemas.openxmlformats.org/officeDocument/2006/relationships" id="277" r:id="R1938efd3d47846e8"/>
    <p:sldId xmlns:r="http://schemas.openxmlformats.org/officeDocument/2006/relationships" id="278" r:id="R07bd38197d054046"/>
    <p:sldId xmlns:r="http://schemas.openxmlformats.org/officeDocument/2006/relationships" id="279" r:id="R0f8b494e05ac4361"/>
    <p:sldId xmlns:r="http://schemas.openxmlformats.org/officeDocument/2006/relationships" id="280" r:id="R361c5ebebdac4d6c"/>
    <p:sldId xmlns:r="http://schemas.openxmlformats.org/officeDocument/2006/relationships" id="281" r:id="R5911b22326254df3"/>
    <p:sldId xmlns:r="http://schemas.openxmlformats.org/officeDocument/2006/relationships" id="282" r:id="Rd1f51259b78d493c"/>
    <p:sldId xmlns:r="http://schemas.openxmlformats.org/officeDocument/2006/relationships" id="283" r:id="R891000d4ba5c4b99"/>
    <p:sldId xmlns:r="http://schemas.openxmlformats.org/officeDocument/2006/relationships" id="284" r:id="Rfa87090d111f422d"/>
    <p:sldId xmlns:r="http://schemas.openxmlformats.org/officeDocument/2006/relationships" id="285" r:id="R94d4d34309304f02"/>
    <p:sldId xmlns:r="http://schemas.openxmlformats.org/officeDocument/2006/relationships" id="286" r:id="R5785860c4a3b471c"/>
    <p:sldId xmlns:r="http://schemas.openxmlformats.org/officeDocument/2006/relationships" id="287" r:id="Rc6b633414e6645de"/>
    <p:sldId xmlns:r="http://schemas.openxmlformats.org/officeDocument/2006/relationships" id="288" r:id="Rafeebfc4205f4d81"/>
    <p:sldId xmlns:r="http://schemas.openxmlformats.org/officeDocument/2006/relationships" id="289" r:id="R0a2e26a0751b4de4"/>
    <p:sldId xmlns:r="http://schemas.openxmlformats.org/officeDocument/2006/relationships" id="290" r:id="R1bbd3216cdbd490e"/>
    <p:sldId xmlns:r="http://schemas.openxmlformats.org/officeDocument/2006/relationships" id="291" r:id="R7e6af00a9b8440a4"/>
    <p:sldId xmlns:r="http://schemas.openxmlformats.org/officeDocument/2006/relationships" id="292" r:id="Re5e1c5fa89084d47"/>
    <p:sldId xmlns:r="http://schemas.openxmlformats.org/officeDocument/2006/relationships" id="293" r:id="R9f2e85cefd0748df"/>
    <p:sldId xmlns:r="http://schemas.openxmlformats.org/officeDocument/2006/relationships" id="294" r:id="Re78f2cd8fe9d4fdc"/>
    <p:sldId xmlns:r="http://schemas.openxmlformats.org/officeDocument/2006/relationships" id="295" r:id="R2a1be3d743db4ea4"/>
    <p:sldId xmlns:r="http://schemas.openxmlformats.org/officeDocument/2006/relationships" id="296" r:id="Rdd95358df5604229"/>
    <p:sldId xmlns:r="http://schemas.openxmlformats.org/officeDocument/2006/relationships" id="297" r:id="Rc933face8b1d43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5cbf6b8ecd490f" /><Relationship Type="http://schemas.openxmlformats.org/officeDocument/2006/relationships/slideMaster" Target="/ppt/slideMasters/slideMaster1.xml" Id="R5074fdeea0044286" /><Relationship Type="http://schemas.openxmlformats.org/officeDocument/2006/relationships/notesMaster" Target="/ppt/notesMasters/notesMaster1.xml" Id="R69e44876fed649f0" /><Relationship Type="http://schemas.openxmlformats.org/officeDocument/2006/relationships/presProps" Target="/ppt/presProps.xml" Id="R6891df73b39e4bc4" /><Relationship Type="http://schemas.openxmlformats.org/officeDocument/2006/relationships/tableStyles" Target="/ppt/tableStyles.xml" Id="R9598522dcb5848c3" /><Relationship Type="http://schemas.openxmlformats.org/officeDocument/2006/relationships/slide" Target="/ppt/slides/slide1.xml" Id="R8f1aa6d148814ecf" /><Relationship Type="http://schemas.openxmlformats.org/officeDocument/2006/relationships/slide" Target="/ppt/slides/slide2.xml" Id="Rf6b56d2839d34a1d" /><Relationship Type="http://schemas.openxmlformats.org/officeDocument/2006/relationships/slide" Target="/ppt/slides/slide3.xml" Id="Rb97a0acf81894b51" /><Relationship Type="http://schemas.openxmlformats.org/officeDocument/2006/relationships/slide" Target="/ppt/slides/slide4.xml" Id="R7ea4db2dd5374105" /><Relationship Type="http://schemas.openxmlformats.org/officeDocument/2006/relationships/slide" Target="/ppt/slides/slide5.xml" Id="Rd6771f6b5ab14ce6" /><Relationship Type="http://schemas.openxmlformats.org/officeDocument/2006/relationships/slide" Target="/ppt/slides/slide6.xml" Id="Rd044a4afd6f640e6" /><Relationship Type="http://schemas.openxmlformats.org/officeDocument/2006/relationships/slide" Target="/ppt/slides/slide7.xml" Id="R4cb69049e3a44632" /><Relationship Type="http://schemas.openxmlformats.org/officeDocument/2006/relationships/slide" Target="/ppt/slides/slide8.xml" Id="R6f6ac925db334214" /><Relationship Type="http://schemas.openxmlformats.org/officeDocument/2006/relationships/slide" Target="/ppt/slides/slide9.xml" Id="R7f509481aa434bcf" /><Relationship Type="http://schemas.openxmlformats.org/officeDocument/2006/relationships/slide" Target="/ppt/slides/slide10.xml" Id="Rab8a214f5f34472a" /><Relationship Type="http://schemas.openxmlformats.org/officeDocument/2006/relationships/slide" Target="/ppt/slides/slide11.xml" Id="Ra7bcef812c7a4360" /><Relationship Type="http://schemas.openxmlformats.org/officeDocument/2006/relationships/slide" Target="/ppt/slides/slide12.xml" Id="Rc8314f8c252e4240" /><Relationship Type="http://schemas.openxmlformats.org/officeDocument/2006/relationships/slide" Target="/ppt/slides/slide13.xml" Id="Rc50b0f622f184fa7" /><Relationship Type="http://schemas.openxmlformats.org/officeDocument/2006/relationships/slide" Target="/ppt/slides/slide14.xml" Id="R25a991067fc640f1" /><Relationship Type="http://schemas.openxmlformats.org/officeDocument/2006/relationships/slide" Target="/ppt/slides/slide15.xml" Id="R08bf58a6567441fd" /><Relationship Type="http://schemas.openxmlformats.org/officeDocument/2006/relationships/slide" Target="/ppt/slides/slide16.xml" Id="R7be268a623294693" /><Relationship Type="http://schemas.openxmlformats.org/officeDocument/2006/relationships/slide" Target="/ppt/slides/slide17.xml" Id="R6d290d2cf9f34232" /><Relationship Type="http://schemas.openxmlformats.org/officeDocument/2006/relationships/slide" Target="/ppt/slides/slide18.xml" Id="R59b067343cca4c38" /><Relationship Type="http://schemas.openxmlformats.org/officeDocument/2006/relationships/slide" Target="/ppt/slides/slide19.xml" Id="R6357c0acf09044d6" /><Relationship Type="http://schemas.openxmlformats.org/officeDocument/2006/relationships/slide" Target="/ppt/slides/slide20.xml" Id="Rd8bb805c1af1471c" /><Relationship Type="http://schemas.openxmlformats.org/officeDocument/2006/relationships/slide" Target="/ppt/slides/slide21.xml" Id="R1c6259f54718438b" /><Relationship Type="http://schemas.openxmlformats.org/officeDocument/2006/relationships/slide" Target="/ppt/slides/slide22.xml" Id="R1938efd3d47846e8" /><Relationship Type="http://schemas.openxmlformats.org/officeDocument/2006/relationships/slide" Target="/ppt/slides/slide23.xml" Id="R07bd38197d054046" /><Relationship Type="http://schemas.openxmlformats.org/officeDocument/2006/relationships/slide" Target="/ppt/slides/slide24.xml" Id="R0f8b494e05ac4361" /><Relationship Type="http://schemas.openxmlformats.org/officeDocument/2006/relationships/slide" Target="/ppt/slides/slide25.xml" Id="R361c5ebebdac4d6c" /><Relationship Type="http://schemas.openxmlformats.org/officeDocument/2006/relationships/slide" Target="/ppt/slides/slide26.xml" Id="R5911b22326254df3" /><Relationship Type="http://schemas.openxmlformats.org/officeDocument/2006/relationships/slide" Target="/ppt/slides/slide27.xml" Id="Rd1f51259b78d493c" /><Relationship Type="http://schemas.openxmlformats.org/officeDocument/2006/relationships/slide" Target="/ppt/slides/slide28.xml" Id="R891000d4ba5c4b99" /><Relationship Type="http://schemas.openxmlformats.org/officeDocument/2006/relationships/slide" Target="/ppt/slides/slide29.xml" Id="Rfa87090d111f422d" /><Relationship Type="http://schemas.openxmlformats.org/officeDocument/2006/relationships/slide" Target="/ppt/slides/slide30.xml" Id="R94d4d34309304f02" /><Relationship Type="http://schemas.openxmlformats.org/officeDocument/2006/relationships/slide" Target="/ppt/slides/slide31.xml" Id="R5785860c4a3b471c" /><Relationship Type="http://schemas.openxmlformats.org/officeDocument/2006/relationships/slide" Target="/ppt/slides/slide32.xml" Id="Rc6b633414e6645de" /><Relationship Type="http://schemas.openxmlformats.org/officeDocument/2006/relationships/slide" Target="/ppt/slides/slide33.xml" Id="Rafeebfc4205f4d81" /><Relationship Type="http://schemas.openxmlformats.org/officeDocument/2006/relationships/slide" Target="/ppt/slides/slide34.xml" Id="R0a2e26a0751b4de4" /><Relationship Type="http://schemas.openxmlformats.org/officeDocument/2006/relationships/slide" Target="/ppt/slides/slide35.xml" Id="R1bbd3216cdbd490e" /><Relationship Type="http://schemas.openxmlformats.org/officeDocument/2006/relationships/slide" Target="/ppt/slides/slide36.xml" Id="R7e6af00a9b8440a4" /><Relationship Type="http://schemas.openxmlformats.org/officeDocument/2006/relationships/slide" Target="/ppt/slides/slide37.xml" Id="Re5e1c5fa89084d47" /><Relationship Type="http://schemas.openxmlformats.org/officeDocument/2006/relationships/slide" Target="/ppt/slides/slide38.xml" Id="R9f2e85cefd0748df" /><Relationship Type="http://schemas.openxmlformats.org/officeDocument/2006/relationships/slide" Target="/ppt/slides/slide39.xml" Id="Re78f2cd8fe9d4fdc" /><Relationship Type="http://schemas.openxmlformats.org/officeDocument/2006/relationships/slide" Target="/ppt/slides/slide40.xml" Id="R2a1be3d743db4ea4" /><Relationship Type="http://schemas.openxmlformats.org/officeDocument/2006/relationships/slide" Target="/ppt/slides/slide41.xml" Id="Rdd95358df5604229" /><Relationship Type="http://schemas.openxmlformats.org/officeDocument/2006/relationships/slide" Target="/ppt/slides/slide42.xml" Id="Rc933face8b1d43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87b8e1b27448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38963ba4ab4256" /><Relationship Type="http://schemas.openxmlformats.org/officeDocument/2006/relationships/notesMaster" Target="/ppt/notesMasters/notesMaster1.xml" Id="R8ec8a9ce15694f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f617f4261b44c0" /><Relationship Type="http://schemas.openxmlformats.org/officeDocument/2006/relationships/notesMaster" Target="/ppt/notesMasters/notesMaster1.xml" Id="R10692f93f06d4d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0b9a6478434c6c" /><Relationship Type="http://schemas.openxmlformats.org/officeDocument/2006/relationships/notesMaster" Target="/ppt/notesMasters/notesMaster1.xml" Id="R773c1fcb8f044f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038797049e4e84" /><Relationship Type="http://schemas.openxmlformats.org/officeDocument/2006/relationships/notesMaster" Target="/ppt/notesMasters/notesMaster1.xml" Id="Rc8f0d9ec49484f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743b72bc6d41d5" /><Relationship Type="http://schemas.openxmlformats.org/officeDocument/2006/relationships/notesMaster" Target="/ppt/notesMasters/notesMaster1.xml" Id="Re60c40670e404d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eaca1fd12046bb" /><Relationship Type="http://schemas.openxmlformats.org/officeDocument/2006/relationships/notesMaster" Target="/ppt/notesMasters/notesMaster1.xml" Id="Raa37847e33fd4b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b8d890a43e40e2" /><Relationship Type="http://schemas.openxmlformats.org/officeDocument/2006/relationships/notesMaster" Target="/ppt/notesMasters/notesMaster1.xml" Id="Re4d97b9fad0e45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f812a460ed463d" /><Relationship Type="http://schemas.openxmlformats.org/officeDocument/2006/relationships/notesMaster" Target="/ppt/notesMasters/notesMaster1.xml" Id="R2cd821b8a5da4a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2332e933ae4eef" /><Relationship Type="http://schemas.openxmlformats.org/officeDocument/2006/relationships/notesMaster" Target="/ppt/notesMasters/notesMaster1.xml" Id="R9a3c509b2fbe407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92f71aedf744927" /><Relationship Type="http://schemas.openxmlformats.org/officeDocument/2006/relationships/notesMaster" Target="/ppt/notesMasters/notesMaster1.xml" Id="Rca20675e8fc548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f63e3c21d274295" /><Relationship Type="http://schemas.openxmlformats.org/officeDocument/2006/relationships/notesMaster" Target="/ppt/notesMasters/notesMaster1.xml" Id="R112fba094f0b40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958f300cc64790" /><Relationship Type="http://schemas.openxmlformats.org/officeDocument/2006/relationships/notesMaster" Target="/ppt/notesMasters/notesMaster1.xml" Id="R2a97fcf4121e4e1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cb3b0e249f44997" /><Relationship Type="http://schemas.openxmlformats.org/officeDocument/2006/relationships/notesMaster" Target="/ppt/notesMasters/notesMaster1.xml" Id="Re0c733e3898244b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29988afd033467c" /><Relationship Type="http://schemas.openxmlformats.org/officeDocument/2006/relationships/notesMaster" Target="/ppt/notesMasters/notesMaster1.xml" Id="Rdd2e12caad1449a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8c2b75341a94c98" /><Relationship Type="http://schemas.openxmlformats.org/officeDocument/2006/relationships/notesMaster" Target="/ppt/notesMasters/notesMaster1.xml" Id="R53f8191283df4a6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8b06fc5216c4d6b" /><Relationship Type="http://schemas.openxmlformats.org/officeDocument/2006/relationships/notesMaster" Target="/ppt/notesMasters/notesMaster1.xml" Id="R58a375326507465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a5b5ee4556f4963" /><Relationship Type="http://schemas.openxmlformats.org/officeDocument/2006/relationships/notesMaster" Target="/ppt/notesMasters/notesMaster1.xml" Id="Rc11fa733eecc40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1f3d8b240e24b05" /><Relationship Type="http://schemas.openxmlformats.org/officeDocument/2006/relationships/notesMaster" Target="/ppt/notesMasters/notesMaster1.xml" Id="R7f9db5c464d8408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f92c9b97bd945ed" /><Relationship Type="http://schemas.openxmlformats.org/officeDocument/2006/relationships/notesMaster" Target="/ppt/notesMasters/notesMaster1.xml" Id="R35ae201ff5c3471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d7475893d44424e" /><Relationship Type="http://schemas.openxmlformats.org/officeDocument/2006/relationships/notesMaster" Target="/ppt/notesMasters/notesMaster1.xml" Id="R5520fcedc18f407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9b6d625f9b94ab0" /><Relationship Type="http://schemas.openxmlformats.org/officeDocument/2006/relationships/notesMaster" Target="/ppt/notesMasters/notesMaster1.xml" Id="R437ecfa6525347f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724db2c897d4d7b" /><Relationship Type="http://schemas.openxmlformats.org/officeDocument/2006/relationships/notesMaster" Target="/ppt/notesMasters/notesMaster1.xml" Id="R093238620fea491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3b22b031e4b4364" /><Relationship Type="http://schemas.openxmlformats.org/officeDocument/2006/relationships/notesMaster" Target="/ppt/notesMasters/notesMaster1.xml" Id="R18424c872d07460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3f9ffdf23a64668" /><Relationship Type="http://schemas.openxmlformats.org/officeDocument/2006/relationships/notesMaster" Target="/ppt/notesMasters/notesMaster1.xml" Id="Rf36439fb65c24ee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765e3fff90749f5" /><Relationship Type="http://schemas.openxmlformats.org/officeDocument/2006/relationships/notesMaster" Target="/ppt/notesMasters/notesMaster1.xml" Id="R1a2921344f954b3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026fb5150f647d7" /><Relationship Type="http://schemas.openxmlformats.org/officeDocument/2006/relationships/notesMaster" Target="/ppt/notesMasters/notesMaster1.xml" Id="Rb2b7eeaad0ff4d6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2620f8c20f3494e" /><Relationship Type="http://schemas.openxmlformats.org/officeDocument/2006/relationships/notesMaster" Target="/ppt/notesMasters/notesMaster1.xml" Id="R5a31f559480a419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3ad1cceb8e248c3" /><Relationship Type="http://schemas.openxmlformats.org/officeDocument/2006/relationships/notesMaster" Target="/ppt/notesMasters/notesMaster1.xml" Id="Re7b4cb93aa2d4b1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74bf5e7ec724cbd" /><Relationship Type="http://schemas.openxmlformats.org/officeDocument/2006/relationships/notesMaster" Target="/ppt/notesMasters/notesMaster1.xml" Id="R53e565397a94436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ce86688147743c8" /><Relationship Type="http://schemas.openxmlformats.org/officeDocument/2006/relationships/notesMaster" Target="/ppt/notesMasters/notesMaster1.xml" Id="Rd14e18e573c74f2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f1b2ec7e7144baf" /><Relationship Type="http://schemas.openxmlformats.org/officeDocument/2006/relationships/notesMaster" Target="/ppt/notesMasters/notesMaster1.xml" Id="Rcce15db6db3c49c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8f32ab31c1f429f" /><Relationship Type="http://schemas.openxmlformats.org/officeDocument/2006/relationships/notesMaster" Target="/ppt/notesMasters/notesMaster1.xml" Id="R64a536519ab9493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512d11f134b431b" /><Relationship Type="http://schemas.openxmlformats.org/officeDocument/2006/relationships/notesMaster" Target="/ppt/notesMasters/notesMaster1.xml" Id="Rc914b992c91b423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11ff54479d04cb6" /><Relationship Type="http://schemas.openxmlformats.org/officeDocument/2006/relationships/notesMaster" Target="/ppt/notesMasters/notesMaster1.xml" Id="R39ce872b6de6498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3a8598d31974205" /><Relationship Type="http://schemas.openxmlformats.org/officeDocument/2006/relationships/notesMaster" Target="/ppt/notesMasters/notesMaster1.xml" Id="R50bc0f63a4d4425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be06cd0df4a4bba" /><Relationship Type="http://schemas.openxmlformats.org/officeDocument/2006/relationships/notesMaster" Target="/ppt/notesMasters/notesMaster1.xml" Id="Ra1f16586d626456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6b747d943814ab5" /><Relationship Type="http://schemas.openxmlformats.org/officeDocument/2006/relationships/notesMaster" Target="/ppt/notesMasters/notesMaster1.xml" Id="Re319cddca6be4b1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61e2af33d0048cb" /><Relationship Type="http://schemas.openxmlformats.org/officeDocument/2006/relationships/notesMaster" Target="/ppt/notesMasters/notesMaster1.xml" Id="R749996fd43b244a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96698ab59454d5f" /><Relationship Type="http://schemas.openxmlformats.org/officeDocument/2006/relationships/notesMaster" Target="/ppt/notesMasters/notesMaster1.xml" Id="R4dffee76b936474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f65302cff8a4fd8" /><Relationship Type="http://schemas.openxmlformats.org/officeDocument/2006/relationships/notesMaster" Target="/ppt/notesMasters/notesMaster1.xml" Id="Rad938c99c5384d1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10f226e1c894c6e" /><Relationship Type="http://schemas.openxmlformats.org/officeDocument/2006/relationships/notesMaster" Target="/ppt/notesMasters/notesMaster1.xml" Id="Re7b02a93d2eb411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9e96298b2704c28" /><Relationship Type="http://schemas.openxmlformats.org/officeDocument/2006/relationships/notesMaster" Target="/ppt/notesMasters/notesMaster1.xml" Id="R5db8a88c52944d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00:00–00:03. Three-hour tutorial with exactly three core use cases: Voltage support, Restoration, and Cyber-attack response. Conventional optimization defines the engineering objective and constraints. Agent roles coordinate evidence, registered tools, bounded recovery and reporting. The frozen full-feeder workflow experiments use restricted teaching implementations. The Standard_Formulations companion isolates standard methods, with scopes stated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00:03–00:07. Explain the general formulation first. The same conventional problem, solver restrictions and verification contract should apply to both supervisors in a matched experiment. Agents coordinate the engineering work. They do not invent a different optimization objective. Sources: Gan and Low (2014), https://arxiv.org/abs/1406.3054 ; Maharjan, Khambadkone and Peng (2021), https://doi.org/10.1109/TSTE.2020.3001115 ; Chen et al. (2018), https://doi.org/10.1109/TPWRS.2017.2720122 ; Wang et al., https://arxiv.org/abs/1912.05185 ; Handschin et al. (1975), https://doi.org/10.1109/T-PAS.1975.31858 ; PowerModelsDistributionStateEstimation bad-data documentation, https://electa-git.github.io/PowerModelsDistributionStateEstimation.jl/v0.4/bad_data/ ; Liu, Ning and Reiter (2009), https://reitermk.github.io/papers/2009/CCS1.pdf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00:07–00:10. Total 180 minutes: setup15, models20, voltage40, shared workflow20, break10, restoration30, cyber30, comparison15. Use one live feeder model route and the saved comparisons for the other. Open the Standard_Formulations companion for conventional-method isolation experiments.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00:10–00:15. README.md supplies setup. Standard_Formulations.ipynb is the conventional-method companion. Workflow_OpenDSS.ipynb and Workflow_LinDistFlow3.ipynb contain the restricted complete workflow variants. Select one live route and use saved results for the second to stay within the three-hour session. Keep live/replay status visible. The independent LinDistFlow route requires no OpenDSS import.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00:15–00:21. Explain the geographic extent using the included bus coordinates. Counts refer to model objects and do not imply numbers of customers or actual facilities. Original feeder line count is 1,977. Storage does not participate in these experiments. Source: https://data.openei.org/submissions/2981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00:21–00:27. Explicit scope map. The general problem statements are standard engineering formulations, not claims that the original workflow executed continuous OPF, restoration MILP or state estimation. Standard_Formulations uses numerical P/Q optimization on the Greensboro model, a reduced graph restoration MILP and a separate linear WLS example. The frozen 32-run study remains discrete active-power cap MPC, enumerated restoration catalog and aggregate min/max voltage comparison. None of those aggregate checks is WLS. See appendix/General_Optimization_Formulations.md.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00:27–00:31. Explain the lossless coupled three-phase LinDistFlow approximation. The squared voltage vector w has units V², branch power vector S has units VA, and Dβ is the diagonal balanced phase-reference matrix. The actual phase impedance matrices retain mutual terms. Branch power sums downstream load minus generation, with line-pi shunts evaluated at nominal voltage. The network has 453 MV buses, 599 node-phase values and 452 original MV lines: 380 single-phase and 72 three-phase. There are two added synthetic restoration ties. 258 primary transformer aggregations map all 2173 loads and 930 PV systems; 436 storage units remain idle. Current reconstruction uses a fixed balanced 1.03 pu source reference. LinDistFlow does not predict LV voltage or transformer thermal loading. OpenDSS includes the full feeder. Compare common MV bus-phase and branch-phase quantities, and report a separate full-feeder AC audit. Reference: Gan and Low (2014), section V, equations 12a–c, https://arxiv.org/abs/1406.3054 and data/lindistflow3_network.json.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00:31–00:35. Ask participants to predict the trend before revealing the plot. Discuss export overloads as well as voltage violations. The plot describes the stated snapshot. It does not establish that reducing PV solves every condition. Source: results/physics_lab.json generated by the included OpenDSS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00:35–00:40. This is a general tool contract across the three use cases. The actual restricted trace on slide20 records a different, explicitly bounded numerical implementation. Awareness may call WLS when the measurement model is available; generic freshness and schema checks are separate. Planning uses conventional Volt/VAR OPF-MPC or restoration MILP, and trusted-data redispatch for cyber response. The Llama role proposes a strategy and explains an actual result. Execution can propose a DQN action, but verification retains the same optimization constraints and model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00:40–00:48. General formulation. Variables include complex phase voltages V, controllable inverter p and q, and any included tap/capacitor states. F_3phi is the chosen three-phase power-flow equality. A typical objective penalizes voltage deviation, curtailment and control movement. The weights reconcile voltage, power and movement units and define a tradeoff. They are not universal constants. Inverter circle and capability bounds must match hardware. With full nonlinear AC physics this is generally a nonconvex OPF. A linearized convex subproblem has a narrower model scope. Sources: Gan and Low (2014), https://arxiv.org/abs/1406.3054 ; Maharjan, Khambadkone and Peng (2021), https://doi.org/10.1109/TSTE.2020.3001115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00:48–00:53. The general MPC problem sums stage costs J_k over a horizon with power flow, control and dynamic constraints at every step. Storage would require energy-state dynamics, while a PV-only problem couples steps through control movement and forecasts. Apply only the first optimized P/Q action and re-estimate/re-solve. The chart is the older restricted OpenDSS finite-action MPC rollout with active-power caps 30,30,20 percent. It is not a continuous Volt/VAR OPF result. Sources: Maharjan, Khambadkone and Peng (2021), https://doi.org/10.1109/TSTE.2020.3001115 ; results/labs.json.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00:53–00:58. Explain a Q-value as a learned estimate of discounted return. The policy uses a reward-trained network with replay memory and a target network. It is not imitation of the MPC labels. Source: https://www.nature.com/articles/nature14236 and models/training_seed_11.json.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00:58–01:01. Training uses 18,000 steps, seed 11 and a five-value load grid. Held-out sequences share those load values, so sequence evaluation is not proof of arbitrary load extrapolation. Explain why a high Q-value may still lead to rejection after a constraint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01:01–01:05. Recorded restricted OpenDSS candidate comparison. The pretrained DQN proposes 30 percent active PV cap, and the MPC candidate is20percent. Rating is80percent of nominal. DQN109.5percent allowed current rejects, MPC66.5percent passes the stated checks. This is a policy proposal inside the workflow, not a claim that DQN replaces general OPF. Source results/labs.json.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01:05–01:15. Open Standard_Formulations.ipynb. The two continuous controls share active/reactive participation over930inverters: p_i=a*S_i and q_i=b*S_i. Local sensitivity QPs use a32-side inscribed capability polygon and line search with fresh physical validation. This is a one-step snapshot method, not horizon MPC or a global AC optimum. Baseline means full available active PV with zero reactive output, not a competent optimized conventional controller. Each model optimizes its own constraint scope. The original MV full-P point was already feasible in that scope. The separate full-AC audit of the optimized MV point fails with maximum voltage1.08707pu and line loading288.237percent. Larger retained power under the MV-only model therefore does not show full-feeder feasibility. Discuss which constraint is binding, then distinguish algorithm from supervisor. Source: results/standard_formulations.json, generated 2026-09-21T14:36:51.915829+00:00. Gan and Low (2014), https://arxiv.org/abs/1406.3054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01:15–01:17. Shared general framework for all three use cases. Preserve the conventional objective and engineering constraints. Agents coordinate inputs, route numerical tools, evaluate returned status and explain the record. The restricted complete workflow supplies executable examples, while Standard_Formulations isolates conventional numerical methods. Accepted and stopped runs both reach explanation/readback.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01:17–01:18. General interface schema, distinct from the restricted implementation schema. The executable original candidates encode tool,pv_cap,tie,shed_fraction. General continuous or mixed-integer solver adapters should instead carry the appropriate indexed controls, model identifier, explicit constraint identifiers and solver status. The operator request must be resolved before the constraint contract becomes fixed.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01:18–01:19. Read q09 exactly as authored and ask participants to predict the fields. The documented parser requests manual structure. Actual single-pass Llama interpretation matches all four gold fields. The fixed downstream restoration search and fresh OpenDSS gate produce the displayed result. Correct structured entry reaches the same electrical outcome. This is one positive case, not the overall accuracy claim. Sources: request_study.json q09 and operator_requests.json.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01:19–01:20. General gate contract. A solver reports a candidate and status under a stated model. The workflow checks requested constraints, output completeness and model scope. Full-feeder AC audit is separate when the optimizer uses MV LinDistFlow. The restricted experiment also requires a feasible finite-action horizon and dimensionless value gap at most0.02. That additional teaching envelope is not a universal OPF safety certificate.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01:20–01:21. These are actual stage responses from the frozen matched study, run 20260920T211727Z_dbbdf6. The two planners choose MPC_ONLY, but the declared common intervention evaluates DQN first in both supervisors. The DQN is identical and returns 30%. The OpenDSS route rejects thermal loading and no feasible horizon continuation. The linear route rejects the 0.6199316 dimensionless MPC value gap. Both actual Llama critics choose REVIEW despite an available MPC plan. The fixed adaptive route completes the MPC fallback, 20% for OpenDSS and 100% for LinDistFlow, whose AC audit remains separate. The quoted critic reason is actual model output, not the engineering reason for rejection. The linear planner also claims verification is unnecessary; the gate never accepts that authority. Explanation outputs are qualitative focus fields. Readback remains PENDING until local operator action. Source: results/model_workflow.json V2 and the corresponding llama_calls.json.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01:21–01:23. General matched-comparison contract. Use conventional or adaptive orchestration as a competent baseline with the same objective, constraints, numerical solver, data, model scope, policy proposals, budget and verification. Measure interpretation, completed authorized workflow, unnecessary handoff, wrong acceptance and machine/human effort separately. Do not infer optimization improvement from a different feasible set, solver or model. Existing interface comparisons use a bounded parser, Llama once, paired critic/self-review and correctly structured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01:23–01:24. Recorded Llama Planning call5 selects RESTORATION_MILP for the structured limited-capacity request. The numerical routine solves the six-node MILP and returns200kW total/90kW critical. Independent enumeration agrees with weighted objective1010. Numerical verification passes. Llama Explanation call6 then chooses REVIEW, saying: The provided JSON object indicates that the numerical workflow has completed successfully, with a served load of 200 kW and a critical served load of 90 kW. The 'passed_modeled_checks' field is also true, indicating that the modeled checks have been passed. Therefore, the choice is to review the results of the numerical workflow. The broad REVIEW choice is a protocol wording limitation; do not treat it as numerical infeasibility or proof of irrational behavior. The fixed route returns the same numerical plan and MODEL_RECOMMEND. Across all8runs, both voltage backends return matching controls, while restoration and cyber agent explanations request review after passing modeled checks. There is no numerical-performance or causal-advantage claim. Source: results/standard_agent_workflow.json and results/standard_stage_20260921T143826Z_42d19a61/llama_calls.json.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01:24–01:26. Read the positive gain and the associated errors together. Parser 14/20 and one-pass Llama 16/20 exact completions. Both correctly clarify 4/4 ambiguous cases. Across all 24 requests, wrong READY is 0 for parser and 4 for Llama. Unnecessary handoffs on clear requests are 6 and 0. Correct structured reference is 20/20, illustrating the unchanged controller ceiling. Median machine times are descriptive and exclude unmeasured human structuring time.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01:26–01:27. Initial Llama outputs are shared across paired conditions. Critic and self-review each add one fresh logical call using the same model and evidence. Critic corrects zero initial interpretations and regresses eight. Self-review corrects zero and regresses seven. The displayed total wrong READY includes clear and clarification requests, hence denominator 24. One more role is not independent evidence. Source: advantage_summary.json and paired review records.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01:27–01:29. The pilot motivated a parser-first hybrid. Freeze that policy before the new authored confirmation set and before its model calls. Confirmation has eight clear and four clarification requests. Hybrid adds two correct completions but also one extra wrong READY on a clarification request. Parser already has one wrong READY inherited by the hybrid. The six actual model calls occur only on parser handoffs. This is a small prospective authored confirmation, not a field sample or statistical superiority claim. Source: confirmation.json and its recorded freeze.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01:29–01:31. This experiment deconfounds closed-loop recovery from Llama. Two cases inject an unavailable-tool response without stopping a real service or removing a checkpoint. The third uses the actual DQN electrical rejection. All share their first attempt. Both recovery methods may make a second tool call. One-pass is a loop ablation, not the strongest conventional baseline. Adaptive rules and Llama each recover three of three; rules are faster. Source: recovery.json and advantage_summary.json.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01:31–01:35. Four-minute paired exercise. Choose exactly one core use case and identify its variables, objective, constraints and data trust assumptions. Show the recorded h05 reserve error as a reason to confirm constraints before solving. It asked for20percent reserve; both interfaces used100percent allowance. The30percent PV action passed the wrong runtime gate and failed the offline intended80percent constraint. No physical solver can certify semantic intent without a valid constraint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01:35–01:45. During the break, leave this timing slide visible. Confirm that local model memory remains available. Do not start appendix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01:45–01:50. The original feeder branch is unavailable and quarantined. The lesson adds two artificial alternate lines between the source and the downstream tail. Closing both can create a cycle. These are not documented utility switches or routes. The gate must preserve the quarantine.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01:50–01:58. General service-restoration formulation. z_it denotes indivisible load-block pickup, x_lt switch state and P_it served power. The visible equality enforces full pickup of each selected block. Maximize priority-weighted served energy over restoration time, optionally subtract switching cost. Faulted branches remain open, topology must connect every energized load to a source and remain a radial forest, and device/power-flow/thermal/voltage constraints apply. Connectivity plus appropriate forest constraints are needed; an edge count alone is insufficient. With linear power flow the model can be MILP. Conic physics gives MISOCP, and nonlinear AC physics generally gives MINLP. The small companion MILP is a method-isolation graph, not this full-feeder unbalanced optimization. Sources: Chen et al. (2018), https://doi.org/10.1109/TPWRS.2017.2720122 ; Wang et al., https://arxiv.org/abs/1912.05185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01:58–02:02. Compare the outage with the accepted restoration candidate. Read tie loading as well as service. Inspect why a cycle-producing or quarantined-path action fails even if the power-flow solve converges. Source: recorded restoration tool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02:02–02:06. Ask whether full pickup can pass. The restricted case uses no PV, so the bottleneck is different from the first voltage lab. Candidate service levels must be re-solved. Do not assume every electrical metric improves monotonically with shedding.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02:06–02:12. The companion uses six explicitly synthetic nodes and seven candidate branches. Binary served-load, energized-node and branch decisions combine with single-commodity source connectivity, radial edge count and active-power transport constraints. SciPy milp/HiGHS maximizes priority-weighted pickup. The second objective preserves optimal weighted service and minimizes energized branches with an index tie-break, not physical switching operations. Exhaustive enumeration agrees on the primary objective in both capacity cases, even if an equally optimal tree differs. This method-isolation graph is separate from the Greensboro fault overlay. Normal priority-weighted objective1060, limited1010. Source: results/standard_formulations.json, generated 2026-09-21T14:36:51.915829+00:00. Chen et al. (2018), https://doi.org/10.1109/TPWRS.2017.2720122 ; Wang et al., https://arxiv.org/abs/1912.05185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02:12–02:15. Open Operator_Dashboard.html and orient the audience using this actual captured V1 OpenDSS review. The pending form requires a name or training identifier and three readbacks. Next select R2 and compare both prediction models for the capacity-limited restoration case. Selecting a recorded run does not call Llama again. Acknowledgment is local and bound to the exact result and audit identity. It is neither verified human comprehension, utility-operator authentication nor dispatch authorization. The final exercise returns to this form so each participant can record their own review. The example remains PENDING at capture. Source: Operator_Dashboard.html and figures/operator_dashboard_readback.png.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02:15–02:23. General measurement model z=h(x)+e with covariance R and locally observable state x. WLS minimizes the weighted squared residual. For a full-rank linear Gaussian model the minimized statistic is chi-square with m-n degrees of freedom, with n free identifiable states. The nonlinear linearized version is approximate. Nonlinear estimation, pseudo-measurement errors and model mismatch can alter calibration. The new companion example is linear WLS on a small teaching system. The original feeder awareness compares aggregate min/max voltage and is not WLS. Sources: Handschin et al. (1975), https://doi.org/10.1109/T-PAS.1975.31858 ; PowerModelsDistributionStateEstimation bad-data documentation, https://electa-git.github.io/PowerModelsDistributionStateEstimation.jl/v0.4/bad_data/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02:23–02:30. After a global WLS residual alarm, a largest normalized residual may identify a suspect measurement, using Omega=R-H(H^T R^-1 H)^-1H^T in the linear observable case. Removal is conditional on observability and trust; it is not guaranteed cyber attribution. Re-estimate using independently justified trusted measurements. Solve the same conventional OPF/dispatch objective and constraints with trusted state/uncertainty. If trustworthy observability is insufficient, hold or escalate for operator review. Do not substitute a residual pass for security. Sources: Handschin et al. (1975), https://doi.org/10.1109/T-PAS.1975.31858 ; PowerModelsDistributionStateEstimation bad-data documentation, https://electa-git.github.io/PowerModelsDistributionStateEstimation.jl/v0.4/bad_data/ ; Liu, Ning and Reiter (2009), https://reitermk.github.io/papers/2009/CCS1.pdf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02:30–02:38. Four-bus DC teaching model with8measurements and3free angle states. Seed11noise follows the stated covariance. The chart shows J divided by the99percent chi-square threshold,15.0862724694, with5degrees of freedom. Nominal J3.92022169, isolated corruption J277.4974469, stealth J3.92022169. The largest normalized residual identifies the intentionally corrupted channel1 for this realization. The stealth vector a=Hc preserves residuals but shifts the estimate and leads to one offline true toy-model overload with the untrusted zero-injection proposal. A separately assumed protected3-angle data set supports redispatch with no toy-model overload. This exactly determined recovery has zero residual degrees of freedom and no chi-square detection claim. Protected measurements are an explicit trust assumption, not implemented authentication. Source: results/standard_formulations.json, generated 2026-09-21T14:36:51.915829+00:00. Handschin et al. (1975), https://doi.org/10.1109/T-PAS.1975.31858 ; Liu, Ning and Reiter (2009), https://reitermk.github.io/papers/2009/CCS1.pdf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02:38–02:45. Separate attack surfaces inside the single cyber-attack-response use case. In the linear model z=Hx+e, an attacker who can add a=Hc changes the estimate byc while leaving the residual unchanged. Feasible attack support depends on access to measurement channels and system knowledge. Trusted redundancy and independent checks matter. Separately, natural-language instructions in external data should not change registered tool permissions or bypass verification. The original restricted prompt-injection run requested MPC and returned30percent PV,87.6percent allowed loading. It does not establish general prompt-injection robustness. Source: Liu, Ning and Reiter (2009), https://reitermk.github.io/papers/2009/CCS1.pdf ; results/labs.json.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02:45–02:49. Eight declared cases per condition, two backends and two supervisors, 32 workflow runs and 26 actual Llama calls. This is a fixed-order local batch, not a statistical accuracy or speed study. Recommendation counts are model-scoped and include only issued candidates. Appropriate reviews, including C1 stale evidence and C2 biased aggregate sensors, reduce those counts. The AC-pass denominator is issued recommendations, not all eight cases. OpenDSS fixed repairs V2; its agentic critic requests review. The linear fixed route issues six recommendations and the agentic route five, but only R1 and R2 pass the full-feeder AC audit in each. Median workflow time excludes each 40-solve setup table and the offline AC audit. The original policy weights, action catalog, objective, restrictions and declared cases are shared; each backend generates its own transparent synthetic awareness values. Source: results/model_comparison.json and model_workflow.json.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02:49–02:53. These five bars represent issued LinDistFlow recommendations from the agentic route, evaluated at the identical action in OpenDSS. Each compares 599 common MV node-phase voltage values. No missing or reviewed case has been plotted as a zero error. Maximum MV error ranges from 0.000419545 to 0.001727645 pu. The full AC audit fails V1, V3 and C3 because of LV-only voltage/current violations. There are zero violating MV buses and MV lines for those recommendations. For V1, 23 LV buses violate voltage and 10 LV lines violate current, whereas its common-MV approximation error remains small. R1 and R2 pass the audit. The AC audit does not silently repair the linear plan. The scope difference must accompany any claimed gain in speed or retained PV. Sources: results/model_comparison.json and Gan &amp; Low (2014), https://arxiv.org/abs/1406.3054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02:53–02:57. Open Operator_Dashboard.html and select one model, supervisor and case. Inspect all named methods and responses. Read any AC audit separately from model acceptance. Participants should complete the local readback themselves only after reviewing the action, current restriction, scope and remaining risks. Do not fabricate or imply a human acknowledgment from a script or saved study row. The interaction records review and issues no physical dispatch. Give each participant time to formulate a measured claim and one limit.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02:57–03:00. Primary references: Gan and Low (2014), https://arxiv.org/abs/1406.3054 ; Maharjan, Khambadkone and Peng (2021), https://doi.org/10.1109/TSTE.2020.3001115 ; Chen et al. (2018), https://doi.org/10.1109/TPWRS.2017.2720122 ; Wang et al., https://arxiv.org/abs/1912.05185 ; Handschin et al. (1975), https://doi.org/10.1109/T-PAS.1975.31858 ; PowerModelsDistributionStateEstimation bad-data documentation, https://electa-git.github.io/PowerModelsDistributionStateEstimation.jl/v0.4/bad_data/ ; Liu, Ning and Reiter (2009), https://reitermk.github.io/papers/2009/CCS1.pdf ; Rawlings, Mayne and Diehl, Model Predictive Control https://sites.engineering.ucsb.edu/~jbraw/mpc/MPC-book-2nd-edition-4th-printing.pdf ; Mnih et al. (2015), https://www.nature.com/articles/nature14236 ; Yao et al. (2023), https://arxiv.org/abs/2210.03629 ; Schick et al. (2023), https://arxiv.org/abs/2302.04761 . General_Optimization_Formulations.md provides the complete equations and assumptions. The experiments illustrate, rather than validate every condition of, the cited methods.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70b5a4d0fb49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bc1209eb224155" /><Relationship Type="http://schemas.openxmlformats.org/officeDocument/2006/relationships/slideLayout" Target="/ppt/slideLayouts/slideLayout1.xml" Id="R271a3801e30944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1a3801e30944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f32cc5b86149f1" /><Relationship Type="http://schemas.openxmlformats.org/officeDocument/2006/relationships/notesSlide" Target="/ppt/notesSlides/notesSlide1.xml" Id="R4eb433299b9d4a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cc17baa05c44a5e" /><Relationship Type="http://schemas.openxmlformats.org/officeDocument/2006/relationships/notesSlide" Target="/ppt/notesSlides/notesSlide2.xml" Id="Rf4243bb8fb9648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1b6c8acb67d4e96" /><Relationship Type="http://schemas.openxmlformats.org/officeDocument/2006/relationships/notesSlide" Target="/ppt/notesSlides/notesSlide3.xml" Id="R5e072b7e6c894f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aa517c3f89b4705" /><Relationship Type="http://schemas.openxmlformats.org/officeDocument/2006/relationships/notesSlide" Target="/ppt/notesSlides/notesSlide4.xml" Id="R51af1cd2ef184e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37e0b24974b409a" /><Relationship Type="http://schemas.openxmlformats.org/officeDocument/2006/relationships/image" Target="/ppt/media/image.png" Id="R55af00f11d6c4338" /><Relationship Type="http://schemas.openxmlformats.org/officeDocument/2006/relationships/notesSlide" Target="/ppt/notesSlides/notesSlide5.xml" Id="Re084e4a592c044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5afef971fb94204" /><Relationship Type="http://schemas.openxmlformats.org/officeDocument/2006/relationships/notesSlide" Target="/ppt/notesSlides/notesSlide6.xml" Id="Rf1daaf75422945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c4cd11a14c54612" /><Relationship Type="http://schemas.openxmlformats.org/officeDocument/2006/relationships/notesSlide" Target="/ppt/notesSlides/notesSlide7.xml" Id="R38159fe74adf4e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dbaa3021e824f58" /><Relationship Type="http://schemas.openxmlformats.org/officeDocument/2006/relationships/chart" Target="/ppt/slides/charts/chart1.xml" Id="R77ed1f2c5eac4bde" /><Relationship Type="http://schemas.openxmlformats.org/officeDocument/2006/relationships/notesSlide" Target="/ppt/notesSlides/notesSlide8.xml" Id="Red820a272182491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47e087dcc54403c" /><Relationship Type="http://schemas.openxmlformats.org/officeDocument/2006/relationships/notesSlide" Target="/ppt/notesSlides/notesSlide9.xml" Id="Rf0afa8aeed8244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7ac2ac8786c4cc7" /><Relationship Type="http://schemas.openxmlformats.org/officeDocument/2006/relationships/notesSlide" Target="/ppt/notesSlides/notesSlide10.xml" Id="R685f0adfe6bf46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7019aaefc984a78" /><Relationship Type="http://schemas.openxmlformats.org/officeDocument/2006/relationships/chart" Target="/ppt/slides/charts/chart2.xml" Id="Rf277ca21071347d2" /><Relationship Type="http://schemas.openxmlformats.org/officeDocument/2006/relationships/notesSlide" Target="/ppt/notesSlides/notesSlide11.xml" Id="R5830ec49bd9d44d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e6d99c5240145b4" /><Relationship Type="http://schemas.openxmlformats.org/officeDocument/2006/relationships/notesSlide" Target="/ppt/notesSlides/notesSlide12.xml" Id="R12c390b9eef1416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ea4d18ac23144ce" /><Relationship Type="http://schemas.openxmlformats.org/officeDocument/2006/relationships/notesSlide" Target="/ppt/notesSlides/notesSlide13.xml" Id="R173aef3f1f0c4de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0af80b9ff8349f1" /><Relationship Type="http://schemas.openxmlformats.org/officeDocument/2006/relationships/notesSlide" Target="/ppt/notesSlides/notesSlide14.xml" Id="Rfe5c637196e44bc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99766aea8ae46af" /><Relationship Type="http://schemas.openxmlformats.org/officeDocument/2006/relationships/notesSlide" Target="/ppt/notesSlides/notesSlide15.xml" Id="R79dcedc9d3004b0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c086a01a6034115" /><Relationship Type="http://schemas.openxmlformats.org/officeDocument/2006/relationships/notesSlide" Target="/ppt/notesSlides/notesSlide16.xml" Id="R5643c87072534db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75431fa8e134319" /><Relationship Type="http://schemas.openxmlformats.org/officeDocument/2006/relationships/notesSlide" Target="/ppt/notesSlides/notesSlide17.xml" Id="R79d13a4a4c61425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10ddab5c98d4d06" /><Relationship Type="http://schemas.openxmlformats.org/officeDocument/2006/relationships/notesSlide" Target="/ppt/notesSlides/notesSlide18.xml" Id="R6a255643c4fb4db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8e69abbafdd4a53" /><Relationship Type="http://schemas.openxmlformats.org/officeDocument/2006/relationships/notesSlide" Target="/ppt/notesSlides/notesSlide19.xml" Id="R3ea513a63f754bc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37909b4c0f64892" /><Relationship Type="http://schemas.openxmlformats.org/officeDocument/2006/relationships/notesSlide" Target="/ppt/notesSlides/notesSlide20.xml" Id="Ra64826d68217434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f66a7ac580d467b" /><Relationship Type="http://schemas.openxmlformats.org/officeDocument/2006/relationships/notesSlide" Target="/ppt/notesSlides/notesSlide21.xml" Id="Rbe2f9f966b1a4d1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c3f93565bc74d5a" /><Relationship Type="http://schemas.openxmlformats.org/officeDocument/2006/relationships/notesSlide" Target="/ppt/notesSlides/notesSlide22.xml" Id="Rf63d6ef1c1d248e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e8bc99460e74581" /><Relationship Type="http://schemas.openxmlformats.org/officeDocument/2006/relationships/chart" Target="/ppt/slides/charts/chart3.xml" Id="R72d40802c67e401e" /><Relationship Type="http://schemas.openxmlformats.org/officeDocument/2006/relationships/notesSlide" Target="/ppt/notesSlides/notesSlide23.xml" Id="R39d6b11fdbf144e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d1223ba9cd849eb" /><Relationship Type="http://schemas.openxmlformats.org/officeDocument/2006/relationships/notesSlide" Target="/ppt/notesSlides/notesSlide24.xml" Id="Rd18a40fa3f21401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9dd4ec59d424ed9" /><Relationship Type="http://schemas.openxmlformats.org/officeDocument/2006/relationships/notesSlide" Target="/ppt/notesSlides/notesSlide25.xml" Id="R180662db0c89401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07e07c70fea4ea0" /><Relationship Type="http://schemas.openxmlformats.org/officeDocument/2006/relationships/notesSlide" Target="/ppt/notesSlides/notesSlide26.xml" Id="Rf539492ed4054eb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cb05965ea444cca" /><Relationship Type="http://schemas.openxmlformats.org/officeDocument/2006/relationships/notesSlide" Target="/ppt/notesSlides/notesSlide27.xml" Id="R2398f5f6599d4a6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80bb85ffa5a4bf1" /><Relationship Type="http://schemas.openxmlformats.org/officeDocument/2006/relationships/notesSlide" Target="/ppt/notesSlides/notesSlide28.xml" Id="Rb0b13b27d8d342b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133bf71fe1b4acb" /><Relationship Type="http://schemas.openxmlformats.org/officeDocument/2006/relationships/notesSlide" Target="/ppt/notesSlides/notesSlide29.xml" Id="Rdc63d114259842d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58f3886b3104593" /><Relationship Type="http://schemas.openxmlformats.org/officeDocument/2006/relationships/notesSlide" Target="/ppt/notesSlides/notesSlide30.xml" Id="R40905195e679482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e8476ba2eb60488b" /><Relationship Type="http://schemas.openxmlformats.org/officeDocument/2006/relationships/chart" Target="/ppt/slides/charts/chart4.xml" Id="Rb4bc882a428e4df2" /><Relationship Type="http://schemas.openxmlformats.org/officeDocument/2006/relationships/notesSlide" Target="/ppt/notesSlides/notesSlide31.xml" Id="Rd901b1f683524f4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32e899f298a4ee9" /><Relationship Type="http://schemas.openxmlformats.org/officeDocument/2006/relationships/chart" Target="/ppt/slides/charts/chart5.xml" Id="R330cf7e4ed5744b6" /><Relationship Type="http://schemas.openxmlformats.org/officeDocument/2006/relationships/notesSlide" Target="/ppt/notesSlides/notesSlide32.xml" Id="Re6d79e767caa4b6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858d832da5542f4" /><Relationship Type="http://schemas.openxmlformats.org/officeDocument/2006/relationships/chart" Target="/ppt/slides/charts/chart6.xml" Id="R1fb5ebd518f4447d" /><Relationship Type="http://schemas.openxmlformats.org/officeDocument/2006/relationships/notesSlide" Target="/ppt/notesSlides/notesSlide33.xml" Id="Re1b3f8e57963433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034d32b51bb4b8b" /><Relationship Type="http://schemas.openxmlformats.org/officeDocument/2006/relationships/image" Target="/ppt/media/image.jpeg" Id="R459443dbeca54ee5" /><Relationship Type="http://schemas.openxmlformats.org/officeDocument/2006/relationships/notesSlide" Target="/ppt/notesSlides/notesSlide34.xml" Id="R3de32ce8aab1477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b69afe996504877" /><Relationship Type="http://schemas.openxmlformats.org/officeDocument/2006/relationships/notesSlide" Target="/ppt/notesSlides/notesSlide35.xml" Id="Re687a3618ad141c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feaf0211f3549db" /><Relationship Type="http://schemas.openxmlformats.org/officeDocument/2006/relationships/notesSlide" Target="/ppt/notesSlides/notesSlide36.xml" Id="Rd2c511975e51481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b585c16a56ff4322" /><Relationship Type="http://schemas.openxmlformats.org/officeDocument/2006/relationships/chart" Target="/ppt/slides/charts/chart7.xml" Id="R488bd4c2fdc24e70" /><Relationship Type="http://schemas.openxmlformats.org/officeDocument/2006/relationships/notesSlide" Target="/ppt/notesSlides/notesSlide37.xml" Id="R37a2f7bd780a4ea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63b40df7d69a451d" /><Relationship Type="http://schemas.openxmlformats.org/officeDocument/2006/relationships/notesSlide" Target="/ppt/notesSlides/notesSlide38.xml" Id="R21be559795f34fb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221639c1d99f4596" /><Relationship Type="http://schemas.openxmlformats.org/officeDocument/2006/relationships/notesSlide" Target="/ppt/notesSlides/notesSlide39.xml" Id="Rdd78eaad4e39410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6a1f6b3fdfc4dbb" /><Relationship Type="http://schemas.openxmlformats.org/officeDocument/2006/relationships/chart" Target="/ppt/slides/charts/chart8.xml" Id="R19e1e59361f74b2f" /><Relationship Type="http://schemas.openxmlformats.org/officeDocument/2006/relationships/notesSlide" Target="/ppt/notesSlides/notesSlide40.xml" Id="Rc05b2c7ddde4449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371b3a9f191f4eaf" /><Relationship Type="http://schemas.openxmlformats.org/officeDocument/2006/relationships/notesSlide" Target="/ppt/notesSlides/notesSlide41.xml" Id="R047893a0df6a4b6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476ccea066da46e4" /><Relationship Type="http://schemas.openxmlformats.org/officeDocument/2006/relationships/notesSlide" Target="/ppt/notesSlides/notesSlide42.xml" Id="R07e379d89f1e4cc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Maximum line loading</c:v>
          </c:tx>
          <c:spPr>
            <a:solidFill xmlns:a="http://schemas.openxmlformats.org/drawingml/2006/main">
              <a:srgbClr val="007B7F"/>
            </a:solidFill>
          </c:spPr>
          <c:marker>
            <c:symbol val="circle"/>
            <c:size val="6"/>
          </c:marker>
          <c:cat>
            <c:strRef>
              <c:f>'Chart Data'!$A$2:$A$9</c:f>
              <c:strCache>
                <c:ptCount val="8"/>
                <c:pt idx="0">
                  <c:v>0% PV</c:v>
                </c:pt>
                <c:pt idx="1">
                  <c:v>10% PV</c:v>
                </c:pt>
                <c:pt idx="2">
                  <c:v>20% PV</c:v>
                </c:pt>
                <c:pt idx="3">
                  <c:v>30% PV</c:v>
                </c:pt>
                <c:pt idx="4">
                  <c:v>40% PV</c:v>
                </c:pt>
                <c:pt idx="5">
                  <c:v>60% PV</c:v>
                </c:pt>
                <c:pt idx="6">
                  <c:v>80% PV</c:v>
                </c:pt>
                <c:pt idx="7">
                  <c:v>100% PV</c:v>
                </c:pt>
              </c:strCache>
            </c:strRef>
          </c:cat>
          <c:val>
            <c:numRef>
              <c:f>'Chart Data'!$B$2:$B$9</c:f>
              <c:numCache>
                <c:formatCode>0.0</c:formatCode>
                <c:ptCount val="8"/>
                <c:pt idx="0">
                  <c:v>79.463</c:v>
                </c:pt>
                <c:pt idx="1">
                  <c:v>63.321</c:v>
                </c:pt>
                <c:pt idx="2">
                  <c:v>53.215</c:v>
                </c:pt>
                <c:pt idx="3">
                  <c:v>87.599</c:v>
                </c:pt>
                <c:pt idx="4">
                  <c:v>121.218</c:v>
                </c:pt>
                <c:pt idx="5">
                  <c:v>186.389</c:v>
                </c:pt>
                <c:pt idx="6">
                  <c:v>249.066</c:v>
                </c:pt>
                <c:pt idx="7">
                  <c:v>282.93</c:v>
                </c:pt>
              </c:numCache>
            </c:numRef>
          </c:val>
          <c:smooth val="0"/>
        </c:ser>
        <c:ser>
          <c:idx val="1"/>
          <c:order val="1"/>
          <c:tx>
            <c:v>Allowed limit</c:v>
          </c:tx>
          <c:spPr>
            <a:solidFill xmlns:a="http://schemas.openxmlformats.org/drawingml/2006/main">
              <a:srgbClr val="BC6328"/>
            </a:solidFill>
          </c:spPr>
          <c:marker>
            <c:symbol val="none"/>
            <c:size val="6"/>
          </c:marker>
          <c:cat>
            <c:strRef>
              <c:f>'Chart Data'!$C$2:$C$9</c:f>
              <c:strCache>
                <c:ptCount val="8"/>
                <c:pt idx="0">
                  <c:v>0% PV</c:v>
                </c:pt>
                <c:pt idx="1">
                  <c:v>10% PV</c:v>
                </c:pt>
                <c:pt idx="2">
                  <c:v>20% PV</c:v>
                </c:pt>
                <c:pt idx="3">
                  <c:v>30% PV</c:v>
                </c:pt>
                <c:pt idx="4">
                  <c:v>40% PV</c:v>
                </c:pt>
                <c:pt idx="5">
                  <c:v>60% PV</c:v>
                </c:pt>
                <c:pt idx="6">
                  <c:v>80% PV</c:v>
                </c:pt>
                <c:pt idx="7">
                  <c:v>100% PV</c:v>
                </c:pt>
              </c:strCache>
            </c:strRef>
          </c:cat>
          <c:val>
            <c:numRef>
              <c:f>'Chart Data'!$D$2:$D$9</c:f>
              <c:numCache>
                <c:formatCode>0.0</c:formatCode>
                <c:ptCount val="8"/>
                <c:pt idx="0">
                  <c:v>100</c:v>
                </c:pt>
                <c:pt idx="1">
                  <c:v>100</c:v>
                </c:pt>
                <c:pt idx="2">
                  <c:v>100</c:v>
                </c:pt>
                <c:pt idx="3">
                  <c:v>100</c:v>
                </c:pt>
                <c:pt idx="4">
                  <c:v>100</c:v>
                </c:pt>
                <c:pt idx="5">
                  <c:v>100</c:v>
                </c:pt>
                <c:pt idx="6">
                  <c:v>100</c:v>
                </c:pt>
                <c:pt idx="7">
                  <c:v>100</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32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Line loading (% of rating)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CFDFC"/>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Planned PV cap</c:v>
          </c:tx>
          <c:spPr>
            <a:solidFill xmlns:a="http://schemas.openxmlformats.org/drawingml/2006/main">
              <a:srgbClr val="007B7F"/>
            </a:solidFill>
          </c:spPr>
          <c:cat>
            <c:strRef>
              <c:f>'Chart Data'!$A$2:$A$4</c:f>
              <c:strCache>
                <c:ptCount val="3"/>
                <c:pt idx="0">
                  <c:v>Now</c:v>
                </c:pt>
                <c:pt idx="1">
                  <c:v>Forecast step 2</c:v>
                </c:pt>
                <c:pt idx="2">
                  <c:v>Forecast step 3</c:v>
                </c:pt>
              </c:strCache>
            </c:strRef>
          </c:cat>
          <c:val>
            <c:numRef>
              <c:f>'Chart Data'!$B$2:$B$4</c:f>
              <c:numCache>
                <c:formatCode>0.0</c:formatCode>
                <c:ptCount val="3"/>
                <c:pt idx="0">
                  <c:v>30</c:v>
                </c:pt>
                <c:pt idx="1">
                  <c:v>30</c:v>
                </c:pt>
                <c:pt idx="2">
                  <c:v>20</c:v>
                </c:pt>
              </c:numCache>
            </c:numRef>
          </c:val>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4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PV cap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CFDFC"/>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Correct automatic completions</c:v>
          </c:tx>
          <c:spPr>
            <a:solidFill xmlns:a="http://schemas.openxmlformats.org/drawingml/2006/main">
              <a:srgbClr val="007B7F"/>
            </a:solidFill>
          </c:spPr>
          <c:cat>
            <c:strRef>
              <c:f>'Chart Data'!$A$2:$A$4</c:f>
              <c:strCache>
                <c:ptCount val="3"/>
                <c:pt idx="0">
                  <c:v>Rule parser</c:v>
                </c:pt>
                <c:pt idx="1">
                  <c:v>Llama once</c:v>
                </c:pt>
                <c:pt idx="2">
                  <c:v>Correct structure</c:v>
                </c:pt>
              </c:strCache>
            </c:strRef>
          </c:cat>
          <c:val>
            <c:numRef>
              <c:f>'Chart Data'!$B$2:$B$4</c:f>
              <c:numCache>
                <c:formatCode>0</c:formatCode>
                <c:ptCount val="3"/>
                <c:pt idx="0">
                  <c:v>14</c:v>
                </c:pt>
                <c:pt idx="1">
                  <c:v>16</c:v>
                </c:pt>
                <c:pt idx="2">
                  <c:v>20</c:v>
                </c:pt>
              </c:numCache>
            </c:numRef>
          </c:val>
        </c:ser>
        <c:dLbls>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Correct completions (20 clear requests)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CFDFC"/>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Total service</c:v>
          </c:tx>
          <c:spPr>
            <a:solidFill xmlns:a="http://schemas.openxmlformats.org/drawingml/2006/main">
              <a:srgbClr val="007B7F"/>
            </a:solidFill>
          </c:spPr>
          <c:cat>
            <c:strRef>
              <c:f>'Chart Data'!$A$2:$A$3</c:f>
              <c:strCache>
                <c:ptCount val="2"/>
                <c:pt idx="0">
                  <c:v>Outage</c:v>
                </c:pt>
                <c:pt idx="1">
                  <c:v>Accepted restoration</c:v>
                </c:pt>
              </c:strCache>
            </c:strRef>
          </c:cat>
          <c:val>
            <c:numRef>
              <c:f>'Chart Data'!$B$2:$B$3</c:f>
              <c:numCache>
                <c:formatCode>0.0</c:formatCode>
                <c:ptCount val="2"/>
                <c:pt idx="0">
                  <c:v>0</c:v>
                </c:pt>
                <c:pt idx="1">
                  <c:v>4747.468</c:v>
                </c:pt>
              </c:numCache>
            </c:numRef>
          </c:val>
        </c:ser>
        <c:ser>
          <c:idx val="1"/>
          <c:order val="1"/>
          <c:tx>
            <c:v>Critical service</c:v>
          </c:tx>
          <c:spPr>
            <a:solidFill xmlns:a="http://schemas.openxmlformats.org/drawingml/2006/main">
              <a:srgbClr val="BC6328"/>
            </a:solidFill>
          </c:spPr>
          <c:cat>
            <c:strRef>
              <c:f>'Chart Data'!$C$2:$C$3</c:f>
              <c:strCache>
                <c:ptCount val="2"/>
                <c:pt idx="0">
                  <c:v>Outage</c:v>
                </c:pt>
                <c:pt idx="1">
                  <c:v>Accepted restoration</c:v>
                </c:pt>
              </c:strCache>
            </c:strRef>
          </c:cat>
          <c:val>
            <c:numRef>
              <c:f>'Chart Data'!$D$2:$D$3</c:f>
              <c:numCache>
                <c:formatCode>0.0</c:formatCode>
                <c:ptCount val="2"/>
                <c:pt idx="0">
                  <c:v>0</c:v>
                </c:pt>
                <c:pt idx="1">
                  <c:v>474.04</c:v>
                </c:pt>
              </c:numCache>
            </c:numRef>
          </c:val>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550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Nominal connected load (kW)</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CFDFC"/>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Tie loading</c:v>
          </c:tx>
          <c:spPr>
            <a:solidFill xmlns:a="http://schemas.openxmlformats.org/drawingml/2006/main">
              <a:srgbClr val="007B7F"/>
            </a:solidFill>
          </c:spPr>
          <c:marker>
            <c:symbol val="circle"/>
            <c:size val="6"/>
          </c:marker>
          <c:cat>
            <c:strRef>
              <c:f>'Chart Data'!$A$2:$A$7</c:f>
              <c:strCache>
                <c:ptCount val="6"/>
                <c:pt idx="0">
                  <c:v>0%</c:v>
                </c:pt>
                <c:pt idx="1">
                  <c:v>25%</c:v>
                </c:pt>
                <c:pt idx="2">
                  <c:v>50%</c:v>
                </c:pt>
                <c:pt idx="3">
                  <c:v>65%</c:v>
                </c:pt>
                <c:pt idx="4">
                  <c:v>75%</c:v>
                </c:pt>
                <c:pt idx="5">
                  <c:v>90%</c:v>
                </c:pt>
              </c:strCache>
            </c:strRef>
          </c:cat>
          <c:val>
            <c:numRef>
              <c:f>'Chart Data'!$B$2:$B$7</c:f>
              <c:numCache>
                <c:formatCode>0.0</c:formatCode>
                <c:ptCount val="6"/>
                <c:pt idx="0">
                  <c:v>234.454</c:v>
                </c:pt>
                <c:pt idx="1">
                  <c:v>203.375</c:v>
                </c:pt>
                <c:pt idx="2">
                  <c:v>157.654</c:v>
                </c:pt>
                <c:pt idx="3">
                  <c:v>115.306</c:v>
                </c:pt>
                <c:pt idx="4">
                  <c:v>95.556</c:v>
                </c:pt>
                <c:pt idx="5">
                  <c:v>69.029</c:v>
                </c:pt>
              </c:numCache>
            </c:numRef>
          </c:val>
          <c:smooth val="0"/>
        </c:ser>
        <c:ser>
          <c:idx val="1"/>
          <c:order val="1"/>
          <c:tx>
            <c:v>Allowed limit</c:v>
          </c:tx>
          <c:spPr>
            <a:solidFill xmlns:a="http://schemas.openxmlformats.org/drawingml/2006/main">
              <a:srgbClr val="BC6328"/>
            </a:solidFill>
          </c:spPr>
          <c:marker>
            <c:symbol val="none"/>
            <c:size val="6"/>
          </c:marker>
          <c:cat>
            <c:strRef>
              <c:f>'Chart Data'!$C$2:$C$7</c:f>
              <c:strCache>
                <c:ptCount val="6"/>
                <c:pt idx="0">
                  <c:v>0%</c:v>
                </c:pt>
                <c:pt idx="1">
                  <c:v>25%</c:v>
                </c:pt>
                <c:pt idx="2">
                  <c:v>50%</c:v>
                </c:pt>
                <c:pt idx="3">
                  <c:v>65%</c:v>
                </c:pt>
                <c:pt idx="4">
                  <c:v>75%</c:v>
                </c:pt>
                <c:pt idx="5">
                  <c:v>90%</c:v>
                </c:pt>
              </c:strCache>
            </c:strRef>
          </c:cat>
          <c:val>
            <c:numRef>
              <c:f>'Chart Data'!$D$2:$D$7</c:f>
              <c:numCache>
                <c:formatCode>0.0</c:formatCode>
                <c:ptCount val="6"/>
                <c:pt idx="0">
                  <c:v>100</c:v>
                </c:pt>
                <c:pt idx="1">
                  <c:v>100</c:v>
                </c:pt>
                <c:pt idx="2">
                  <c:v>100</c:v>
                </c:pt>
                <c:pt idx="3">
                  <c:v>100</c:v>
                </c:pt>
                <c:pt idx="4">
                  <c:v>100</c:v>
                </c:pt>
                <c:pt idx="5">
                  <c:v>100</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26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Tie loading (% of rating)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CFDFC"/>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Total served</c:v>
          </c:tx>
          <c:spPr>
            <a:solidFill xmlns:a="http://schemas.openxmlformats.org/drawingml/2006/main">
              <a:srgbClr val="007B7F"/>
            </a:solidFill>
          </c:spPr>
          <c:cat>
            <c:strRef>
              <c:f>'Chart Data'!$A$2:$A$3</c:f>
              <c:strCache>
                <c:ptCount val="2"/>
                <c:pt idx="0">
                  <c:v>Normal tie capacity</c:v>
                </c:pt>
                <c:pt idx="1">
                  <c:v>Limited tie capacity</c:v>
                </c:pt>
              </c:strCache>
            </c:strRef>
          </c:cat>
          <c:val>
            <c:numRef>
              <c:f>'Chart Data'!$B$2:$B$3</c:f>
              <c:numCache>
                <c:formatCode>0</c:formatCode>
                <c:ptCount val="2"/>
                <c:pt idx="0">
                  <c:v>250</c:v>
                </c:pt>
                <c:pt idx="1">
                  <c:v>200</c:v>
                </c:pt>
              </c:numCache>
            </c:numRef>
          </c:val>
        </c:ser>
        <c:ser>
          <c:idx val="1"/>
          <c:order val="1"/>
          <c:tx>
            <c:v>Critical served</c:v>
          </c:tx>
          <c:spPr>
            <a:solidFill xmlns:a="http://schemas.openxmlformats.org/drawingml/2006/main">
              <a:srgbClr val="BC6328"/>
            </a:solidFill>
          </c:spPr>
          <c:cat>
            <c:strRef>
              <c:f>'Chart Data'!$C$2:$C$3</c:f>
              <c:strCache>
                <c:ptCount val="2"/>
                <c:pt idx="0">
                  <c:v>Normal tie capacity</c:v>
                </c:pt>
                <c:pt idx="1">
                  <c:v>Limited tie capacity</c:v>
                </c:pt>
              </c:strCache>
            </c:strRef>
          </c:cat>
          <c:val>
            <c:numRef>
              <c:f>'Chart Data'!$D$2:$D$3</c:f>
              <c:numCache>
                <c:formatCode>0</c:formatCode>
                <c:ptCount val="2"/>
                <c:pt idx="0">
                  <c:v>90</c:v>
                </c:pt>
                <c:pt idx="1">
                  <c:v>90</c:v>
                </c:pt>
              </c:numCache>
            </c:numRef>
          </c:val>
        </c:ser>
        <c:dLbls>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30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Served load (kW)</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CFDFC"/>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WLS statistic / threshold</c:v>
          </c:tx>
          <c:spPr>
            <a:solidFill xmlns:a="http://schemas.openxmlformats.org/drawingml/2006/main">
              <a:srgbClr val="007B7F"/>
            </a:solidFill>
          </c:spPr>
          <c:cat>
            <c:strRef>
              <c:f>'Chart Data'!$A$2:$A$4</c:f>
              <c:strCache>
                <c:ptCount val="3"/>
                <c:pt idx="0">
                  <c:v>Nominal noise</c:v>
                </c:pt>
                <c:pt idx="1">
                  <c:v>Isolated corruption</c:v>
                </c:pt>
                <c:pt idx="2">
                  <c:v>Coordinated Hc</c:v>
                </c:pt>
              </c:strCache>
            </c:strRef>
          </c:cat>
          <c:val>
            <c:numRef>
              <c:f>'Chart Data'!$B$2:$B$4</c:f>
              <c:numCache>
                <c:formatCode>0.00</c:formatCode>
                <c:ptCount val="3"/>
                <c:pt idx="0">
                  <c:v>0.2599</c:v>
                </c:pt>
                <c:pt idx="1">
                  <c:v>18.394</c:v>
                </c:pt>
                <c:pt idx="2">
                  <c:v>0.2599</c:v>
                </c:pt>
              </c:numCache>
            </c:numRef>
          </c:val>
        </c:ser>
        <c:ser>
          <c:idx val="1"/>
          <c:order val="1"/>
          <c:tx>
            <c:v>Alarm boundary</c:v>
          </c:tx>
          <c:spPr>
            <a:solidFill xmlns:a="http://schemas.openxmlformats.org/drawingml/2006/main">
              <a:srgbClr val="BC6328"/>
            </a:solidFill>
          </c:spPr>
          <c:cat>
            <c:strRef>
              <c:f>'Chart Data'!$C$2:$C$4</c:f>
              <c:strCache>
                <c:ptCount val="3"/>
                <c:pt idx="0">
                  <c:v>Nominal noise</c:v>
                </c:pt>
                <c:pt idx="1">
                  <c:v>Isolated corruption</c:v>
                </c:pt>
                <c:pt idx="2">
                  <c:v>Coordinated Hc</c:v>
                </c:pt>
              </c:strCache>
            </c:strRef>
          </c:cat>
          <c:val>
            <c:numRef>
              <c:f>'Chart Data'!$D$2:$D$4</c:f>
              <c:numCache>
                <c:formatCode>0.00</c:formatCode>
                <c:ptCount val="3"/>
                <c:pt idx="0">
                  <c:v>1</c:v>
                </c:pt>
                <c:pt idx="1">
                  <c:v>1</c:v>
                </c:pt>
                <c:pt idx="2">
                  <c:v>1</c:v>
                </c:pt>
              </c:numCache>
            </c:numRef>
          </c:val>
        </c:ser>
        <c:dLbls>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Statistic / alarm threshold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CFDFC"/>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Maximum voltage error</c:v>
          </c:tx>
          <c:spPr>
            <a:solidFill xmlns:a="http://schemas.openxmlformats.org/drawingml/2006/main">
              <a:srgbClr val="007B7F"/>
            </a:solidFill>
          </c:spPr>
          <c:cat>
            <c:strRef>
              <c:f>'Chart Data'!$A$2:$A$6</c:f>
              <c:strCache>
                <c:ptCount val="5"/>
                <c:pt idx="0">
                  <c:v>V1</c:v>
                </c:pt>
                <c:pt idx="1">
                  <c:v>V3</c:v>
                </c:pt>
                <c:pt idx="2">
                  <c:v>R1</c:v>
                </c:pt>
                <c:pt idx="3">
                  <c:v>R2</c:v>
                </c:pt>
                <c:pt idx="4">
                  <c:v>C3</c:v>
                </c:pt>
              </c:strCache>
            </c:strRef>
          </c:cat>
          <c:val>
            <c:numRef>
              <c:f>'Chart Data'!$B$2:$B$6</c:f>
              <c:numCache>
                <c:formatCode>0.00000</c:formatCode>
                <c:ptCount val="5"/>
                <c:pt idx="0">
                  <c:v>0.00172764</c:v>
                </c:pt>
                <c:pt idx="1">
                  <c:v>0.00050137</c:v>
                </c:pt>
                <c:pt idx="2">
                  <c:v>0.00079598</c:v>
                </c:pt>
                <c:pt idx="3">
                  <c:v>0.00041954</c:v>
                </c:pt>
                <c:pt idx="4">
                  <c:v>0.00172764</c:v>
                </c:pt>
              </c:numCache>
            </c:numRef>
          </c:val>
        </c:ser>
        <c:dLbls>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0.002"/>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Maximum MV voltage error (pu)</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CFDFC"/>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239146D-139B-49AA-BC6D-448036C59A19}"/>
              </a:ext>
            </a:extLst>
          </p:cNvPr>
          <p:cNvSpPr>
            <a:spLocks xmlns:a="http://schemas.openxmlformats.org/drawingml/2006/main" noGrp="1"/>
          </p:cNvSpPr>
          <p:nvPr/>
        </p:nvSpPr>
        <p:spPr>
          <a:xfrm xmlns:a="http://schemas.openxmlformats.org/drawingml/2006/main">
            <a:off x="628650" y="600075"/>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3D4B"/>
                </a:solidFill>
                <a:latin typeface="Arial"/>
                <a:ea typeface="Arial"/>
                <a:cs typeface="Arial"/>
              </a:defRPr>
            </a:pPr>
            <a:r>
              <a:rPr sz="4050" b="1">
                <a:solidFill>
                  <a:srgbClr val="183D4B"/>
                </a:solidFill>
                <a:latin typeface="Arial"/>
                <a:ea typeface="Arial"/>
                <a:cs typeface="Arial"/>
              </a:rPr>
              <a:t>Agentic workflows for</a:t>
            </a:r>
          </a:p>
          <a:p xmlns:a="http://schemas.openxmlformats.org/drawingml/2006/main">
            <a:pPr>
              <a:buNone/>
              <a:defRPr sz="4050" b="1">
                <a:solidFill>
                  <a:srgbClr val="183D4B"/>
                </a:solidFill>
                <a:latin typeface="Arial"/>
                <a:ea typeface="Arial"/>
                <a:cs typeface="Arial"/>
              </a:defRPr>
            </a:pPr>
            <a:r>
              <a:rPr sz="4050" b="1">
                <a:solidFill>
                  <a:srgbClr val="183D4B"/>
                </a:solidFill>
                <a:latin typeface="Arial"/>
                <a:ea typeface="Arial"/>
                <a:cs typeface="Arial"/>
              </a:rPr>
              <a:t>distribution-grid operators</a:t>
            </a:r>
          </a:p>
        </p:txBody>
      </p:sp>
      <p:sp>
        <p:nvSpPr>
          <p:cNvPr id="2" name="">
            <a:extLst xmlns:a="http://schemas.openxmlformats.org/drawingml/2006/main">
              <a:ext uri="{FF2B5EF4-FFF2-40B4-BE49-F238E27FC236}">
                <a16:creationId xmlns:a16="http://schemas.microsoft.com/office/drawing/2014/main" id="{50B76A35-F60D-4363-9038-7181F456144E}"/>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A056155-6569-4935-8F82-743BA6355E13}"/>
              </a:ext>
            </a:extLst>
          </p:cNvPr>
          <p:cNvSpPr>
            <a:spLocks xmlns:a="http://schemas.openxmlformats.org/drawingml/2006/main" noGrp="1"/>
          </p:cNvSpPr>
          <p:nvPr/>
        </p:nvSpPr>
        <p:spPr>
          <a:xfrm xmlns:a="http://schemas.openxmlformats.org/drawingml/2006/main">
            <a:off x="704850" y="2714625"/>
            <a:ext cx="10572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75" b="1">
                <a:solidFill>
                  <a:srgbClr val="007B7F"/>
                </a:solidFill>
                <a:latin typeface="Arial"/>
                <a:ea typeface="Arial"/>
                <a:cs typeface="Arial"/>
              </a:defRPr>
            </a:pPr>
            <a:r>
              <a:rPr sz="3375" b="1">
                <a:solidFill>
                  <a:srgbClr val="007B7F"/>
                </a:solidFill>
                <a:latin typeface="Arial"/>
                <a:ea typeface="Arial"/>
                <a:cs typeface="Arial"/>
              </a:rPr>
              <a:t>Voltage support, restoration and cyber-attack response</a:t>
            </a:r>
          </a:p>
        </p:txBody>
      </p:sp>
      <p:sp>
        <p:nvSpPr>
          <p:cNvPr id="4" name="">
            <a:extLst xmlns:a="http://schemas.openxmlformats.org/drawingml/2006/main">
              <a:ext uri="{FF2B5EF4-FFF2-40B4-BE49-F238E27FC236}">
                <a16:creationId xmlns:a16="http://schemas.microsoft.com/office/drawing/2014/main" id="{04D3D71C-6525-4510-B19A-D2BD86971C50}"/>
              </a:ext>
            </a:extLst>
          </p:cNvPr>
          <p:cNvSpPr>
            <a:spLocks xmlns:a="http://schemas.openxmlformats.org/drawingml/2006/main" noGrp="1"/>
          </p:cNvSpPr>
          <p:nvPr/>
        </p:nvSpPr>
        <p:spPr>
          <a:xfrm xmlns:a="http://schemas.openxmlformats.org/drawingml/2006/main">
            <a:off x="704850" y="4838700"/>
            <a:ext cx="10620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526874"/>
                </a:solidFill>
                <a:latin typeface="Arial"/>
                <a:ea typeface="Arial"/>
                <a:cs typeface="Arial"/>
              </a:defRPr>
            </a:pPr>
            <a:r>
              <a:rPr sz="2100" b="0">
                <a:solidFill>
                  <a:srgbClr val="526874"/>
                </a:solidFill>
                <a:latin typeface="Arial"/>
                <a:ea typeface="Arial"/>
                <a:cs typeface="Arial"/>
              </a:rPr>
              <a:t>Three-hour hands-on tutorial</a:t>
            </a:r>
          </a:p>
          <a:p xmlns:a="http://schemas.openxmlformats.org/drawingml/2006/main">
            <a:pPr>
              <a:buNone/>
              <a:defRPr sz="2100" b="0">
                <a:solidFill>
                  <a:srgbClr val="526874"/>
                </a:solidFill>
                <a:latin typeface="Arial"/>
                <a:ea typeface="Arial"/>
                <a:cs typeface="Arial"/>
              </a:defRPr>
            </a:pPr>
            <a:r>
              <a:rPr sz="2100" b="0">
                <a:solidFill>
                  <a:srgbClr val="526874"/>
                </a:solidFill>
                <a:latin typeface="Arial"/>
                <a:ea typeface="Arial"/>
                <a:cs typeface="Arial"/>
              </a:rPr>
              <a:t>Greensboro feeder and small method-isolation labs</a:t>
            </a:r>
          </a:p>
        </p:txBody>
      </p:sp>
    </p:spTree>
    <p:extLst>
      <p:ext uri="{BB962C8B-B14F-4D97-AF65-F5344CB8AC3E}">
        <p14:creationId xmlns:p14="http://schemas.microsoft.com/office/powerpoint/2010/main" val="1543084714"/>
      </p:ext>
    </p:extLst>
  </p:cSld>
</p:sld>
</file>

<file path=ppt/slides/slide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D7ECE3A-EFC0-49EE-BE15-9003A0B7C5FE}"/>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Three use cases and established methods</a:t>
            </a:r>
          </a:p>
        </p:txBody>
      </p:sp>
      <p:graphicFrame>
        <p:nvGraphicFramePr>
          <p:cNvPr id="6" name=""/>
          <p:cNvGraphicFramePr/>
          <p:nvPr/>
        </p:nvGraphicFramePr>
        <p:xfrm>
          <a:off xmlns:a="http://schemas.openxmlformats.org/drawingml/2006/main" x="685800" y="1666875"/>
          <a:ext xmlns:a="http://schemas.openxmlformats.org/drawingml/2006/main" cx="10820400" cy="3714750"/>
        </p:xfrm>
        <a:graphic xmlns:a="http://schemas.openxmlformats.org/drawingml/2006/main">
          <a:graphicData uri="http://schemas.openxmlformats.org/drawingml/2006/table">
            <a:tbl>
              <a:tblPr/>
              <a:tblGrid>
                <a:gridCol w="2533650"/>
                <a:gridCol w="4581525"/>
                <a:gridCol w="3705225"/>
              </a:tblGrid>
              <a:tr h="928688">
                <a:tc>
                  <a:txBody>
                    <a:bodyPr/>
                    <a:lstStyle/>
                    <a:p>
                      <a:r>
                        <a:rPr sz="1875" b="1">
                          <a:solidFill>
                            <a:srgbClr val="FFFFFF"/>
                          </a:solidFill>
                          <a:latin typeface="Arial"/>
                          <a:ea typeface="Arial"/>
                          <a:cs typeface="Arial"/>
                        </a:rPr>
                        <a:t>Core use case</a:t>
                      </a:r>
                    </a:p>
                  </a:txBody>
                  <a:tcPr marL="91440" marR="91440" marT="45720" marB="45720">
                    <a:solidFill>
                      <a:srgbClr val="183D4B"/>
                    </a:solidFill>
                  </a:tcPr>
                </a:tc>
                <a:tc>
                  <a:txBody>
                    <a:bodyPr/>
                    <a:lstStyle/>
                    <a:p>
                      <a:r>
                        <a:rPr sz="1875" b="1">
                          <a:solidFill>
                            <a:srgbClr val="FFFFFF"/>
                          </a:solidFill>
                          <a:latin typeface="Arial"/>
                          <a:ea typeface="Arial"/>
                          <a:cs typeface="Arial"/>
                        </a:rPr>
                        <a:t>Established numerical method</a:t>
                      </a:r>
                    </a:p>
                  </a:txBody>
                  <a:tcPr marL="91440" marR="91440" marT="45720" marB="45720">
                    <a:solidFill>
                      <a:srgbClr val="183D4B"/>
                    </a:solidFill>
                  </a:tcPr>
                </a:tc>
                <a:tc>
                  <a:txBody>
                    <a:bodyPr/>
                    <a:lstStyle/>
                    <a:p>
                      <a:r>
                        <a:rPr sz="1875" b="1">
                          <a:solidFill>
                            <a:srgbClr val="FFFFFF"/>
                          </a:solidFill>
                          <a:latin typeface="Arial"/>
                          <a:ea typeface="Arial"/>
                          <a:cs typeface="Arial"/>
                        </a:rPr>
                        <a:t>Agent contribution</a:t>
                      </a:r>
                    </a:p>
                  </a:txBody>
                  <a:tcPr marL="91440" marR="91440" marT="45720" marB="45720">
                    <a:solidFill>
                      <a:srgbClr val="183D4B"/>
                    </a:solidFill>
                  </a:tcPr>
                </a:tc>
              </a:tr>
              <a:tr h="928688">
                <a:tc>
                  <a:txBody>
                    <a:bodyPr/>
                    <a:lstStyle/>
                    <a:p>
                      <a:r>
                        <a:rPr sz="1875" b="0">
                          <a:solidFill>
                            <a:srgbClr val="183D4B"/>
                          </a:solidFill>
                          <a:latin typeface="Arial"/>
                          <a:ea typeface="Arial"/>
                          <a:cs typeface="Arial"/>
                        </a:rPr>
                        <a:t>Voltage support</a:t>
                      </a:r>
                    </a:p>
                  </a:txBody>
                  <a:tcPr marL="91440" marR="91440" marT="45720" marB="45720">
                    <a:solidFill>
                      <a:srgbClr val="FFFFFF"/>
                    </a:solidFill>
                  </a:tcPr>
                </a:tc>
                <a:tc>
                  <a:txBody>
                    <a:bodyPr/>
                    <a:lstStyle/>
                    <a:p>
                      <a:r>
                        <a:rPr sz="1875" b="0">
                          <a:solidFill>
                            <a:srgbClr val="183D4B"/>
                          </a:solidFill>
                          <a:latin typeface="Arial"/>
                          <a:ea typeface="Arial"/>
                          <a:cs typeface="Arial"/>
                        </a:rPr>
                        <a:t>Three-phase Volt/VAR OPF in receding-horizon MPC</a:t>
                      </a:r>
                    </a:p>
                  </a:txBody>
                  <a:tcPr marL="91440" marR="91440" marT="45720" marB="45720">
                    <a:solidFill>
                      <a:srgbClr val="FFFFFF"/>
                    </a:solidFill>
                  </a:tcPr>
                </a:tc>
                <a:tc>
                  <a:txBody>
                    <a:bodyPr/>
                    <a:lstStyle/>
                    <a:p>
                      <a:r>
                        <a:rPr sz="1875" b="0">
                          <a:solidFill>
                            <a:srgbClr val="183D4B"/>
                          </a:solidFill>
                          <a:latin typeface="Arial"/>
                          <a:ea typeface="Arial"/>
                          <a:cs typeface="Arial"/>
                        </a:rPr>
                        <a:t>Prepare forecasts and constraints, route tools, verify</a:t>
                      </a:r>
                    </a:p>
                  </a:txBody>
                  <a:tcPr marL="91440" marR="91440" marT="45720" marB="45720">
                    <a:solidFill>
                      <a:srgbClr val="FFFFFF"/>
                    </a:solidFill>
                  </a:tcPr>
                </a:tc>
              </a:tr>
              <a:tr h="928688">
                <a:tc>
                  <a:txBody>
                    <a:bodyPr/>
                    <a:lstStyle/>
                    <a:p>
                      <a:r>
                        <a:rPr sz="1875" b="0">
                          <a:solidFill>
                            <a:srgbClr val="183D4B"/>
                          </a:solidFill>
                          <a:latin typeface="Arial"/>
                          <a:ea typeface="Arial"/>
                          <a:cs typeface="Arial"/>
                        </a:rPr>
                        <a:t>Restoration</a:t>
                      </a:r>
                    </a:p>
                  </a:txBody>
                  <a:tcPr marL="91440" marR="91440" marT="45720" marB="45720">
                    <a:solidFill>
                      <a:srgbClr val="EAF2F3"/>
                    </a:solidFill>
                  </a:tcPr>
                </a:tc>
                <a:tc>
                  <a:txBody>
                    <a:bodyPr/>
                    <a:lstStyle/>
                    <a:p>
                      <a:r>
                        <a:rPr sz="1875" b="0">
                          <a:solidFill>
                            <a:srgbClr val="183D4B"/>
                          </a:solidFill>
                          <a:latin typeface="Arial"/>
                          <a:ea typeface="Arial"/>
                          <a:cs typeface="Arial"/>
                        </a:rPr>
                        <a:t>Mixed-integer service restoration with network constraints</a:t>
                      </a:r>
                    </a:p>
                  </a:txBody>
                  <a:tcPr marL="91440" marR="91440" marT="45720" marB="45720">
                    <a:solidFill>
                      <a:srgbClr val="EAF2F3"/>
                    </a:solidFill>
                  </a:tcPr>
                </a:tc>
                <a:tc>
                  <a:txBody>
                    <a:bodyPr/>
                    <a:lstStyle/>
                    <a:p>
                      <a:r>
                        <a:rPr sz="1875" b="0">
                          <a:solidFill>
                            <a:srgbClr val="183D4B"/>
                          </a:solidFill>
                          <a:latin typeface="Arial"/>
                          <a:ea typeface="Arial"/>
                          <a:cs typeface="Arial"/>
                        </a:rPr>
                        <a:t>Collect topology and priorities, coordinate retries</a:t>
                      </a:r>
                    </a:p>
                  </a:txBody>
                  <a:tcPr marL="91440" marR="91440" marT="45720" marB="45720">
                    <a:solidFill>
                      <a:srgbClr val="EAF2F3"/>
                    </a:solidFill>
                  </a:tcPr>
                </a:tc>
              </a:tr>
              <a:tr h="928688">
                <a:tc>
                  <a:txBody>
                    <a:bodyPr/>
                    <a:lstStyle/>
                    <a:p>
                      <a:r>
                        <a:rPr sz="1875" b="0">
                          <a:solidFill>
                            <a:srgbClr val="183D4B"/>
                          </a:solidFill>
                          <a:latin typeface="Arial"/>
                          <a:ea typeface="Arial"/>
                          <a:cs typeface="Arial"/>
                        </a:rPr>
                        <a:t>Cyber-attack response</a:t>
                      </a:r>
                    </a:p>
                  </a:txBody>
                  <a:tcPr marL="91440" marR="91440" marT="45720" marB="45720">
                    <a:solidFill>
                      <a:srgbClr val="FFFFFF"/>
                    </a:solidFill>
                  </a:tcPr>
                </a:tc>
                <a:tc>
                  <a:txBody>
                    <a:bodyPr/>
                    <a:lstStyle/>
                    <a:p>
                      <a:r>
                        <a:rPr sz="1875" b="0">
                          <a:solidFill>
                            <a:srgbClr val="183D4B"/>
                          </a:solidFill>
                          <a:latin typeface="Arial"/>
                          <a:ea typeface="Arial"/>
                          <a:cs typeface="Arial"/>
                        </a:rPr>
                        <a:t>WLS estimation, residual tests and trusted-data redispatch</a:t>
                      </a:r>
                    </a:p>
                  </a:txBody>
                  <a:tcPr marL="91440" marR="91440" marT="45720" marB="45720">
                    <a:solidFill>
                      <a:srgbClr val="FFFFFF"/>
                    </a:solidFill>
                  </a:tcPr>
                </a:tc>
                <a:tc>
                  <a:txBody>
                    <a:bodyPr/>
                    <a:lstStyle/>
                    <a:p>
                      <a:r>
                        <a:rPr sz="1875" b="0">
                          <a:solidFill>
                            <a:srgbClr val="183D4B"/>
                          </a:solidFill>
                          <a:latin typeface="Arial"/>
                          <a:ea typeface="Arial"/>
                          <a:cs typeface="Arial"/>
                        </a:rPr>
                        <a:t>Quarantine evidence, request review, explain status</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B91CB73-63E8-45DA-BA66-6B429F4A02EE}"/>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The objective and engineering constraints stay the same in the conventional and agent-coordinated routes.</a:t>
            </a:r>
          </a:p>
        </p:txBody>
      </p:sp>
      <p:sp>
        <p:nvSpPr>
          <p:cNvPr id="4" name="">
            <a:extLst xmlns:a="http://schemas.openxmlformats.org/drawingml/2006/main">
              <a:ext uri="{FF2B5EF4-FFF2-40B4-BE49-F238E27FC236}">
                <a16:creationId xmlns:a16="http://schemas.microsoft.com/office/drawing/2014/main" id="{81FDE1EE-C9C2-4651-8011-1DEBD1FC237A}"/>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02</a:t>
            </a:r>
          </a:p>
        </p:txBody>
      </p:sp>
    </p:spTree>
    <p:extLst>
      <p:ext uri="{BB962C8B-B14F-4D97-AF65-F5344CB8AC3E}">
        <p14:creationId xmlns:p14="http://schemas.microsoft.com/office/powerpoint/2010/main" val="2145811898"/>
      </p:ext>
    </p:extLst>
  </p:cSld>
</p:sld>
</file>

<file path=ppt/slides/slide3.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8EC533D-851C-41F3-A453-09E86C0077E9}"/>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The 180-minute route</a:t>
            </a:r>
          </a:p>
        </p:txBody>
      </p:sp>
      <p:graphicFrame>
        <p:nvGraphicFramePr>
          <p:cNvPr id="5" name=""/>
          <p:cNvGraphicFramePr/>
          <p:nvPr/>
        </p:nvGraphicFramePr>
        <p:xfrm>
          <a:off xmlns:a="http://schemas.openxmlformats.org/drawingml/2006/main" x="685800" y="1543050"/>
          <a:ext xmlns:a="http://schemas.openxmlformats.org/drawingml/2006/main" cx="10820400" cy="4381500"/>
        </p:xfrm>
        <a:graphic xmlns:a="http://schemas.openxmlformats.org/drawingml/2006/main">
          <a:graphicData uri="http://schemas.openxmlformats.org/drawingml/2006/table">
            <a:tbl>
              <a:tblPr/>
              <a:tblGrid>
                <a:gridCol w="2714625"/>
                <a:gridCol w="8105775"/>
              </a:tblGrid>
              <a:tr h="486833">
                <a:tc>
                  <a:txBody>
                    <a:bodyPr/>
                    <a:lstStyle/>
                    <a:p>
                      <a:r>
                        <a:rPr sz="1875" b="1">
                          <a:solidFill>
                            <a:srgbClr val="FFFFFF"/>
                          </a:solidFill>
                          <a:latin typeface="Arial"/>
                          <a:ea typeface="Arial"/>
                          <a:cs typeface="Arial"/>
                        </a:rPr>
                        <a:t>Time</a:t>
                      </a:r>
                    </a:p>
                  </a:txBody>
                  <a:tcPr marL="91440" marR="91440" marT="45720" marB="45720">
                    <a:solidFill>
                      <a:srgbClr val="183D4B"/>
                    </a:solidFill>
                  </a:tcPr>
                </a:tc>
                <a:tc>
                  <a:txBody>
                    <a:bodyPr/>
                    <a:lstStyle/>
                    <a:p>
                      <a:r>
                        <a:rPr sz="1875" b="1">
                          <a:solidFill>
                            <a:srgbClr val="FFFFFF"/>
                          </a:solidFill>
                          <a:latin typeface="Arial"/>
                          <a:ea typeface="Arial"/>
                          <a:cs typeface="Arial"/>
                        </a:rPr>
                        <a:t>Activity</a:t>
                      </a:r>
                    </a:p>
                  </a:txBody>
                  <a:tcPr marL="91440" marR="91440" marT="45720" marB="45720">
                    <a:solidFill>
                      <a:srgbClr val="183D4B"/>
                    </a:solidFill>
                  </a:tcPr>
                </a:tc>
              </a:tr>
              <a:tr h="486833">
                <a:tc>
                  <a:txBody>
                    <a:bodyPr/>
                    <a:lstStyle/>
                    <a:p>
                      <a:r>
                        <a:rPr sz="1875" b="0">
                          <a:solidFill>
                            <a:srgbClr val="183D4B"/>
                          </a:solidFill>
                          <a:latin typeface="Arial"/>
                          <a:ea typeface="Arial"/>
                          <a:cs typeface="Arial"/>
                        </a:rPr>
                        <a:t>00:00–00:15</a:t>
                      </a:r>
                    </a:p>
                  </a:txBody>
                  <a:tcPr marL="91440" marR="91440" marT="45720" marB="45720">
                    <a:solidFill>
                      <a:srgbClr val="FFFFFF"/>
                    </a:solidFill>
                  </a:tcPr>
                </a:tc>
                <a:tc>
                  <a:txBody>
                    <a:bodyPr/>
                    <a:lstStyle/>
                    <a:p>
                      <a:r>
                        <a:rPr sz="1875" b="0">
                          <a:solidFill>
                            <a:srgbClr val="183D4B"/>
                          </a:solidFill>
                          <a:latin typeface="Arial"/>
                          <a:ea typeface="Arial"/>
                          <a:cs typeface="Arial"/>
                        </a:rPr>
                        <a:t>Setup and smoke tests</a:t>
                      </a:r>
                    </a:p>
                  </a:txBody>
                  <a:tcPr marL="91440" marR="91440" marT="45720" marB="45720">
                    <a:solidFill>
                      <a:srgbClr val="FFFFFF"/>
                    </a:solidFill>
                  </a:tcPr>
                </a:tc>
              </a:tr>
              <a:tr h="486833">
                <a:tc>
                  <a:txBody>
                    <a:bodyPr/>
                    <a:lstStyle/>
                    <a:p>
                      <a:r>
                        <a:rPr sz="1875" b="0">
                          <a:solidFill>
                            <a:srgbClr val="183D4B"/>
                          </a:solidFill>
                          <a:latin typeface="Arial"/>
                          <a:ea typeface="Arial"/>
                          <a:cs typeface="Arial"/>
                        </a:rPr>
                        <a:t>00:15–00:35</a:t>
                      </a:r>
                    </a:p>
                  </a:txBody>
                  <a:tcPr marL="91440" marR="91440" marT="45720" marB="45720">
                    <a:solidFill>
                      <a:srgbClr val="EAF2F3"/>
                    </a:solidFill>
                  </a:tcPr>
                </a:tc>
                <a:tc>
                  <a:txBody>
                    <a:bodyPr/>
                    <a:lstStyle/>
                    <a:p>
                      <a:r>
                        <a:rPr sz="1875" b="0">
                          <a:solidFill>
                            <a:srgbClr val="183D4B"/>
                          </a:solidFill>
                          <a:latin typeface="Arial"/>
                          <a:ea typeface="Arial"/>
                          <a:cs typeface="Arial"/>
                        </a:rPr>
                        <a:t>One feeder and two physical model scopes</a:t>
                      </a:r>
                    </a:p>
                  </a:txBody>
                  <a:tcPr marL="91440" marR="91440" marT="45720" marB="45720">
                    <a:solidFill>
                      <a:srgbClr val="EAF2F3"/>
                    </a:solidFill>
                  </a:tcPr>
                </a:tc>
              </a:tr>
              <a:tr h="486833">
                <a:tc>
                  <a:txBody>
                    <a:bodyPr/>
                    <a:lstStyle/>
                    <a:p>
                      <a:r>
                        <a:rPr sz="1875" b="0">
                          <a:solidFill>
                            <a:srgbClr val="183D4B"/>
                          </a:solidFill>
                          <a:latin typeface="Arial"/>
                          <a:ea typeface="Arial"/>
                          <a:cs typeface="Arial"/>
                        </a:rPr>
                        <a:t>00:35–01:15</a:t>
                      </a:r>
                    </a:p>
                  </a:txBody>
                  <a:tcPr marL="91440" marR="91440" marT="45720" marB="45720">
                    <a:solidFill>
                      <a:srgbClr val="FFFFFF"/>
                    </a:solidFill>
                  </a:tcPr>
                </a:tc>
                <a:tc>
                  <a:txBody>
                    <a:bodyPr/>
                    <a:lstStyle/>
                    <a:p>
                      <a:r>
                        <a:rPr sz="1875" b="0">
                          <a:solidFill>
                            <a:srgbClr val="183D4B"/>
                          </a:solidFill>
                          <a:latin typeface="Arial"/>
                          <a:ea typeface="Arial"/>
                          <a:cs typeface="Arial"/>
                        </a:rPr>
                        <a:t>Use case 1: Voltage support</a:t>
                      </a:r>
                    </a:p>
                  </a:txBody>
                  <a:tcPr marL="91440" marR="91440" marT="45720" marB="45720">
                    <a:solidFill>
                      <a:srgbClr val="FFFFFF"/>
                    </a:solidFill>
                  </a:tcPr>
                </a:tc>
              </a:tr>
              <a:tr h="486833">
                <a:tc>
                  <a:txBody>
                    <a:bodyPr/>
                    <a:lstStyle/>
                    <a:p>
                      <a:r>
                        <a:rPr sz="1875" b="0">
                          <a:solidFill>
                            <a:srgbClr val="183D4B"/>
                          </a:solidFill>
                          <a:latin typeface="Arial"/>
                          <a:ea typeface="Arial"/>
                          <a:cs typeface="Arial"/>
                        </a:rPr>
                        <a:t>01:15–01:35</a:t>
                      </a:r>
                    </a:p>
                  </a:txBody>
                  <a:tcPr marL="91440" marR="91440" marT="45720" marB="45720">
                    <a:solidFill>
                      <a:srgbClr val="EAF2F3"/>
                    </a:solidFill>
                  </a:tcPr>
                </a:tc>
                <a:tc>
                  <a:txBody>
                    <a:bodyPr/>
                    <a:lstStyle/>
                    <a:p>
                      <a:r>
                        <a:rPr sz="1875" b="0">
                          <a:solidFill>
                            <a:srgbClr val="183D4B"/>
                          </a:solidFill>
                          <a:latin typeface="Arial"/>
                          <a:ea typeface="Arial"/>
                          <a:cs typeface="Arial"/>
                        </a:rPr>
                        <a:t>Shared agent workflow and matched comparisons</a:t>
                      </a:r>
                    </a:p>
                  </a:txBody>
                  <a:tcPr marL="91440" marR="91440" marT="45720" marB="45720">
                    <a:solidFill>
                      <a:srgbClr val="EAF2F3"/>
                    </a:solidFill>
                  </a:tcPr>
                </a:tc>
              </a:tr>
              <a:tr h="486833">
                <a:tc>
                  <a:txBody>
                    <a:bodyPr/>
                    <a:lstStyle/>
                    <a:p>
                      <a:r>
                        <a:rPr sz="1875" b="0">
                          <a:solidFill>
                            <a:srgbClr val="183D4B"/>
                          </a:solidFill>
                          <a:latin typeface="Arial"/>
                          <a:ea typeface="Arial"/>
                          <a:cs typeface="Arial"/>
                        </a:rPr>
                        <a:t>01:35–01:45</a:t>
                      </a:r>
                    </a:p>
                  </a:txBody>
                  <a:tcPr marL="91440" marR="91440" marT="45720" marB="45720">
                    <a:solidFill>
                      <a:srgbClr val="FFFFFF"/>
                    </a:solidFill>
                  </a:tcPr>
                </a:tc>
                <a:tc>
                  <a:txBody>
                    <a:bodyPr/>
                    <a:lstStyle/>
                    <a:p>
                      <a:r>
                        <a:rPr sz="1875" b="0">
                          <a:solidFill>
                            <a:srgbClr val="183D4B"/>
                          </a:solidFill>
                          <a:latin typeface="Arial"/>
                          <a:ea typeface="Arial"/>
                          <a:cs typeface="Arial"/>
                        </a:rPr>
                        <a:t>Break</a:t>
                      </a:r>
                    </a:p>
                  </a:txBody>
                  <a:tcPr marL="91440" marR="91440" marT="45720" marB="45720">
                    <a:solidFill>
                      <a:srgbClr val="FFFFFF"/>
                    </a:solidFill>
                  </a:tcPr>
                </a:tc>
              </a:tr>
              <a:tr h="486833">
                <a:tc>
                  <a:txBody>
                    <a:bodyPr/>
                    <a:lstStyle/>
                    <a:p>
                      <a:r>
                        <a:rPr sz="1875" b="0">
                          <a:solidFill>
                            <a:srgbClr val="183D4B"/>
                          </a:solidFill>
                          <a:latin typeface="Arial"/>
                          <a:ea typeface="Arial"/>
                          <a:cs typeface="Arial"/>
                        </a:rPr>
                        <a:t>01:45–02:15</a:t>
                      </a:r>
                    </a:p>
                  </a:txBody>
                  <a:tcPr marL="91440" marR="91440" marT="45720" marB="45720">
                    <a:solidFill>
                      <a:srgbClr val="EAF2F3"/>
                    </a:solidFill>
                  </a:tcPr>
                </a:tc>
                <a:tc>
                  <a:txBody>
                    <a:bodyPr/>
                    <a:lstStyle/>
                    <a:p>
                      <a:r>
                        <a:rPr sz="1875" b="0">
                          <a:solidFill>
                            <a:srgbClr val="183D4B"/>
                          </a:solidFill>
                          <a:latin typeface="Arial"/>
                          <a:ea typeface="Arial"/>
                          <a:cs typeface="Arial"/>
                        </a:rPr>
                        <a:t>Use case 2: Restoration</a:t>
                      </a:r>
                    </a:p>
                  </a:txBody>
                  <a:tcPr marL="91440" marR="91440" marT="45720" marB="45720">
                    <a:solidFill>
                      <a:srgbClr val="EAF2F3"/>
                    </a:solidFill>
                  </a:tcPr>
                </a:tc>
              </a:tr>
              <a:tr h="486833">
                <a:tc>
                  <a:txBody>
                    <a:bodyPr/>
                    <a:lstStyle/>
                    <a:p>
                      <a:r>
                        <a:rPr sz="1875" b="0">
                          <a:solidFill>
                            <a:srgbClr val="183D4B"/>
                          </a:solidFill>
                          <a:latin typeface="Arial"/>
                          <a:ea typeface="Arial"/>
                          <a:cs typeface="Arial"/>
                        </a:rPr>
                        <a:t>02:15–02:45</a:t>
                      </a:r>
                    </a:p>
                  </a:txBody>
                  <a:tcPr marL="91440" marR="91440" marT="45720" marB="45720">
                    <a:solidFill>
                      <a:srgbClr val="FFFFFF"/>
                    </a:solidFill>
                  </a:tcPr>
                </a:tc>
                <a:tc>
                  <a:txBody>
                    <a:bodyPr/>
                    <a:lstStyle/>
                    <a:p>
                      <a:r>
                        <a:rPr sz="1875" b="0">
                          <a:solidFill>
                            <a:srgbClr val="183D4B"/>
                          </a:solidFill>
                          <a:latin typeface="Arial"/>
                          <a:ea typeface="Arial"/>
                          <a:cs typeface="Arial"/>
                        </a:rPr>
                        <a:t>Use case 3: Cyber-attack response</a:t>
                      </a:r>
                    </a:p>
                  </a:txBody>
                  <a:tcPr marL="91440" marR="91440" marT="45720" marB="45720">
                    <a:solidFill>
                      <a:srgbClr val="FFFFFF"/>
                    </a:solidFill>
                  </a:tcPr>
                </a:tc>
              </a:tr>
              <a:tr h="486833">
                <a:tc>
                  <a:txBody>
                    <a:bodyPr/>
                    <a:lstStyle/>
                    <a:p>
                      <a:r>
                        <a:rPr sz="1875" b="0">
                          <a:solidFill>
                            <a:srgbClr val="183D4B"/>
                          </a:solidFill>
                          <a:latin typeface="Arial"/>
                          <a:ea typeface="Arial"/>
                          <a:cs typeface="Arial"/>
                        </a:rPr>
                        <a:t>02:45–03:00</a:t>
                      </a:r>
                    </a:p>
                  </a:txBody>
                  <a:tcPr marL="91440" marR="91440" marT="45720" marB="45720">
                    <a:solidFill>
                      <a:srgbClr val="EAF2F3"/>
                    </a:solidFill>
                  </a:tcPr>
                </a:tc>
                <a:tc>
                  <a:txBody>
                    <a:bodyPr/>
                    <a:lstStyle/>
                    <a:p>
                      <a:r>
                        <a:rPr sz="1875" b="0">
                          <a:solidFill>
                            <a:srgbClr val="183D4B"/>
                          </a:solidFill>
                          <a:latin typeface="Arial"/>
                          <a:ea typeface="Arial"/>
                          <a:cs typeface="Arial"/>
                        </a:rPr>
                        <a:t>Model limits, operator readback and final exercise</a:t>
                      </a:r>
                    </a:p>
                  </a:txBody>
                  <a:tcPr marL="91440" marR="91440" marT="45720" marB="45720">
                    <a:solidFill>
                      <a:srgbClr val="EAF2F3"/>
                    </a:solidFill>
                  </a:tcPr>
                </a:tc>
              </a:tr>
            </a:tbl>
          </a:graphicData>
        </a:graphic>
      </p:graphicFrame>
      <p:sp>
        <p:nvSpPr>
          <p:cNvPr id="3" name="">
            <a:extLst xmlns:a="http://schemas.openxmlformats.org/drawingml/2006/main">
              <a:ext uri="{FF2B5EF4-FFF2-40B4-BE49-F238E27FC236}">
                <a16:creationId xmlns:a16="http://schemas.microsoft.com/office/drawing/2014/main" id="{DF423724-C978-4AD9-BD32-9FB781011182}"/>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03</a:t>
            </a:r>
          </a:p>
        </p:txBody>
      </p:sp>
    </p:spTree>
    <p:extLst>
      <p:ext uri="{BB962C8B-B14F-4D97-AF65-F5344CB8AC3E}">
        <p14:creationId xmlns:p14="http://schemas.microsoft.com/office/powerpoint/2010/main" val="1114484454"/>
      </p:ext>
    </p:extLst>
  </p:cSld>
</p:sld>
</file>

<file path=ppt/slides/slide4.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3727683-14EE-40CD-95A5-6E252945F5CA}"/>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Prerequisites and first checks</a:t>
            </a:r>
          </a:p>
        </p:txBody>
      </p:sp>
      <p:sp>
        <p:nvSpPr>
          <p:cNvPr id="2" name="">
            <a:extLst xmlns:a="http://schemas.openxmlformats.org/drawingml/2006/main">
              <a:ext uri="{FF2B5EF4-FFF2-40B4-BE49-F238E27FC236}">
                <a16:creationId xmlns:a16="http://schemas.microsoft.com/office/drawing/2014/main" id="{F16A02D8-F0DE-4EF3-80D2-971D25FACB2A}"/>
              </a:ext>
            </a:extLst>
          </p:cNvPr>
          <p:cNvSpPr>
            <a:spLocks xmlns:a="http://schemas.openxmlformats.org/drawingml/2006/main" noGrp="1"/>
          </p:cNvSpPr>
          <p:nvPr/>
        </p:nvSpPr>
        <p:spPr>
          <a:xfrm xmlns:a="http://schemas.openxmlformats.org/drawingml/2006/main">
            <a:off x="742950" y="1666875"/>
            <a:ext cx="106299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D4B"/>
                </a:solidFill>
                <a:latin typeface="Arial"/>
                <a:ea typeface="Arial"/>
                <a:cs typeface="Arial"/>
              </a:defRPr>
            </a:pPr>
            <a:r>
              <a:rPr sz="2175" b="0">
                <a:solidFill>
                  <a:srgbClr val="183D4B"/>
                </a:solidFill>
                <a:latin typeface="Arial"/>
                <a:ea typeface="Arial"/>
                <a:cs typeface="Arial"/>
              </a:rPr>
              <a:t>Open Standard_Formulations.ipynb for the conventional-method labs.</a:t>
            </a:r>
          </a:p>
        </p:txBody>
      </p:sp>
      <p:sp>
        <p:nvSpPr>
          <p:cNvPr id="3" name="">
            <a:extLst xmlns:a="http://schemas.openxmlformats.org/drawingml/2006/main">
              <a:ext uri="{FF2B5EF4-FFF2-40B4-BE49-F238E27FC236}">
                <a16:creationId xmlns:a16="http://schemas.microsoft.com/office/drawing/2014/main" id="{D14B521E-F5D5-4781-9E80-488A251B2310}"/>
              </a:ext>
            </a:extLst>
          </p:cNvPr>
          <p:cNvSpPr>
            <a:spLocks xmlns:a="http://schemas.openxmlformats.org/drawingml/2006/main" noGrp="1"/>
          </p:cNvSpPr>
          <p:nvPr/>
        </p:nvSpPr>
        <p:spPr>
          <a:xfrm xmlns:a="http://schemas.openxmlformats.org/drawingml/2006/main">
            <a:off x="742950" y="2924175"/>
            <a:ext cx="106299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D4B"/>
                </a:solidFill>
                <a:latin typeface="Arial"/>
                <a:ea typeface="Arial"/>
                <a:cs typeface="Arial"/>
              </a:defRPr>
            </a:pPr>
            <a:r>
              <a:rPr sz="2175" b="0">
                <a:solidFill>
                  <a:srgbClr val="183D4B"/>
                </a:solidFill>
                <a:latin typeface="Arial"/>
                <a:ea typeface="Arial"/>
                <a:cs typeface="Arial"/>
              </a:rPr>
              <a:t>Choose Workflow_OpenDSS.ipynb or Workflow_LinDistFlow3.ipynb for the complete agent workflow.</a:t>
            </a:r>
          </a:p>
        </p:txBody>
      </p:sp>
      <p:sp>
        <p:nvSpPr>
          <p:cNvPr id="4" name="">
            <a:extLst xmlns:a="http://schemas.openxmlformats.org/drawingml/2006/main">
              <a:ext uri="{FF2B5EF4-FFF2-40B4-BE49-F238E27FC236}">
                <a16:creationId xmlns:a16="http://schemas.microsoft.com/office/drawing/2014/main" id="{792F55F2-59A8-4FE7-A9FF-9E0337F45FFA}"/>
              </a:ext>
            </a:extLst>
          </p:cNvPr>
          <p:cNvSpPr>
            <a:spLocks xmlns:a="http://schemas.openxmlformats.org/drawingml/2006/main" noGrp="1"/>
          </p:cNvSpPr>
          <p:nvPr/>
        </p:nvSpPr>
        <p:spPr>
          <a:xfrm xmlns:a="http://schemas.openxmlformats.org/drawingml/2006/main">
            <a:off x="742950" y="4181475"/>
            <a:ext cx="106299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D4B"/>
                </a:solidFill>
                <a:latin typeface="Arial"/>
                <a:ea typeface="Arial"/>
                <a:cs typeface="Arial"/>
              </a:defRPr>
            </a:pPr>
            <a:r>
              <a:rPr sz="2175" b="0">
                <a:solidFill>
                  <a:srgbClr val="183D4B"/>
                </a:solidFill>
                <a:latin typeface="Arial"/>
                <a:ea typeface="Arial"/>
                <a:cs typeface="Arial"/>
              </a:rPr>
              <a:t>Run the model smoke test and local Llama check. Keep LIVE or REPLAY visible.</a:t>
            </a:r>
          </a:p>
        </p:txBody>
      </p:sp>
      <p:sp>
        <p:nvSpPr>
          <p:cNvPr id="5" name="">
            <a:extLst xmlns:a="http://schemas.openxmlformats.org/drawingml/2006/main">
              <a:ext uri="{FF2B5EF4-FFF2-40B4-BE49-F238E27FC236}">
                <a16:creationId xmlns:a16="http://schemas.microsoft.com/office/drawing/2014/main" id="{BA89528C-2727-4B0D-B6F9-36182CE8C150}"/>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Use saved comparisons for the second model. Installation steps are in README.md.</a:t>
            </a:r>
          </a:p>
        </p:txBody>
      </p:sp>
      <p:sp>
        <p:nvSpPr>
          <p:cNvPr id="6" name="">
            <a:extLst xmlns:a="http://schemas.openxmlformats.org/drawingml/2006/main">
              <a:ext uri="{FF2B5EF4-FFF2-40B4-BE49-F238E27FC236}">
                <a16:creationId xmlns:a16="http://schemas.microsoft.com/office/drawing/2014/main" id="{B8A6592E-3D76-4FC7-A621-59758103D189}"/>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04</a:t>
            </a:r>
          </a:p>
        </p:txBody>
      </p:sp>
    </p:spTree>
    <p:extLst>
      <p:ext uri="{BB962C8B-B14F-4D97-AF65-F5344CB8AC3E}">
        <p14:creationId xmlns:p14="http://schemas.microsoft.com/office/powerpoint/2010/main" val="2109391487"/>
      </p:ext>
    </p:extLst>
  </p:cSld>
</p:sld>
</file>

<file path=ppt/slides/slide5.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EF7A29-E626-4F01-A5F7-5A6E268C53BE}"/>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One synthetic Greensboro feeder</a:t>
            </a:r>
          </a:p>
        </p:txBody>
      </p:sp>
      <p:sp>
        <p:nvSpPr>
          <p:cNvPr id="2" name="">
            <a:extLst xmlns:a="http://schemas.openxmlformats.org/drawingml/2006/main">
              <a:ext uri="{FF2B5EF4-FFF2-40B4-BE49-F238E27FC236}">
                <a16:creationId xmlns:a16="http://schemas.microsoft.com/office/drawing/2014/main" id="{809085FC-D51A-4887-93D6-43A563C6E247}"/>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05</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5af00f11d6c4338"/>
          <a:stretch xmlns:a="http://schemas.openxmlformats.org/drawingml/2006/main"/>
        </p:blipFill>
        <p:spPr>
          <a:xfrm xmlns:a="http://schemas.openxmlformats.org/drawingml/2006/main">
            <a:off x="1512733" y="1685925"/>
            <a:ext cx="5775633" cy="40100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285CEB6-67DC-423D-8FF7-E8435434BAF3}"/>
              </a:ext>
            </a:extLst>
          </p:cNvPr>
          <p:cNvSpPr>
            <a:spLocks xmlns:a="http://schemas.openxmlformats.org/drawingml/2006/main" noGrp="1"/>
          </p:cNvSpPr>
          <p:nvPr/>
        </p:nvSpPr>
        <p:spPr>
          <a:xfrm xmlns:a="http://schemas.openxmlformats.org/drawingml/2006/main">
            <a:off x="8429625" y="19716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83D4B"/>
                </a:solidFill>
                <a:latin typeface="Arial"/>
                <a:ea typeface="Arial"/>
                <a:cs typeface="Arial"/>
              </a:defRPr>
            </a:pPr>
            <a:r>
              <a:rPr sz="2100" b="1">
                <a:solidFill>
                  <a:srgbClr val="183D4B"/>
                </a:solidFill>
                <a:latin typeface="Arial"/>
                <a:ea typeface="Arial"/>
                <a:cs typeface="Arial"/>
              </a:rPr>
              <a:t>2,173 load objects</a:t>
            </a:r>
          </a:p>
        </p:txBody>
      </p:sp>
      <p:sp>
        <p:nvSpPr>
          <p:cNvPr id="5" name="">
            <a:extLst xmlns:a="http://schemas.openxmlformats.org/drawingml/2006/main">
              <a:ext uri="{FF2B5EF4-FFF2-40B4-BE49-F238E27FC236}">
                <a16:creationId xmlns:a16="http://schemas.microsoft.com/office/drawing/2014/main" id="{B8D0D177-93E0-46CD-A905-6941E0686A08}"/>
              </a:ext>
            </a:extLst>
          </p:cNvPr>
          <p:cNvSpPr>
            <a:spLocks xmlns:a="http://schemas.openxmlformats.org/drawingml/2006/main" noGrp="1"/>
          </p:cNvSpPr>
          <p:nvPr/>
        </p:nvSpPr>
        <p:spPr>
          <a:xfrm xmlns:a="http://schemas.openxmlformats.org/drawingml/2006/main">
            <a:off x="8429625" y="2781300"/>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3D4B"/>
                </a:solidFill>
                <a:latin typeface="Arial"/>
                <a:ea typeface="Arial"/>
                <a:cs typeface="Arial"/>
              </a:defRPr>
            </a:pPr>
            <a:r>
              <a:rPr sz="2100" b="0">
                <a:solidFill>
                  <a:srgbClr val="183D4B"/>
                </a:solidFill>
                <a:latin typeface="Arial"/>
                <a:ea typeface="Arial"/>
                <a:cs typeface="Arial"/>
              </a:rPr>
              <a:t>930 PV systems</a:t>
            </a:r>
          </a:p>
        </p:txBody>
      </p:sp>
      <p:sp>
        <p:nvSpPr>
          <p:cNvPr id="6" name="">
            <a:extLst xmlns:a="http://schemas.openxmlformats.org/drawingml/2006/main">
              <a:ext uri="{FF2B5EF4-FFF2-40B4-BE49-F238E27FC236}">
                <a16:creationId xmlns:a16="http://schemas.microsoft.com/office/drawing/2014/main" id="{3EACD8B3-9C27-4D05-80E5-43C6FB984445}"/>
              </a:ext>
            </a:extLst>
          </p:cNvPr>
          <p:cNvSpPr>
            <a:spLocks xmlns:a="http://schemas.openxmlformats.org/drawingml/2006/main" noGrp="1"/>
          </p:cNvSpPr>
          <p:nvPr/>
        </p:nvSpPr>
        <p:spPr>
          <a:xfrm xmlns:a="http://schemas.openxmlformats.org/drawingml/2006/main">
            <a:off x="8429625" y="359092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3D4B"/>
                </a:solidFill>
                <a:latin typeface="Arial"/>
                <a:ea typeface="Arial"/>
                <a:cs typeface="Arial"/>
              </a:defRPr>
            </a:pPr>
            <a:r>
              <a:rPr sz="2100" b="0">
                <a:solidFill>
                  <a:srgbClr val="183D4B"/>
                </a:solidFill>
                <a:latin typeface="Arial"/>
                <a:ea typeface="Arial"/>
                <a:cs typeface="Arial"/>
              </a:rPr>
              <a:t>436 storage units, held idle</a:t>
            </a:r>
          </a:p>
        </p:txBody>
      </p:sp>
      <p:sp>
        <p:nvSpPr>
          <p:cNvPr id="7" name="">
            <a:extLst xmlns:a="http://schemas.openxmlformats.org/drawingml/2006/main">
              <a:ext uri="{FF2B5EF4-FFF2-40B4-BE49-F238E27FC236}">
                <a16:creationId xmlns:a16="http://schemas.microsoft.com/office/drawing/2014/main" id="{E9E30745-9EFD-4D67-A8ED-4516F1F1F91F}"/>
              </a:ext>
            </a:extLst>
          </p:cNvPr>
          <p:cNvSpPr>
            <a:spLocks xmlns:a="http://schemas.openxmlformats.org/drawingml/2006/main" noGrp="1"/>
          </p:cNvSpPr>
          <p:nvPr/>
        </p:nvSpPr>
        <p:spPr>
          <a:xfrm xmlns:a="http://schemas.openxmlformats.org/drawingml/2006/main">
            <a:off x="8429625" y="4400550"/>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3D4B"/>
                </a:solidFill>
                <a:latin typeface="Arial"/>
                <a:ea typeface="Arial"/>
                <a:cs typeface="Arial"/>
              </a:defRPr>
            </a:pPr>
            <a:r>
              <a:rPr sz="2100" b="0">
                <a:solidFill>
                  <a:srgbClr val="183D4B"/>
                </a:solidFill>
                <a:latin typeface="Arial"/>
                <a:ea typeface="Arial"/>
                <a:cs typeface="Arial"/>
              </a:rPr>
              <a:t>12.47 kV source</a:t>
            </a:r>
          </a:p>
        </p:txBody>
      </p:sp>
      <p:sp>
        <p:nvSpPr>
          <p:cNvPr id="8" name="">
            <a:extLst xmlns:a="http://schemas.openxmlformats.org/drawingml/2006/main">
              <a:ext uri="{FF2B5EF4-FFF2-40B4-BE49-F238E27FC236}">
                <a16:creationId xmlns:a16="http://schemas.microsoft.com/office/drawing/2014/main" id="{44E0DBF1-E316-4661-918F-DECA0DF4626D}"/>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SMART-DS feeder udt8894. Synthetic model and teaching scenarios.</a:t>
            </a:r>
          </a:p>
        </p:txBody>
      </p:sp>
    </p:spTree>
    <p:extLst>
      <p:ext uri="{BB962C8B-B14F-4D97-AF65-F5344CB8AC3E}">
        <p14:creationId xmlns:p14="http://schemas.microsoft.com/office/powerpoint/2010/main" val="126832913"/>
      </p:ext>
    </p:extLst>
  </p:cSld>
</p:sld>
</file>

<file path=ppt/slides/slide6.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B10F671-FC78-4D47-AF9F-CD3A440EE443}"/>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General models and classroom implementations</a:t>
            </a:r>
          </a:p>
        </p:txBody>
      </p:sp>
      <p:graphicFrame>
        <p:nvGraphicFramePr>
          <p:cNvPr id="7" name=""/>
          <p:cNvGraphicFramePr/>
          <p:nvPr/>
        </p:nvGraphicFramePr>
        <p:xfrm>
          <a:off xmlns:a="http://schemas.openxmlformats.org/drawingml/2006/main" x="685800" y="1638300"/>
          <a:ext xmlns:a="http://schemas.openxmlformats.org/drawingml/2006/main" cx="10820400" cy="3457575"/>
        </p:xfrm>
        <a:graphic xmlns:a="http://schemas.openxmlformats.org/drawingml/2006/main">
          <a:graphicData uri="http://schemas.openxmlformats.org/drawingml/2006/table">
            <a:tbl>
              <a:tblPr/>
              <a:tblGrid>
                <a:gridCol w="2533650"/>
                <a:gridCol w="4352925"/>
                <a:gridCol w="3933825"/>
              </a:tblGrid>
              <a:tr h="864394">
                <a:tc>
                  <a:txBody>
                    <a:bodyPr/>
                    <a:lstStyle/>
                    <a:p>
                      <a:r>
                        <a:rPr sz="1875" b="1">
                          <a:solidFill>
                            <a:srgbClr val="FFFFFF"/>
                          </a:solidFill>
                          <a:latin typeface="Arial"/>
                          <a:ea typeface="Arial"/>
                          <a:cs typeface="Arial"/>
                        </a:rPr>
                        <a:t>Use case</a:t>
                      </a:r>
                    </a:p>
                  </a:txBody>
                  <a:tcPr marL="91440" marR="91440" marT="45720" marB="45720">
                    <a:solidFill>
                      <a:srgbClr val="183D4B"/>
                    </a:solidFill>
                  </a:tcPr>
                </a:tc>
                <a:tc>
                  <a:txBody>
                    <a:bodyPr/>
                    <a:lstStyle/>
                    <a:p>
                      <a:r>
                        <a:rPr sz="1875" b="1">
                          <a:solidFill>
                            <a:srgbClr val="FFFFFF"/>
                          </a:solidFill>
                          <a:latin typeface="Arial"/>
                          <a:ea typeface="Arial"/>
                          <a:cs typeface="Arial"/>
                        </a:rPr>
                        <a:t>General formulation</a:t>
                      </a:r>
                    </a:p>
                  </a:txBody>
                  <a:tcPr marL="91440" marR="91440" marT="45720" marB="45720">
                    <a:solidFill>
                      <a:srgbClr val="183D4B"/>
                    </a:solidFill>
                  </a:tcPr>
                </a:tc>
                <a:tc>
                  <a:txBody>
                    <a:bodyPr/>
                    <a:lstStyle/>
                    <a:p>
                      <a:r>
                        <a:rPr sz="1875" b="1">
                          <a:solidFill>
                            <a:srgbClr val="FFFFFF"/>
                          </a:solidFill>
                          <a:latin typeface="Arial"/>
                          <a:ea typeface="Arial"/>
                          <a:cs typeface="Arial"/>
                        </a:rPr>
                        <a:t>Restricted 32-run workflow</a:t>
                      </a:r>
                    </a:p>
                  </a:txBody>
                  <a:tcPr marL="91440" marR="91440" marT="45720" marB="45720">
                    <a:solidFill>
                      <a:srgbClr val="183D4B"/>
                    </a:solidFill>
                  </a:tcPr>
                </a:tc>
              </a:tr>
              <a:tr h="864394">
                <a:tc>
                  <a:txBody>
                    <a:bodyPr/>
                    <a:lstStyle/>
                    <a:p>
                      <a:r>
                        <a:rPr sz="1875" b="0">
                          <a:solidFill>
                            <a:srgbClr val="183D4B"/>
                          </a:solidFill>
                          <a:latin typeface="Arial"/>
                          <a:ea typeface="Arial"/>
                          <a:cs typeface="Arial"/>
                        </a:rPr>
                        <a:t>Voltage support</a:t>
                      </a:r>
                    </a:p>
                  </a:txBody>
                  <a:tcPr marL="91440" marR="91440" marT="45720" marB="45720">
                    <a:solidFill>
                      <a:srgbClr val="FFFFFF"/>
                    </a:solidFill>
                  </a:tcPr>
                </a:tc>
                <a:tc>
                  <a:txBody>
                    <a:bodyPr/>
                    <a:lstStyle/>
                    <a:p>
                      <a:r>
                        <a:rPr sz="1875" b="0">
                          <a:solidFill>
                            <a:srgbClr val="183D4B"/>
                          </a:solidFill>
                          <a:latin typeface="Arial"/>
                          <a:ea typeface="Arial"/>
                          <a:cs typeface="Arial"/>
                        </a:rPr>
                        <a:t>Three-phase P/Q OPF with MPC</a:t>
                      </a:r>
                    </a:p>
                  </a:txBody>
                  <a:tcPr marL="91440" marR="91440" marT="45720" marB="45720">
                    <a:solidFill>
                      <a:srgbClr val="FFFFFF"/>
                    </a:solidFill>
                  </a:tcPr>
                </a:tc>
                <a:tc>
                  <a:txBody>
                    <a:bodyPr/>
                    <a:lstStyle/>
                    <a:p>
                      <a:r>
                        <a:rPr sz="1875" b="0">
                          <a:solidFill>
                            <a:srgbClr val="183D4B"/>
                          </a:solidFill>
                          <a:latin typeface="Arial"/>
                          <a:ea typeface="Arial"/>
                          <a:cs typeface="Arial"/>
                        </a:rPr>
                        <a:t>Eight active PV caps, horizon 3</a:t>
                      </a:r>
                    </a:p>
                  </a:txBody>
                  <a:tcPr marL="91440" marR="91440" marT="45720" marB="45720">
                    <a:solidFill>
                      <a:srgbClr val="FFFFFF"/>
                    </a:solidFill>
                  </a:tcPr>
                </a:tc>
              </a:tr>
              <a:tr h="864394">
                <a:tc>
                  <a:txBody>
                    <a:bodyPr/>
                    <a:lstStyle/>
                    <a:p>
                      <a:r>
                        <a:rPr sz="1875" b="0">
                          <a:solidFill>
                            <a:srgbClr val="183D4B"/>
                          </a:solidFill>
                          <a:latin typeface="Arial"/>
                          <a:ea typeface="Arial"/>
                          <a:cs typeface="Arial"/>
                        </a:rPr>
                        <a:t>Restoration</a:t>
                      </a:r>
                    </a:p>
                  </a:txBody>
                  <a:tcPr marL="91440" marR="91440" marT="45720" marB="45720">
                    <a:solidFill>
                      <a:srgbClr val="EAF2F3"/>
                    </a:solidFill>
                  </a:tcPr>
                </a:tc>
                <a:tc>
                  <a:txBody>
                    <a:bodyPr/>
                    <a:lstStyle/>
                    <a:p>
                      <a:r>
                        <a:rPr sz="1875" b="0">
                          <a:solidFill>
                            <a:srgbClr val="183D4B"/>
                          </a:solidFill>
                          <a:latin typeface="Arial"/>
                          <a:ea typeface="Arial"/>
                          <a:cs typeface="Arial"/>
                        </a:rPr>
                        <a:t>Mixed-integer topology and service optimization</a:t>
                      </a:r>
                    </a:p>
                  </a:txBody>
                  <a:tcPr marL="91440" marR="91440" marT="45720" marB="45720">
                    <a:solidFill>
                      <a:srgbClr val="EAF2F3"/>
                    </a:solidFill>
                  </a:tcPr>
                </a:tc>
                <a:tc>
                  <a:txBody>
                    <a:bodyPr/>
                    <a:lstStyle/>
                    <a:p>
                      <a:r>
                        <a:rPr sz="1875" b="0">
                          <a:solidFill>
                            <a:srgbClr val="183D4B"/>
                          </a:solidFill>
                          <a:latin typeface="Arial"/>
                          <a:ea typeface="Arial"/>
                          <a:cs typeface="Arial"/>
                        </a:rPr>
                        <a:t>Two artificial ties and a finite action catalog</a:t>
                      </a:r>
                    </a:p>
                  </a:txBody>
                  <a:tcPr marL="91440" marR="91440" marT="45720" marB="45720">
                    <a:solidFill>
                      <a:srgbClr val="EAF2F3"/>
                    </a:solidFill>
                  </a:tcPr>
                </a:tc>
              </a:tr>
              <a:tr h="864394">
                <a:tc>
                  <a:txBody>
                    <a:bodyPr/>
                    <a:lstStyle/>
                    <a:p>
                      <a:r>
                        <a:rPr sz="1875" b="0">
                          <a:solidFill>
                            <a:srgbClr val="183D4B"/>
                          </a:solidFill>
                          <a:latin typeface="Arial"/>
                          <a:ea typeface="Arial"/>
                          <a:cs typeface="Arial"/>
                        </a:rPr>
                        <a:t>Cyber-attack response</a:t>
                      </a:r>
                    </a:p>
                  </a:txBody>
                  <a:tcPr marL="91440" marR="91440" marT="45720" marB="45720">
                    <a:solidFill>
                      <a:srgbClr val="FFFFFF"/>
                    </a:solidFill>
                  </a:tcPr>
                </a:tc>
                <a:tc>
                  <a:txBody>
                    <a:bodyPr/>
                    <a:lstStyle/>
                    <a:p>
                      <a:r>
                        <a:rPr sz="1875" b="0">
                          <a:solidFill>
                            <a:srgbClr val="183D4B"/>
                          </a:solidFill>
                          <a:latin typeface="Arial"/>
                          <a:ea typeface="Arial"/>
                          <a:cs typeface="Arial"/>
                        </a:rPr>
                        <a:t>WLS, residual detection, trusted-data redispatch</a:t>
                      </a:r>
                    </a:p>
                  </a:txBody>
                  <a:tcPr marL="91440" marR="91440" marT="45720" marB="45720">
                    <a:solidFill>
                      <a:srgbClr val="FFFFFF"/>
                    </a:solidFill>
                  </a:tcPr>
                </a:tc>
                <a:tc>
                  <a:txBody>
                    <a:bodyPr/>
                    <a:lstStyle/>
                    <a:p>
                      <a:r>
                        <a:rPr sz="1875" b="0">
                          <a:solidFill>
                            <a:srgbClr val="183D4B"/>
                          </a:solidFill>
                          <a:latin typeface="Arial"/>
                          <a:ea typeface="Arial"/>
                          <a:cs typeface="Arial"/>
                        </a:rPr>
                        <a:t>Freshness, topology and aggregate voltage checks</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80EFA9B4-B239-40D6-8BA9-C05A1732AF5A}"/>
              </a:ext>
            </a:extLst>
          </p:cNvPr>
          <p:cNvSpPr>
            <a:spLocks xmlns:a="http://schemas.openxmlformats.org/drawingml/2006/main" noGrp="1"/>
          </p:cNvSpPr>
          <p:nvPr/>
        </p:nvSpPr>
        <p:spPr>
          <a:xfrm xmlns:a="http://schemas.openxmlformats.org/drawingml/2006/main">
            <a:off x="742950" y="5314950"/>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B7F"/>
                </a:solidFill>
                <a:latin typeface="Arial"/>
                <a:ea typeface="Arial"/>
                <a:cs typeface="Arial"/>
              </a:defRPr>
            </a:pPr>
            <a:r>
              <a:rPr sz="2025" b="1">
                <a:solidFill>
                  <a:srgbClr val="007B7F"/>
                </a:solidFill>
                <a:latin typeface="Arial"/>
                <a:ea typeface="Arial"/>
                <a:cs typeface="Arial"/>
              </a:rPr>
              <a:t>The companion notebook isolates each conventional method.</a:t>
            </a:r>
          </a:p>
        </p:txBody>
      </p:sp>
      <p:sp>
        <p:nvSpPr>
          <p:cNvPr id="4" name="">
            <a:extLst xmlns:a="http://schemas.openxmlformats.org/drawingml/2006/main">
              <a:ext uri="{FF2B5EF4-FFF2-40B4-BE49-F238E27FC236}">
                <a16:creationId xmlns:a16="http://schemas.microsoft.com/office/drawing/2014/main" id="{AB54D5A9-4D56-4F4B-BE7B-2A79ED85CBFD}"/>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The restricted feeder runs show orchestration behavior under their stated assumptions.</a:t>
            </a:r>
          </a:p>
        </p:txBody>
      </p:sp>
      <p:sp>
        <p:nvSpPr>
          <p:cNvPr id="5" name="">
            <a:extLst xmlns:a="http://schemas.openxmlformats.org/drawingml/2006/main">
              <a:ext uri="{FF2B5EF4-FFF2-40B4-BE49-F238E27FC236}">
                <a16:creationId xmlns:a16="http://schemas.microsoft.com/office/drawing/2014/main" id="{2E58E7F7-4EBA-4824-9AE6-5AE1FB9FE857}"/>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06</a:t>
            </a:r>
          </a:p>
        </p:txBody>
      </p:sp>
    </p:spTree>
    <p:extLst>
      <p:ext uri="{BB962C8B-B14F-4D97-AF65-F5344CB8AC3E}">
        <p14:creationId xmlns:p14="http://schemas.microsoft.com/office/powerpoint/2010/main" val="1288654821"/>
      </p:ext>
    </p:extLst>
  </p:cSld>
</p:sld>
</file>

<file path=ppt/slides/slide7.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58D273-4FCD-4DF3-A22E-775CE3DA2363}"/>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Two physical models and their scope</a:t>
            </a:r>
          </a:p>
        </p:txBody>
      </p:sp>
      <p:sp>
        <p:nvSpPr>
          <p:cNvPr id="2" name="">
            <a:extLst xmlns:a="http://schemas.openxmlformats.org/drawingml/2006/main">
              <a:ext uri="{FF2B5EF4-FFF2-40B4-BE49-F238E27FC236}">
                <a16:creationId xmlns:a16="http://schemas.microsoft.com/office/drawing/2014/main" id="{3347E035-5014-499A-B789-C185626E000D}"/>
              </a:ext>
            </a:extLst>
          </p:cNvPr>
          <p:cNvSpPr>
            <a:spLocks xmlns:a="http://schemas.openxmlformats.org/drawingml/2006/main" noGrp="1"/>
          </p:cNvSpPr>
          <p:nvPr/>
        </p:nvSpPr>
        <p:spPr>
          <a:xfrm xmlns:a="http://schemas.openxmlformats.org/drawingml/2006/main">
            <a:off x="742950" y="17145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007B7F"/>
                </a:solidFill>
                <a:latin typeface="Arial"/>
                <a:ea typeface="Arial"/>
                <a:cs typeface="Arial"/>
              </a:defRPr>
            </a:pPr>
            <a:r>
              <a:rPr sz="2625" b="1">
                <a:solidFill>
                  <a:srgbClr val="007B7F"/>
                </a:solidFill>
                <a:latin typeface="Arial"/>
                <a:ea typeface="Arial"/>
                <a:cs typeface="Arial"/>
              </a:rPr>
              <a:t>wⱼ = wᵢ − 2 Re[ conj(Dβ) Zᵢⱼ Dβ conj(Sᵢⱼ) ]</a:t>
            </a:r>
          </a:p>
        </p:txBody>
      </p:sp>
      <p:sp>
        <p:nvSpPr>
          <p:cNvPr id="3" name="">
            <a:extLst xmlns:a="http://schemas.openxmlformats.org/drawingml/2006/main">
              <a:ext uri="{FF2B5EF4-FFF2-40B4-BE49-F238E27FC236}">
                <a16:creationId xmlns:a16="http://schemas.microsoft.com/office/drawing/2014/main" id="{58216B29-87B1-4E1E-A4FA-0172FE9A20EA}"/>
              </a:ext>
            </a:extLst>
          </p:cNvPr>
          <p:cNvSpPr>
            <a:spLocks xmlns:a="http://schemas.openxmlformats.org/drawingml/2006/main" noGrp="1"/>
          </p:cNvSpPr>
          <p:nvPr/>
        </p:nvSpPr>
        <p:spPr>
          <a:xfrm xmlns:a="http://schemas.openxmlformats.org/drawingml/2006/main">
            <a:off x="742950" y="2619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83D4B"/>
                </a:solidFill>
                <a:latin typeface="Arial"/>
                <a:ea typeface="Arial"/>
                <a:cs typeface="Arial"/>
              </a:defRPr>
            </a:pPr>
            <a:r>
              <a:rPr sz="1950" b="0">
                <a:solidFill>
                  <a:srgbClr val="183D4B"/>
                </a:solidFill>
                <a:latin typeface="Arial"/>
                <a:ea typeface="Arial"/>
                <a:cs typeface="Arial"/>
              </a:rPr>
              <a:t>Dβ = diag(1, e⁻ʲ²π⁄³, eʲ²π⁄³)     w: squared phase voltage</a:t>
            </a:r>
          </a:p>
        </p:txBody>
      </p:sp>
      <p:sp>
        <p:nvSpPr>
          <p:cNvPr id="4" name="">
            <a:extLst xmlns:a="http://schemas.openxmlformats.org/drawingml/2006/main">
              <a:ext uri="{FF2B5EF4-FFF2-40B4-BE49-F238E27FC236}">
                <a16:creationId xmlns:a16="http://schemas.microsoft.com/office/drawing/2014/main" id="{9876C111-3369-45EF-829A-E727C1D5EBD9}"/>
              </a:ext>
            </a:extLst>
          </p:cNvPr>
          <p:cNvSpPr>
            <a:spLocks xmlns:a="http://schemas.openxmlformats.org/drawingml/2006/main" noGrp="1"/>
          </p:cNvSpPr>
          <p:nvPr/>
        </p:nvSpPr>
        <p:spPr>
          <a:xfrm xmlns:a="http://schemas.openxmlformats.org/drawingml/2006/main">
            <a:off x="742950" y="3495675"/>
            <a:ext cx="10629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OpenDSS solves the nonlinear AC model of the full feeder.</a:t>
            </a:r>
          </a:p>
        </p:txBody>
      </p:sp>
      <p:sp>
        <p:nvSpPr>
          <p:cNvPr id="5" name="">
            <a:extLst xmlns:a="http://schemas.openxmlformats.org/drawingml/2006/main">
              <a:ext uri="{FF2B5EF4-FFF2-40B4-BE49-F238E27FC236}">
                <a16:creationId xmlns:a16="http://schemas.microsoft.com/office/drawing/2014/main" id="{204A1EB2-1BA2-4C3B-9DE4-D356028E7974}"/>
              </a:ext>
            </a:extLst>
          </p:cNvPr>
          <p:cNvSpPr>
            <a:spLocks xmlns:a="http://schemas.openxmlformats.org/drawingml/2006/main" noGrp="1"/>
          </p:cNvSpPr>
          <p:nvPr/>
        </p:nvSpPr>
        <p:spPr>
          <a:xfrm xmlns:a="http://schemas.openxmlformats.org/drawingml/2006/main">
            <a:off x="742950" y="4505325"/>
            <a:ext cx="10629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Three-phase LinDistFlow propagates coupled phase voltages through the medium-voltage network.</a:t>
            </a:r>
          </a:p>
        </p:txBody>
      </p:sp>
      <p:sp>
        <p:nvSpPr>
          <p:cNvPr id="6" name="">
            <a:extLst xmlns:a="http://schemas.openxmlformats.org/drawingml/2006/main">
              <a:ext uri="{FF2B5EF4-FFF2-40B4-BE49-F238E27FC236}">
                <a16:creationId xmlns:a16="http://schemas.microsoft.com/office/drawing/2014/main" id="{55EFB443-A39C-4449-8C15-F8F7F2DC5B82}"/>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Compare common MV quantities. LinDistFlow omits LV voltage and transformer thermal checks.</a:t>
            </a:r>
          </a:p>
        </p:txBody>
      </p:sp>
      <p:sp>
        <p:nvSpPr>
          <p:cNvPr id="7" name="">
            <a:extLst xmlns:a="http://schemas.openxmlformats.org/drawingml/2006/main">
              <a:ext uri="{FF2B5EF4-FFF2-40B4-BE49-F238E27FC236}">
                <a16:creationId xmlns:a16="http://schemas.microsoft.com/office/drawing/2014/main" id="{5051E520-703F-4D81-B60C-7021B3732BF9}"/>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07</a:t>
            </a:r>
          </a:p>
        </p:txBody>
      </p:sp>
    </p:spTree>
    <p:extLst>
      <p:ext uri="{BB962C8B-B14F-4D97-AF65-F5344CB8AC3E}">
        <p14:creationId xmlns:p14="http://schemas.microsoft.com/office/powerpoint/2010/main" val="1302454025"/>
      </p:ext>
    </p:extLst>
  </p:cSld>
</p:sld>
</file>

<file path=ppt/slides/slide8.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3270AE5-DEDE-4FF8-B7C2-42E3F1EBA06F}"/>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Restricted voltage lab: active PV caps</a:t>
            </a:r>
          </a:p>
        </p:txBody>
      </p:sp>
      <p:sp>
        <p:nvSpPr>
          <p:cNvPr id="2" name="">
            <a:extLst xmlns:a="http://schemas.openxmlformats.org/drawingml/2006/main">
              <a:ext uri="{FF2B5EF4-FFF2-40B4-BE49-F238E27FC236}">
                <a16:creationId xmlns:a16="http://schemas.microsoft.com/office/drawing/2014/main" id="{6E86113F-B29F-45F9-85A6-093418C43C31}"/>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A6135EBE-792C-4650-8A19-8FCCE9FAA7C5}"/>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A converged solution can still violate an operating limit.</a:t>
            </a:r>
          </a:p>
        </p:txBody>
      </p:sp>
      <p:graphicFrame>
        <p:nvGraphicFramePr>
          <p:cNvPr id="10" name="Chart"/>
          <p:cNvGraphicFramePr/>
          <p:nvPr/>
        </p:nvGraphicFramePr>
        <p:xfrm>
          <a:off xmlns:a="http://schemas.openxmlformats.org/drawingml/2006/main" x="723900" y="1752600"/>
          <a:ext xmlns:a="http://schemas.openxmlformats.org/drawingml/2006/main" cx="10668000" cy="3829050"/>
        </p:xfrm>
        <a:graphic xmlns:a="http://schemas.openxmlformats.org/drawingml/2006/main">
          <a:graphicData uri="http://schemas.openxmlformats.org/drawingml/2006/chart">
            <c:chart xmlns:r="http://schemas.openxmlformats.org/officeDocument/2006/relationships" xmlns:c="http://schemas.openxmlformats.org/drawingml/2006/chart" r:id="R77ed1f2c5eac4bde"/>
          </a:graphicData>
        </a:graphic>
      </p:graphicFrame>
    </p:spTree>
    <p:extLst>
      <p:ext uri="{BB962C8B-B14F-4D97-AF65-F5344CB8AC3E}">
        <p14:creationId xmlns:p14="http://schemas.microsoft.com/office/powerpoint/2010/main" val="1682268149"/>
      </p:ext>
    </p:extLst>
  </p:cSld>
</p:sld>
</file>

<file path=ppt/slides/slide9.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0076FF2-616E-40EF-B4EE-E434EBA7FAE8}"/>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General framework: tools and responses</a:t>
            </a:r>
          </a:p>
        </p:txBody>
      </p:sp>
      <p:graphicFrame>
        <p:nvGraphicFramePr>
          <p:cNvPr id="6" name=""/>
          <p:cNvGraphicFramePr/>
          <p:nvPr/>
        </p:nvGraphicFramePr>
        <p:xfrm>
          <a:off xmlns:a="http://schemas.openxmlformats.org/drawingml/2006/main" x="685800" y="1476375"/>
          <a:ext xmlns:a="http://schemas.openxmlformats.org/drawingml/2006/main" cx="10820400" cy="4543425"/>
        </p:xfrm>
        <a:graphic xmlns:a="http://schemas.openxmlformats.org/drawingml/2006/main">
          <a:graphicData uri="http://schemas.openxmlformats.org/drawingml/2006/table">
            <a:tbl>
              <a:tblPr/>
              <a:tblGrid>
                <a:gridCol w="1943100"/>
                <a:gridCol w="4581525"/>
                <a:gridCol w="4295775"/>
              </a:tblGrid>
              <a:tr h="504825">
                <a:tc>
                  <a:txBody>
                    <a:bodyPr/>
                    <a:lstStyle/>
                    <a:p>
                      <a:r>
                        <a:rPr sz="1650" b="1">
                          <a:solidFill>
                            <a:srgbClr val="FFFFFF"/>
                          </a:solidFill>
                          <a:latin typeface="Arial"/>
                          <a:ea typeface="Arial"/>
                          <a:cs typeface="Arial"/>
                        </a:rPr>
                        <a:t>Stage</a:t>
                      </a:r>
                    </a:p>
                  </a:txBody>
                  <a:tcPr marL="91440" marR="91440" marT="45720" marB="45720">
                    <a:solidFill>
                      <a:srgbClr val="183D4B"/>
                    </a:solidFill>
                  </a:tcPr>
                </a:tc>
                <a:tc>
                  <a:txBody>
                    <a:bodyPr/>
                    <a:lstStyle/>
                    <a:p>
                      <a:r>
                        <a:rPr sz="1650" b="1">
                          <a:solidFill>
                            <a:srgbClr val="FFFFFF"/>
                          </a:solidFill>
                          <a:latin typeface="Arial"/>
                          <a:ea typeface="Arial"/>
                          <a:cs typeface="Arial"/>
                        </a:rPr>
                        <a:t>Method or registered tool</a:t>
                      </a:r>
                    </a:p>
                  </a:txBody>
                  <a:tcPr marL="91440" marR="91440" marT="45720" marB="45720">
                    <a:solidFill>
                      <a:srgbClr val="183D4B"/>
                    </a:solidFill>
                  </a:tcPr>
                </a:tc>
                <a:tc>
                  <a:txBody>
                    <a:bodyPr/>
                    <a:lstStyle/>
                    <a:p>
                      <a:r>
                        <a:rPr sz="1650" b="1">
                          <a:solidFill>
                            <a:srgbClr val="FFFFFF"/>
                          </a:solidFill>
                          <a:latin typeface="Arial"/>
                          <a:ea typeface="Arial"/>
                          <a:cs typeface="Arial"/>
                        </a:rPr>
                        <a:t>Visible response</a:t>
                      </a:r>
                    </a:p>
                  </a:txBody>
                  <a:tcPr marL="91440" marR="91440" marT="45720" marB="45720">
                    <a:solidFill>
                      <a:srgbClr val="183D4B"/>
                    </a:solidFill>
                  </a:tcPr>
                </a:tc>
              </a:tr>
              <a:tr h="504825">
                <a:tc>
                  <a:txBody>
                    <a:bodyPr/>
                    <a:lstStyle/>
                    <a:p>
                      <a:r>
                        <a:rPr sz="1650" b="0">
                          <a:solidFill>
                            <a:srgbClr val="183D4B"/>
                          </a:solidFill>
                          <a:latin typeface="Arial"/>
                          <a:ea typeface="Arial"/>
                          <a:cs typeface="Arial"/>
                        </a:rPr>
                        <a:t>Awareness</a:t>
                      </a:r>
                    </a:p>
                  </a:txBody>
                  <a:tcPr marL="91440" marR="91440" marT="45720" marB="45720">
                    <a:solidFill>
                      <a:srgbClr val="FFFFFF"/>
                    </a:solidFill>
                  </a:tcPr>
                </a:tc>
                <a:tc>
                  <a:txBody>
                    <a:bodyPr/>
                    <a:lstStyle/>
                    <a:p>
                      <a:r>
                        <a:rPr sz="1650" b="0">
                          <a:solidFill>
                            <a:srgbClr val="183D4B"/>
                          </a:solidFill>
                          <a:latin typeface="Arial"/>
                          <a:ea typeface="Arial"/>
                          <a:cs typeface="Arial"/>
                        </a:rPr>
                        <a:t>State estimation and data checks</a:t>
                      </a:r>
                    </a:p>
                  </a:txBody>
                  <a:tcPr marL="91440" marR="91440" marT="45720" marB="45720">
                    <a:solidFill>
                      <a:srgbClr val="FFFFFF"/>
                    </a:solidFill>
                  </a:tcPr>
                </a:tc>
                <a:tc>
                  <a:txBody>
                    <a:bodyPr/>
                    <a:lstStyle/>
                    <a:p>
                      <a:r>
                        <a:rPr sz="1650" b="0">
                          <a:solidFill>
                            <a:srgbClr val="183D4B"/>
                          </a:solidFill>
                          <a:latin typeface="Arial"/>
                          <a:ea typeface="Arial"/>
                          <a:cs typeface="Arial"/>
                        </a:rPr>
                        <a:t>Trusted inputs or review reason</a:t>
                      </a:r>
                    </a:p>
                  </a:txBody>
                  <a:tcPr marL="91440" marR="91440" marT="45720" marB="45720">
                    <a:solidFill>
                      <a:srgbClr val="FFFFFF"/>
                    </a:solidFill>
                  </a:tcPr>
                </a:tc>
              </a:tr>
              <a:tr h="504825">
                <a:tc>
                  <a:txBody>
                    <a:bodyPr/>
                    <a:lstStyle/>
                    <a:p>
                      <a:r>
                        <a:rPr sz="1650" b="0">
                          <a:solidFill>
                            <a:srgbClr val="183D4B"/>
                          </a:solidFill>
                          <a:latin typeface="Arial"/>
                          <a:ea typeface="Arial"/>
                          <a:cs typeface="Arial"/>
                        </a:rPr>
                        <a:t>Planning</a:t>
                      </a:r>
                    </a:p>
                  </a:txBody>
                  <a:tcPr marL="91440" marR="91440" marT="45720" marB="45720">
                    <a:solidFill>
                      <a:srgbClr val="EAF2F3"/>
                    </a:solidFill>
                  </a:tcPr>
                </a:tc>
                <a:tc>
                  <a:txBody>
                    <a:bodyPr/>
                    <a:lstStyle/>
                    <a:p>
                      <a:r>
                        <a:rPr sz="1650" b="0">
                          <a:solidFill>
                            <a:srgbClr val="183D4B"/>
                          </a:solidFill>
                          <a:latin typeface="Arial"/>
                          <a:ea typeface="Arial"/>
                          <a:cs typeface="Arial"/>
                        </a:rPr>
                        <a:t>OPF-MPC, MILP and Llama routing</a:t>
                      </a:r>
                    </a:p>
                  </a:txBody>
                  <a:tcPr marL="91440" marR="91440" marT="45720" marB="45720">
                    <a:solidFill>
                      <a:srgbClr val="EAF2F3"/>
                    </a:solidFill>
                  </a:tcPr>
                </a:tc>
                <a:tc>
                  <a:txBody>
                    <a:bodyPr/>
                    <a:lstStyle/>
                    <a:p>
                      <a:r>
                        <a:rPr sz="1650" b="0">
                          <a:solidFill>
                            <a:srgbClr val="183D4B"/>
                          </a:solidFill>
                          <a:latin typeface="Arial"/>
                          <a:ea typeface="Arial"/>
                          <a:cs typeface="Arial"/>
                        </a:rPr>
                        <a:t>Plan and declared constraints</a:t>
                      </a:r>
                    </a:p>
                  </a:txBody>
                  <a:tcPr marL="91440" marR="91440" marT="45720" marB="45720">
                    <a:solidFill>
                      <a:srgbClr val="EAF2F3"/>
                    </a:solidFill>
                  </a:tcPr>
                </a:tc>
              </a:tr>
              <a:tr h="504825">
                <a:tc>
                  <a:txBody>
                    <a:bodyPr/>
                    <a:lstStyle/>
                    <a:p>
                      <a:r>
                        <a:rPr sz="1650" b="0">
                          <a:solidFill>
                            <a:srgbClr val="183D4B"/>
                          </a:solidFill>
                          <a:latin typeface="Arial"/>
                          <a:ea typeface="Arial"/>
                          <a:cs typeface="Arial"/>
                        </a:rPr>
                        <a:t>Execution</a:t>
                      </a:r>
                    </a:p>
                  </a:txBody>
                  <a:tcPr marL="91440" marR="91440" marT="45720" marB="45720">
                    <a:solidFill>
                      <a:srgbClr val="FFFFFF"/>
                    </a:solidFill>
                  </a:tcPr>
                </a:tc>
                <a:tc>
                  <a:txBody>
                    <a:bodyPr/>
                    <a:lstStyle/>
                    <a:p>
                      <a:r>
                        <a:rPr sz="1650" b="0">
                          <a:solidFill>
                            <a:srgbClr val="183D4B"/>
                          </a:solidFill>
                          <a:latin typeface="Arial"/>
                          <a:ea typeface="Arial"/>
                          <a:cs typeface="Arial"/>
                        </a:rPr>
                        <a:t>Solver or DQN proposal</a:t>
                      </a:r>
                    </a:p>
                  </a:txBody>
                  <a:tcPr marL="91440" marR="91440" marT="45720" marB="45720">
                    <a:solidFill>
                      <a:srgbClr val="FFFFFF"/>
                    </a:solidFill>
                  </a:tcPr>
                </a:tc>
                <a:tc>
                  <a:txBody>
                    <a:bodyPr/>
                    <a:lstStyle/>
                    <a:p>
                      <a:r>
                        <a:rPr sz="1650" b="0">
                          <a:solidFill>
                            <a:srgbClr val="183D4B"/>
                          </a:solidFill>
                          <a:latin typeface="Arial"/>
                          <a:ea typeface="Arial"/>
                          <a:cs typeface="Arial"/>
                        </a:rPr>
                        <a:t>Candidate action</a:t>
                      </a:r>
                    </a:p>
                  </a:txBody>
                  <a:tcPr marL="91440" marR="91440" marT="45720" marB="45720">
                    <a:solidFill>
                      <a:srgbClr val="FFFFFF"/>
                    </a:solidFill>
                  </a:tcPr>
                </a:tc>
              </a:tr>
              <a:tr h="504825">
                <a:tc>
                  <a:txBody>
                    <a:bodyPr/>
                    <a:lstStyle/>
                    <a:p>
                      <a:r>
                        <a:rPr sz="1650" b="0">
                          <a:solidFill>
                            <a:srgbClr val="183D4B"/>
                          </a:solidFill>
                          <a:latin typeface="Arial"/>
                          <a:ea typeface="Arial"/>
                          <a:cs typeface="Arial"/>
                        </a:rPr>
                        <a:t>Simulation</a:t>
                      </a:r>
                    </a:p>
                  </a:txBody>
                  <a:tcPr marL="91440" marR="91440" marT="45720" marB="45720">
                    <a:solidFill>
                      <a:srgbClr val="EAF2F3"/>
                    </a:solidFill>
                  </a:tcPr>
                </a:tc>
                <a:tc>
                  <a:txBody>
                    <a:bodyPr/>
                    <a:lstStyle/>
                    <a:p>
                      <a:r>
                        <a:rPr sz="1650" b="0">
                          <a:solidFill>
                            <a:srgbClr val="183D4B"/>
                          </a:solidFill>
                          <a:latin typeface="Arial"/>
                          <a:ea typeface="Arial"/>
                          <a:cs typeface="Arial"/>
                        </a:rPr>
                        <a:t>OpenDSS / 3-phase LinDistFlow</a:t>
                      </a:r>
                    </a:p>
                  </a:txBody>
                  <a:tcPr marL="91440" marR="91440" marT="45720" marB="45720">
                    <a:solidFill>
                      <a:srgbClr val="EAF2F3"/>
                    </a:solidFill>
                  </a:tcPr>
                </a:tc>
                <a:tc>
                  <a:txBody>
                    <a:bodyPr/>
                    <a:lstStyle/>
                    <a:p>
                      <a:r>
                        <a:rPr sz="1650" b="0">
                          <a:solidFill>
                            <a:srgbClr val="183D4B"/>
                          </a:solidFill>
                          <a:latin typeface="Arial"/>
                          <a:ea typeface="Arial"/>
                          <a:cs typeface="Arial"/>
                        </a:rPr>
                        <a:t>Voltages and branch currents</a:t>
                      </a:r>
                    </a:p>
                  </a:txBody>
                  <a:tcPr marL="91440" marR="91440" marT="45720" marB="45720">
                    <a:solidFill>
                      <a:srgbClr val="EAF2F3"/>
                    </a:solidFill>
                  </a:tcPr>
                </a:tc>
              </a:tr>
              <a:tr h="504825">
                <a:tc>
                  <a:txBody>
                    <a:bodyPr/>
                    <a:lstStyle/>
                    <a:p>
                      <a:r>
                        <a:rPr sz="1650" b="0">
                          <a:solidFill>
                            <a:srgbClr val="183D4B"/>
                          </a:solidFill>
                          <a:latin typeface="Arial"/>
                          <a:ea typeface="Arial"/>
                          <a:cs typeface="Arial"/>
                        </a:rPr>
                        <a:t>Verification</a:t>
                      </a:r>
                    </a:p>
                  </a:txBody>
                  <a:tcPr marL="91440" marR="91440" marT="45720" marB="45720">
                    <a:solidFill>
                      <a:srgbClr val="FFFFFF"/>
                    </a:solidFill>
                  </a:tcPr>
                </a:tc>
                <a:tc>
                  <a:txBody>
                    <a:bodyPr/>
                    <a:lstStyle/>
                    <a:p>
                      <a:r>
                        <a:rPr sz="1650" b="0">
                          <a:solidFill>
                            <a:srgbClr val="183D4B"/>
                          </a:solidFill>
                          <a:latin typeface="Arial"/>
                          <a:ea typeface="Arial"/>
                          <a:cs typeface="Arial"/>
                        </a:rPr>
                        <a:t>Declared constraints and scope</a:t>
                      </a:r>
                    </a:p>
                  </a:txBody>
                  <a:tcPr marL="91440" marR="91440" marT="45720" marB="45720">
                    <a:solidFill>
                      <a:srgbClr val="FFFFFF"/>
                    </a:solidFill>
                  </a:tcPr>
                </a:tc>
                <a:tc>
                  <a:txBody>
                    <a:bodyPr/>
                    <a:lstStyle/>
                    <a:p>
                      <a:r>
                        <a:rPr sz="1650" b="0">
                          <a:solidFill>
                            <a:srgbClr val="183D4B"/>
                          </a:solidFill>
                          <a:latin typeface="Arial"/>
                          <a:ea typeface="Arial"/>
                          <a:cs typeface="Arial"/>
                        </a:rPr>
                        <a:t>Accept or reject with reasons</a:t>
                      </a:r>
                    </a:p>
                  </a:txBody>
                  <a:tcPr marL="91440" marR="91440" marT="45720" marB="45720">
                    <a:solidFill>
                      <a:srgbClr val="FFFFFF"/>
                    </a:solidFill>
                  </a:tcPr>
                </a:tc>
              </a:tr>
              <a:tr h="504825">
                <a:tc>
                  <a:txBody>
                    <a:bodyPr/>
                    <a:lstStyle/>
                    <a:p>
                      <a:r>
                        <a:rPr sz="1650" b="0">
                          <a:solidFill>
                            <a:srgbClr val="183D4B"/>
                          </a:solidFill>
                          <a:latin typeface="Arial"/>
                          <a:ea typeface="Arial"/>
                          <a:cs typeface="Arial"/>
                        </a:rPr>
                        <a:t>Recovery</a:t>
                      </a:r>
                    </a:p>
                  </a:txBody>
                  <a:tcPr marL="91440" marR="91440" marT="45720" marB="45720">
                    <a:solidFill>
                      <a:srgbClr val="EAF2F3"/>
                    </a:solidFill>
                  </a:tcPr>
                </a:tc>
                <a:tc>
                  <a:txBody>
                    <a:bodyPr/>
                    <a:lstStyle/>
                    <a:p>
                      <a:r>
                        <a:rPr sz="1650" b="0">
                          <a:solidFill>
                            <a:srgbClr val="183D4B"/>
                          </a:solidFill>
                          <a:latin typeface="Arial"/>
                          <a:ea typeface="Arial"/>
                          <a:cs typeface="Arial"/>
                        </a:rPr>
                        <a:t>Re-solve and Llama critic</a:t>
                      </a:r>
                    </a:p>
                  </a:txBody>
                  <a:tcPr marL="91440" marR="91440" marT="45720" marB="45720">
                    <a:solidFill>
                      <a:srgbClr val="EAF2F3"/>
                    </a:solidFill>
                  </a:tcPr>
                </a:tc>
                <a:tc>
                  <a:txBody>
                    <a:bodyPr/>
                    <a:lstStyle/>
                    <a:p>
                      <a:r>
                        <a:rPr sz="1650" b="0">
                          <a:solidFill>
                            <a:srgbClr val="183D4B"/>
                          </a:solidFill>
                          <a:latin typeface="Arial"/>
                          <a:ea typeface="Arial"/>
                          <a:cs typeface="Arial"/>
                        </a:rPr>
                        <a:t>Retry or request review</a:t>
                      </a:r>
                    </a:p>
                  </a:txBody>
                  <a:tcPr marL="91440" marR="91440" marT="45720" marB="45720">
                    <a:solidFill>
                      <a:srgbClr val="EAF2F3"/>
                    </a:solidFill>
                  </a:tcPr>
                </a:tc>
              </a:tr>
              <a:tr h="504825">
                <a:tc>
                  <a:txBody>
                    <a:bodyPr/>
                    <a:lstStyle/>
                    <a:p>
                      <a:r>
                        <a:rPr sz="1650" b="0">
                          <a:solidFill>
                            <a:srgbClr val="183D4B"/>
                          </a:solidFill>
                          <a:latin typeface="Arial"/>
                          <a:ea typeface="Arial"/>
                          <a:cs typeface="Arial"/>
                        </a:rPr>
                        <a:t>Explanation</a:t>
                      </a:r>
                    </a:p>
                  </a:txBody>
                  <a:tcPr marL="91440" marR="91440" marT="45720" marB="45720">
                    <a:solidFill>
                      <a:srgbClr val="FFFFFF"/>
                    </a:solidFill>
                  </a:tcPr>
                </a:tc>
                <a:tc>
                  <a:txBody>
                    <a:bodyPr/>
                    <a:lstStyle/>
                    <a:p>
                      <a:r>
                        <a:rPr sz="1650" b="0">
                          <a:solidFill>
                            <a:srgbClr val="183D4B"/>
                          </a:solidFill>
                          <a:latin typeface="Arial"/>
                          <a:ea typeface="Arial"/>
                          <a:cs typeface="Arial"/>
                        </a:rPr>
                        <a:t>Metrics and Llama explanation</a:t>
                      </a:r>
                    </a:p>
                  </a:txBody>
                  <a:tcPr marL="91440" marR="91440" marT="45720" marB="45720">
                    <a:solidFill>
                      <a:srgbClr val="FFFFFF"/>
                    </a:solidFill>
                  </a:tcPr>
                </a:tc>
                <a:tc>
                  <a:txBody>
                    <a:bodyPr/>
                    <a:lstStyle/>
                    <a:p>
                      <a:r>
                        <a:rPr sz="1650" b="0">
                          <a:solidFill>
                            <a:srgbClr val="183D4B"/>
                          </a:solidFill>
                          <a:latin typeface="Arial"/>
                          <a:ea typeface="Arial"/>
                          <a:cs typeface="Arial"/>
                        </a:rPr>
                        <a:t>Decision and remaining limits</a:t>
                      </a:r>
                    </a:p>
                  </a:txBody>
                  <a:tcPr marL="91440" marR="91440" marT="45720" marB="45720">
                    <a:solidFill>
                      <a:srgbClr val="FFFFFF"/>
                    </a:solidFill>
                  </a:tcPr>
                </a:tc>
              </a:tr>
              <a:tr h="504825">
                <a:tc>
                  <a:txBody>
                    <a:bodyPr/>
                    <a:lstStyle/>
                    <a:p>
                      <a:r>
                        <a:rPr sz="1650" b="0">
                          <a:solidFill>
                            <a:srgbClr val="183D4B"/>
                          </a:solidFill>
                          <a:latin typeface="Arial"/>
                          <a:ea typeface="Arial"/>
                          <a:cs typeface="Arial"/>
                        </a:rPr>
                        <a:t>Acknowledgment</a:t>
                      </a:r>
                    </a:p>
                  </a:txBody>
                  <a:tcPr marL="91440" marR="91440" marT="45720" marB="45720">
                    <a:solidFill>
                      <a:srgbClr val="EAF2F3"/>
                    </a:solidFill>
                  </a:tcPr>
                </a:tc>
                <a:tc>
                  <a:txBody>
                    <a:bodyPr/>
                    <a:lstStyle/>
                    <a:p>
                      <a:r>
                        <a:rPr sz="1650" b="0">
                          <a:solidFill>
                            <a:srgbClr val="183D4B"/>
                          </a:solidFill>
                          <a:latin typeface="Arial"/>
                          <a:ea typeface="Arial"/>
                          <a:cs typeface="Arial"/>
                        </a:rPr>
                        <a:t>Local result-hash readback</a:t>
                      </a:r>
                    </a:p>
                  </a:txBody>
                  <a:tcPr marL="91440" marR="91440" marT="45720" marB="45720">
                    <a:solidFill>
                      <a:srgbClr val="EAF2F3"/>
                    </a:solidFill>
                  </a:tcPr>
                </a:tc>
                <a:tc>
                  <a:txBody>
                    <a:bodyPr/>
                    <a:lstStyle/>
                    <a:p>
                      <a:r>
                        <a:rPr sz="1650" b="0">
                          <a:solidFill>
                            <a:srgbClr val="183D4B"/>
                          </a:solidFill>
                          <a:latin typeface="Arial"/>
                          <a:ea typeface="Arial"/>
                          <a:cs typeface="Arial"/>
                        </a:rPr>
                        <a:t>Pending or recorded review</a:t>
                      </a:r>
                    </a:p>
                  </a:txBody>
                  <a:tcPr marL="91440" marR="91440" marT="45720" marB="45720">
                    <a:solidFill>
                      <a:srgbClr val="EAF2F3"/>
                    </a:solidFill>
                  </a:tcPr>
                </a:tc>
              </a:tr>
            </a:tbl>
          </a:graphicData>
        </a:graphic>
      </p:graphicFrame>
      <p:sp>
        <p:nvSpPr>
          <p:cNvPr id="3" name="">
            <a:extLst xmlns:a="http://schemas.openxmlformats.org/drawingml/2006/main">
              <a:ext uri="{FF2B5EF4-FFF2-40B4-BE49-F238E27FC236}">
                <a16:creationId xmlns:a16="http://schemas.microsoft.com/office/drawing/2014/main" id="{5D45D45C-D3E4-448E-9BB5-CCE655CC72D1}"/>
              </a:ext>
            </a:extLst>
          </p:cNvPr>
          <p:cNvSpPr>
            <a:spLocks xmlns:a="http://schemas.openxmlformats.org/drawingml/2006/main" noGrp="1"/>
          </p:cNvSpPr>
          <p:nvPr/>
        </p:nvSpPr>
        <p:spPr>
          <a:xfrm xmlns:a="http://schemas.openxmlformats.org/drawingml/2006/main">
            <a:off x="704850" y="6143625"/>
            <a:ext cx="10620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74"/>
                </a:solidFill>
                <a:latin typeface="Arial"/>
                <a:ea typeface="Arial"/>
                <a:cs typeface="Arial"/>
              </a:defRPr>
            </a:pPr>
            <a:r>
              <a:rPr sz="1500" b="0">
                <a:solidFill>
                  <a:srgbClr val="526874"/>
                </a:solidFill>
                <a:latin typeface="Arial"/>
                <a:ea typeface="Arial"/>
                <a:cs typeface="Arial"/>
              </a:rPr>
              <a:t>Numerical tools solve the engineering problem. Each agent response stays in the recorded trace.</a:t>
            </a:r>
          </a:p>
        </p:txBody>
      </p:sp>
      <p:sp>
        <p:nvSpPr>
          <p:cNvPr id="4" name="">
            <a:extLst xmlns:a="http://schemas.openxmlformats.org/drawingml/2006/main">
              <a:ext uri="{FF2B5EF4-FFF2-40B4-BE49-F238E27FC236}">
                <a16:creationId xmlns:a16="http://schemas.microsoft.com/office/drawing/2014/main" id="{4CAFC7CE-BB9C-4017-ABD9-2BBA6E032B27}"/>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09</a:t>
            </a:r>
          </a:p>
        </p:txBody>
      </p:sp>
    </p:spTree>
    <p:extLst>
      <p:ext uri="{BB962C8B-B14F-4D97-AF65-F5344CB8AC3E}">
        <p14:creationId xmlns:p14="http://schemas.microsoft.com/office/powerpoint/2010/main" val="1675869348"/>
      </p:ext>
    </p:extLst>
  </p:cSld>
</p:sld>
</file>

<file path=ppt/slides/slide10.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FA2F908-D925-440C-B53D-017E140431CC}"/>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Voltage support as three-phase Volt/VAR OPF</a:t>
            </a:r>
          </a:p>
        </p:txBody>
      </p:sp>
      <p:sp>
        <p:nvSpPr>
          <p:cNvPr id="2" name="">
            <a:extLst xmlns:a="http://schemas.openxmlformats.org/drawingml/2006/main">
              <a:ext uri="{FF2B5EF4-FFF2-40B4-BE49-F238E27FC236}">
                <a16:creationId xmlns:a16="http://schemas.microsoft.com/office/drawing/2014/main" id="{161FB0D5-19AC-4068-8CC9-D240A273463E}"/>
              </a:ext>
            </a:extLst>
          </p:cNvPr>
          <p:cNvSpPr>
            <a:spLocks xmlns:a="http://schemas.openxmlformats.org/drawingml/2006/main" noGrp="1"/>
          </p:cNvSpPr>
          <p:nvPr/>
        </p:nvSpPr>
        <p:spPr>
          <a:xfrm xmlns:a="http://schemas.openxmlformats.org/drawingml/2006/main">
            <a:off x="742950" y="16954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B7F"/>
                </a:solidFill>
                <a:latin typeface="Arial"/>
                <a:ea typeface="Arial"/>
                <a:cs typeface="Arial"/>
              </a:defRPr>
            </a:pPr>
            <a:r>
              <a:rPr sz="2325" b="1">
                <a:solidFill>
                  <a:srgbClr val="007B7F"/>
                </a:solidFill>
                <a:latin typeface="Arial"/>
                <a:ea typeface="Arial"/>
                <a:cs typeface="Arial"/>
              </a:rPr>
              <a:t>minimize   Σ [ aᵥ (|Vᵢφ| − Vref)² + aₚ (pavail − p) + aᵤ ‖Δu‖² ]</a:t>
            </a:r>
          </a:p>
        </p:txBody>
      </p:sp>
      <p:sp>
        <p:nvSpPr>
          <p:cNvPr id="3" name="">
            <a:extLst xmlns:a="http://schemas.openxmlformats.org/drawingml/2006/main">
              <a:ext uri="{FF2B5EF4-FFF2-40B4-BE49-F238E27FC236}">
                <a16:creationId xmlns:a16="http://schemas.microsoft.com/office/drawing/2014/main" id="{C871B00D-9E1C-45C5-93DB-0098E679118C}"/>
              </a:ext>
            </a:extLst>
          </p:cNvPr>
          <p:cNvSpPr>
            <a:spLocks xmlns:a="http://schemas.openxmlformats.org/drawingml/2006/main" noGrp="1"/>
          </p:cNvSpPr>
          <p:nvPr/>
        </p:nvSpPr>
        <p:spPr>
          <a:xfrm xmlns:a="http://schemas.openxmlformats.org/drawingml/2006/main">
            <a:off x="742950" y="2647950"/>
            <a:ext cx="10629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D4B"/>
                </a:solidFill>
                <a:latin typeface="Arial"/>
                <a:ea typeface="Arial"/>
                <a:cs typeface="Arial"/>
              </a:defRPr>
            </a:pPr>
            <a:r>
              <a:rPr sz="2325" b="0">
                <a:solidFill>
                  <a:srgbClr val="183D4B"/>
                </a:solidFill>
                <a:latin typeface="Arial"/>
                <a:ea typeface="Arial"/>
                <a:cs typeface="Arial"/>
              </a:rPr>
              <a:t>subject to   F₃φ(V, p, q, d) = 0</a:t>
            </a:r>
          </a:p>
        </p:txBody>
      </p:sp>
      <p:sp>
        <p:nvSpPr>
          <p:cNvPr id="4" name="">
            <a:extLst xmlns:a="http://schemas.openxmlformats.org/drawingml/2006/main">
              <a:ext uri="{FF2B5EF4-FFF2-40B4-BE49-F238E27FC236}">
                <a16:creationId xmlns:a16="http://schemas.microsoft.com/office/drawing/2014/main" id="{207D54AB-0EE9-470F-90AC-4F396C8CE502}"/>
              </a:ext>
            </a:extLst>
          </p:cNvPr>
          <p:cNvSpPr>
            <a:spLocks xmlns:a="http://schemas.openxmlformats.org/drawingml/2006/main" noGrp="1"/>
          </p:cNvSpPr>
          <p:nvPr/>
        </p:nvSpPr>
        <p:spPr>
          <a:xfrm xmlns:a="http://schemas.openxmlformats.org/drawingml/2006/main">
            <a:off x="742950" y="3400425"/>
            <a:ext cx="10629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D4B"/>
                </a:solidFill>
                <a:latin typeface="Arial"/>
                <a:ea typeface="Arial"/>
                <a:cs typeface="Arial"/>
              </a:defRPr>
            </a:pPr>
            <a:r>
              <a:rPr sz="2325" b="0">
                <a:solidFill>
                  <a:srgbClr val="183D4B"/>
                </a:solidFill>
                <a:latin typeface="Arial"/>
                <a:ea typeface="Arial"/>
                <a:cs typeface="Arial"/>
              </a:rPr>
              <a:t>Vmin ≤ |Vᵢφ| ≤ Vmax        |Iℓφ| ≤ Imax</a:t>
            </a:r>
          </a:p>
        </p:txBody>
      </p:sp>
      <p:sp>
        <p:nvSpPr>
          <p:cNvPr id="5" name="">
            <a:extLst xmlns:a="http://schemas.openxmlformats.org/drawingml/2006/main">
              <a:ext uri="{FF2B5EF4-FFF2-40B4-BE49-F238E27FC236}">
                <a16:creationId xmlns:a16="http://schemas.microsoft.com/office/drawing/2014/main" id="{7A886426-C45D-40F6-972F-3824EB781383}"/>
              </a:ext>
            </a:extLst>
          </p:cNvPr>
          <p:cNvSpPr>
            <a:spLocks xmlns:a="http://schemas.openxmlformats.org/drawingml/2006/main" noGrp="1"/>
          </p:cNvSpPr>
          <p:nvPr/>
        </p:nvSpPr>
        <p:spPr>
          <a:xfrm xmlns:a="http://schemas.openxmlformats.org/drawingml/2006/main">
            <a:off x="742950" y="4114800"/>
            <a:ext cx="10629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D4B"/>
                </a:solidFill>
                <a:latin typeface="Arial"/>
                <a:ea typeface="Arial"/>
                <a:cs typeface="Arial"/>
              </a:defRPr>
            </a:pPr>
            <a:r>
              <a:rPr sz="2325" b="0">
                <a:solidFill>
                  <a:srgbClr val="183D4B"/>
                </a:solidFill>
                <a:latin typeface="Arial"/>
                <a:ea typeface="Arial"/>
                <a:cs typeface="Arial"/>
              </a:rPr>
              <a:t>0 ≤ p ≤ pavail        p² + q² ≤ S²        u ∈ U</a:t>
            </a:r>
          </a:p>
        </p:txBody>
      </p:sp>
      <p:sp>
        <p:nvSpPr>
          <p:cNvPr id="6" name="">
            <a:extLst xmlns:a="http://schemas.openxmlformats.org/drawingml/2006/main">
              <a:ext uri="{FF2B5EF4-FFF2-40B4-BE49-F238E27FC236}">
                <a16:creationId xmlns:a16="http://schemas.microsoft.com/office/drawing/2014/main" id="{DAB21FE2-9278-42E9-949A-7ED30086B98F}"/>
              </a:ext>
            </a:extLst>
          </p:cNvPr>
          <p:cNvSpPr>
            <a:spLocks xmlns:a="http://schemas.openxmlformats.org/drawingml/2006/main" noGrp="1"/>
          </p:cNvSpPr>
          <p:nvPr/>
        </p:nvSpPr>
        <p:spPr>
          <a:xfrm xmlns:a="http://schemas.openxmlformats.org/drawingml/2006/main">
            <a:off x="742950" y="50387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D4B"/>
                </a:solidFill>
                <a:latin typeface="Arial"/>
                <a:ea typeface="Arial"/>
                <a:cs typeface="Arial"/>
              </a:defRPr>
            </a:pPr>
            <a:r>
              <a:rPr sz="2100" b="0">
                <a:solidFill>
                  <a:srgbClr val="183D4B"/>
                </a:solidFill>
                <a:latin typeface="Arial"/>
                <a:ea typeface="Arial"/>
                <a:cs typeface="Arial"/>
              </a:rPr>
              <a:t>u contains controllable P/Q setpoints and any modeled discrete devices.</a:t>
            </a:r>
          </a:p>
        </p:txBody>
      </p:sp>
      <p:sp>
        <p:nvSpPr>
          <p:cNvPr id="7" name="">
            <a:extLst xmlns:a="http://schemas.openxmlformats.org/drawingml/2006/main">
              <a:ext uri="{FF2B5EF4-FFF2-40B4-BE49-F238E27FC236}">
                <a16:creationId xmlns:a16="http://schemas.microsoft.com/office/drawing/2014/main" id="{411EA167-9A11-4C9A-B2E7-8C87DF2094F1}"/>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The chosen network model and device constraints determine what a feasible result means.</a:t>
            </a:r>
          </a:p>
        </p:txBody>
      </p:sp>
      <p:sp>
        <p:nvSpPr>
          <p:cNvPr id="8" name="">
            <a:extLst xmlns:a="http://schemas.openxmlformats.org/drawingml/2006/main">
              <a:ext uri="{FF2B5EF4-FFF2-40B4-BE49-F238E27FC236}">
                <a16:creationId xmlns:a16="http://schemas.microsoft.com/office/drawing/2014/main" id="{9F61927B-A0CD-43D8-9028-0253B5411982}"/>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10</a:t>
            </a:r>
          </a:p>
        </p:txBody>
      </p:sp>
    </p:spTree>
    <p:extLst>
      <p:ext uri="{BB962C8B-B14F-4D97-AF65-F5344CB8AC3E}">
        <p14:creationId xmlns:p14="http://schemas.microsoft.com/office/powerpoint/2010/main" val="1040741665"/>
      </p:ext>
    </p:extLst>
  </p:cSld>
</p:sld>
</file>

<file path=ppt/slides/slide1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25F11A-3014-4A76-9A04-B2F2E4703848}"/>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Receding-horizon MPC</a:t>
            </a:r>
          </a:p>
        </p:txBody>
      </p:sp>
      <p:sp>
        <p:nvSpPr>
          <p:cNvPr id="2" name="">
            <a:extLst xmlns:a="http://schemas.openxmlformats.org/drawingml/2006/main">
              <a:ext uri="{FF2B5EF4-FFF2-40B4-BE49-F238E27FC236}">
                <a16:creationId xmlns:a16="http://schemas.microsoft.com/office/drawing/2014/main" id="{2B79FDAF-F9B1-4FF0-B0EA-6DAA250ACA5A}"/>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E60DDD49-1D93-4A3C-AF89-BA7EB89E289F}"/>
              </a:ext>
            </a:extLst>
          </p:cNvPr>
          <p:cNvSpPr>
            <a:spLocks xmlns:a="http://schemas.openxmlformats.org/drawingml/2006/main" noGrp="1"/>
          </p:cNvSpPr>
          <p:nvPr/>
        </p:nvSpPr>
        <p:spPr>
          <a:xfrm xmlns:a="http://schemas.openxmlformats.org/drawingml/2006/main">
            <a:off x="742950" y="53149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007B7F"/>
                </a:solidFill>
                <a:latin typeface="Arial"/>
                <a:ea typeface="Arial"/>
                <a:cs typeface="Arial"/>
              </a:defRPr>
            </a:pPr>
            <a:r>
              <a:rPr sz="1650" b="1">
                <a:solidFill>
                  <a:srgbClr val="007B7F"/>
                </a:solidFill>
                <a:latin typeface="Arial"/>
                <a:ea typeface="Arial"/>
                <a:cs typeface="Arial"/>
              </a:rPr>
              <a:t>Optimize a P/Q horizon, apply its first action, update the state and solve again.</a:t>
            </a:r>
          </a:p>
        </p:txBody>
      </p:sp>
      <p:sp>
        <p:nvSpPr>
          <p:cNvPr id="5" name="">
            <a:extLst xmlns:a="http://schemas.openxmlformats.org/drawingml/2006/main">
              <a:ext uri="{FF2B5EF4-FFF2-40B4-BE49-F238E27FC236}">
                <a16:creationId xmlns:a16="http://schemas.microsoft.com/office/drawing/2014/main" id="{B664C014-0532-4B42-88F8-C2EEC28578C4}"/>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Chart: the restricted three-step active PV-cap plan from the recorded OpenDSS run.</a:t>
            </a:r>
          </a:p>
        </p:txBody>
      </p:sp>
      <p:sp>
        <p:nvSpPr>
          <p:cNvPr id="8" name="">
            <a:extLst xmlns:a="http://schemas.openxmlformats.org/drawingml/2006/main">
              <a:ext uri="{FF2B5EF4-FFF2-40B4-BE49-F238E27FC236}">
                <a16:creationId xmlns:a16="http://schemas.microsoft.com/office/drawing/2014/main" id="{49649C89-388A-4C54-A1CD-7E0D684E40BC}"/>
              </a:ext>
            </a:extLst>
          </p:cNvPr>
          <p:cNvSpPr>
            <a:spLocks xmlns:a="http://schemas.openxmlformats.org/drawingml/2006/main" noGrp="1"/>
          </p:cNvSpPr>
          <p:nvPr/>
        </p:nvSpPr>
        <p:spPr>
          <a:xfrm xmlns:a="http://schemas.openxmlformats.org/drawingml/2006/main">
            <a:off x="742950" y="13811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B7F"/>
                </a:solidFill>
                <a:latin typeface="Arial"/>
                <a:ea typeface="Arial"/>
                <a:cs typeface="Arial"/>
              </a:defRPr>
            </a:pPr>
            <a:r>
              <a:rPr sz="2100" b="1">
                <a:solidFill>
                  <a:srgbClr val="007B7F"/>
                </a:solidFill>
                <a:latin typeface="Arial"/>
                <a:ea typeface="Arial"/>
                <a:cs typeface="Arial"/>
              </a:rPr>
              <a:t>minimize  Σₖ₌₀ᴴ⁻¹ Jₖ     subject to constraints across the horizon</a:t>
            </a:r>
          </a:p>
        </p:txBody>
      </p:sp>
      <p:graphicFrame>
        <p:nvGraphicFramePr>
          <p:cNvPr id="15" name="Chart"/>
          <p:cNvGraphicFramePr/>
          <p:nvPr/>
        </p:nvGraphicFramePr>
        <p:xfrm>
          <a:off xmlns:a="http://schemas.openxmlformats.org/drawingml/2006/main" x="723900" y="2095500"/>
          <a:ext xmlns:a="http://schemas.openxmlformats.org/drawingml/2006/main" cx="10668000" cy="3086100"/>
        </p:xfrm>
        <a:graphic xmlns:a="http://schemas.openxmlformats.org/drawingml/2006/main">
          <a:graphicData uri="http://schemas.openxmlformats.org/drawingml/2006/chart">
            <c:chart xmlns:r="http://schemas.openxmlformats.org/officeDocument/2006/relationships" xmlns:c="http://schemas.openxmlformats.org/drawingml/2006/chart" r:id="Rf277ca21071347d2"/>
          </a:graphicData>
        </a:graphic>
      </p:graphicFrame>
    </p:spTree>
    <p:extLst>
      <p:ext uri="{BB962C8B-B14F-4D97-AF65-F5344CB8AC3E}">
        <p14:creationId xmlns:p14="http://schemas.microsoft.com/office/powerpoint/2010/main" val="87358344"/>
      </p:ext>
    </p:extLst>
  </p:cSld>
</p:sld>
</file>

<file path=ppt/slides/slide1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C842EF-6940-491C-B06D-A21F5954054B}"/>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A restricted DRL execution tool</a:t>
            </a:r>
          </a:p>
        </p:txBody>
      </p:sp>
      <p:sp>
        <p:nvSpPr>
          <p:cNvPr id="2" name="">
            <a:extLst xmlns:a="http://schemas.openxmlformats.org/drawingml/2006/main">
              <a:ext uri="{FF2B5EF4-FFF2-40B4-BE49-F238E27FC236}">
                <a16:creationId xmlns:a16="http://schemas.microsoft.com/office/drawing/2014/main" id="{244AC6E9-826C-4441-940A-22892980D675}"/>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13303C4B-1EC6-4AB0-B8FB-1A4D8FABB495}"/>
              </a:ext>
            </a:extLst>
          </p:cNvPr>
          <p:cNvSpPr>
            <a:spLocks xmlns:a="http://schemas.openxmlformats.org/drawingml/2006/main" noGrp="1"/>
          </p:cNvSpPr>
          <p:nvPr/>
        </p:nvSpPr>
        <p:spPr>
          <a:xfrm xmlns:a="http://schemas.openxmlformats.org/drawingml/2006/main">
            <a:off x="742950" y="3190875"/>
            <a:ext cx="106299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Observation: three forecast loads, previous cap, rating fraction and remaining episode fraction.</a:t>
            </a:r>
          </a:p>
        </p:txBody>
      </p:sp>
      <p:sp>
        <p:nvSpPr>
          <p:cNvPr id="4" name="">
            <a:extLst xmlns:a="http://schemas.openxmlformats.org/drawingml/2006/main">
              <a:ext uri="{FF2B5EF4-FFF2-40B4-BE49-F238E27FC236}">
                <a16:creationId xmlns:a16="http://schemas.microsoft.com/office/drawing/2014/main" id="{F008BAC6-5864-4EFE-863A-772BFE208C9E}"/>
              </a:ext>
            </a:extLst>
          </p:cNvPr>
          <p:cNvSpPr>
            <a:spLocks xmlns:a="http://schemas.openxmlformats.org/drawingml/2006/main" noGrp="1"/>
          </p:cNvSpPr>
          <p:nvPr/>
        </p:nvSpPr>
        <p:spPr>
          <a:xfrm xmlns:a="http://schemas.openxmlformats.org/drawingml/2006/main">
            <a:off x="742950" y="4305300"/>
            <a:ext cx="106299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Network: 6 inputs, two 48-unit hidden layers and 8 action values.</a:t>
            </a:r>
          </a:p>
        </p:txBody>
      </p:sp>
      <p:sp>
        <p:nvSpPr>
          <p:cNvPr id="5" name="">
            <a:extLst xmlns:a="http://schemas.openxmlformats.org/drawingml/2006/main">
              <a:ext uri="{FF2B5EF4-FFF2-40B4-BE49-F238E27FC236}">
                <a16:creationId xmlns:a16="http://schemas.microsoft.com/office/drawing/2014/main" id="{53A79E79-ACE9-4A62-9B05-781E5A1CA60A}"/>
              </a:ext>
            </a:extLst>
          </p:cNvPr>
          <p:cNvSpPr>
            <a:spLocks xmlns:a="http://schemas.openxmlformats.org/drawingml/2006/main" noGrp="1"/>
          </p:cNvSpPr>
          <p:nvPr/>
        </p:nvSpPr>
        <p:spPr>
          <a:xfrm xmlns:a="http://schemas.openxmlformats.org/drawingml/2006/main">
            <a:off x="714375" y="182880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007B7F"/>
                </a:solidFill>
                <a:latin typeface="Arial"/>
                <a:ea typeface="Arial"/>
                <a:cs typeface="Arial"/>
              </a:defRPr>
            </a:pPr>
            <a:r>
              <a:rPr sz="3225" b="1">
                <a:solidFill>
                  <a:srgbClr val="007B7F"/>
                </a:solidFill>
                <a:latin typeface="Arial"/>
                <a:ea typeface="Arial"/>
                <a:cs typeface="Arial"/>
              </a:rPr>
              <a:t>aₜ = arg maxₐ Qθ(oₜ, a)</a:t>
            </a:r>
          </a:p>
        </p:txBody>
      </p:sp>
      <p:sp>
        <p:nvSpPr>
          <p:cNvPr id="6" name="">
            <a:extLst xmlns:a="http://schemas.openxmlformats.org/drawingml/2006/main">
              <a:ext uri="{FF2B5EF4-FFF2-40B4-BE49-F238E27FC236}">
                <a16:creationId xmlns:a16="http://schemas.microsoft.com/office/drawing/2014/main" id="{6C3B7CC4-0AA1-4D52-BBCF-6D0DB1B92678}"/>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The same seed-11 AC-trained policy is used in both routes. The linear route tests policy transfer.</a:t>
            </a:r>
          </a:p>
        </p:txBody>
      </p:sp>
    </p:spTree>
    <p:extLst>
      <p:ext uri="{BB962C8B-B14F-4D97-AF65-F5344CB8AC3E}">
        <p14:creationId xmlns:p14="http://schemas.microsoft.com/office/powerpoint/2010/main" val="230593917"/>
      </p:ext>
    </p:extLst>
  </p:cSld>
</p:sld>
</file>

<file path=ppt/slides/slide13.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EC2EEE-3194-45BC-822D-3CCB85E78AD5}"/>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Reward and engineering feasibility</a:t>
            </a:r>
          </a:p>
        </p:txBody>
      </p:sp>
      <p:sp>
        <p:nvSpPr>
          <p:cNvPr id="2" name="">
            <a:extLst xmlns:a="http://schemas.openxmlformats.org/drawingml/2006/main">
              <a:ext uri="{FF2B5EF4-FFF2-40B4-BE49-F238E27FC236}">
                <a16:creationId xmlns:a16="http://schemas.microsoft.com/office/drawing/2014/main" id="{77504FF5-25A7-4A98-A6BE-EB9A56538B6F}"/>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435A2BBE-ABB2-42CC-A7F2-BDB7F1FBE048}"/>
              </a:ext>
            </a:extLst>
          </p:cNvPr>
          <p:cNvSpPr>
            <a:spLocks xmlns:a="http://schemas.openxmlformats.org/drawingml/2006/main" noGrp="1"/>
          </p:cNvSpPr>
          <p:nvPr/>
        </p:nvSpPr>
        <p:spPr>
          <a:xfrm xmlns:a="http://schemas.openxmlformats.org/drawingml/2006/main">
            <a:off x="742950" y="1809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Training rewards feasible PV delivery and penalizes cap movement.</a:t>
            </a:r>
          </a:p>
        </p:txBody>
      </p:sp>
      <p:sp>
        <p:nvSpPr>
          <p:cNvPr id="4" name="">
            <a:extLst xmlns:a="http://schemas.openxmlformats.org/drawingml/2006/main">
              <a:ext uri="{FF2B5EF4-FFF2-40B4-BE49-F238E27FC236}">
                <a16:creationId xmlns:a16="http://schemas.microsoft.com/office/drawing/2014/main" id="{52E38233-AF0B-495E-88CB-803005689BDB}"/>
              </a:ext>
            </a:extLst>
          </p:cNvPr>
          <p:cNvSpPr>
            <a:spLocks xmlns:a="http://schemas.openxmlformats.org/drawingml/2006/main" noGrp="1"/>
          </p:cNvSpPr>
          <p:nvPr/>
        </p:nvSpPr>
        <p:spPr>
          <a:xfrm xmlns:a="http://schemas.openxmlformats.org/drawingml/2006/main">
            <a:off x="742950" y="2952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An infeasible training action receives a penalty.</a:t>
            </a:r>
          </a:p>
        </p:txBody>
      </p:sp>
      <p:sp>
        <p:nvSpPr>
          <p:cNvPr id="5" name="">
            <a:extLst xmlns:a="http://schemas.openxmlformats.org/drawingml/2006/main">
              <a:ext uri="{FF2B5EF4-FFF2-40B4-BE49-F238E27FC236}">
                <a16:creationId xmlns:a16="http://schemas.microsoft.com/office/drawing/2014/main" id="{9A92A549-4C29-4812-ABD2-3B8035ADB2FD}"/>
              </a:ext>
            </a:extLst>
          </p:cNvPr>
          <p:cNvSpPr>
            <a:spLocks xmlns:a="http://schemas.openxmlformats.org/drawingml/2006/main" noGrp="1"/>
          </p:cNvSpPr>
          <p:nvPr/>
        </p:nvSpPr>
        <p:spPr>
          <a:xfrm xmlns:a="http://schemas.openxmlformats.org/drawingml/2006/main">
            <a:off x="742950" y="4095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The learned reward estimate does not override the fresh engineering checks.</a:t>
            </a:r>
          </a:p>
        </p:txBody>
      </p:sp>
      <p:sp>
        <p:nvSpPr>
          <p:cNvPr id="6" name="">
            <a:extLst xmlns:a="http://schemas.openxmlformats.org/drawingml/2006/main">
              <a:ext uri="{FF2B5EF4-FFF2-40B4-BE49-F238E27FC236}">
                <a16:creationId xmlns:a16="http://schemas.microsoft.com/office/drawing/2014/main" id="{9785E81C-3A09-417B-B25A-01856FA2CDF5}"/>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A small nominal training domain does not establish generalization to changed ratings or topology.</a:t>
            </a:r>
          </a:p>
        </p:txBody>
      </p:sp>
    </p:spTree>
    <p:extLst>
      <p:ext uri="{BB962C8B-B14F-4D97-AF65-F5344CB8AC3E}">
        <p14:creationId xmlns:p14="http://schemas.microsoft.com/office/powerpoint/2010/main" val="81943320"/>
      </p:ext>
    </p:extLst>
  </p:cSld>
</p:sld>
</file>

<file path=ppt/slides/slide14.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E2CA3F-8A7F-4D00-85A2-89C08DF98853}"/>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Restricted DQN proposal and fresh verification</a:t>
            </a:r>
          </a:p>
        </p:txBody>
      </p:sp>
      <p:sp>
        <p:nvSpPr>
          <p:cNvPr id="2" name="">
            <a:extLst xmlns:a="http://schemas.openxmlformats.org/drawingml/2006/main">
              <a:ext uri="{FF2B5EF4-FFF2-40B4-BE49-F238E27FC236}">
                <a16:creationId xmlns:a16="http://schemas.microsoft.com/office/drawing/2014/main" id="{2D3F0A2F-6235-4F91-8041-BAA1C10A9020}"/>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14</a:t>
            </a:r>
          </a:p>
        </p:txBody>
      </p:sp>
      <p:graphicFrame>
        <p:nvGraphicFramePr>
          <p:cNvPr id="10" name=""/>
          <p:cNvGraphicFramePr/>
          <p:nvPr/>
        </p:nvGraphicFramePr>
        <p:xfrm>
          <a:off xmlns:a="http://schemas.openxmlformats.org/drawingml/2006/main" x="685800" y="1809750"/>
          <a:ext xmlns:a="http://schemas.openxmlformats.org/drawingml/2006/main" cx="10820400" cy="2714625"/>
        </p:xfrm>
        <a:graphic xmlns:a="http://schemas.openxmlformats.org/drawingml/2006/main">
          <a:graphicData uri="http://schemas.openxmlformats.org/drawingml/2006/table">
            <a:tbl>
              <a:tblPr/>
              <a:tblGrid>
                <a:gridCol w="2476500"/>
                <a:gridCol w="1905000"/>
                <a:gridCol w="3771900"/>
                <a:gridCol w="2667000"/>
              </a:tblGrid>
              <a:tr h="904875">
                <a:tc>
                  <a:txBody>
                    <a:bodyPr/>
                    <a:lstStyle/>
                    <a:p>
                      <a:r>
                        <a:rPr sz="2100" b="1">
                          <a:solidFill>
                            <a:srgbClr val="FFFFFF"/>
                          </a:solidFill>
                          <a:latin typeface="Arial"/>
                          <a:ea typeface="Arial"/>
                          <a:cs typeface="Arial"/>
                        </a:rPr>
                        <a:t>Candidate</a:t>
                      </a:r>
                    </a:p>
                  </a:txBody>
                  <a:tcPr marL="91440" marR="91440" marT="45720" marB="45720">
                    <a:solidFill>
                      <a:srgbClr val="183D4B"/>
                    </a:solidFill>
                  </a:tcPr>
                </a:tc>
                <a:tc>
                  <a:txBody>
                    <a:bodyPr/>
                    <a:lstStyle/>
                    <a:p>
                      <a:r>
                        <a:rPr sz="2100" b="1">
                          <a:solidFill>
                            <a:srgbClr val="FFFFFF"/>
                          </a:solidFill>
                          <a:latin typeface="Arial"/>
                          <a:ea typeface="Arial"/>
                          <a:cs typeface="Arial"/>
                        </a:rPr>
                        <a:t>PV cap</a:t>
                      </a:r>
                    </a:p>
                  </a:txBody>
                  <a:tcPr marL="91440" marR="91440" marT="45720" marB="45720">
                    <a:solidFill>
                      <a:srgbClr val="183D4B"/>
                    </a:solidFill>
                  </a:tcPr>
                </a:tc>
                <a:tc>
                  <a:txBody>
                    <a:bodyPr/>
                    <a:lstStyle/>
                    <a:p>
                      <a:r>
                        <a:rPr sz="2100" b="1">
                          <a:solidFill>
                            <a:srgbClr val="FFFFFF"/>
                          </a:solidFill>
                          <a:latin typeface="Arial"/>
                          <a:ea typeface="Arial"/>
                          <a:cs typeface="Arial"/>
                        </a:rPr>
                        <a:t>Maximum loading</a:t>
                      </a:r>
                    </a:p>
                  </a:txBody>
                  <a:tcPr marL="91440" marR="91440" marT="45720" marB="45720">
                    <a:solidFill>
                      <a:srgbClr val="183D4B"/>
                    </a:solidFill>
                  </a:tcPr>
                </a:tc>
                <a:tc>
                  <a:txBody>
                    <a:bodyPr/>
                    <a:lstStyle/>
                    <a:p>
                      <a:r>
                        <a:rPr sz="2100" b="1">
                          <a:solidFill>
                            <a:srgbClr val="FFFFFF"/>
                          </a:solidFill>
                          <a:latin typeface="Arial"/>
                          <a:ea typeface="Arial"/>
                          <a:cs typeface="Arial"/>
                        </a:rPr>
                        <a:t>Gate</a:t>
                      </a:r>
                    </a:p>
                  </a:txBody>
                  <a:tcPr marL="91440" marR="91440" marT="45720" marB="45720">
                    <a:solidFill>
                      <a:srgbClr val="183D4B"/>
                    </a:solidFill>
                  </a:tcPr>
                </a:tc>
              </a:tr>
              <a:tr h="904875">
                <a:tc>
                  <a:txBody>
                    <a:bodyPr/>
                    <a:lstStyle/>
                    <a:p>
                      <a:r>
                        <a:rPr sz="2100" b="0">
                          <a:solidFill>
                            <a:srgbClr val="183D4B"/>
                          </a:solidFill>
                          <a:latin typeface="Arial"/>
                          <a:ea typeface="Arial"/>
                          <a:cs typeface="Arial"/>
                        </a:rPr>
                        <a:t>DRL</a:t>
                      </a:r>
                    </a:p>
                  </a:txBody>
                  <a:tcPr marL="91440" marR="91440" marT="45720" marB="45720">
                    <a:solidFill>
                      <a:srgbClr val="FFFFFF"/>
                    </a:solidFill>
                  </a:tcPr>
                </a:tc>
                <a:tc>
                  <a:txBody>
                    <a:bodyPr/>
                    <a:lstStyle/>
                    <a:p>
                      <a:r>
                        <a:rPr sz="2100" b="0">
                          <a:solidFill>
                            <a:srgbClr val="183D4B"/>
                          </a:solidFill>
                          <a:latin typeface="Arial"/>
                          <a:ea typeface="Arial"/>
                          <a:cs typeface="Arial"/>
                        </a:rPr>
                        <a:t>30%</a:t>
                      </a:r>
                    </a:p>
                  </a:txBody>
                  <a:tcPr marL="91440" marR="91440" marT="45720" marB="45720">
                    <a:solidFill>
                      <a:srgbClr val="FFFFFF"/>
                    </a:solidFill>
                  </a:tcPr>
                </a:tc>
                <a:tc>
                  <a:txBody>
                    <a:bodyPr/>
                    <a:lstStyle/>
                    <a:p>
                      <a:r>
                        <a:rPr sz="2100" b="0">
                          <a:solidFill>
                            <a:srgbClr val="183D4B"/>
                          </a:solidFill>
                          <a:latin typeface="Arial"/>
                          <a:ea typeface="Arial"/>
                          <a:cs typeface="Arial"/>
                        </a:rPr>
                        <a:t>109.5%</a:t>
                      </a:r>
                    </a:p>
                  </a:txBody>
                  <a:tcPr marL="91440" marR="91440" marT="45720" marB="45720">
                    <a:solidFill>
                      <a:srgbClr val="FFFFFF"/>
                    </a:solidFill>
                  </a:tcPr>
                </a:tc>
                <a:tc>
                  <a:txBody>
                    <a:bodyPr/>
                    <a:lstStyle/>
                    <a:p>
                      <a:r>
                        <a:rPr sz="2100" b="0">
                          <a:solidFill>
                            <a:srgbClr val="183D4B"/>
                          </a:solidFill>
                          <a:latin typeface="Arial"/>
                          <a:ea typeface="Arial"/>
                          <a:cs typeface="Arial"/>
                        </a:rPr>
                        <a:t>Reject</a:t>
                      </a:r>
                    </a:p>
                  </a:txBody>
                  <a:tcPr marL="91440" marR="91440" marT="45720" marB="45720">
                    <a:solidFill>
                      <a:srgbClr val="FFFFFF"/>
                    </a:solidFill>
                  </a:tcPr>
                </a:tc>
              </a:tr>
              <a:tr h="904875">
                <a:tc>
                  <a:txBody>
                    <a:bodyPr/>
                    <a:lstStyle/>
                    <a:p>
                      <a:r>
                        <a:rPr sz="2100" b="0">
                          <a:solidFill>
                            <a:srgbClr val="183D4B"/>
                          </a:solidFill>
                          <a:latin typeface="Arial"/>
                          <a:ea typeface="Arial"/>
                          <a:cs typeface="Arial"/>
                        </a:rPr>
                        <a:t>MPC</a:t>
                      </a:r>
                    </a:p>
                  </a:txBody>
                  <a:tcPr marL="91440" marR="91440" marT="45720" marB="45720">
                    <a:solidFill>
                      <a:srgbClr val="EAF2F3"/>
                    </a:solidFill>
                  </a:tcPr>
                </a:tc>
                <a:tc>
                  <a:txBody>
                    <a:bodyPr/>
                    <a:lstStyle/>
                    <a:p>
                      <a:r>
                        <a:rPr sz="2100" b="0">
                          <a:solidFill>
                            <a:srgbClr val="183D4B"/>
                          </a:solidFill>
                          <a:latin typeface="Arial"/>
                          <a:ea typeface="Arial"/>
                          <a:cs typeface="Arial"/>
                        </a:rPr>
                        <a:t>20%</a:t>
                      </a:r>
                    </a:p>
                  </a:txBody>
                  <a:tcPr marL="91440" marR="91440" marT="45720" marB="45720">
                    <a:solidFill>
                      <a:srgbClr val="EAF2F3"/>
                    </a:solidFill>
                  </a:tcPr>
                </a:tc>
                <a:tc>
                  <a:txBody>
                    <a:bodyPr/>
                    <a:lstStyle/>
                    <a:p>
                      <a:r>
                        <a:rPr sz="2100" b="0">
                          <a:solidFill>
                            <a:srgbClr val="183D4B"/>
                          </a:solidFill>
                          <a:latin typeface="Arial"/>
                          <a:ea typeface="Arial"/>
                          <a:cs typeface="Arial"/>
                        </a:rPr>
                        <a:t>66.5%</a:t>
                      </a:r>
                    </a:p>
                  </a:txBody>
                  <a:tcPr marL="91440" marR="91440" marT="45720" marB="45720">
                    <a:solidFill>
                      <a:srgbClr val="EAF2F3"/>
                    </a:solidFill>
                  </a:tcPr>
                </a:tc>
                <a:tc>
                  <a:txBody>
                    <a:bodyPr/>
                    <a:lstStyle/>
                    <a:p>
                      <a:r>
                        <a:rPr sz="2100" b="0">
                          <a:solidFill>
                            <a:srgbClr val="183D4B"/>
                          </a:solidFill>
                          <a:latin typeface="Arial"/>
                          <a:ea typeface="Arial"/>
                          <a:cs typeface="Arial"/>
                        </a:rPr>
                        <a:t>Accept</a:t>
                      </a:r>
                    </a:p>
                  </a:txBody>
                  <a:tcPr marL="91440" marR="91440" marT="45720" marB="45720">
                    <a:solidFill>
                      <a:srgbClr val="EAF2F3"/>
                    </a:solidFill>
                  </a:tcPr>
                </a:tc>
              </a:tr>
            </a:tbl>
          </a:graphicData>
        </a:graphic>
      </p:graphicFrame>
      <p:sp>
        <p:nvSpPr>
          <p:cNvPr id="4" name="">
            <a:extLst xmlns:a="http://schemas.openxmlformats.org/drawingml/2006/main">
              <a:ext uri="{FF2B5EF4-FFF2-40B4-BE49-F238E27FC236}">
                <a16:creationId xmlns:a16="http://schemas.microsoft.com/office/drawing/2014/main" id="{8635B742-2C8E-4F8E-808B-7A7E56518CF0}"/>
              </a:ext>
            </a:extLst>
          </p:cNvPr>
          <p:cNvSpPr>
            <a:spLocks xmlns:a="http://schemas.openxmlformats.org/drawingml/2006/main" noGrp="1"/>
          </p:cNvSpPr>
          <p:nvPr/>
        </p:nvSpPr>
        <p:spPr>
          <a:xfrm xmlns:a="http://schemas.openxmlformats.org/drawingml/2006/main">
            <a:off x="742950" y="53149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007B7F"/>
                </a:solidFill>
                <a:latin typeface="Arial"/>
                <a:ea typeface="Arial"/>
                <a:cs typeface="Arial"/>
              </a:defRPr>
            </a:pPr>
            <a:r>
              <a:rPr sz="1650" b="1">
                <a:solidFill>
                  <a:srgbClr val="007B7F"/>
                </a:solidFill>
                <a:latin typeface="Arial"/>
                <a:ea typeface="Arial"/>
                <a:cs typeface="Arial"/>
              </a:rPr>
              <a:t>Current rating = 80% of the nominal line rating. Voltage passes for both candidates.</a:t>
            </a:r>
          </a:p>
        </p:txBody>
      </p:sp>
      <p:sp>
        <p:nvSpPr>
          <p:cNvPr id="5" name="">
            <a:extLst xmlns:a="http://schemas.openxmlformats.org/drawingml/2006/main">
              <a:ext uri="{FF2B5EF4-FFF2-40B4-BE49-F238E27FC236}">
                <a16:creationId xmlns:a16="http://schemas.microsoft.com/office/drawing/2014/main" id="{774C48B5-43E2-42A4-A1B4-07A9BFDB72F9}"/>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Acceptance requires complete evidence and all implemented checks to pass.</a:t>
            </a:r>
          </a:p>
        </p:txBody>
      </p:sp>
    </p:spTree>
    <p:extLst>
      <p:ext uri="{BB962C8B-B14F-4D97-AF65-F5344CB8AC3E}">
        <p14:creationId xmlns:p14="http://schemas.microsoft.com/office/powerpoint/2010/main" val="1232864639"/>
      </p:ext>
    </p:extLst>
  </p:cSld>
</p:sld>
</file>

<file path=ppt/slides/slide15.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4CF073-11F4-4BFA-89AC-E78DB9864CAE}"/>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Continuous P/Q optimization on the feeder</a:t>
            </a:r>
          </a:p>
        </p:txBody>
      </p:sp>
      <p:graphicFrame>
        <p:nvGraphicFramePr>
          <p:cNvPr id="7" name=""/>
          <p:cNvGraphicFramePr/>
          <p:nvPr/>
        </p:nvGraphicFramePr>
        <p:xfrm>
          <a:off xmlns:a="http://schemas.openxmlformats.org/drawingml/2006/main" x="685800" y="1619250"/>
          <a:ext xmlns:a="http://schemas.openxmlformats.org/drawingml/2006/main" cx="10820400" cy="3705225"/>
        </p:xfrm>
        <a:graphic xmlns:a="http://schemas.openxmlformats.org/drawingml/2006/main">
          <a:graphicData uri="http://schemas.openxmlformats.org/drawingml/2006/table">
            <a:tbl>
              <a:tblPr/>
              <a:tblGrid>
                <a:gridCol w="3152775"/>
                <a:gridCol w="1333500"/>
                <a:gridCol w="1466850"/>
                <a:gridCol w="1695450"/>
                <a:gridCol w="1628775"/>
                <a:gridCol w="1543050"/>
              </a:tblGrid>
              <a:tr h="617538">
                <a:tc>
                  <a:txBody>
                    <a:bodyPr/>
                    <a:lstStyle/>
                    <a:p>
                      <a:r>
                        <a:rPr sz="1800" b="1">
                          <a:solidFill>
                            <a:srgbClr val="FFFFFF"/>
                          </a:solidFill>
                          <a:latin typeface="Arial"/>
                          <a:ea typeface="Arial"/>
                          <a:cs typeface="Arial"/>
                        </a:rPr>
                        <a:t>Model / action</a:t>
                      </a:r>
                    </a:p>
                  </a:txBody>
                  <a:tcPr marL="91440" marR="91440" marT="45720" marB="45720">
                    <a:solidFill>
                      <a:srgbClr val="183D4B"/>
                    </a:solidFill>
                  </a:tcPr>
                </a:tc>
                <a:tc>
                  <a:txBody>
                    <a:bodyPr/>
                    <a:lstStyle/>
                    <a:p>
                      <a:r>
                        <a:rPr sz="1800" b="1">
                          <a:solidFill>
                            <a:srgbClr val="FFFFFF"/>
                          </a:solidFill>
                          <a:latin typeface="Arial"/>
                          <a:ea typeface="Arial"/>
                          <a:cs typeface="Arial"/>
                        </a:rPr>
                        <a:t>P (MW)</a:t>
                      </a:r>
                    </a:p>
                  </a:txBody>
                  <a:tcPr marL="91440" marR="91440" marT="45720" marB="45720">
                    <a:solidFill>
                      <a:srgbClr val="183D4B"/>
                    </a:solidFill>
                  </a:tcPr>
                </a:tc>
                <a:tc>
                  <a:txBody>
                    <a:bodyPr/>
                    <a:lstStyle/>
                    <a:p>
                      <a:r>
                        <a:rPr sz="1800" b="1">
                          <a:solidFill>
                            <a:srgbClr val="FFFFFF"/>
                          </a:solidFill>
                          <a:latin typeface="Arial"/>
                          <a:ea typeface="Arial"/>
                          <a:cs typeface="Arial"/>
                        </a:rPr>
                        <a:t>Q (MVAr)</a:t>
                      </a:r>
                    </a:p>
                  </a:txBody>
                  <a:tcPr marL="91440" marR="91440" marT="45720" marB="45720">
                    <a:solidFill>
                      <a:srgbClr val="183D4B"/>
                    </a:solidFill>
                  </a:tcPr>
                </a:tc>
                <a:tc>
                  <a:txBody>
                    <a:bodyPr/>
                    <a:lstStyle/>
                    <a:p>
                      <a:r>
                        <a:rPr sz="1800" b="1">
                          <a:solidFill>
                            <a:srgbClr val="FFFFFF"/>
                          </a:solidFill>
                          <a:latin typeface="Arial"/>
                          <a:ea typeface="Arial"/>
                          <a:cs typeface="Arial"/>
                        </a:rPr>
                        <a:t>Max V (pu)</a:t>
                      </a:r>
                    </a:p>
                  </a:txBody>
                  <a:tcPr marL="91440" marR="91440" marT="45720" marB="45720">
                    <a:solidFill>
                      <a:srgbClr val="183D4B"/>
                    </a:solidFill>
                  </a:tcPr>
                </a:tc>
                <a:tc>
                  <a:txBody>
                    <a:bodyPr/>
                    <a:lstStyle/>
                    <a:p>
                      <a:r>
                        <a:rPr sz="1800" b="1">
                          <a:solidFill>
                            <a:srgbClr val="FFFFFF"/>
                          </a:solidFill>
                          <a:latin typeface="Arial"/>
                          <a:ea typeface="Arial"/>
                          <a:cs typeface="Arial"/>
                        </a:rPr>
                        <a:t>Line (%)</a:t>
                      </a:r>
                    </a:p>
                  </a:txBody>
                  <a:tcPr marL="91440" marR="91440" marT="45720" marB="45720">
                    <a:solidFill>
                      <a:srgbClr val="183D4B"/>
                    </a:solidFill>
                  </a:tcPr>
                </a:tc>
                <a:tc>
                  <a:txBody>
                    <a:bodyPr/>
                    <a:lstStyle/>
                    <a:p>
                      <a:r>
                        <a:rPr sz="1800" b="1">
                          <a:solidFill>
                            <a:srgbClr val="FFFFFF"/>
                          </a:solidFill>
                          <a:latin typeface="Arial"/>
                          <a:ea typeface="Arial"/>
                          <a:cs typeface="Arial"/>
                        </a:rPr>
                        <a:t>Screen</a:t>
                      </a:r>
                    </a:p>
                  </a:txBody>
                  <a:tcPr marL="91440" marR="91440" marT="45720" marB="45720">
                    <a:solidFill>
                      <a:srgbClr val="183D4B"/>
                    </a:solidFill>
                  </a:tcPr>
                </a:tc>
              </a:tr>
              <a:tr h="617538">
                <a:tc>
                  <a:txBody>
                    <a:bodyPr/>
                    <a:lstStyle/>
                    <a:p>
                      <a:r>
                        <a:rPr sz="1800" b="0">
                          <a:solidFill>
                            <a:srgbClr val="183D4B"/>
                          </a:solidFill>
                          <a:latin typeface="Arial"/>
                          <a:ea typeface="Arial"/>
                          <a:cs typeface="Arial"/>
                        </a:rPr>
                        <a:t>OpenDSS / full PV</a:t>
                      </a:r>
                    </a:p>
                  </a:txBody>
                  <a:tcPr marL="91440" marR="91440" marT="45720" marB="45720">
                    <a:solidFill>
                      <a:srgbClr val="FFFFFF"/>
                    </a:solidFill>
                  </a:tcPr>
                </a:tc>
                <a:tc>
                  <a:txBody>
                    <a:bodyPr/>
                    <a:lstStyle/>
                    <a:p>
                      <a:r>
                        <a:rPr sz="1800" b="0">
                          <a:solidFill>
                            <a:srgbClr val="183D4B"/>
                          </a:solidFill>
                          <a:latin typeface="Arial"/>
                          <a:ea typeface="Arial"/>
                          <a:cs typeface="Arial"/>
                        </a:rPr>
                        <a:t>7.850</a:t>
                      </a:r>
                    </a:p>
                  </a:txBody>
                  <a:tcPr marL="91440" marR="91440" marT="45720" marB="45720">
                    <a:solidFill>
                      <a:srgbClr val="FFFFFF"/>
                    </a:solidFill>
                  </a:tcPr>
                </a:tc>
                <a:tc>
                  <a:txBody>
                    <a:bodyPr/>
                    <a:lstStyle/>
                    <a:p>
                      <a:r>
                        <a:rPr sz="1800" b="0">
                          <a:solidFill>
                            <a:srgbClr val="183D4B"/>
                          </a:solidFill>
                          <a:latin typeface="Arial"/>
                          <a:ea typeface="Arial"/>
                          <a:cs typeface="Arial"/>
                        </a:rPr>
                        <a:t>0.000</a:t>
                      </a:r>
                    </a:p>
                  </a:txBody>
                  <a:tcPr marL="91440" marR="91440" marT="45720" marB="45720">
                    <a:solidFill>
                      <a:srgbClr val="FFFFFF"/>
                    </a:solidFill>
                  </a:tcPr>
                </a:tc>
                <a:tc>
                  <a:txBody>
                    <a:bodyPr/>
                    <a:lstStyle/>
                    <a:p>
                      <a:r>
                        <a:rPr sz="1800" b="0">
                          <a:solidFill>
                            <a:srgbClr val="183D4B"/>
                          </a:solidFill>
                          <a:latin typeface="Arial"/>
                          <a:ea typeface="Arial"/>
                          <a:cs typeface="Arial"/>
                        </a:rPr>
                        <a:t>1.108</a:t>
                      </a:r>
                    </a:p>
                  </a:txBody>
                  <a:tcPr marL="91440" marR="91440" marT="45720" marB="45720">
                    <a:solidFill>
                      <a:srgbClr val="FFFFFF"/>
                    </a:solidFill>
                  </a:tcPr>
                </a:tc>
                <a:tc>
                  <a:txBody>
                    <a:bodyPr/>
                    <a:lstStyle/>
                    <a:p>
                      <a:r>
                        <a:rPr sz="1800" b="0">
                          <a:solidFill>
                            <a:srgbClr val="183D4B"/>
                          </a:solidFill>
                          <a:latin typeface="Arial"/>
                          <a:ea typeface="Arial"/>
                          <a:cs typeface="Arial"/>
                        </a:rPr>
                        <a:t>283.0</a:t>
                      </a:r>
                    </a:p>
                  </a:txBody>
                  <a:tcPr marL="91440" marR="91440" marT="45720" marB="45720">
                    <a:solidFill>
                      <a:srgbClr val="FFFFFF"/>
                    </a:solidFill>
                  </a:tcPr>
                </a:tc>
                <a:tc>
                  <a:txBody>
                    <a:bodyPr/>
                    <a:lstStyle/>
                    <a:p>
                      <a:r>
                        <a:rPr sz="1800" b="0">
                          <a:solidFill>
                            <a:srgbClr val="183D4B"/>
                          </a:solidFill>
                          <a:latin typeface="Arial"/>
                          <a:ea typeface="Arial"/>
                          <a:cs typeface="Arial"/>
                        </a:rPr>
                        <a:t>Fail</a:t>
                      </a:r>
                    </a:p>
                  </a:txBody>
                  <a:tcPr marL="91440" marR="91440" marT="45720" marB="45720">
                    <a:solidFill>
                      <a:srgbClr val="FFFFFF"/>
                    </a:solidFill>
                  </a:tcPr>
                </a:tc>
              </a:tr>
              <a:tr h="617538">
                <a:tc>
                  <a:txBody>
                    <a:bodyPr/>
                    <a:lstStyle/>
                    <a:p>
                      <a:r>
                        <a:rPr sz="1800" b="0">
                          <a:solidFill>
                            <a:srgbClr val="183D4B"/>
                          </a:solidFill>
                          <a:latin typeface="Arial"/>
                          <a:ea typeface="Arial"/>
                          <a:cs typeface="Arial"/>
                        </a:rPr>
                        <a:t>OpenDSS / QP point</a:t>
                      </a:r>
                    </a:p>
                  </a:txBody>
                  <a:tcPr marL="91440" marR="91440" marT="45720" marB="45720">
                    <a:solidFill>
                      <a:srgbClr val="EAF2F3"/>
                    </a:solidFill>
                  </a:tcPr>
                </a:tc>
                <a:tc>
                  <a:txBody>
                    <a:bodyPr/>
                    <a:lstStyle/>
                    <a:p>
                      <a:r>
                        <a:rPr sz="1800" b="0">
                          <a:solidFill>
                            <a:srgbClr val="183D4B"/>
                          </a:solidFill>
                          <a:latin typeface="Arial"/>
                          <a:ea typeface="Arial"/>
                          <a:cs typeface="Arial"/>
                        </a:rPr>
                        <a:t>2.904</a:t>
                      </a:r>
                    </a:p>
                  </a:txBody>
                  <a:tcPr marL="91440" marR="91440" marT="45720" marB="45720">
                    <a:solidFill>
                      <a:srgbClr val="EAF2F3"/>
                    </a:solidFill>
                  </a:tcPr>
                </a:tc>
                <a:tc>
                  <a:txBody>
                    <a:bodyPr/>
                    <a:lstStyle/>
                    <a:p>
                      <a:r>
                        <a:rPr sz="1800" b="0">
                          <a:solidFill>
                            <a:srgbClr val="183D4B"/>
                          </a:solidFill>
                          <a:latin typeface="Arial"/>
                          <a:ea typeface="Arial"/>
                          <a:cs typeface="Arial"/>
                        </a:rPr>
                        <a:t>0.346</a:t>
                      </a:r>
                    </a:p>
                  </a:txBody>
                  <a:tcPr marL="91440" marR="91440" marT="45720" marB="45720">
                    <a:solidFill>
                      <a:srgbClr val="EAF2F3"/>
                    </a:solidFill>
                  </a:tcPr>
                </a:tc>
                <a:tc>
                  <a:txBody>
                    <a:bodyPr/>
                    <a:lstStyle/>
                    <a:p>
                      <a:r>
                        <a:rPr sz="1800" b="0">
                          <a:solidFill>
                            <a:srgbClr val="183D4B"/>
                          </a:solidFill>
                          <a:latin typeface="Arial"/>
                          <a:ea typeface="Arial"/>
                          <a:cs typeface="Arial"/>
                        </a:rPr>
                        <a:t>1.043</a:t>
                      </a:r>
                    </a:p>
                  </a:txBody>
                  <a:tcPr marL="91440" marR="91440" marT="45720" marB="45720">
                    <a:solidFill>
                      <a:srgbClr val="EAF2F3"/>
                    </a:solidFill>
                  </a:tcPr>
                </a:tc>
                <a:tc>
                  <a:txBody>
                    <a:bodyPr/>
                    <a:lstStyle/>
                    <a:p>
                      <a:r>
                        <a:rPr sz="1800" b="0">
                          <a:solidFill>
                            <a:srgbClr val="183D4B"/>
                          </a:solidFill>
                          <a:latin typeface="Arial"/>
                          <a:ea typeface="Arial"/>
                          <a:cs typeface="Arial"/>
                        </a:rPr>
                        <a:t>99.9</a:t>
                      </a:r>
                    </a:p>
                  </a:txBody>
                  <a:tcPr marL="91440" marR="91440" marT="45720" marB="45720">
                    <a:solidFill>
                      <a:srgbClr val="EAF2F3"/>
                    </a:solidFill>
                  </a:tcPr>
                </a:tc>
                <a:tc>
                  <a:txBody>
                    <a:bodyPr/>
                    <a:lstStyle/>
                    <a:p>
                      <a:r>
                        <a:rPr sz="1800" b="0">
                          <a:solidFill>
                            <a:srgbClr val="183D4B"/>
                          </a:solidFill>
                          <a:latin typeface="Arial"/>
                          <a:ea typeface="Arial"/>
                          <a:cs typeface="Arial"/>
                        </a:rPr>
                        <a:t>Pass</a:t>
                      </a:r>
                    </a:p>
                  </a:txBody>
                  <a:tcPr marL="91440" marR="91440" marT="45720" marB="45720">
                    <a:solidFill>
                      <a:srgbClr val="EAF2F3"/>
                    </a:solidFill>
                  </a:tcPr>
                </a:tc>
              </a:tr>
              <a:tr h="617538">
                <a:tc>
                  <a:txBody>
                    <a:bodyPr/>
                    <a:lstStyle/>
                    <a:p>
                      <a:r>
                        <a:rPr sz="1800" b="0">
                          <a:solidFill>
                            <a:srgbClr val="183D4B"/>
                          </a:solidFill>
                          <a:latin typeface="Arial"/>
                          <a:ea typeface="Arial"/>
                          <a:cs typeface="Arial"/>
                        </a:rPr>
                        <a:t>MV linear / full PV</a:t>
                      </a:r>
                    </a:p>
                  </a:txBody>
                  <a:tcPr marL="91440" marR="91440" marT="45720" marB="45720">
                    <a:solidFill>
                      <a:srgbClr val="FFFFFF"/>
                    </a:solidFill>
                  </a:tcPr>
                </a:tc>
                <a:tc>
                  <a:txBody>
                    <a:bodyPr/>
                    <a:lstStyle/>
                    <a:p>
                      <a:r>
                        <a:rPr sz="1800" b="0">
                          <a:solidFill>
                            <a:srgbClr val="183D4B"/>
                          </a:solidFill>
                          <a:latin typeface="Arial"/>
                          <a:ea typeface="Arial"/>
                          <a:cs typeface="Arial"/>
                        </a:rPr>
                        <a:t>7.850</a:t>
                      </a:r>
                    </a:p>
                  </a:txBody>
                  <a:tcPr marL="91440" marR="91440" marT="45720" marB="45720">
                    <a:solidFill>
                      <a:srgbClr val="FFFFFF"/>
                    </a:solidFill>
                  </a:tcPr>
                </a:tc>
                <a:tc>
                  <a:txBody>
                    <a:bodyPr/>
                    <a:lstStyle/>
                    <a:p>
                      <a:r>
                        <a:rPr sz="1800" b="0">
                          <a:solidFill>
                            <a:srgbClr val="183D4B"/>
                          </a:solidFill>
                          <a:latin typeface="Arial"/>
                          <a:ea typeface="Arial"/>
                          <a:cs typeface="Arial"/>
                        </a:rPr>
                        <a:t>0.000</a:t>
                      </a:r>
                    </a:p>
                  </a:txBody>
                  <a:tcPr marL="91440" marR="91440" marT="45720" marB="45720">
                    <a:solidFill>
                      <a:srgbClr val="FFFFFF"/>
                    </a:solidFill>
                  </a:tcPr>
                </a:tc>
                <a:tc>
                  <a:txBody>
                    <a:bodyPr/>
                    <a:lstStyle/>
                    <a:p>
                      <a:r>
                        <a:rPr sz="1800" b="0">
                          <a:solidFill>
                            <a:srgbClr val="183D4B"/>
                          </a:solidFill>
                          <a:latin typeface="Arial"/>
                          <a:ea typeface="Arial"/>
                          <a:cs typeface="Arial"/>
                        </a:rPr>
                        <a:t>1.048</a:t>
                      </a:r>
                    </a:p>
                  </a:txBody>
                  <a:tcPr marL="91440" marR="91440" marT="45720" marB="45720">
                    <a:solidFill>
                      <a:srgbClr val="FFFFFF"/>
                    </a:solidFill>
                  </a:tcPr>
                </a:tc>
                <a:tc>
                  <a:txBody>
                    <a:bodyPr/>
                    <a:lstStyle/>
                    <a:p>
                      <a:r>
                        <a:rPr sz="1800" b="0">
                          <a:solidFill>
                            <a:srgbClr val="183D4B"/>
                          </a:solidFill>
                          <a:latin typeface="Arial"/>
                          <a:ea typeface="Arial"/>
                          <a:cs typeface="Arial"/>
                        </a:rPr>
                        <a:t>60.8</a:t>
                      </a:r>
                    </a:p>
                  </a:txBody>
                  <a:tcPr marL="91440" marR="91440" marT="45720" marB="45720">
                    <a:solidFill>
                      <a:srgbClr val="FFFFFF"/>
                    </a:solidFill>
                  </a:tcPr>
                </a:tc>
                <a:tc>
                  <a:txBody>
                    <a:bodyPr/>
                    <a:lstStyle/>
                    <a:p>
                      <a:r>
                        <a:rPr sz="1800" b="0">
                          <a:solidFill>
                            <a:srgbClr val="183D4B"/>
                          </a:solidFill>
                          <a:latin typeface="Arial"/>
                          <a:ea typeface="Arial"/>
                          <a:cs typeface="Arial"/>
                        </a:rPr>
                        <a:t>Pass</a:t>
                      </a:r>
                    </a:p>
                  </a:txBody>
                  <a:tcPr marL="91440" marR="91440" marT="45720" marB="45720">
                    <a:solidFill>
                      <a:srgbClr val="FFFFFF"/>
                    </a:solidFill>
                  </a:tcPr>
                </a:tc>
              </a:tr>
              <a:tr h="617538">
                <a:tc>
                  <a:txBody>
                    <a:bodyPr/>
                    <a:lstStyle/>
                    <a:p>
                      <a:r>
                        <a:rPr sz="1800" b="0">
                          <a:solidFill>
                            <a:srgbClr val="183D4B"/>
                          </a:solidFill>
                          <a:latin typeface="Arial"/>
                          <a:ea typeface="Arial"/>
                          <a:cs typeface="Arial"/>
                        </a:rPr>
                        <a:t>MV linear / QP point</a:t>
                      </a:r>
                    </a:p>
                  </a:txBody>
                  <a:tcPr marL="91440" marR="91440" marT="45720" marB="45720">
                    <a:solidFill>
                      <a:srgbClr val="EAF2F3"/>
                    </a:solidFill>
                  </a:tcPr>
                </a:tc>
                <a:tc>
                  <a:txBody>
                    <a:bodyPr/>
                    <a:lstStyle/>
                    <a:p>
                      <a:r>
                        <a:rPr sz="1800" b="0">
                          <a:solidFill>
                            <a:srgbClr val="183D4B"/>
                          </a:solidFill>
                          <a:latin typeface="Arial"/>
                          <a:ea typeface="Arial"/>
                          <a:cs typeface="Arial"/>
                        </a:rPr>
                        <a:t>7.727</a:t>
                      </a:r>
                    </a:p>
                  </a:txBody>
                  <a:tcPr marL="91440" marR="91440" marT="45720" marB="45720">
                    <a:solidFill>
                      <a:srgbClr val="EAF2F3"/>
                    </a:solidFill>
                  </a:tcPr>
                </a:tc>
                <a:tc>
                  <a:txBody>
                    <a:bodyPr/>
                    <a:lstStyle/>
                    <a:p>
                      <a:r>
                        <a:rPr sz="1800" b="0">
                          <a:solidFill>
                            <a:srgbClr val="183D4B"/>
                          </a:solidFill>
                          <a:latin typeface="Arial"/>
                          <a:ea typeface="Arial"/>
                          <a:cs typeface="Arial"/>
                        </a:rPr>
                        <a:t>-1.249</a:t>
                      </a:r>
                    </a:p>
                  </a:txBody>
                  <a:tcPr marL="91440" marR="91440" marT="45720" marB="45720">
                    <a:solidFill>
                      <a:srgbClr val="EAF2F3"/>
                    </a:solidFill>
                  </a:tcPr>
                </a:tc>
                <a:tc>
                  <a:txBody>
                    <a:bodyPr/>
                    <a:lstStyle/>
                    <a:p>
                      <a:r>
                        <a:rPr sz="1800" b="0">
                          <a:solidFill>
                            <a:srgbClr val="183D4B"/>
                          </a:solidFill>
                          <a:latin typeface="Arial"/>
                          <a:ea typeface="Arial"/>
                          <a:cs typeface="Arial"/>
                        </a:rPr>
                        <a:t>1.037</a:t>
                      </a:r>
                    </a:p>
                  </a:txBody>
                  <a:tcPr marL="91440" marR="91440" marT="45720" marB="45720">
                    <a:solidFill>
                      <a:srgbClr val="EAF2F3"/>
                    </a:solidFill>
                  </a:tcPr>
                </a:tc>
                <a:tc>
                  <a:txBody>
                    <a:bodyPr/>
                    <a:lstStyle/>
                    <a:p>
                      <a:r>
                        <a:rPr sz="1800" b="0">
                          <a:solidFill>
                            <a:srgbClr val="183D4B"/>
                          </a:solidFill>
                          <a:latin typeface="Arial"/>
                          <a:ea typeface="Arial"/>
                          <a:cs typeface="Arial"/>
                        </a:rPr>
                        <a:t>65.3</a:t>
                      </a:r>
                    </a:p>
                  </a:txBody>
                  <a:tcPr marL="91440" marR="91440" marT="45720" marB="45720">
                    <a:solidFill>
                      <a:srgbClr val="EAF2F3"/>
                    </a:solidFill>
                  </a:tcPr>
                </a:tc>
                <a:tc>
                  <a:txBody>
                    <a:bodyPr/>
                    <a:lstStyle/>
                    <a:p>
                      <a:r>
                        <a:rPr sz="1800" b="0">
                          <a:solidFill>
                            <a:srgbClr val="183D4B"/>
                          </a:solidFill>
                          <a:latin typeface="Arial"/>
                          <a:ea typeface="Arial"/>
                          <a:cs typeface="Arial"/>
                        </a:rPr>
                        <a:t>Pass</a:t>
                      </a:r>
                    </a:p>
                  </a:txBody>
                  <a:tcPr marL="91440" marR="91440" marT="45720" marB="45720">
                    <a:solidFill>
                      <a:srgbClr val="EAF2F3"/>
                    </a:solidFill>
                  </a:tcPr>
                </a:tc>
              </a:tr>
              <a:tr h="617538">
                <a:tc>
                  <a:txBody>
                    <a:bodyPr/>
                    <a:lstStyle/>
                    <a:p>
                      <a:r>
                        <a:rPr sz="1800" b="0">
                          <a:solidFill>
                            <a:srgbClr val="183D4B"/>
                          </a:solidFill>
                          <a:latin typeface="Arial"/>
                          <a:ea typeface="Arial"/>
                          <a:cs typeface="Arial"/>
                        </a:rPr>
                        <a:t>MV point / AC audit</a:t>
                      </a:r>
                    </a:p>
                  </a:txBody>
                  <a:tcPr marL="91440" marR="91440" marT="45720" marB="45720">
                    <a:solidFill>
                      <a:srgbClr val="FFFFFF"/>
                    </a:solidFill>
                  </a:tcPr>
                </a:tc>
                <a:tc>
                  <a:txBody>
                    <a:bodyPr/>
                    <a:lstStyle/>
                    <a:p>
                      <a:r>
                        <a:rPr sz="1800" b="0">
                          <a:solidFill>
                            <a:srgbClr val="183D4B"/>
                          </a:solidFill>
                          <a:latin typeface="Arial"/>
                          <a:ea typeface="Arial"/>
                          <a:cs typeface="Arial"/>
                        </a:rPr>
                        <a:t>7.727</a:t>
                      </a:r>
                    </a:p>
                  </a:txBody>
                  <a:tcPr marL="91440" marR="91440" marT="45720" marB="45720">
                    <a:solidFill>
                      <a:srgbClr val="FFFFFF"/>
                    </a:solidFill>
                  </a:tcPr>
                </a:tc>
                <a:tc>
                  <a:txBody>
                    <a:bodyPr/>
                    <a:lstStyle/>
                    <a:p>
                      <a:r>
                        <a:rPr sz="1800" b="0">
                          <a:solidFill>
                            <a:srgbClr val="183D4B"/>
                          </a:solidFill>
                          <a:latin typeface="Arial"/>
                          <a:ea typeface="Arial"/>
                          <a:cs typeface="Arial"/>
                        </a:rPr>
                        <a:t>-1.249</a:t>
                      </a:r>
                    </a:p>
                  </a:txBody>
                  <a:tcPr marL="91440" marR="91440" marT="45720" marB="45720">
                    <a:solidFill>
                      <a:srgbClr val="FFFFFF"/>
                    </a:solidFill>
                  </a:tcPr>
                </a:tc>
                <a:tc>
                  <a:txBody>
                    <a:bodyPr/>
                    <a:lstStyle/>
                    <a:p>
                      <a:r>
                        <a:rPr sz="1800" b="0">
                          <a:solidFill>
                            <a:srgbClr val="183D4B"/>
                          </a:solidFill>
                          <a:latin typeface="Arial"/>
                          <a:ea typeface="Arial"/>
                          <a:cs typeface="Arial"/>
                        </a:rPr>
                        <a:t>1.087</a:t>
                      </a:r>
                    </a:p>
                  </a:txBody>
                  <a:tcPr marL="91440" marR="91440" marT="45720" marB="45720">
                    <a:solidFill>
                      <a:srgbClr val="FFFFFF"/>
                    </a:solidFill>
                  </a:tcPr>
                </a:tc>
                <a:tc>
                  <a:txBody>
                    <a:bodyPr/>
                    <a:lstStyle/>
                    <a:p>
                      <a:r>
                        <a:rPr sz="1800" b="0">
                          <a:solidFill>
                            <a:srgbClr val="183D4B"/>
                          </a:solidFill>
                          <a:latin typeface="Arial"/>
                          <a:ea typeface="Arial"/>
                          <a:cs typeface="Arial"/>
                        </a:rPr>
                        <a:t>288.2</a:t>
                      </a:r>
                    </a:p>
                  </a:txBody>
                  <a:tcPr marL="91440" marR="91440" marT="45720" marB="45720">
                    <a:solidFill>
                      <a:srgbClr val="FFFFFF"/>
                    </a:solidFill>
                  </a:tcPr>
                </a:tc>
                <a:tc>
                  <a:txBody>
                    <a:bodyPr/>
                    <a:lstStyle/>
                    <a:p>
                      <a:r>
                        <a:rPr sz="1800" b="0">
                          <a:solidFill>
                            <a:srgbClr val="183D4B"/>
                          </a:solidFill>
                          <a:latin typeface="Arial"/>
                          <a:ea typeface="Arial"/>
                          <a:cs typeface="Arial"/>
                        </a:rPr>
                        <a:t>Fail</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345F9F3-AFA5-44F4-955E-E457EF0FCFD2}"/>
              </a:ext>
            </a:extLst>
          </p:cNvPr>
          <p:cNvSpPr>
            <a:spLocks xmlns:a="http://schemas.openxmlformats.org/drawingml/2006/main" noGrp="1"/>
          </p:cNvSpPr>
          <p:nvPr/>
        </p:nvSpPr>
        <p:spPr>
          <a:xfrm xmlns:a="http://schemas.openxmlformats.org/drawingml/2006/main">
            <a:off x="742950" y="54959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BC6328"/>
                </a:solidFill>
                <a:latin typeface="Arial"/>
                <a:ea typeface="Arial"/>
                <a:cs typeface="Arial"/>
              </a:defRPr>
            </a:pPr>
            <a:r>
              <a:rPr sz="1950" b="1">
                <a:solidFill>
                  <a:srgbClr val="BC6328"/>
                </a:solidFill>
                <a:latin typeface="Arial"/>
                <a:ea typeface="Arial"/>
                <a:cs typeface="Arial"/>
              </a:rPr>
              <a:t>Screens use different scopes: full supplied feeder versus MV phases only.</a:t>
            </a:r>
          </a:p>
        </p:txBody>
      </p:sp>
      <p:sp>
        <p:nvSpPr>
          <p:cNvPr id="4" name="">
            <a:extLst xmlns:a="http://schemas.openxmlformats.org/drawingml/2006/main">
              <a:ext uri="{FF2B5EF4-FFF2-40B4-BE49-F238E27FC236}">
                <a16:creationId xmlns:a16="http://schemas.microsoft.com/office/drawing/2014/main" id="{C24AC102-AFED-4AC2-83E0-8F7FF7313E8B}"/>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Two shared controls, one-step sensitivity QPs and fresh validation. The result is a local feasible point.</a:t>
            </a:r>
          </a:p>
        </p:txBody>
      </p:sp>
      <p:sp>
        <p:nvSpPr>
          <p:cNvPr id="5" name="">
            <a:extLst xmlns:a="http://schemas.openxmlformats.org/drawingml/2006/main">
              <a:ext uri="{FF2B5EF4-FFF2-40B4-BE49-F238E27FC236}">
                <a16:creationId xmlns:a16="http://schemas.microsoft.com/office/drawing/2014/main" id="{D9617F57-EBA7-4432-9CD8-8E0703170026}"/>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15</a:t>
            </a:r>
          </a:p>
        </p:txBody>
      </p:sp>
    </p:spTree>
    <p:extLst>
      <p:ext uri="{BB962C8B-B14F-4D97-AF65-F5344CB8AC3E}">
        <p14:creationId xmlns:p14="http://schemas.microsoft.com/office/powerpoint/2010/main" val="2090349835"/>
      </p:ext>
    </p:extLst>
  </p:cSld>
</p:sld>
</file>

<file path=ppt/slides/slide16.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9B60D23-3E35-465A-ACA6-5E0F1ED98853}"/>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The shared agent workflow</a:t>
            </a:r>
          </a:p>
        </p:txBody>
      </p:sp>
      <p:sp>
        <p:nvSpPr>
          <p:cNvPr id="2" name="">
            <a:extLst xmlns:a="http://schemas.openxmlformats.org/drawingml/2006/main">
              <a:ext uri="{FF2B5EF4-FFF2-40B4-BE49-F238E27FC236}">
                <a16:creationId xmlns:a16="http://schemas.microsoft.com/office/drawing/2014/main" id="{A571F9F9-413E-4173-B417-CAF9D5C320B0}"/>
              </a:ext>
            </a:extLst>
          </p:cNvPr>
          <p:cNvSpPr>
            <a:spLocks xmlns:a="http://schemas.openxmlformats.org/drawingml/2006/main" noGrp="1"/>
          </p:cNvSpPr>
          <p:nvPr/>
        </p:nvSpPr>
        <p:spPr>
          <a:xfrm xmlns:a="http://schemas.openxmlformats.org/drawingml/2006/main">
            <a:off x="666750" y="1762125"/>
            <a:ext cx="2428875" cy="123825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Awareness</a:t>
            </a:r>
          </a:p>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Evidence checks</a:t>
            </a:r>
          </a:p>
        </p:txBody>
      </p:sp>
      <p:sp>
        <p:nvSpPr>
          <p:cNvPr id="3" name="">
            <a:extLst xmlns:a="http://schemas.openxmlformats.org/drawingml/2006/main">
              <a:ext uri="{FF2B5EF4-FFF2-40B4-BE49-F238E27FC236}">
                <a16:creationId xmlns:a16="http://schemas.microsoft.com/office/drawing/2014/main" id="{8F210E32-672F-47D0-B63C-3BE98A65155A}"/>
              </a:ext>
            </a:extLst>
          </p:cNvPr>
          <p:cNvSpPr>
            <a:spLocks xmlns:a="http://schemas.openxmlformats.org/drawingml/2006/main" noGrp="1"/>
          </p:cNvSpPr>
          <p:nvPr/>
        </p:nvSpPr>
        <p:spPr>
          <a:xfrm xmlns:a="http://schemas.openxmlformats.org/drawingml/2006/main">
            <a:off x="3476625" y="1762125"/>
            <a:ext cx="2428875" cy="123825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Planning</a:t>
            </a:r>
          </a:p>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Established solver</a:t>
            </a:r>
          </a:p>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 Llama</a:t>
            </a:r>
          </a:p>
        </p:txBody>
      </p:sp>
      <p:sp>
        <p:nvSpPr>
          <p:cNvPr id="4" name="">
            <a:extLst xmlns:a="http://schemas.openxmlformats.org/drawingml/2006/main">
              <a:ext uri="{FF2B5EF4-FFF2-40B4-BE49-F238E27FC236}">
                <a16:creationId xmlns:a16="http://schemas.microsoft.com/office/drawing/2014/main" id="{532C3EA9-096C-4371-9B83-A5BA01106936}"/>
              </a:ext>
            </a:extLst>
          </p:cNvPr>
          <p:cNvSpPr>
            <a:spLocks xmlns:a="http://schemas.openxmlformats.org/drawingml/2006/main" noGrp="1"/>
          </p:cNvSpPr>
          <p:nvPr/>
        </p:nvSpPr>
        <p:spPr>
          <a:xfrm xmlns:a="http://schemas.openxmlformats.org/drawingml/2006/main">
            <a:off x="6286500" y="1762125"/>
            <a:ext cx="2428875" cy="123825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Execution</a:t>
            </a:r>
          </a:p>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Proposed action</a:t>
            </a:r>
          </a:p>
        </p:txBody>
      </p:sp>
      <p:sp>
        <p:nvSpPr>
          <p:cNvPr id="5" name="">
            <a:extLst xmlns:a="http://schemas.openxmlformats.org/drawingml/2006/main">
              <a:ext uri="{FF2B5EF4-FFF2-40B4-BE49-F238E27FC236}">
                <a16:creationId xmlns:a16="http://schemas.microsoft.com/office/drawing/2014/main" id="{B2883F6F-FF1D-4A50-8DC0-936F7F7E96F9}"/>
              </a:ext>
            </a:extLst>
          </p:cNvPr>
          <p:cNvSpPr>
            <a:spLocks xmlns:a="http://schemas.openxmlformats.org/drawingml/2006/main" noGrp="1"/>
          </p:cNvSpPr>
          <p:nvPr/>
        </p:nvSpPr>
        <p:spPr>
          <a:xfrm xmlns:a="http://schemas.openxmlformats.org/drawingml/2006/main">
            <a:off x="9096375" y="1762125"/>
            <a:ext cx="2428875" cy="123825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Simulation</a:t>
            </a:r>
          </a:p>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Chosen model</a:t>
            </a:r>
          </a:p>
        </p:txBody>
      </p:sp>
      <p:sp>
        <p:nvSpPr>
          <p:cNvPr id="6" name="">
            <a:extLst xmlns:a="http://schemas.openxmlformats.org/drawingml/2006/main">
              <a:ext uri="{FF2B5EF4-FFF2-40B4-BE49-F238E27FC236}">
                <a16:creationId xmlns:a16="http://schemas.microsoft.com/office/drawing/2014/main" id="{DC2B6364-7745-4D86-94B8-B459B2703562}"/>
              </a:ext>
            </a:extLst>
          </p:cNvPr>
          <p:cNvSpPr>
            <a:spLocks xmlns:a="http://schemas.openxmlformats.org/drawingml/2006/main" noGrp="1"/>
          </p:cNvSpPr>
          <p:nvPr/>
        </p:nvSpPr>
        <p:spPr>
          <a:xfrm xmlns:a="http://schemas.openxmlformats.org/drawingml/2006/main">
            <a:off x="9096375" y="3952875"/>
            <a:ext cx="2428875" cy="123825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Verification</a:t>
            </a:r>
          </a:p>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Declared constraints</a:t>
            </a:r>
          </a:p>
        </p:txBody>
      </p:sp>
      <p:sp>
        <p:nvSpPr>
          <p:cNvPr id="7" name="">
            <a:extLst xmlns:a="http://schemas.openxmlformats.org/drawingml/2006/main">
              <a:ext uri="{FF2B5EF4-FFF2-40B4-BE49-F238E27FC236}">
                <a16:creationId xmlns:a16="http://schemas.microsoft.com/office/drawing/2014/main" id="{81247999-1011-4904-9634-B69FE8BE52D7}"/>
              </a:ext>
            </a:extLst>
          </p:cNvPr>
          <p:cNvSpPr>
            <a:spLocks xmlns:a="http://schemas.openxmlformats.org/drawingml/2006/main" noGrp="1"/>
          </p:cNvSpPr>
          <p:nvPr/>
        </p:nvSpPr>
        <p:spPr>
          <a:xfrm xmlns:a="http://schemas.openxmlformats.org/drawingml/2006/main">
            <a:off x="6286500" y="3952875"/>
            <a:ext cx="2428875" cy="123825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Recovery</a:t>
            </a:r>
          </a:p>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Re-solve / review</a:t>
            </a:r>
          </a:p>
        </p:txBody>
      </p:sp>
      <p:sp>
        <p:nvSpPr>
          <p:cNvPr id="8" name="">
            <a:extLst xmlns:a="http://schemas.openxmlformats.org/drawingml/2006/main">
              <a:ext uri="{FF2B5EF4-FFF2-40B4-BE49-F238E27FC236}">
                <a16:creationId xmlns:a16="http://schemas.microsoft.com/office/drawing/2014/main" id="{79325E8A-DB5B-4354-B188-133A748F0DD1}"/>
              </a:ext>
            </a:extLst>
          </p:cNvPr>
          <p:cNvSpPr>
            <a:spLocks xmlns:a="http://schemas.openxmlformats.org/drawingml/2006/main" noGrp="1"/>
          </p:cNvSpPr>
          <p:nvPr/>
        </p:nvSpPr>
        <p:spPr>
          <a:xfrm xmlns:a="http://schemas.openxmlformats.org/drawingml/2006/main">
            <a:off x="3476625" y="3952875"/>
            <a:ext cx="2428875" cy="123825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Explanation</a:t>
            </a:r>
          </a:p>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Metrics + Llama</a:t>
            </a:r>
          </a:p>
        </p:txBody>
      </p:sp>
      <p:sp>
        <p:nvSpPr>
          <p:cNvPr id="9" name="">
            <a:extLst xmlns:a="http://schemas.openxmlformats.org/drawingml/2006/main">
              <a:ext uri="{FF2B5EF4-FFF2-40B4-BE49-F238E27FC236}">
                <a16:creationId xmlns:a16="http://schemas.microsoft.com/office/drawing/2014/main" id="{1783C10B-5ADE-4931-9783-92163655418F}"/>
              </a:ext>
            </a:extLst>
          </p:cNvPr>
          <p:cNvSpPr>
            <a:spLocks xmlns:a="http://schemas.openxmlformats.org/drawingml/2006/main" noGrp="1"/>
          </p:cNvSpPr>
          <p:nvPr/>
        </p:nvSpPr>
        <p:spPr>
          <a:xfrm xmlns:a="http://schemas.openxmlformats.org/drawingml/2006/main">
            <a:off x="666750" y="3952875"/>
            <a:ext cx="2428875" cy="123825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Acknowledgment</a:t>
            </a:r>
          </a:p>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Operator readback</a:t>
            </a:r>
          </a:p>
        </p:txBody>
      </p:sp>
      <p:cxnSp>
        <p:nvCxnSpPr>
          <p:cNvPr id="52" name=""/>
          <p:cNvCxnSpPr>
            <a:stCxn xmlns:a="http://schemas.openxmlformats.org/drawingml/2006/main" id="2" idx="3"/>
            <a:endCxn xmlns:a="http://schemas.openxmlformats.org/drawingml/2006/main" id="3" idx="1"/>
          </p:cNvCxnSpPr>
          <p:nvPr/>
        </p:nvCxnSpPr>
        <p:spPr>
          <a:xfrm xmlns:a="http://schemas.openxmlformats.org/drawingml/2006/main">
            <a:off x="3095625" y="2381250"/>
            <a:ext cx="381000" cy="0"/>
          </a:xfrm>
          <a:prstGeom xmlns:a="http://schemas.openxmlformats.org/drawingml/2006/main" prst="straightConnector1">
            <a:avLst/>
          </a:prstGeom>
          <a:ln xmlns:a="http://schemas.openxmlformats.org/drawingml/2006/main" w="19050">
            <a:solidFill>
              <a:srgbClr val="007B7F"/>
            </a:solidFill>
            <a:tailEnd type="arrow" w="med" len="med"/>
          </a:ln>
        </p:spPr>
      </p:cxnSp>
      <p:cxnSp>
        <p:nvCxnSpPr>
          <p:cNvPr id="53" name=""/>
          <p:cNvCxnSpPr>
            <a:stCxn xmlns:a="http://schemas.openxmlformats.org/drawingml/2006/main" id="3" idx="3"/>
            <a:endCxn xmlns:a="http://schemas.openxmlformats.org/drawingml/2006/main" id="4" idx="1"/>
          </p:cNvCxnSpPr>
          <p:nvPr/>
        </p:nvCxnSpPr>
        <p:spPr>
          <a:xfrm xmlns:a="http://schemas.openxmlformats.org/drawingml/2006/main">
            <a:off x="5905500" y="2381250"/>
            <a:ext cx="381000" cy="0"/>
          </a:xfrm>
          <a:prstGeom xmlns:a="http://schemas.openxmlformats.org/drawingml/2006/main" prst="straightConnector1">
            <a:avLst/>
          </a:prstGeom>
          <a:ln xmlns:a="http://schemas.openxmlformats.org/drawingml/2006/main" w="19050">
            <a:solidFill>
              <a:srgbClr val="007B7F"/>
            </a:solidFill>
            <a:tailEnd type="arrow" w="med" len="med"/>
          </a:ln>
        </p:spPr>
      </p:cxnSp>
      <p:cxnSp>
        <p:nvCxnSpPr>
          <p:cNvPr id="54" name=""/>
          <p:cNvCxnSpPr>
            <a:stCxn xmlns:a="http://schemas.openxmlformats.org/drawingml/2006/main" id="4" idx="3"/>
            <a:endCxn xmlns:a="http://schemas.openxmlformats.org/drawingml/2006/main" id="5" idx="1"/>
          </p:cNvCxnSpPr>
          <p:nvPr/>
        </p:nvCxnSpPr>
        <p:spPr>
          <a:xfrm xmlns:a="http://schemas.openxmlformats.org/drawingml/2006/main">
            <a:off x="8715375" y="2381250"/>
            <a:ext cx="381000" cy="0"/>
          </a:xfrm>
          <a:prstGeom xmlns:a="http://schemas.openxmlformats.org/drawingml/2006/main" prst="straightConnector1">
            <a:avLst/>
          </a:prstGeom>
          <a:ln xmlns:a="http://schemas.openxmlformats.org/drawingml/2006/main" w="19050">
            <a:solidFill>
              <a:srgbClr val="007B7F"/>
            </a:solidFill>
            <a:tailEnd type="arrow" w="med" len="med"/>
          </a:ln>
        </p:spPr>
      </p:cxnSp>
      <p:cxnSp>
        <p:nvCxnSpPr>
          <p:cNvPr id="55" name=""/>
          <p:cNvCxnSpPr>
            <a:stCxn xmlns:a="http://schemas.openxmlformats.org/drawingml/2006/main" id="5" idx="2"/>
            <a:endCxn xmlns:a="http://schemas.openxmlformats.org/drawingml/2006/main" id="6" idx="0"/>
          </p:cNvCxnSpPr>
          <p:nvPr/>
        </p:nvCxnSpPr>
        <p:spPr>
          <a:xfrm xmlns:a="http://schemas.openxmlformats.org/drawingml/2006/main">
            <a:off x="10310813" y="3000375"/>
            <a:ext cx="0" cy="952500"/>
          </a:xfrm>
          <a:prstGeom xmlns:a="http://schemas.openxmlformats.org/drawingml/2006/main" prst="straightConnector1">
            <a:avLst/>
          </a:prstGeom>
          <a:ln xmlns:a="http://schemas.openxmlformats.org/drawingml/2006/main" w="19050">
            <a:solidFill>
              <a:srgbClr val="007B7F"/>
            </a:solidFill>
            <a:tailEnd type="arrow" w="med" len="med"/>
          </a:ln>
        </p:spPr>
      </p:cxnSp>
      <p:cxnSp>
        <p:nvCxnSpPr>
          <p:cNvPr id="56" name=""/>
          <p:cNvCxnSpPr>
            <a:stCxn xmlns:a="http://schemas.openxmlformats.org/drawingml/2006/main" id="6" idx="1"/>
            <a:endCxn xmlns:a="http://schemas.openxmlformats.org/drawingml/2006/main" id="7" idx="3"/>
          </p:cNvCxnSpPr>
          <p:nvPr/>
        </p:nvCxnSpPr>
        <p:spPr>
          <a:xfrm xmlns:a="http://schemas.openxmlformats.org/drawingml/2006/main" flipH="1">
            <a:off x="8715375" y="4572000"/>
            <a:ext cx="381000" cy="0"/>
          </a:xfrm>
          <a:prstGeom xmlns:a="http://schemas.openxmlformats.org/drawingml/2006/main" prst="straightConnector1">
            <a:avLst/>
          </a:prstGeom>
          <a:ln xmlns:a="http://schemas.openxmlformats.org/drawingml/2006/main" w="19050">
            <a:solidFill>
              <a:srgbClr val="BC6328"/>
            </a:solidFill>
            <a:tailEnd type="arrow" w="med" len="med"/>
          </a:ln>
        </p:spPr>
      </p:cxnSp>
      <p:cxnSp>
        <p:nvCxnSpPr>
          <p:cNvPr id="57" name=""/>
          <p:cNvCxnSpPr>
            <a:stCxn xmlns:a="http://schemas.openxmlformats.org/drawingml/2006/main" id="6" idx="2"/>
            <a:endCxn xmlns:a="http://schemas.openxmlformats.org/drawingml/2006/main" id="8" idx="2"/>
          </p:cNvCxnSpPr>
          <p:nvPr/>
        </p:nvCxnSpPr>
        <p:spPr>
          <a:xfrm xmlns:a="http://schemas.openxmlformats.org/drawingml/2006/main" flipH="1">
            <a:off x="4691063" y="5191125"/>
            <a:ext cx="5619750" cy="228600"/>
          </a:xfrm>
          <a:prstGeom xmlns:a="http://schemas.openxmlformats.org/drawingml/2006/main" prst="bentConnector4">
            <a:avLst/>
          </a:prstGeom>
          <a:ln xmlns:a="http://schemas.openxmlformats.org/drawingml/2006/main" w="19050">
            <a:solidFill>
              <a:srgbClr val="007B7F"/>
            </a:solidFill>
            <a:tailEnd type="arrow" w="med" len="med"/>
          </a:ln>
        </p:spPr>
      </p:cxnSp>
      <p:cxnSp>
        <p:nvCxnSpPr>
          <p:cNvPr id="58" name=""/>
          <p:cNvCxnSpPr>
            <a:stCxn xmlns:a="http://schemas.openxmlformats.org/drawingml/2006/main" id="8" idx="1"/>
            <a:endCxn xmlns:a="http://schemas.openxmlformats.org/drawingml/2006/main" id="9" idx="3"/>
          </p:cNvCxnSpPr>
          <p:nvPr/>
        </p:nvCxnSpPr>
        <p:spPr>
          <a:xfrm xmlns:a="http://schemas.openxmlformats.org/drawingml/2006/main" flipH="1">
            <a:off x="3095625" y="4572000"/>
            <a:ext cx="381000" cy="0"/>
          </a:xfrm>
          <a:prstGeom xmlns:a="http://schemas.openxmlformats.org/drawingml/2006/main" prst="straightConnector1">
            <a:avLst/>
          </a:prstGeom>
          <a:ln xmlns:a="http://schemas.openxmlformats.org/drawingml/2006/main" w="19050">
            <a:solidFill>
              <a:srgbClr val="007B7F"/>
            </a:solidFill>
            <a:tailEnd type="arrow" w="med" len="med"/>
          </a:ln>
        </p:spPr>
      </p:cxnSp>
      <p:cxnSp>
        <p:nvCxnSpPr>
          <p:cNvPr id="59" name=""/>
          <p:cNvCxnSpPr>
            <a:stCxn xmlns:a="http://schemas.openxmlformats.org/drawingml/2006/main" id="7" idx="1"/>
            <a:endCxn xmlns:a="http://schemas.openxmlformats.org/drawingml/2006/main" id="8" idx="3"/>
          </p:cNvCxnSpPr>
          <p:nvPr/>
        </p:nvCxnSpPr>
        <p:spPr>
          <a:xfrm xmlns:a="http://schemas.openxmlformats.org/drawingml/2006/main" flipH="1">
            <a:off x="5905500" y="4572000"/>
            <a:ext cx="381000" cy="0"/>
          </a:xfrm>
          <a:prstGeom xmlns:a="http://schemas.openxmlformats.org/drawingml/2006/main" prst="straightConnector1">
            <a:avLst/>
          </a:prstGeom>
          <a:ln xmlns:a="http://schemas.openxmlformats.org/drawingml/2006/main" w="19050">
            <a:solidFill>
              <a:srgbClr val="BC6328"/>
            </a:solidFill>
            <a:tailEnd type="arrow" w="med" len="med"/>
          </a:ln>
        </p:spPr>
      </p:cxnSp>
      <p:cxnSp>
        <p:nvCxnSpPr>
          <p:cNvPr id="60" name=""/>
          <p:cNvCxnSpPr>
            <a:stCxn xmlns:a="http://schemas.openxmlformats.org/drawingml/2006/main" id="7" idx="0"/>
            <a:endCxn xmlns:a="http://schemas.openxmlformats.org/drawingml/2006/main" id="4" idx="2"/>
          </p:cNvCxnSpPr>
          <p:nvPr/>
        </p:nvCxnSpPr>
        <p:spPr>
          <a:xfrm xmlns:a="http://schemas.openxmlformats.org/drawingml/2006/main" flipV="1">
            <a:off x="7500938" y="3000375"/>
            <a:ext cx="0" cy="952500"/>
          </a:xfrm>
          <a:prstGeom xmlns:a="http://schemas.openxmlformats.org/drawingml/2006/main" prst="straightConnector1">
            <a:avLst/>
          </a:prstGeom>
          <a:ln xmlns:a="http://schemas.openxmlformats.org/drawingml/2006/main" w="19050">
            <a:solidFill>
              <a:srgbClr val="BC6328"/>
            </a:solidFill>
            <a:tailEnd type="arrow" w="med" len="med"/>
          </a:ln>
        </p:spPr>
      </p:cxnSp>
      <p:sp>
        <p:nvSpPr>
          <p:cNvPr id="19" name="">
            <a:extLst xmlns:a="http://schemas.openxmlformats.org/drawingml/2006/main">
              <a:ext uri="{FF2B5EF4-FFF2-40B4-BE49-F238E27FC236}">
                <a16:creationId xmlns:a16="http://schemas.microsoft.com/office/drawing/2014/main" id="{77BD720F-C549-40C7-BEA3-A790F90EDD68}"/>
              </a:ext>
            </a:extLst>
          </p:cNvPr>
          <p:cNvSpPr>
            <a:spLocks xmlns:a="http://schemas.openxmlformats.org/drawingml/2006/main" noGrp="1"/>
          </p:cNvSpPr>
          <p:nvPr/>
        </p:nvSpPr>
        <p:spPr>
          <a:xfrm xmlns:a="http://schemas.openxmlformats.org/drawingml/2006/main">
            <a:off x="8134350" y="35528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BC6328"/>
                </a:solidFill>
                <a:latin typeface="Arial"/>
                <a:ea typeface="Arial"/>
                <a:cs typeface="Arial"/>
              </a:defRPr>
            </a:pPr>
            <a:r>
              <a:rPr sz="1650" b="0">
                <a:solidFill>
                  <a:srgbClr val="BC6328"/>
                </a:solidFill>
                <a:latin typeface="Arial"/>
                <a:ea typeface="Arial"/>
                <a:cs typeface="Arial"/>
              </a:rPr>
              <a:t>If rejected</a:t>
            </a:r>
          </a:p>
        </p:txBody>
      </p:sp>
      <p:sp>
        <p:nvSpPr>
          <p:cNvPr id="20" name="">
            <a:extLst xmlns:a="http://schemas.openxmlformats.org/drawingml/2006/main">
              <a:ext uri="{FF2B5EF4-FFF2-40B4-BE49-F238E27FC236}">
                <a16:creationId xmlns:a16="http://schemas.microsoft.com/office/drawing/2014/main" id="{EC2BBC56-302E-4CB0-9762-F139D159FFD3}"/>
              </a:ext>
            </a:extLst>
          </p:cNvPr>
          <p:cNvSpPr>
            <a:spLocks xmlns:a="http://schemas.openxmlformats.org/drawingml/2006/main" noGrp="1"/>
          </p:cNvSpPr>
          <p:nvPr/>
        </p:nvSpPr>
        <p:spPr>
          <a:xfrm xmlns:a="http://schemas.openxmlformats.org/drawingml/2006/main">
            <a:off x="7515225" y="3276600"/>
            <a:ext cx="1057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BC6328"/>
                </a:solidFill>
                <a:latin typeface="Arial"/>
                <a:ea typeface="Arial"/>
                <a:cs typeface="Arial"/>
              </a:defRPr>
            </a:pPr>
            <a:r>
              <a:rPr sz="1650" b="0">
                <a:solidFill>
                  <a:srgbClr val="BC6328"/>
                </a:solidFill>
                <a:latin typeface="Arial"/>
                <a:ea typeface="Arial"/>
                <a:cs typeface="Arial"/>
              </a:rPr>
              <a:t>Retry</a:t>
            </a:r>
          </a:p>
        </p:txBody>
      </p:sp>
      <p:sp>
        <p:nvSpPr>
          <p:cNvPr id="21" name="">
            <a:extLst xmlns:a="http://schemas.openxmlformats.org/drawingml/2006/main">
              <a:ext uri="{FF2B5EF4-FFF2-40B4-BE49-F238E27FC236}">
                <a16:creationId xmlns:a16="http://schemas.microsoft.com/office/drawing/2014/main" id="{C5FD2225-6C3E-4B5D-B9D4-0B9728210CFE}"/>
              </a:ext>
            </a:extLst>
          </p:cNvPr>
          <p:cNvSpPr>
            <a:spLocks xmlns:a="http://schemas.openxmlformats.org/drawingml/2006/main" noGrp="1"/>
          </p:cNvSpPr>
          <p:nvPr/>
        </p:nvSpPr>
        <p:spPr>
          <a:xfrm xmlns:a="http://schemas.openxmlformats.org/drawingml/2006/main">
            <a:off x="5743575" y="3552825"/>
            <a:ext cx="1057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BC6328"/>
                </a:solidFill>
                <a:latin typeface="Arial"/>
                <a:ea typeface="Arial"/>
                <a:cs typeface="Arial"/>
              </a:defRPr>
            </a:pPr>
            <a:r>
              <a:rPr sz="1650" b="0">
                <a:solidFill>
                  <a:srgbClr val="BC6328"/>
                </a:solidFill>
                <a:latin typeface="Arial"/>
                <a:ea typeface="Arial"/>
                <a:cs typeface="Arial"/>
              </a:rPr>
              <a:t>Stop</a:t>
            </a:r>
          </a:p>
        </p:txBody>
      </p:sp>
      <p:sp>
        <p:nvSpPr>
          <p:cNvPr id="22" name="">
            <a:extLst xmlns:a="http://schemas.openxmlformats.org/drawingml/2006/main">
              <a:ext uri="{FF2B5EF4-FFF2-40B4-BE49-F238E27FC236}">
                <a16:creationId xmlns:a16="http://schemas.microsoft.com/office/drawing/2014/main" id="{62ABCAE6-334E-456B-AFD0-27E192CDE6FD}"/>
              </a:ext>
            </a:extLst>
          </p:cNvPr>
          <p:cNvSpPr>
            <a:spLocks xmlns:a="http://schemas.openxmlformats.org/drawingml/2006/main" noGrp="1"/>
          </p:cNvSpPr>
          <p:nvPr/>
        </p:nvSpPr>
        <p:spPr>
          <a:xfrm xmlns:a="http://schemas.openxmlformats.org/drawingml/2006/main">
            <a:off x="5619750" y="5419725"/>
            <a:ext cx="3695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007B7F"/>
                </a:solidFill>
                <a:latin typeface="Arial"/>
                <a:ea typeface="Arial"/>
                <a:cs typeface="Arial"/>
              </a:defRPr>
            </a:pPr>
            <a:r>
              <a:rPr sz="1650" b="0">
                <a:solidFill>
                  <a:srgbClr val="007B7F"/>
                </a:solidFill>
                <a:latin typeface="Arial"/>
                <a:ea typeface="Arial"/>
                <a:cs typeface="Arial"/>
              </a:rPr>
              <a:t>Accepted recommendation</a:t>
            </a:r>
          </a:p>
        </p:txBody>
      </p:sp>
      <p:sp>
        <p:nvSpPr>
          <p:cNvPr id="23" name="">
            <a:extLst xmlns:a="http://schemas.openxmlformats.org/drawingml/2006/main">
              <a:ext uri="{FF2B5EF4-FFF2-40B4-BE49-F238E27FC236}">
                <a16:creationId xmlns:a16="http://schemas.microsoft.com/office/drawing/2014/main" id="{F9967580-2BC7-4A9A-AFCA-6F49EF967760}"/>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A stopped run still reaches explanation and operator readback. No equipment is dispatched.</a:t>
            </a:r>
          </a:p>
        </p:txBody>
      </p:sp>
      <p:sp>
        <p:nvSpPr>
          <p:cNvPr id="24" name="">
            <a:extLst xmlns:a="http://schemas.openxmlformats.org/drawingml/2006/main">
              <a:ext uri="{FF2B5EF4-FFF2-40B4-BE49-F238E27FC236}">
                <a16:creationId xmlns:a16="http://schemas.microsoft.com/office/drawing/2014/main" id="{CA52D967-9A56-4F25-9825-B765924FBC83}"/>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16</a:t>
            </a:r>
          </a:p>
        </p:txBody>
      </p:sp>
    </p:spTree>
    <p:extLst>
      <p:ext uri="{BB962C8B-B14F-4D97-AF65-F5344CB8AC3E}">
        <p14:creationId xmlns:p14="http://schemas.microsoft.com/office/powerpoint/2010/main" val="2010445370"/>
      </p:ext>
    </p:extLst>
  </p:cSld>
</p:sld>
</file>

<file path=ppt/slides/slide17.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CCB425-7826-43D1-B0D3-9AA28490F7BA}"/>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The shared candidate record</a:t>
            </a:r>
          </a:p>
        </p:txBody>
      </p:sp>
      <p:graphicFrame>
        <p:nvGraphicFramePr>
          <p:cNvPr id="6" name=""/>
          <p:cNvGraphicFramePr/>
          <p:nvPr/>
        </p:nvGraphicFramePr>
        <p:xfrm>
          <a:off xmlns:a="http://schemas.openxmlformats.org/drawingml/2006/main" x="685800" y="1695450"/>
          <a:ext xmlns:a="http://schemas.openxmlformats.org/drawingml/2006/main" cx="10820400" cy="3762375"/>
        </p:xfrm>
        <a:graphic xmlns:a="http://schemas.openxmlformats.org/drawingml/2006/main">
          <a:graphicData uri="http://schemas.openxmlformats.org/drawingml/2006/table">
            <a:tbl>
              <a:tblPr/>
              <a:tblGrid>
                <a:gridCol w="3038475"/>
                <a:gridCol w="7781925"/>
              </a:tblGrid>
              <a:tr h="627063">
                <a:tc>
                  <a:txBody>
                    <a:bodyPr/>
                    <a:lstStyle/>
                    <a:p>
                      <a:r>
                        <a:rPr sz="2025" b="1">
                          <a:solidFill>
                            <a:srgbClr val="FFFFFF"/>
                          </a:solidFill>
                          <a:latin typeface="Arial"/>
                          <a:ea typeface="Arial"/>
                          <a:cs typeface="Arial"/>
                        </a:rPr>
                        <a:t>Record field</a:t>
                      </a:r>
                    </a:p>
                  </a:txBody>
                  <a:tcPr marL="91440" marR="91440" marT="45720" marB="45720">
                    <a:solidFill>
                      <a:srgbClr val="183D4B"/>
                    </a:solidFill>
                  </a:tcPr>
                </a:tc>
                <a:tc>
                  <a:txBody>
                    <a:bodyPr/>
                    <a:lstStyle/>
                    <a:p>
                      <a:r>
                        <a:rPr sz="2025" b="1">
                          <a:solidFill>
                            <a:srgbClr val="FFFFFF"/>
                          </a:solidFill>
                          <a:latin typeface="Arial"/>
                          <a:ea typeface="Arial"/>
                          <a:cs typeface="Arial"/>
                        </a:rPr>
                        <a:t>Content</a:t>
                      </a:r>
                    </a:p>
                  </a:txBody>
                  <a:tcPr marL="91440" marR="91440" marT="45720" marB="45720">
                    <a:solidFill>
                      <a:srgbClr val="183D4B"/>
                    </a:solidFill>
                  </a:tcPr>
                </a:tc>
              </a:tr>
              <a:tr h="627063">
                <a:tc>
                  <a:txBody>
                    <a:bodyPr/>
                    <a:lstStyle/>
                    <a:p>
                      <a:r>
                        <a:rPr sz="2025" b="0">
                          <a:solidFill>
                            <a:srgbClr val="183D4B"/>
                          </a:solidFill>
                          <a:latin typeface="Arial"/>
                          <a:ea typeface="Arial"/>
                          <a:cs typeface="Arial"/>
                        </a:rPr>
                        <a:t>Method and model</a:t>
                      </a:r>
                    </a:p>
                  </a:txBody>
                  <a:tcPr marL="91440" marR="91440" marT="45720" marB="45720">
                    <a:solidFill>
                      <a:srgbClr val="FFFFFF"/>
                    </a:solidFill>
                  </a:tcPr>
                </a:tc>
                <a:tc>
                  <a:txBody>
                    <a:bodyPr/>
                    <a:lstStyle/>
                    <a:p>
                      <a:r>
                        <a:rPr sz="2025" b="0">
                          <a:solidFill>
                            <a:srgbClr val="183D4B"/>
                          </a:solidFill>
                          <a:latin typeface="Arial"/>
                          <a:ea typeface="Arial"/>
                          <a:cs typeface="Arial"/>
                        </a:rPr>
                        <a:t>Solver, physical model, data version and solver status</a:t>
                      </a:r>
                    </a:p>
                  </a:txBody>
                  <a:tcPr marL="91440" marR="91440" marT="45720" marB="45720">
                    <a:solidFill>
                      <a:srgbClr val="FFFFFF"/>
                    </a:solidFill>
                  </a:tcPr>
                </a:tc>
              </a:tr>
              <a:tr h="627063">
                <a:tc>
                  <a:txBody>
                    <a:bodyPr/>
                    <a:lstStyle/>
                    <a:p>
                      <a:r>
                        <a:rPr sz="2025" b="0">
                          <a:solidFill>
                            <a:srgbClr val="183D4B"/>
                          </a:solidFill>
                          <a:latin typeface="Arial"/>
                          <a:ea typeface="Arial"/>
                          <a:cs typeface="Arial"/>
                        </a:rPr>
                        <a:t>Candidate controls</a:t>
                      </a:r>
                    </a:p>
                  </a:txBody>
                  <a:tcPr marL="91440" marR="91440" marT="45720" marB="45720">
                    <a:solidFill>
                      <a:srgbClr val="EAF2F3"/>
                    </a:solidFill>
                  </a:tcPr>
                </a:tc>
                <a:tc>
                  <a:txBody>
                    <a:bodyPr/>
                    <a:lstStyle/>
                    <a:p>
                      <a:r>
                        <a:rPr sz="2025" b="0">
                          <a:solidFill>
                            <a:srgbClr val="183D4B"/>
                          </a:solidFill>
                          <a:latin typeface="Arial"/>
                          <a:ea typeface="Arial"/>
                          <a:cs typeface="Arial"/>
                        </a:rPr>
                        <a:t>P/Q setpoints, switch states or served-load decisions</a:t>
                      </a:r>
                    </a:p>
                  </a:txBody>
                  <a:tcPr marL="91440" marR="91440" marT="45720" marB="45720">
                    <a:solidFill>
                      <a:srgbClr val="EAF2F3"/>
                    </a:solidFill>
                  </a:tcPr>
                </a:tc>
              </a:tr>
              <a:tr h="627063">
                <a:tc>
                  <a:txBody>
                    <a:bodyPr/>
                    <a:lstStyle/>
                    <a:p>
                      <a:r>
                        <a:rPr sz="2025" b="0">
                          <a:solidFill>
                            <a:srgbClr val="183D4B"/>
                          </a:solidFill>
                          <a:latin typeface="Arial"/>
                          <a:ea typeface="Arial"/>
                          <a:cs typeface="Arial"/>
                        </a:rPr>
                        <a:t>Constraint contract</a:t>
                      </a:r>
                    </a:p>
                  </a:txBody>
                  <a:tcPr marL="91440" marR="91440" marT="45720" marB="45720">
                    <a:solidFill>
                      <a:srgbClr val="FFFFFF"/>
                    </a:solidFill>
                  </a:tcPr>
                </a:tc>
                <a:tc>
                  <a:txBody>
                    <a:bodyPr/>
                    <a:lstStyle/>
                    <a:p>
                      <a:r>
                        <a:rPr sz="2025" b="0">
                          <a:solidFill>
                            <a:srgbClr val="183D4B"/>
                          </a:solidFill>
                          <a:latin typeface="Arial"/>
                          <a:ea typeface="Arial"/>
                          <a:cs typeface="Arial"/>
                        </a:rPr>
                        <a:t>Requested limits, priorities and model coverage</a:t>
                      </a:r>
                    </a:p>
                  </a:txBody>
                  <a:tcPr marL="91440" marR="91440" marT="45720" marB="45720">
                    <a:solidFill>
                      <a:srgbClr val="FFFFFF"/>
                    </a:solidFill>
                  </a:tcPr>
                </a:tc>
              </a:tr>
              <a:tr h="627063">
                <a:tc>
                  <a:txBody>
                    <a:bodyPr/>
                    <a:lstStyle/>
                    <a:p>
                      <a:r>
                        <a:rPr sz="2025" b="0">
                          <a:solidFill>
                            <a:srgbClr val="183D4B"/>
                          </a:solidFill>
                          <a:latin typeface="Arial"/>
                          <a:ea typeface="Arial"/>
                          <a:cs typeface="Arial"/>
                        </a:rPr>
                        <a:t>Verification response</a:t>
                      </a:r>
                    </a:p>
                  </a:txBody>
                  <a:tcPr marL="91440" marR="91440" marT="45720" marB="45720">
                    <a:solidFill>
                      <a:srgbClr val="EAF2F3"/>
                    </a:solidFill>
                  </a:tcPr>
                </a:tc>
                <a:tc>
                  <a:txBody>
                    <a:bodyPr/>
                    <a:lstStyle/>
                    <a:p>
                      <a:r>
                        <a:rPr sz="2025" b="0">
                          <a:solidFill>
                            <a:srgbClr val="183D4B"/>
                          </a:solidFill>
                          <a:latin typeface="Arial"/>
                          <a:ea typeface="Arial"/>
                          <a:cs typeface="Arial"/>
                        </a:rPr>
                        <a:t>Residuals, violations and declared tolerances</a:t>
                      </a:r>
                    </a:p>
                  </a:txBody>
                  <a:tcPr marL="91440" marR="91440" marT="45720" marB="45720">
                    <a:solidFill>
                      <a:srgbClr val="EAF2F3"/>
                    </a:solidFill>
                  </a:tcPr>
                </a:tc>
              </a:tr>
              <a:tr h="627063">
                <a:tc>
                  <a:txBody>
                    <a:bodyPr/>
                    <a:lstStyle/>
                    <a:p>
                      <a:r>
                        <a:rPr sz="2025" b="0">
                          <a:solidFill>
                            <a:srgbClr val="183D4B"/>
                          </a:solidFill>
                          <a:latin typeface="Arial"/>
                          <a:ea typeface="Arial"/>
                          <a:cs typeface="Arial"/>
                        </a:rPr>
                        <a:t>Trace and review</a:t>
                      </a:r>
                    </a:p>
                  </a:txBody>
                  <a:tcPr marL="91440" marR="91440" marT="45720" marB="45720">
                    <a:solidFill>
                      <a:srgbClr val="FFFFFF"/>
                    </a:solidFill>
                  </a:tcPr>
                </a:tc>
                <a:tc>
                  <a:txBody>
                    <a:bodyPr/>
                    <a:lstStyle/>
                    <a:p>
                      <a:r>
                        <a:rPr sz="2025" b="0">
                          <a:solidFill>
                            <a:srgbClr val="183D4B"/>
                          </a:solidFill>
                          <a:latin typeface="Arial"/>
                          <a:ea typeface="Arial"/>
                          <a:cs typeface="Arial"/>
                        </a:rPr>
                        <a:t>Tool observations, bounded retries and operator acknowledgment</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51B852B-C42A-451A-A3F5-4F6B2123C54B}"/>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Adapters carry the established problem into the workflow with the same objective and constraints.</a:t>
            </a:r>
          </a:p>
        </p:txBody>
      </p:sp>
      <p:sp>
        <p:nvSpPr>
          <p:cNvPr id="4" name="">
            <a:extLst xmlns:a="http://schemas.openxmlformats.org/drawingml/2006/main">
              <a:ext uri="{FF2B5EF4-FFF2-40B4-BE49-F238E27FC236}">
                <a16:creationId xmlns:a16="http://schemas.microsoft.com/office/drawing/2014/main" id="{595C8342-2952-45FE-A36B-61EB80B23EB1}"/>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17</a:t>
            </a:r>
          </a:p>
        </p:txBody>
      </p:sp>
    </p:spTree>
    <p:extLst>
      <p:ext uri="{BB962C8B-B14F-4D97-AF65-F5344CB8AC3E}">
        <p14:creationId xmlns:p14="http://schemas.microsoft.com/office/powerpoint/2010/main" val="1366494744"/>
      </p:ext>
    </p:extLst>
  </p:cSld>
</p:sld>
</file>

<file path=ppt/slides/slide18.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F2C2D8-79C7-4414-9262-072CE33BFB28}"/>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One paraphrase reaches a verified recommendation</a:t>
            </a:r>
          </a:p>
        </p:txBody>
      </p:sp>
      <p:sp>
        <p:nvSpPr>
          <p:cNvPr id="2" name="">
            <a:extLst xmlns:a="http://schemas.openxmlformats.org/drawingml/2006/main">
              <a:ext uri="{FF2B5EF4-FFF2-40B4-BE49-F238E27FC236}">
                <a16:creationId xmlns:a16="http://schemas.microsoft.com/office/drawing/2014/main" id="{59B07BE6-0055-4CDD-81C5-C5192D320D6B}"/>
              </a:ext>
            </a:extLst>
          </p:cNvPr>
          <p:cNvSpPr>
            <a:spLocks xmlns:a="http://schemas.openxmlformats.org/drawingml/2006/main" noGrp="1"/>
          </p:cNvSpPr>
          <p:nvPr/>
        </p:nvSpPr>
        <p:spPr>
          <a:xfrm xmlns:a="http://schemas.openxmlformats.org/drawingml/2006/main">
            <a:off x="742950" y="1571625"/>
            <a:ext cx="106299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83D4B"/>
                </a:solidFill>
                <a:latin typeface="Arial"/>
                <a:ea typeface="Arial"/>
                <a:cs typeface="Arial"/>
              </a:defRPr>
            </a:pPr>
            <a:r>
              <a:rPr sz="1950" b="0">
                <a:solidFill>
                  <a:srgbClr val="183D4B"/>
                </a:solidFill>
                <a:latin typeface="Arial"/>
                <a:ea typeface="Arial"/>
                <a:cs typeface="Arial"/>
              </a:rPr>
              <a:t>“Bring back demand with at most one hundred amperes through the nearby bypass. Keep the farther route open and leave solar generation out of the plan.”</a:t>
            </a:r>
          </a:p>
        </p:txBody>
      </p:sp>
      <p:graphicFrame>
        <p:nvGraphicFramePr>
          <p:cNvPr id="11" name=""/>
          <p:cNvGraphicFramePr/>
          <p:nvPr/>
        </p:nvGraphicFramePr>
        <p:xfrm>
          <a:off xmlns:a="http://schemas.openxmlformats.org/drawingml/2006/main" x="685800" y="2781300"/>
          <a:ext xmlns:a="http://schemas.openxmlformats.org/drawingml/2006/main" cx="10820400" cy="2047875"/>
        </p:xfrm>
        <a:graphic xmlns:a="http://schemas.openxmlformats.org/drawingml/2006/main">
          <a:graphicData uri="http://schemas.openxmlformats.org/drawingml/2006/table">
            <a:tbl>
              <a:tblPr/>
              <a:tblGrid>
                <a:gridCol w="2305050"/>
                <a:gridCol w="5429250"/>
                <a:gridCol w="3086100"/>
              </a:tblGrid>
              <a:tr h="682625">
                <a:tc>
                  <a:txBody>
                    <a:bodyPr/>
                    <a:lstStyle/>
                    <a:p>
                      <a:r>
                        <a:rPr sz="1800" b="1">
                          <a:solidFill>
                            <a:srgbClr val="FFFFFF"/>
                          </a:solidFill>
                          <a:latin typeface="Arial"/>
                          <a:ea typeface="Arial"/>
                          <a:cs typeface="Arial"/>
                        </a:rPr>
                        <a:t>Interface</a:t>
                      </a:r>
                    </a:p>
                  </a:txBody>
                  <a:tcPr marL="91440" marR="91440" marT="45720" marB="45720">
                    <a:solidFill>
                      <a:srgbClr val="183D4B"/>
                    </a:solidFill>
                  </a:tcPr>
                </a:tc>
                <a:tc>
                  <a:txBody>
                    <a:bodyPr/>
                    <a:lstStyle/>
                    <a:p>
                      <a:r>
                        <a:rPr sz="1800" b="1">
                          <a:solidFill>
                            <a:srgbClr val="FFFFFF"/>
                          </a:solidFill>
                          <a:latin typeface="Arial"/>
                          <a:ea typeface="Arial"/>
                          <a:cs typeface="Arial"/>
                        </a:rPr>
                        <a:t>Interpretation</a:t>
                      </a:r>
                    </a:p>
                  </a:txBody>
                  <a:tcPr marL="91440" marR="91440" marT="45720" marB="45720">
                    <a:solidFill>
                      <a:srgbClr val="183D4B"/>
                    </a:solidFill>
                  </a:tcPr>
                </a:tc>
                <a:tc>
                  <a:txBody>
                    <a:bodyPr/>
                    <a:lstStyle/>
                    <a:p>
                      <a:r>
                        <a:rPr sz="1800" b="1">
                          <a:solidFill>
                            <a:srgbClr val="FFFFFF"/>
                          </a:solidFill>
                          <a:latin typeface="Arial"/>
                          <a:ea typeface="Arial"/>
                          <a:cs typeface="Arial"/>
                        </a:rPr>
                        <a:t>Next step</a:t>
                      </a:r>
                    </a:p>
                  </a:txBody>
                  <a:tcPr marL="91440" marR="91440" marT="45720" marB="45720">
                    <a:solidFill>
                      <a:srgbClr val="183D4B"/>
                    </a:solidFill>
                  </a:tcPr>
                </a:tc>
              </a:tr>
              <a:tr h="682625">
                <a:tc>
                  <a:txBody>
                    <a:bodyPr/>
                    <a:lstStyle/>
                    <a:p>
                      <a:r>
                        <a:rPr sz="1800" b="0">
                          <a:solidFill>
                            <a:srgbClr val="183D4B"/>
                          </a:solidFill>
                          <a:latin typeface="Arial"/>
                          <a:ea typeface="Arial"/>
                          <a:cs typeface="Arial"/>
                        </a:rPr>
                        <a:t>Rule parser</a:t>
                      </a:r>
                    </a:p>
                  </a:txBody>
                  <a:tcPr marL="91440" marR="91440" marT="45720" marB="45720">
                    <a:solidFill>
                      <a:srgbClr val="FFFFFF"/>
                    </a:solidFill>
                  </a:tcPr>
                </a:tc>
                <a:tc>
                  <a:txBody>
                    <a:bodyPr/>
                    <a:lstStyle/>
                    <a:p>
                      <a:r>
                        <a:rPr sz="1800" b="0">
                          <a:solidFill>
                            <a:srgbClr val="183D4B"/>
                          </a:solidFill>
                          <a:latin typeface="Arial"/>
                          <a:ea typeface="Arial"/>
                          <a:cs typeface="Arial"/>
                        </a:rPr>
                        <a:t>CLARIFY</a:t>
                      </a:r>
                    </a:p>
                  </a:txBody>
                  <a:tcPr marL="91440" marR="91440" marT="45720" marB="45720">
                    <a:solidFill>
                      <a:srgbClr val="FFFFFF"/>
                    </a:solidFill>
                  </a:tcPr>
                </a:tc>
                <a:tc>
                  <a:txBody>
                    <a:bodyPr/>
                    <a:lstStyle/>
                    <a:p>
                      <a:r>
                        <a:rPr sz="1800" b="0">
                          <a:solidFill>
                            <a:srgbClr val="183D4B"/>
                          </a:solidFill>
                          <a:latin typeface="Arial"/>
                          <a:ea typeface="Arial"/>
                          <a:cs typeface="Arial"/>
                        </a:rPr>
                        <a:t>Operator supplies structure</a:t>
                      </a:r>
                    </a:p>
                  </a:txBody>
                  <a:tcPr marL="91440" marR="91440" marT="45720" marB="45720">
                    <a:solidFill>
                      <a:srgbClr val="FFFFFF"/>
                    </a:solidFill>
                  </a:tcPr>
                </a:tc>
              </a:tr>
              <a:tr h="682625">
                <a:tc>
                  <a:txBody>
                    <a:bodyPr/>
                    <a:lstStyle/>
                    <a:p>
                      <a:r>
                        <a:rPr sz="1800" b="0">
                          <a:solidFill>
                            <a:srgbClr val="183D4B"/>
                          </a:solidFill>
                          <a:latin typeface="Arial"/>
                          <a:ea typeface="Arial"/>
                          <a:cs typeface="Arial"/>
                        </a:rPr>
                        <a:t>Llama once</a:t>
                      </a:r>
                    </a:p>
                  </a:txBody>
                  <a:tcPr marL="91440" marR="91440" marT="45720" marB="45720">
                    <a:solidFill>
                      <a:srgbClr val="EAF2F3"/>
                    </a:solidFill>
                  </a:tcPr>
                </a:tc>
                <a:tc>
                  <a:txBody>
                    <a:bodyPr/>
                    <a:lstStyle/>
                    <a:p>
                      <a:r>
                        <a:rPr sz="1800" b="0">
                          <a:solidFill>
                            <a:srgbClr val="183D4B"/>
                          </a:solidFill>
                          <a:latin typeface="Arial"/>
                          <a:ea typeface="Arial"/>
                          <a:cs typeface="Arial"/>
                        </a:rPr>
                        <a:t>Current fraction 1.0; short tie 100 A; long tie off; PV off</a:t>
                      </a:r>
                    </a:p>
                  </a:txBody>
                  <a:tcPr marL="91440" marR="91440" marT="45720" marB="45720">
                    <a:solidFill>
                      <a:srgbClr val="EAF2F3"/>
                    </a:solidFill>
                  </a:tcPr>
                </a:tc>
                <a:tc>
                  <a:txBody>
                    <a:bodyPr/>
                    <a:lstStyle/>
                    <a:p>
                      <a:r>
                        <a:rPr sz="1800" b="0">
                          <a:solidFill>
                            <a:srgbClr val="183D4B"/>
                          </a:solidFill>
                          <a:latin typeface="Arial"/>
                          <a:ea typeface="Arial"/>
                          <a:cs typeface="Arial"/>
                        </a:rPr>
                        <a:t>Same numerical workflow</a:t>
                      </a:r>
                    </a:p>
                  </a:txBody>
                  <a:tcPr marL="91440" marR="91440" marT="45720" marB="45720">
                    <a:solidFill>
                      <a:srgbClr val="EAF2F3"/>
                    </a:solidFill>
                  </a:tcPr>
                </a:tc>
              </a:tr>
            </a:tbl>
          </a:graphicData>
        </a:graphic>
      </p:graphicFrame>
      <p:sp>
        <p:nvSpPr>
          <p:cNvPr id="4" name="">
            <a:extLst xmlns:a="http://schemas.openxmlformats.org/drawingml/2006/main">
              <a:ext uri="{FF2B5EF4-FFF2-40B4-BE49-F238E27FC236}">
                <a16:creationId xmlns:a16="http://schemas.microsoft.com/office/drawing/2014/main" id="{E33A4CC7-90D2-49CD-9DDC-44C64DAB7107}"/>
              </a:ext>
            </a:extLst>
          </p:cNvPr>
          <p:cNvSpPr>
            <a:spLocks xmlns:a="http://schemas.openxmlformats.org/drawingml/2006/main" noGrp="1"/>
          </p:cNvSpPr>
          <p:nvPr/>
        </p:nvSpPr>
        <p:spPr>
          <a:xfrm xmlns:a="http://schemas.openxmlformats.org/drawingml/2006/main">
            <a:off x="742950" y="5191125"/>
            <a:ext cx="10629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007B7F"/>
                </a:solidFill>
                <a:latin typeface="Arial"/>
                <a:ea typeface="Arial"/>
                <a:cs typeface="Arial"/>
              </a:defRPr>
            </a:pPr>
            <a:r>
              <a:rPr sz="1725" b="1">
                <a:solidFill>
                  <a:srgbClr val="007B7F"/>
                </a:solidFill>
                <a:latin typeface="Arial"/>
                <a:ea typeface="Arial"/>
                <a:cs typeface="Arial"/>
              </a:rPr>
              <a:t>Fresh verification: short tie, PV off, 75% noncritical disconnection, 1843.6 kW served.</a:t>
            </a:r>
          </a:p>
        </p:txBody>
      </p:sp>
      <p:sp>
        <p:nvSpPr>
          <p:cNvPr id="5" name="">
            <a:extLst xmlns:a="http://schemas.openxmlformats.org/drawingml/2006/main">
              <a:ext uri="{FF2B5EF4-FFF2-40B4-BE49-F238E27FC236}">
                <a16:creationId xmlns:a16="http://schemas.microsoft.com/office/drawing/2014/main" id="{FAEC6EC8-E95D-4A44-ADA5-962BBD8C021C}"/>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Restricted catalog example. Llama interprets the request and the specialist search computes the plan.</a:t>
            </a:r>
          </a:p>
        </p:txBody>
      </p:sp>
      <p:sp>
        <p:nvSpPr>
          <p:cNvPr id="6" name="">
            <a:extLst xmlns:a="http://schemas.openxmlformats.org/drawingml/2006/main">
              <a:ext uri="{FF2B5EF4-FFF2-40B4-BE49-F238E27FC236}">
                <a16:creationId xmlns:a16="http://schemas.microsoft.com/office/drawing/2014/main" id="{54335677-EA8B-45ED-9F2A-54E5BF06A29C}"/>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18</a:t>
            </a:r>
          </a:p>
        </p:txBody>
      </p:sp>
    </p:spTree>
    <p:extLst>
      <p:ext uri="{BB962C8B-B14F-4D97-AF65-F5344CB8AC3E}">
        <p14:creationId xmlns:p14="http://schemas.microsoft.com/office/powerpoint/2010/main" val="2075539955"/>
      </p:ext>
    </p:extLst>
  </p:cSld>
</p:sld>
</file>

<file path=ppt/slides/slide19.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E2875BE-7012-4E65-9368-DA9DF54F5759}"/>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Verification against the declared problem</a:t>
            </a:r>
          </a:p>
        </p:txBody>
      </p:sp>
      <p:graphicFrame>
        <p:nvGraphicFramePr>
          <p:cNvPr id="6" name=""/>
          <p:cNvGraphicFramePr/>
          <p:nvPr/>
        </p:nvGraphicFramePr>
        <p:xfrm>
          <a:off xmlns:a="http://schemas.openxmlformats.org/drawingml/2006/main" x="685800" y="1647825"/>
          <a:ext xmlns:a="http://schemas.openxmlformats.org/drawingml/2006/main" cx="10820400" cy="3743325"/>
        </p:xfrm>
        <a:graphic xmlns:a="http://schemas.openxmlformats.org/drawingml/2006/main">
          <a:graphicData uri="http://schemas.openxmlformats.org/drawingml/2006/table">
            <a:tbl>
              <a:tblPr/>
              <a:tblGrid>
                <a:gridCol w="3048000"/>
                <a:gridCol w="7772400"/>
              </a:tblGrid>
              <a:tr h="623888">
                <a:tc>
                  <a:txBody>
                    <a:bodyPr/>
                    <a:lstStyle/>
                    <a:p>
                      <a:r>
                        <a:rPr sz="1875" b="1">
                          <a:solidFill>
                            <a:srgbClr val="FFFFFF"/>
                          </a:solidFill>
                          <a:latin typeface="Arial"/>
                          <a:ea typeface="Arial"/>
                          <a:cs typeface="Arial"/>
                        </a:rPr>
                        <a:t>Check</a:t>
                      </a:r>
                    </a:p>
                  </a:txBody>
                  <a:tcPr marL="91440" marR="91440" marT="45720" marB="45720">
                    <a:solidFill>
                      <a:srgbClr val="183D4B"/>
                    </a:solidFill>
                  </a:tcPr>
                </a:tc>
                <a:tc>
                  <a:txBody>
                    <a:bodyPr/>
                    <a:lstStyle/>
                    <a:p>
                      <a:r>
                        <a:rPr sz="1875" b="1">
                          <a:solidFill>
                            <a:srgbClr val="FFFFFF"/>
                          </a:solidFill>
                          <a:latin typeface="Arial"/>
                          <a:ea typeface="Arial"/>
                          <a:cs typeface="Arial"/>
                        </a:rPr>
                        <a:t>Question</a:t>
                      </a:r>
                    </a:p>
                  </a:txBody>
                  <a:tcPr marL="91440" marR="91440" marT="45720" marB="45720">
                    <a:solidFill>
                      <a:srgbClr val="183D4B"/>
                    </a:solidFill>
                  </a:tcPr>
                </a:tc>
              </a:tr>
              <a:tr h="623888">
                <a:tc>
                  <a:txBody>
                    <a:bodyPr/>
                    <a:lstStyle/>
                    <a:p>
                      <a:r>
                        <a:rPr sz="1875" b="0">
                          <a:solidFill>
                            <a:srgbClr val="183D4B"/>
                          </a:solidFill>
                          <a:latin typeface="Arial"/>
                          <a:ea typeface="Arial"/>
                          <a:cs typeface="Arial"/>
                        </a:rPr>
                        <a:t>Request meaning</a:t>
                      </a:r>
                    </a:p>
                  </a:txBody>
                  <a:tcPr marL="91440" marR="91440" marT="45720" marB="45720">
                    <a:solidFill>
                      <a:srgbClr val="FFFFFF"/>
                    </a:solidFill>
                  </a:tcPr>
                </a:tc>
                <a:tc>
                  <a:txBody>
                    <a:bodyPr/>
                    <a:lstStyle/>
                    <a:p>
                      <a:r>
                        <a:rPr sz="1875" b="0">
                          <a:solidFill>
                            <a:srgbClr val="183D4B"/>
                          </a:solidFill>
                          <a:latin typeface="Arial"/>
                          <a:ea typeface="Arial"/>
                          <a:cs typeface="Arial"/>
                        </a:rPr>
                        <a:t>Are the intended limits and priorities confirmed?</a:t>
                      </a:r>
                    </a:p>
                  </a:txBody>
                  <a:tcPr marL="91440" marR="91440" marT="45720" marB="45720">
                    <a:solidFill>
                      <a:srgbClr val="FFFFFF"/>
                    </a:solidFill>
                  </a:tcPr>
                </a:tc>
              </a:tr>
              <a:tr h="623888">
                <a:tc>
                  <a:txBody>
                    <a:bodyPr/>
                    <a:lstStyle/>
                    <a:p>
                      <a:r>
                        <a:rPr sz="1875" b="0">
                          <a:solidFill>
                            <a:srgbClr val="183D4B"/>
                          </a:solidFill>
                          <a:latin typeface="Arial"/>
                          <a:ea typeface="Arial"/>
                          <a:cs typeface="Arial"/>
                        </a:rPr>
                        <a:t>Evidence and solver status</a:t>
                      </a:r>
                    </a:p>
                  </a:txBody>
                  <a:tcPr marL="91440" marR="91440" marT="45720" marB="45720">
                    <a:solidFill>
                      <a:srgbClr val="EAF2F3"/>
                    </a:solidFill>
                  </a:tcPr>
                </a:tc>
                <a:tc>
                  <a:txBody>
                    <a:bodyPr/>
                    <a:lstStyle/>
                    <a:p>
                      <a:r>
                        <a:rPr sz="1875" b="0">
                          <a:solidFill>
                            <a:srgbClr val="183D4B"/>
                          </a:solidFill>
                          <a:latin typeface="Arial"/>
                          <a:ea typeface="Arial"/>
                          <a:cs typeface="Arial"/>
                        </a:rPr>
                        <a:t>Are the inputs current and the numerical result usable?</a:t>
                      </a:r>
                    </a:p>
                  </a:txBody>
                  <a:tcPr marL="91440" marR="91440" marT="45720" marB="45720">
                    <a:solidFill>
                      <a:srgbClr val="EAF2F3"/>
                    </a:solidFill>
                  </a:tcPr>
                </a:tc>
              </a:tr>
              <a:tr h="623888">
                <a:tc>
                  <a:txBody>
                    <a:bodyPr/>
                    <a:lstStyle/>
                    <a:p>
                      <a:r>
                        <a:rPr sz="1875" b="0">
                          <a:solidFill>
                            <a:srgbClr val="183D4B"/>
                          </a:solidFill>
                          <a:latin typeface="Arial"/>
                          <a:ea typeface="Arial"/>
                          <a:cs typeface="Arial"/>
                        </a:rPr>
                        <a:t>Engineering constraints</a:t>
                      </a:r>
                    </a:p>
                  </a:txBody>
                  <a:tcPr marL="91440" marR="91440" marT="45720" marB="45720">
                    <a:solidFill>
                      <a:srgbClr val="FFFFFF"/>
                    </a:solidFill>
                  </a:tcPr>
                </a:tc>
                <a:tc>
                  <a:txBody>
                    <a:bodyPr/>
                    <a:lstStyle/>
                    <a:p>
                      <a:r>
                        <a:rPr sz="1875" b="0">
                          <a:solidFill>
                            <a:srgbClr val="183D4B"/>
                          </a:solidFill>
                          <a:latin typeface="Arial"/>
                          <a:ea typeface="Arial"/>
                          <a:cs typeface="Arial"/>
                        </a:rPr>
                        <a:t>Does the candidate satisfy the specified problem?</a:t>
                      </a:r>
                    </a:p>
                  </a:txBody>
                  <a:tcPr marL="91440" marR="91440" marT="45720" marB="45720">
                    <a:solidFill>
                      <a:srgbClr val="FFFFFF"/>
                    </a:solidFill>
                  </a:tcPr>
                </a:tc>
              </a:tr>
              <a:tr h="623888">
                <a:tc>
                  <a:txBody>
                    <a:bodyPr/>
                    <a:lstStyle/>
                    <a:p>
                      <a:r>
                        <a:rPr sz="1875" b="0">
                          <a:solidFill>
                            <a:srgbClr val="183D4B"/>
                          </a:solidFill>
                          <a:latin typeface="Arial"/>
                          <a:ea typeface="Arial"/>
                          <a:cs typeface="Arial"/>
                        </a:rPr>
                        <a:t>Model scope</a:t>
                      </a:r>
                    </a:p>
                  </a:txBody>
                  <a:tcPr marL="91440" marR="91440" marT="45720" marB="45720">
                    <a:solidFill>
                      <a:srgbClr val="EAF2F3"/>
                    </a:solidFill>
                  </a:tcPr>
                </a:tc>
                <a:tc>
                  <a:txBody>
                    <a:bodyPr/>
                    <a:lstStyle/>
                    <a:p>
                      <a:r>
                        <a:rPr sz="1875" b="0">
                          <a:solidFill>
                            <a:srgbClr val="183D4B"/>
                          </a:solidFill>
                          <a:latin typeface="Arial"/>
                          <a:ea typeface="Arial"/>
                          <a:cs typeface="Arial"/>
                        </a:rPr>
                        <a:t>Which components and contingencies are covered?</a:t>
                      </a:r>
                    </a:p>
                  </a:txBody>
                  <a:tcPr marL="91440" marR="91440" marT="45720" marB="45720">
                    <a:solidFill>
                      <a:srgbClr val="EAF2F3"/>
                    </a:solidFill>
                  </a:tcPr>
                </a:tc>
              </a:tr>
              <a:tr h="623888">
                <a:tc>
                  <a:txBody>
                    <a:bodyPr/>
                    <a:lstStyle/>
                    <a:p>
                      <a:r>
                        <a:rPr sz="1875" b="0">
                          <a:solidFill>
                            <a:srgbClr val="183D4B"/>
                          </a:solidFill>
                          <a:latin typeface="Arial"/>
                          <a:ea typeface="Arial"/>
                          <a:cs typeface="Arial"/>
                        </a:rPr>
                        <a:t>Independent audit</a:t>
                      </a:r>
                    </a:p>
                  </a:txBody>
                  <a:tcPr marL="91440" marR="91440" marT="45720" marB="45720">
                    <a:solidFill>
                      <a:srgbClr val="FFFFFF"/>
                    </a:solidFill>
                  </a:tcPr>
                </a:tc>
                <a:tc>
                  <a:txBody>
                    <a:bodyPr/>
                    <a:lstStyle/>
                    <a:p>
                      <a:r>
                        <a:rPr sz="1875" b="0">
                          <a:solidFill>
                            <a:srgbClr val="183D4B"/>
                          </a:solidFill>
                          <a:latin typeface="Arial"/>
                          <a:ea typeface="Arial"/>
                          <a:cs typeface="Arial"/>
                        </a:rPr>
                        <a:t>Does a separate physical check support the recommendation?</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6CE44B2-D4EC-41D4-8146-AAD462A3494F}"/>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Feasibility for a misinterpreted request still fails the intended task.</a:t>
            </a:r>
          </a:p>
        </p:txBody>
      </p:sp>
      <p:sp>
        <p:nvSpPr>
          <p:cNvPr id="4" name="">
            <a:extLst xmlns:a="http://schemas.openxmlformats.org/drawingml/2006/main">
              <a:ext uri="{FF2B5EF4-FFF2-40B4-BE49-F238E27FC236}">
                <a16:creationId xmlns:a16="http://schemas.microsoft.com/office/drawing/2014/main" id="{F884CBB9-22BB-483A-88EA-167C098B33F8}"/>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19</a:t>
            </a:r>
          </a:p>
        </p:txBody>
      </p:sp>
    </p:spTree>
    <p:extLst>
      <p:ext uri="{BB962C8B-B14F-4D97-AF65-F5344CB8AC3E}">
        <p14:creationId xmlns:p14="http://schemas.microsoft.com/office/powerpoint/2010/main" val="1377522042"/>
      </p:ext>
    </p:extLst>
  </p:cSld>
</p:sld>
</file>

<file path=ppt/slides/slide20.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4F3CF1A-8DB7-4AD4-A3A2-298D4A9DB904}"/>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Restricted V2 trace: both agents request review</a:t>
            </a:r>
          </a:p>
        </p:txBody>
      </p:sp>
      <p:graphicFrame>
        <p:nvGraphicFramePr>
          <p:cNvPr id="9" name=""/>
          <p:cNvGraphicFramePr/>
          <p:nvPr/>
        </p:nvGraphicFramePr>
        <p:xfrm>
          <a:off xmlns:a="http://schemas.openxmlformats.org/drawingml/2006/main" x="685800" y="1552575"/>
          <a:ext xmlns:a="http://schemas.openxmlformats.org/drawingml/2006/main" cx="10820400" cy="3829050"/>
        </p:xfrm>
        <a:graphic xmlns:a="http://schemas.openxmlformats.org/drawingml/2006/main">
          <a:graphicData uri="http://schemas.openxmlformats.org/drawingml/2006/table">
            <a:tbl>
              <a:tblPr/>
              <a:tblGrid>
                <a:gridCol w="2133600"/>
                <a:gridCol w="4343400"/>
                <a:gridCol w="4343400"/>
              </a:tblGrid>
              <a:tr h="425450">
                <a:tc>
                  <a:txBody>
                    <a:bodyPr/>
                    <a:lstStyle/>
                    <a:p>
                      <a:r>
                        <a:rPr sz="1575" b="1">
                          <a:solidFill>
                            <a:srgbClr val="FFFFFF"/>
                          </a:solidFill>
                          <a:latin typeface="Arial"/>
                          <a:ea typeface="Arial"/>
                          <a:cs typeface="Arial"/>
                        </a:rPr>
                        <a:t>Stage</a:t>
                      </a:r>
                    </a:p>
                  </a:txBody>
                  <a:tcPr marL="91440" marR="91440" marT="45720" marB="45720">
                    <a:solidFill>
                      <a:srgbClr val="183D4B"/>
                    </a:solidFill>
                  </a:tcPr>
                </a:tc>
                <a:tc>
                  <a:txBody>
                    <a:bodyPr/>
                    <a:lstStyle/>
                    <a:p>
                      <a:r>
                        <a:rPr sz="1575" b="1">
                          <a:solidFill>
                            <a:srgbClr val="FFFFFF"/>
                          </a:solidFill>
                          <a:latin typeface="Arial"/>
                          <a:ea typeface="Arial"/>
                          <a:cs typeface="Arial"/>
                        </a:rPr>
                        <a:t>OpenDSS response</a:t>
                      </a:r>
                    </a:p>
                  </a:txBody>
                  <a:tcPr marL="91440" marR="91440" marT="45720" marB="45720">
                    <a:solidFill>
                      <a:srgbClr val="183D4B"/>
                    </a:solidFill>
                  </a:tcPr>
                </a:tc>
                <a:tc>
                  <a:txBody>
                    <a:bodyPr/>
                    <a:lstStyle/>
                    <a:p>
                      <a:r>
                        <a:rPr sz="1575" b="1">
                          <a:solidFill>
                            <a:srgbClr val="FFFFFF"/>
                          </a:solidFill>
                          <a:latin typeface="Arial"/>
                          <a:ea typeface="Arial"/>
                          <a:cs typeface="Arial"/>
                        </a:rPr>
                        <a:t>LinDistFlow response</a:t>
                      </a:r>
                    </a:p>
                  </a:txBody>
                  <a:tcPr marL="91440" marR="91440" marT="45720" marB="45720">
                    <a:solidFill>
                      <a:srgbClr val="183D4B"/>
                    </a:solidFill>
                  </a:tcPr>
                </a:tc>
              </a:tr>
              <a:tr h="425450">
                <a:tc>
                  <a:txBody>
                    <a:bodyPr/>
                    <a:lstStyle/>
                    <a:p>
                      <a:r>
                        <a:rPr sz="1575" b="0">
                          <a:solidFill>
                            <a:srgbClr val="183D4B"/>
                          </a:solidFill>
                          <a:latin typeface="Arial"/>
                          <a:ea typeface="Arial"/>
                          <a:cs typeface="Arial"/>
                        </a:rPr>
                        <a:t>Awareness</a:t>
                      </a:r>
                    </a:p>
                  </a:txBody>
                  <a:tcPr marL="91440" marR="91440" marT="45720" marB="45720">
                    <a:solidFill>
                      <a:srgbClr val="FFFFFF"/>
                    </a:solidFill>
                  </a:tcPr>
                </a:tc>
                <a:tc>
                  <a:txBody>
                    <a:bodyPr/>
                    <a:lstStyle/>
                    <a:p>
                      <a:r>
                        <a:rPr sz="1575" b="0">
                          <a:solidFill>
                            <a:srgbClr val="183D4B"/>
                          </a:solidFill>
                          <a:latin typeface="Arial"/>
                          <a:ea typeface="Arial"/>
                          <a:cs typeface="Arial"/>
                        </a:rPr>
                        <a:t>PASS, residual 0.000 pu</a:t>
                      </a:r>
                    </a:p>
                  </a:txBody>
                  <a:tcPr marL="91440" marR="91440" marT="45720" marB="45720">
                    <a:solidFill>
                      <a:srgbClr val="FFFFFF"/>
                    </a:solidFill>
                  </a:tcPr>
                </a:tc>
                <a:tc>
                  <a:txBody>
                    <a:bodyPr/>
                    <a:lstStyle/>
                    <a:p>
                      <a:r>
                        <a:rPr sz="1575" b="0">
                          <a:solidFill>
                            <a:srgbClr val="183D4B"/>
                          </a:solidFill>
                          <a:latin typeface="Arial"/>
                          <a:ea typeface="Arial"/>
                          <a:cs typeface="Arial"/>
                        </a:rPr>
                        <a:t>PASS, residual 0.000 pu</a:t>
                      </a:r>
                    </a:p>
                  </a:txBody>
                  <a:tcPr marL="91440" marR="91440" marT="45720" marB="45720">
                    <a:solidFill>
                      <a:srgbClr val="FFFFFF"/>
                    </a:solidFill>
                  </a:tcPr>
                </a:tc>
              </a:tr>
              <a:tr h="425450">
                <a:tc>
                  <a:txBody>
                    <a:bodyPr/>
                    <a:lstStyle/>
                    <a:p>
                      <a:r>
                        <a:rPr sz="1575" b="0">
                          <a:solidFill>
                            <a:srgbClr val="183D4B"/>
                          </a:solidFill>
                          <a:latin typeface="Arial"/>
                          <a:ea typeface="Arial"/>
                          <a:cs typeface="Arial"/>
                        </a:rPr>
                        <a:t>Planning</a:t>
                      </a:r>
                    </a:p>
                  </a:txBody>
                  <a:tcPr marL="91440" marR="91440" marT="45720" marB="45720">
                    <a:solidFill>
                      <a:srgbClr val="EAF2F3"/>
                    </a:solidFill>
                  </a:tcPr>
                </a:tc>
                <a:tc>
                  <a:txBody>
                    <a:bodyPr/>
                    <a:lstStyle/>
                    <a:p>
                      <a:r>
                        <a:rPr sz="1575" b="0">
                          <a:solidFill>
                            <a:srgbClr val="183D4B"/>
                          </a:solidFill>
                          <a:latin typeface="Arial"/>
                          <a:ea typeface="Arial"/>
                          <a:cs typeface="Arial"/>
                        </a:rPr>
                        <a:t>20/20/20%, MPC_ONLY</a:t>
                      </a:r>
                    </a:p>
                  </a:txBody>
                  <a:tcPr marL="91440" marR="91440" marT="45720" marB="45720">
                    <a:solidFill>
                      <a:srgbClr val="EAF2F3"/>
                    </a:solidFill>
                  </a:tcPr>
                </a:tc>
                <a:tc>
                  <a:txBody>
                    <a:bodyPr/>
                    <a:lstStyle/>
                    <a:p>
                      <a:r>
                        <a:rPr sz="1575" b="0">
                          <a:solidFill>
                            <a:srgbClr val="183D4B"/>
                          </a:solidFill>
                          <a:latin typeface="Arial"/>
                          <a:ea typeface="Arial"/>
                          <a:cs typeface="Arial"/>
                        </a:rPr>
                        <a:t>100/100/100%, MPC_ONLY</a:t>
                      </a:r>
                    </a:p>
                  </a:txBody>
                  <a:tcPr marL="91440" marR="91440" marT="45720" marB="45720">
                    <a:solidFill>
                      <a:srgbClr val="EAF2F3"/>
                    </a:solidFill>
                  </a:tcPr>
                </a:tc>
              </a:tr>
              <a:tr h="425450">
                <a:tc>
                  <a:txBody>
                    <a:bodyPr/>
                    <a:lstStyle/>
                    <a:p>
                      <a:r>
                        <a:rPr sz="1575" b="0">
                          <a:solidFill>
                            <a:srgbClr val="183D4B"/>
                          </a:solidFill>
                          <a:latin typeface="Arial"/>
                          <a:ea typeface="Arial"/>
                          <a:cs typeface="Arial"/>
                        </a:rPr>
                        <a:t>DQN execution</a:t>
                      </a:r>
                    </a:p>
                  </a:txBody>
                  <a:tcPr marL="91440" marR="91440" marT="45720" marB="45720">
                    <a:solidFill>
                      <a:srgbClr val="FFFFFF"/>
                    </a:solidFill>
                  </a:tcPr>
                </a:tc>
                <a:tc>
                  <a:txBody>
                    <a:bodyPr/>
                    <a:lstStyle/>
                    <a:p>
                      <a:r>
                        <a:rPr sz="1575" b="0">
                          <a:solidFill>
                            <a:srgbClr val="183D4B"/>
                          </a:solidFill>
                          <a:latin typeface="Arial"/>
                          <a:ea typeface="Arial"/>
                          <a:cs typeface="Arial"/>
                        </a:rPr>
                        <a:t>30% PV cap, Q = 2.614</a:t>
                      </a:r>
                    </a:p>
                  </a:txBody>
                  <a:tcPr marL="91440" marR="91440" marT="45720" marB="45720">
                    <a:solidFill>
                      <a:srgbClr val="FFFFFF"/>
                    </a:solidFill>
                  </a:tcPr>
                </a:tc>
                <a:tc>
                  <a:txBody>
                    <a:bodyPr/>
                    <a:lstStyle/>
                    <a:p>
                      <a:r>
                        <a:rPr sz="1575" b="0">
                          <a:solidFill>
                            <a:srgbClr val="183D4B"/>
                          </a:solidFill>
                          <a:latin typeface="Arial"/>
                          <a:ea typeface="Arial"/>
                          <a:cs typeface="Arial"/>
                        </a:rPr>
                        <a:t>30% PV cap, Q = 2.614</a:t>
                      </a:r>
                    </a:p>
                  </a:txBody>
                  <a:tcPr marL="91440" marR="91440" marT="45720" marB="45720">
                    <a:solidFill>
                      <a:srgbClr val="FFFFFF"/>
                    </a:solidFill>
                  </a:tcPr>
                </a:tc>
              </a:tr>
              <a:tr h="425450">
                <a:tc>
                  <a:txBody>
                    <a:bodyPr/>
                    <a:lstStyle/>
                    <a:p>
                      <a:r>
                        <a:rPr sz="1575" b="0">
                          <a:solidFill>
                            <a:srgbClr val="183D4B"/>
                          </a:solidFill>
                          <a:latin typeface="Arial"/>
                          <a:ea typeface="Arial"/>
                          <a:cs typeface="Arial"/>
                        </a:rPr>
                        <a:t>Simulation</a:t>
                      </a:r>
                    </a:p>
                  </a:txBody>
                  <a:tcPr marL="91440" marR="91440" marT="45720" marB="45720">
                    <a:solidFill>
                      <a:srgbClr val="EAF2F3"/>
                    </a:solidFill>
                  </a:tcPr>
                </a:tc>
                <a:tc>
                  <a:txBody>
                    <a:bodyPr/>
                    <a:lstStyle/>
                    <a:p>
                      <a:r>
                        <a:rPr sz="1575" b="0">
                          <a:solidFill>
                            <a:srgbClr val="183D4B"/>
                          </a:solidFill>
                          <a:latin typeface="Arial"/>
                          <a:ea typeface="Arial"/>
                          <a:cs typeface="Arial"/>
                        </a:rPr>
                        <a:t>109.5% allowed current</a:t>
                      </a:r>
                    </a:p>
                  </a:txBody>
                  <a:tcPr marL="91440" marR="91440" marT="45720" marB="45720">
                    <a:solidFill>
                      <a:srgbClr val="EAF2F3"/>
                    </a:solidFill>
                  </a:tcPr>
                </a:tc>
                <a:tc>
                  <a:txBody>
                    <a:bodyPr/>
                    <a:lstStyle/>
                    <a:p>
                      <a:r>
                        <a:rPr sz="1575" b="0">
                          <a:solidFill>
                            <a:srgbClr val="183D4B"/>
                          </a:solidFill>
                          <a:latin typeface="Arial"/>
                          <a:ea typeface="Arial"/>
                          <a:cs typeface="Arial"/>
                        </a:rPr>
                        <a:t>50.9% allowed current</a:t>
                      </a:r>
                    </a:p>
                  </a:txBody>
                  <a:tcPr marL="91440" marR="91440" marT="45720" marB="45720">
                    <a:solidFill>
                      <a:srgbClr val="EAF2F3"/>
                    </a:solidFill>
                  </a:tcPr>
                </a:tc>
              </a:tr>
              <a:tr h="425450">
                <a:tc>
                  <a:txBody>
                    <a:bodyPr/>
                    <a:lstStyle/>
                    <a:p>
                      <a:r>
                        <a:rPr sz="1575" b="0">
                          <a:solidFill>
                            <a:srgbClr val="183D4B"/>
                          </a:solidFill>
                          <a:latin typeface="Arial"/>
                          <a:ea typeface="Arial"/>
                          <a:cs typeface="Arial"/>
                        </a:rPr>
                        <a:t>Verification</a:t>
                      </a:r>
                    </a:p>
                  </a:txBody>
                  <a:tcPr marL="91440" marR="91440" marT="45720" marB="45720">
                    <a:solidFill>
                      <a:srgbClr val="FFFFFF"/>
                    </a:solidFill>
                  </a:tcPr>
                </a:tc>
                <a:tc>
                  <a:txBody>
                    <a:bodyPr/>
                    <a:lstStyle/>
                    <a:p>
                      <a:r>
                        <a:rPr sz="1575" b="0">
                          <a:solidFill>
                            <a:srgbClr val="183D4B"/>
                          </a:solidFill>
                          <a:latin typeface="Arial"/>
                          <a:ea typeface="Arial"/>
                          <a:cs typeface="Arial"/>
                        </a:rPr>
                        <a:t>Reject: thermal and horizon</a:t>
                      </a:r>
                    </a:p>
                  </a:txBody>
                  <a:tcPr marL="91440" marR="91440" marT="45720" marB="45720">
                    <a:solidFill>
                      <a:srgbClr val="FFFFFF"/>
                    </a:solidFill>
                  </a:tcPr>
                </a:tc>
                <a:tc>
                  <a:txBody>
                    <a:bodyPr/>
                    <a:lstStyle/>
                    <a:p>
                      <a:r>
                        <a:rPr sz="1575" b="0">
                          <a:solidFill>
                            <a:srgbClr val="183D4B"/>
                          </a:solidFill>
                          <a:latin typeface="Arial"/>
                          <a:ea typeface="Arial"/>
                          <a:cs typeface="Arial"/>
                        </a:rPr>
                        <a:t>Reject: value gap 0.620 &gt; 0.020</a:t>
                      </a:r>
                    </a:p>
                  </a:txBody>
                  <a:tcPr marL="91440" marR="91440" marT="45720" marB="45720">
                    <a:solidFill>
                      <a:srgbClr val="FFFFFF"/>
                    </a:solidFill>
                  </a:tcPr>
                </a:tc>
              </a:tr>
              <a:tr h="425450">
                <a:tc>
                  <a:txBody>
                    <a:bodyPr/>
                    <a:lstStyle/>
                    <a:p>
                      <a:r>
                        <a:rPr sz="1575" b="0">
                          <a:solidFill>
                            <a:srgbClr val="183D4B"/>
                          </a:solidFill>
                          <a:latin typeface="Arial"/>
                          <a:ea typeface="Arial"/>
                          <a:cs typeface="Arial"/>
                        </a:rPr>
                        <a:t>Llama recovery</a:t>
                      </a:r>
                    </a:p>
                  </a:txBody>
                  <a:tcPr marL="91440" marR="91440" marT="45720" marB="45720">
                    <a:solidFill>
                      <a:srgbClr val="EAF2F3"/>
                    </a:solidFill>
                  </a:tcPr>
                </a:tc>
                <a:tc>
                  <a:txBody>
                    <a:bodyPr/>
                    <a:lstStyle/>
                    <a:p>
                      <a:r>
                        <a:rPr sz="1575" b="0">
                          <a:solidFill>
                            <a:srgbClr val="183D4B"/>
                          </a:solidFill>
                          <a:latin typeface="Arial"/>
                          <a:ea typeface="Arial"/>
                          <a:cs typeface="Arial"/>
                        </a:rPr>
                        <a:t>REVIEW</a:t>
                      </a:r>
                    </a:p>
                  </a:txBody>
                  <a:tcPr marL="91440" marR="91440" marT="45720" marB="45720">
                    <a:solidFill>
                      <a:srgbClr val="EAF2F3"/>
                    </a:solidFill>
                  </a:tcPr>
                </a:tc>
                <a:tc>
                  <a:txBody>
                    <a:bodyPr/>
                    <a:lstStyle/>
                    <a:p>
                      <a:r>
                        <a:rPr sz="1575" b="0">
                          <a:solidFill>
                            <a:srgbClr val="183D4B"/>
                          </a:solidFill>
                          <a:latin typeface="Arial"/>
                          <a:ea typeface="Arial"/>
                          <a:cs typeface="Arial"/>
                        </a:rPr>
                        <a:t>REVIEW</a:t>
                      </a:r>
                    </a:p>
                  </a:txBody>
                  <a:tcPr marL="91440" marR="91440" marT="45720" marB="45720">
                    <a:solidFill>
                      <a:srgbClr val="EAF2F3"/>
                    </a:solidFill>
                  </a:tcPr>
                </a:tc>
              </a:tr>
              <a:tr h="425450">
                <a:tc>
                  <a:txBody>
                    <a:bodyPr/>
                    <a:lstStyle/>
                    <a:p>
                      <a:r>
                        <a:rPr sz="1575" b="0">
                          <a:solidFill>
                            <a:srgbClr val="183D4B"/>
                          </a:solidFill>
                          <a:latin typeface="Arial"/>
                          <a:ea typeface="Arial"/>
                          <a:cs typeface="Arial"/>
                        </a:rPr>
                        <a:t>Explanation</a:t>
                      </a:r>
                    </a:p>
                  </a:txBody>
                  <a:tcPr marL="91440" marR="91440" marT="45720" marB="45720">
                    <a:solidFill>
                      <a:srgbClr val="FFFFFF"/>
                    </a:solidFill>
                  </a:tcPr>
                </a:tc>
                <a:tc>
                  <a:txBody>
                    <a:bodyPr/>
                    <a:lstStyle/>
                    <a:p>
                      <a:r>
                        <a:rPr sz="1575" b="0">
                          <a:solidFill>
                            <a:srgbClr val="183D4B"/>
                          </a:solidFill>
                          <a:latin typeface="Arial"/>
                          <a:ea typeface="Arial"/>
                          <a:cs typeface="Arial"/>
                        </a:rPr>
                        <a:t>REVIEW_ACTION</a:t>
                      </a:r>
                    </a:p>
                  </a:txBody>
                  <a:tcPr marL="91440" marR="91440" marT="45720" marB="45720">
                    <a:solidFill>
                      <a:srgbClr val="FFFFFF"/>
                    </a:solidFill>
                  </a:tcPr>
                </a:tc>
                <a:tc>
                  <a:txBody>
                    <a:bodyPr/>
                    <a:lstStyle/>
                    <a:p>
                      <a:r>
                        <a:rPr sz="1575" b="0">
                          <a:solidFill>
                            <a:srgbClr val="183D4B"/>
                          </a:solidFill>
                          <a:latin typeface="Arial"/>
                          <a:ea typeface="Arial"/>
                          <a:cs typeface="Arial"/>
                        </a:rPr>
                        <a:t>REVIEW_MODEL_LIMITS</a:t>
                      </a:r>
                    </a:p>
                  </a:txBody>
                  <a:tcPr marL="91440" marR="91440" marT="45720" marB="45720">
                    <a:solidFill>
                      <a:srgbClr val="FFFFFF"/>
                    </a:solidFill>
                  </a:tcPr>
                </a:tc>
              </a:tr>
              <a:tr h="425450">
                <a:tc>
                  <a:txBody>
                    <a:bodyPr/>
                    <a:lstStyle/>
                    <a:p>
                      <a:r>
                        <a:rPr sz="1575" b="0">
                          <a:solidFill>
                            <a:srgbClr val="183D4B"/>
                          </a:solidFill>
                          <a:latin typeface="Arial"/>
                          <a:ea typeface="Arial"/>
                          <a:cs typeface="Arial"/>
                        </a:rPr>
                        <a:t>Operator readback</a:t>
                      </a:r>
                    </a:p>
                  </a:txBody>
                  <a:tcPr marL="91440" marR="91440" marT="45720" marB="45720">
                    <a:solidFill>
                      <a:srgbClr val="EAF2F3"/>
                    </a:solidFill>
                  </a:tcPr>
                </a:tc>
                <a:tc>
                  <a:txBody>
                    <a:bodyPr/>
                    <a:lstStyle/>
                    <a:p>
                      <a:r>
                        <a:rPr sz="1575" b="0">
                          <a:solidFill>
                            <a:srgbClr val="183D4B"/>
                          </a:solidFill>
                          <a:latin typeface="Arial"/>
                          <a:ea typeface="Arial"/>
                          <a:cs typeface="Arial"/>
                        </a:rPr>
                        <a:t>PENDING, no accepted candidate</a:t>
                      </a:r>
                    </a:p>
                  </a:txBody>
                  <a:tcPr marL="91440" marR="91440" marT="45720" marB="45720">
                    <a:solidFill>
                      <a:srgbClr val="EAF2F3"/>
                    </a:solidFill>
                  </a:tcPr>
                </a:tc>
                <a:tc>
                  <a:txBody>
                    <a:bodyPr/>
                    <a:lstStyle/>
                    <a:p>
                      <a:r>
                        <a:rPr sz="1575" b="0">
                          <a:solidFill>
                            <a:srgbClr val="183D4B"/>
                          </a:solidFill>
                          <a:latin typeface="Arial"/>
                          <a:ea typeface="Arial"/>
                          <a:cs typeface="Arial"/>
                        </a:rPr>
                        <a:t>PENDING, no accepted candidate</a:t>
                      </a:r>
                    </a:p>
                  </a:txBody>
                  <a:tcPr marL="91440" marR="91440" marT="45720" marB="45720">
                    <a:solidFill>
                      <a:srgbClr val="EAF2F3"/>
                    </a:solidFill>
                  </a:tcPr>
                </a:tc>
              </a:tr>
            </a:tbl>
          </a:graphicData>
        </a:graphic>
      </p:graphicFrame>
      <p:sp>
        <p:nvSpPr>
          <p:cNvPr id="3" name="">
            <a:extLst xmlns:a="http://schemas.openxmlformats.org/drawingml/2006/main">
              <a:ext uri="{FF2B5EF4-FFF2-40B4-BE49-F238E27FC236}">
                <a16:creationId xmlns:a16="http://schemas.microsoft.com/office/drawing/2014/main" id="{AF97969B-CD3F-45D5-8207-9FD2A6E2AF24}"/>
              </a:ext>
            </a:extLst>
          </p:cNvPr>
          <p:cNvSpPr>
            <a:spLocks xmlns:a="http://schemas.openxmlformats.org/drawingml/2006/main" noGrp="1"/>
          </p:cNvSpPr>
          <p:nvPr/>
        </p:nvSpPr>
        <p:spPr>
          <a:xfrm xmlns:a="http://schemas.openxmlformats.org/drawingml/2006/main">
            <a:off x="742950" y="55435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BC6328"/>
                </a:solidFill>
                <a:latin typeface="Arial"/>
                <a:ea typeface="Arial"/>
                <a:cs typeface="Arial"/>
              </a:defRPr>
            </a:pPr>
            <a:r>
              <a:rPr sz="1650" b="1">
                <a:solidFill>
                  <a:srgbClr val="BC6328"/>
                </a:solidFill>
                <a:latin typeface="Arial"/>
                <a:ea typeface="Arial"/>
                <a:cs typeface="Arial"/>
              </a:rPr>
              <a:t>Actual critic response: “DRL proposal lacks safety certificate.” Both runs stop for review.</a:t>
            </a:r>
          </a:p>
        </p:txBody>
      </p:sp>
      <p:sp>
        <p:nvSpPr>
          <p:cNvPr id="4" name="">
            <a:extLst xmlns:a="http://schemas.openxmlformats.org/drawingml/2006/main">
              <a:ext uri="{FF2B5EF4-FFF2-40B4-BE49-F238E27FC236}">
                <a16:creationId xmlns:a16="http://schemas.microsoft.com/office/drawing/2014/main" id="{A7CD997D-CEA8-4223-8F63-1FEE8D2462C9}"/>
              </a:ext>
            </a:extLst>
          </p:cNvPr>
          <p:cNvSpPr>
            <a:spLocks xmlns:a="http://schemas.openxmlformats.org/drawingml/2006/main" noGrp="1"/>
          </p:cNvSpPr>
          <p:nvPr/>
        </p:nvSpPr>
        <p:spPr>
          <a:xfrm xmlns:a="http://schemas.openxmlformats.org/drawingml/2006/main">
            <a:off x="704850" y="6105525"/>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26874"/>
                </a:solidFill>
                <a:latin typeface="Arial"/>
                <a:ea typeface="Arial"/>
                <a:cs typeface="Arial"/>
              </a:defRPr>
            </a:pPr>
            <a:r>
              <a:rPr sz="1500" b="0">
                <a:solidFill>
                  <a:srgbClr val="526874"/>
                </a:solidFill>
                <a:latin typeface="Arial"/>
                <a:ea typeface="Arial"/>
                <a:cs typeface="Arial"/>
              </a:rPr>
              <a:t>DQN first is a declared common intervention. A model rationale cannot disable the verification gate.</a:t>
            </a:r>
          </a:p>
        </p:txBody>
      </p:sp>
      <p:sp>
        <p:nvSpPr>
          <p:cNvPr id="5" name="">
            <a:extLst xmlns:a="http://schemas.openxmlformats.org/drawingml/2006/main">
              <a:ext uri="{FF2B5EF4-FFF2-40B4-BE49-F238E27FC236}">
                <a16:creationId xmlns:a16="http://schemas.microsoft.com/office/drawing/2014/main" id="{F1D3ACD0-8515-44E1-B958-3C3FCDD8D5AE}"/>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20</a:t>
            </a:r>
          </a:p>
        </p:txBody>
      </p:sp>
    </p:spTree>
    <p:extLst>
      <p:ext uri="{BB962C8B-B14F-4D97-AF65-F5344CB8AC3E}">
        <p14:creationId xmlns:p14="http://schemas.microsoft.com/office/powerpoint/2010/main" val="1712561841"/>
      </p:ext>
    </p:extLst>
  </p:cSld>
</p:sld>
</file>

<file path=ppt/slides/slide2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2EEE7C-8617-4155-AC66-176284887962}"/>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A fair comparison of agent coordination</a:t>
            </a:r>
          </a:p>
        </p:txBody>
      </p:sp>
      <p:sp>
        <p:nvSpPr>
          <p:cNvPr id="2" name="">
            <a:extLst xmlns:a="http://schemas.openxmlformats.org/drawingml/2006/main">
              <a:ext uri="{FF2B5EF4-FFF2-40B4-BE49-F238E27FC236}">
                <a16:creationId xmlns:a16="http://schemas.microsoft.com/office/drawing/2014/main" id="{FACD2232-5334-41B5-B745-63FD0625B1D3}"/>
              </a:ext>
            </a:extLst>
          </p:cNvPr>
          <p:cNvSpPr>
            <a:spLocks xmlns:a="http://schemas.openxmlformats.org/drawingml/2006/main" noGrp="1"/>
          </p:cNvSpPr>
          <p:nvPr/>
        </p:nvSpPr>
        <p:spPr>
          <a:xfrm xmlns:a="http://schemas.openxmlformats.org/drawingml/2006/main">
            <a:off x="742950" y="1724025"/>
            <a:ext cx="106299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D4B"/>
                </a:solidFill>
                <a:latin typeface="Arial"/>
                <a:ea typeface="Arial"/>
                <a:cs typeface="Arial"/>
              </a:defRPr>
            </a:pPr>
            <a:r>
              <a:rPr sz="2250" b="0">
                <a:solidFill>
                  <a:srgbClr val="183D4B"/>
                </a:solidFill>
                <a:latin typeface="Arial"/>
                <a:ea typeface="Arial"/>
                <a:cs typeface="Arial"/>
              </a:rPr>
              <a:t>Hold the objective, constraints, model, numerical tools and verification fixed.</a:t>
            </a:r>
          </a:p>
        </p:txBody>
      </p:sp>
      <p:sp>
        <p:nvSpPr>
          <p:cNvPr id="3" name="">
            <a:extLst xmlns:a="http://schemas.openxmlformats.org/drawingml/2006/main">
              <a:ext uri="{FF2B5EF4-FFF2-40B4-BE49-F238E27FC236}">
                <a16:creationId xmlns:a16="http://schemas.microsoft.com/office/drawing/2014/main" id="{E6C74693-B9A3-4B7E-8E77-C94DDD331124}"/>
              </a:ext>
            </a:extLst>
          </p:cNvPr>
          <p:cNvSpPr>
            <a:spLocks xmlns:a="http://schemas.openxmlformats.org/drawingml/2006/main" noGrp="1"/>
          </p:cNvSpPr>
          <p:nvPr/>
        </p:nvSpPr>
        <p:spPr>
          <a:xfrm xmlns:a="http://schemas.openxmlformats.org/drawingml/2006/main">
            <a:off x="742950" y="2895600"/>
            <a:ext cx="106299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D4B"/>
                </a:solidFill>
                <a:latin typeface="Arial"/>
                <a:ea typeface="Arial"/>
                <a:cs typeface="Arial"/>
              </a:defRPr>
            </a:pPr>
            <a:r>
              <a:rPr sz="2250" b="0">
                <a:solidFill>
                  <a:srgbClr val="183D4B"/>
                </a:solidFill>
                <a:latin typeface="Arial"/>
                <a:ea typeface="Arial"/>
                <a:cs typeface="Arial"/>
              </a:rPr>
              <a:t>Compare a competent fixed or adaptive supervisor with the agent-coordinated route.</a:t>
            </a:r>
          </a:p>
        </p:txBody>
      </p:sp>
      <p:sp>
        <p:nvSpPr>
          <p:cNvPr id="4" name="">
            <a:extLst xmlns:a="http://schemas.openxmlformats.org/drawingml/2006/main">
              <a:ext uri="{FF2B5EF4-FFF2-40B4-BE49-F238E27FC236}">
                <a16:creationId xmlns:a16="http://schemas.microsoft.com/office/drawing/2014/main" id="{E6CB29C6-33A2-41AF-BD87-A9775EFE338D}"/>
              </a:ext>
            </a:extLst>
          </p:cNvPr>
          <p:cNvSpPr>
            <a:spLocks xmlns:a="http://schemas.openxmlformats.org/drawingml/2006/main" noGrp="1"/>
          </p:cNvSpPr>
          <p:nvPr/>
        </p:nvSpPr>
        <p:spPr>
          <a:xfrm xmlns:a="http://schemas.openxmlformats.org/drawingml/2006/main">
            <a:off x="742950" y="4067175"/>
            <a:ext cx="106299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D4B"/>
                </a:solidFill>
                <a:latin typeface="Arial"/>
                <a:ea typeface="Arial"/>
                <a:cs typeface="Arial"/>
              </a:defRPr>
            </a:pPr>
            <a:r>
              <a:rPr sz="2250" b="0">
                <a:solidFill>
                  <a:srgbClr val="183D4B"/>
                </a:solidFill>
                <a:latin typeface="Arial"/>
                <a:ea typeface="Arial"/>
                <a:cs typeface="Arial"/>
              </a:rPr>
              <a:t>Measure correct completion, errors, manual handoff and time separately.</a:t>
            </a:r>
          </a:p>
        </p:txBody>
      </p:sp>
      <p:sp>
        <p:nvSpPr>
          <p:cNvPr id="5" name="">
            <a:extLst xmlns:a="http://schemas.openxmlformats.org/drawingml/2006/main">
              <a:ext uri="{FF2B5EF4-FFF2-40B4-BE49-F238E27FC236}">
                <a16:creationId xmlns:a16="http://schemas.microsoft.com/office/drawing/2014/main" id="{5C20F9A0-CCB2-4527-9CD7-1C6362D9C767}"/>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Improved request handling is a workflow result. A numerical optimum remains a property of the stated problem.</a:t>
            </a:r>
          </a:p>
        </p:txBody>
      </p:sp>
      <p:sp>
        <p:nvSpPr>
          <p:cNvPr id="6" name="">
            <a:extLst xmlns:a="http://schemas.openxmlformats.org/drawingml/2006/main">
              <a:ext uri="{FF2B5EF4-FFF2-40B4-BE49-F238E27FC236}">
                <a16:creationId xmlns:a16="http://schemas.microsoft.com/office/drawing/2014/main" id="{C305B6AF-6C45-4F78-A930-F8C5704C55DB}"/>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21</a:t>
            </a:r>
          </a:p>
        </p:txBody>
      </p:sp>
    </p:spTree>
    <p:extLst>
      <p:ext uri="{BB962C8B-B14F-4D97-AF65-F5344CB8AC3E}">
        <p14:creationId xmlns:p14="http://schemas.microsoft.com/office/powerpoint/2010/main" val="1481658549"/>
      </p:ext>
    </p:extLst>
  </p:cSld>
</p:sld>
</file>

<file path=ppt/slides/slide2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25952F-B2E3-4776-8573-38D08F0E8D33}"/>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Actual agent trace with the restoration MILP</a:t>
            </a:r>
          </a:p>
        </p:txBody>
      </p:sp>
      <p:graphicFrame>
        <p:nvGraphicFramePr>
          <p:cNvPr id="7" name=""/>
          <p:cNvGraphicFramePr/>
          <p:nvPr/>
        </p:nvGraphicFramePr>
        <p:xfrm>
          <a:off xmlns:a="http://schemas.openxmlformats.org/drawingml/2006/main" x="685800" y="1514475"/>
          <a:ext xmlns:a="http://schemas.openxmlformats.org/drawingml/2006/main" cx="10820400" cy="3952875"/>
        </p:xfrm>
        <a:graphic xmlns:a="http://schemas.openxmlformats.org/drawingml/2006/main">
          <a:graphicData uri="http://schemas.openxmlformats.org/drawingml/2006/table">
            <a:tbl>
              <a:tblPr/>
              <a:tblGrid>
                <a:gridCol w="2219325"/>
                <a:gridCol w="3971925"/>
                <a:gridCol w="4629150"/>
              </a:tblGrid>
              <a:tr h="439208">
                <a:tc>
                  <a:txBody>
                    <a:bodyPr/>
                    <a:lstStyle/>
                    <a:p>
                      <a:r>
                        <a:rPr sz="1650" b="1">
                          <a:solidFill>
                            <a:srgbClr val="FFFFFF"/>
                          </a:solidFill>
                          <a:latin typeface="Arial"/>
                          <a:ea typeface="Arial"/>
                          <a:cs typeface="Arial"/>
                        </a:rPr>
                        <a:t>Stage</a:t>
                      </a:r>
                    </a:p>
                  </a:txBody>
                  <a:tcPr marL="91440" marR="91440" marT="45720" marB="45720">
                    <a:solidFill>
                      <a:srgbClr val="183D4B"/>
                    </a:solidFill>
                  </a:tcPr>
                </a:tc>
                <a:tc>
                  <a:txBody>
                    <a:bodyPr/>
                    <a:lstStyle/>
                    <a:p>
                      <a:r>
                        <a:rPr sz="1650" b="1">
                          <a:solidFill>
                            <a:srgbClr val="FFFFFF"/>
                          </a:solidFill>
                          <a:latin typeface="Arial"/>
                          <a:ea typeface="Arial"/>
                          <a:cs typeface="Arial"/>
                        </a:rPr>
                        <a:t>Named method</a:t>
                      </a:r>
                    </a:p>
                  </a:txBody>
                  <a:tcPr marL="91440" marR="91440" marT="45720" marB="45720">
                    <a:solidFill>
                      <a:srgbClr val="183D4B"/>
                    </a:solidFill>
                  </a:tcPr>
                </a:tc>
                <a:tc>
                  <a:txBody>
                    <a:bodyPr/>
                    <a:lstStyle/>
                    <a:p>
                      <a:r>
                        <a:rPr sz="1650" b="1">
                          <a:solidFill>
                            <a:srgbClr val="FFFFFF"/>
                          </a:solidFill>
                          <a:latin typeface="Arial"/>
                          <a:ea typeface="Arial"/>
                          <a:cs typeface="Arial"/>
                        </a:rPr>
                        <a:t>Recorded response</a:t>
                      </a:r>
                    </a:p>
                  </a:txBody>
                  <a:tcPr marL="91440" marR="91440" marT="45720" marB="45720">
                    <a:solidFill>
                      <a:srgbClr val="183D4B"/>
                    </a:solidFill>
                  </a:tcPr>
                </a:tc>
              </a:tr>
              <a:tr h="439208">
                <a:tc>
                  <a:txBody>
                    <a:bodyPr/>
                    <a:lstStyle/>
                    <a:p>
                      <a:r>
                        <a:rPr sz="1650" b="0">
                          <a:solidFill>
                            <a:srgbClr val="183D4B"/>
                          </a:solidFill>
                          <a:latin typeface="Arial"/>
                          <a:ea typeface="Arial"/>
                          <a:cs typeface="Arial"/>
                        </a:rPr>
                        <a:t>Awareness</a:t>
                      </a:r>
                    </a:p>
                  </a:txBody>
                  <a:tcPr marL="91440" marR="91440" marT="45720" marB="45720">
                    <a:solidFill>
                      <a:srgbClr val="FFFFFF"/>
                    </a:solidFill>
                  </a:tcPr>
                </a:tc>
                <a:tc>
                  <a:txBody>
                    <a:bodyPr/>
                    <a:lstStyle/>
                    <a:p>
                      <a:r>
                        <a:rPr sz="1650" b="0">
                          <a:solidFill>
                            <a:srgbClr val="183D4B"/>
                          </a:solidFill>
                          <a:latin typeface="Arial"/>
                          <a:ea typeface="Arial"/>
                          <a:cs typeface="Arial"/>
                        </a:rPr>
                        <a:t>Scenario and scope check</a:t>
                      </a:r>
                    </a:p>
                  </a:txBody>
                  <a:tcPr marL="91440" marR="91440" marT="45720" marB="45720">
                    <a:solidFill>
                      <a:srgbClr val="FFFFFF"/>
                    </a:solidFill>
                  </a:tcPr>
                </a:tc>
                <a:tc>
                  <a:txBody>
                    <a:bodyPr/>
                    <a:lstStyle/>
                    <a:p>
                      <a:r>
                        <a:rPr sz="1650" b="0">
                          <a:solidFill>
                            <a:srgbClr val="183D4B"/>
                          </a:solidFill>
                          <a:latin typeface="Arial"/>
                          <a:ea typeface="Arial"/>
                          <a:cs typeface="Arial"/>
                        </a:rPr>
                        <a:t>PASS: six-node synthetic graph</a:t>
                      </a:r>
                    </a:p>
                  </a:txBody>
                  <a:tcPr marL="91440" marR="91440" marT="45720" marB="45720">
                    <a:solidFill>
                      <a:srgbClr val="FFFFFF"/>
                    </a:solidFill>
                  </a:tcPr>
                </a:tc>
              </a:tr>
              <a:tr h="439208">
                <a:tc>
                  <a:txBody>
                    <a:bodyPr/>
                    <a:lstStyle/>
                    <a:p>
                      <a:r>
                        <a:rPr sz="1650" b="0">
                          <a:solidFill>
                            <a:srgbClr val="183D4B"/>
                          </a:solidFill>
                          <a:latin typeface="Arial"/>
                          <a:ea typeface="Arial"/>
                          <a:cs typeface="Arial"/>
                        </a:rPr>
                        <a:t>Planning</a:t>
                      </a:r>
                    </a:p>
                  </a:txBody>
                  <a:tcPr marL="91440" marR="91440" marT="45720" marB="45720">
                    <a:solidFill>
                      <a:srgbClr val="EAF2F3"/>
                    </a:solidFill>
                  </a:tcPr>
                </a:tc>
                <a:tc>
                  <a:txBody>
                    <a:bodyPr/>
                    <a:lstStyle/>
                    <a:p>
                      <a:r>
                        <a:rPr sz="1650" b="0">
                          <a:solidFill>
                            <a:srgbClr val="183D4B"/>
                          </a:solidFill>
                          <a:latin typeface="Arial"/>
                          <a:ea typeface="Arial"/>
                          <a:cs typeface="Arial"/>
                        </a:rPr>
                        <a:t>Llama routing + HiGHS MILP</a:t>
                      </a:r>
                    </a:p>
                  </a:txBody>
                  <a:tcPr marL="91440" marR="91440" marT="45720" marB="45720">
                    <a:solidFill>
                      <a:srgbClr val="EAF2F3"/>
                    </a:solidFill>
                  </a:tcPr>
                </a:tc>
                <a:tc>
                  <a:txBody>
                    <a:bodyPr/>
                    <a:lstStyle/>
                    <a:p>
                      <a:r>
                        <a:rPr sz="1650" b="0">
                          <a:solidFill>
                            <a:srgbClr val="183D4B"/>
                          </a:solidFill>
                          <a:latin typeface="Arial"/>
                          <a:ea typeface="Arial"/>
                          <a:cs typeface="Arial"/>
                        </a:rPr>
                        <a:t>RESTORATION_MILP, solved</a:t>
                      </a:r>
                    </a:p>
                  </a:txBody>
                  <a:tcPr marL="91440" marR="91440" marT="45720" marB="45720">
                    <a:solidFill>
                      <a:srgbClr val="EAF2F3"/>
                    </a:solidFill>
                  </a:tcPr>
                </a:tc>
              </a:tr>
              <a:tr h="439208">
                <a:tc>
                  <a:txBody>
                    <a:bodyPr/>
                    <a:lstStyle/>
                    <a:p>
                      <a:r>
                        <a:rPr sz="1650" b="0">
                          <a:solidFill>
                            <a:srgbClr val="183D4B"/>
                          </a:solidFill>
                          <a:latin typeface="Arial"/>
                          <a:ea typeface="Arial"/>
                          <a:cs typeface="Arial"/>
                        </a:rPr>
                        <a:t>Execution</a:t>
                      </a:r>
                    </a:p>
                  </a:txBody>
                  <a:tcPr marL="91440" marR="91440" marT="45720" marB="45720">
                    <a:solidFill>
                      <a:srgbClr val="FFFFFF"/>
                    </a:solidFill>
                  </a:tcPr>
                </a:tc>
                <a:tc>
                  <a:txBody>
                    <a:bodyPr/>
                    <a:lstStyle/>
                    <a:p>
                      <a:r>
                        <a:rPr sz="1650" b="0">
                          <a:solidFill>
                            <a:srgbClr val="183D4B"/>
                          </a:solidFill>
                          <a:latin typeface="Arial"/>
                          <a:ea typeface="Arial"/>
                          <a:cs typeface="Arial"/>
                        </a:rPr>
                        <a:t>Binary load-pickup solution</a:t>
                      </a:r>
                    </a:p>
                  </a:txBody>
                  <a:tcPr marL="91440" marR="91440" marT="45720" marB="45720">
                    <a:solidFill>
                      <a:srgbClr val="FFFFFF"/>
                    </a:solidFill>
                  </a:tcPr>
                </a:tc>
                <a:tc>
                  <a:txBody>
                    <a:bodyPr/>
                    <a:lstStyle/>
                    <a:p>
                      <a:r>
                        <a:rPr sz="1650" b="0">
                          <a:solidFill>
                            <a:srgbClr val="183D4B"/>
                          </a:solidFill>
                          <a:latin typeface="Arial"/>
                          <a:ea typeface="Arial"/>
                          <a:cs typeface="Arial"/>
                        </a:rPr>
                        <a:t>200 kW total, 90 kW critical</a:t>
                      </a:r>
                    </a:p>
                  </a:txBody>
                  <a:tcPr marL="91440" marR="91440" marT="45720" marB="45720">
                    <a:solidFill>
                      <a:srgbClr val="FFFFFF"/>
                    </a:solidFill>
                  </a:tcPr>
                </a:tc>
              </a:tr>
              <a:tr h="439208">
                <a:tc>
                  <a:txBody>
                    <a:bodyPr/>
                    <a:lstStyle/>
                    <a:p>
                      <a:r>
                        <a:rPr sz="1650" b="0">
                          <a:solidFill>
                            <a:srgbClr val="183D4B"/>
                          </a:solidFill>
                          <a:latin typeface="Arial"/>
                          <a:ea typeface="Arial"/>
                          <a:cs typeface="Arial"/>
                        </a:rPr>
                        <a:t>Simulation</a:t>
                      </a:r>
                    </a:p>
                  </a:txBody>
                  <a:tcPr marL="91440" marR="91440" marT="45720" marB="45720">
                    <a:solidFill>
                      <a:srgbClr val="EAF2F3"/>
                    </a:solidFill>
                  </a:tcPr>
                </a:tc>
                <a:tc>
                  <a:txBody>
                    <a:bodyPr/>
                    <a:lstStyle/>
                    <a:p>
                      <a:r>
                        <a:rPr sz="1650" b="0">
                          <a:solidFill>
                            <a:srgbClr val="183D4B"/>
                          </a:solidFill>
                          <a:latin typeface="Arial"/>
                          <a:ea typeface="Arial"/>
                          <a:cs typeface="Arial"/>
                        </a:rPr>
                        <a:t>Independent graph enumeration</a:t>
                      </a:r>
                    </a:p>
                  </a:txBody>
                  <a:tcPr marL="91440" marR="91440" marT="45720" marB="45720">
                    <a:solidFill>
                      <a:srgbClr val="EAF2F3"/>
                    </a:solidFill>
                  </a:tcPr>
                </a:tc>
                <a:tc>
                  <a:txBody>
                    <a:bodyPr/>
                    <a:lstStyle/>
                    <a:p>
                      <a:r>
                        <a:rPr sz="1650" b="0">
                          <a:solidFill>
                            <a:srgbClr val="183D4B"/>
                          </a:solidFill>
                          <a:latin typeface="Arial"/>
                          <a:ea typeface="Arial"/>
                          <a:cs typeface="Arial"/>
                        </a:rPr>
                        <a:t>Weighted objective 1010 agrees</a:t>
                      </a:r>
                    </a:p>
                  </a:txBody>
                  <a:tcPr marL="91440" marR="91440" marT="45720" marB="45720">
                    <a:solidFill>
                      <a:srgbClr val="EAF2F3"/>
                    </a:solidFill>
                  </a:tcPr>
                </a:tc>
              </a:tr>
              <a:tr h="439208">
                <a:tc>
                  <a:txBody>
                    <a:bodyPr/>
                    <a:lstStyle/>
                    <a:p>
                      <a:r>
                        <a:rPr sz="1650" b="0">
                          <a:solidFill>
                            <a:srgbClr val="183D4B"/>
                          </a:solidFill>
                          <a:latin typeface="Arial"/>
                          <a:ea typeface="Arial"/>
                          <a:cs typeface="Arial"/>
                        </a:rPr>
                        <a:t>Verification</a:t>
                      </a:r>
                    </a:p>
                  </a:txBody>
                  <a:tcPr marL="91440" marR="91440" marT="45720" marB="45720">
                    <a:solidFill>
                      <a:srgbClr val="FFFFFF"/>
                    </a:solidFill>
                  </a:tcPr>
                </a:tc>
                <a:tc>
                  <a:txBody>
                    <a:bodyPr/>
                    <a:lstStyle/>
                    <a:p>
                      <a:r>
                        <a:rPr sz="1650" b="0">
                          <a:solidFill>
                            <a:srgbClr val="183D4B"/>
                          </a:solidFill>
                          <a:latin typeface="Arial"/>
                          <a:ea typeface="Arial"/>
                          <a:cs typeface="Arial"/>
                        </a:rPr>
                        <a:t>Solver and graph checks</a:t>
                      </a:r>
                    </a:p>
                  </a:txBody>
                  <a:tcPr marL="91440" marR="91440" marT="45720" marB="45720">
                    <a:solidFill>
                      <a:srgbClr val="FFFFFF"/>
                    </a:solidFill>
                  </a:tcPr>
                </a:tc>
                <a:tc>
                  <a:txBody>
                    <a:bodyPr/>
                    <a:lstStyle/>
                    <a:p>
                      <a:r>
                        <a:rPr sz="1650" b="0">
                          <a:solidFill>
                            <a:srgbClr val="183D4B"/>
                          </a:solidFill>
                          <a:latin typeface="Arial"/>
                          <a:ea typeface="Arial"/>
                          <a:cs typeface="Arial"/>
                        </a:rPr>
                        <a:t>PASS within reduced scope</a:t>
                      </a:r>
                    </a:p>
                  </a:txBody>
                  <a:tcPr marL="91440" marR="91440" marT="45720" marB="45720">
                    <a:solidFill>
                      <a:srgbClr val="FFFFFF"/>
                    </a:solidFill>
                  </a:tcPr>
                </a:tc>
              </a:tr>
              <a:tr h="439208">
                <a:tc>
                  <a:txBody>
                    <a:bodyPr/>
                    <a:lstStyle/>
                    <a:p>
                      <a:r>
                        <a:rPr sz="1650" b="0">
                          <a:solidFill>
                            <a:srgbClr val="183D4B"/>
                          </a:solidFill>
                          <a:latin typeface="Arial"/>
                          <a:ea typeface="Arial"/>
                          <a:cs typeface="Arial"/>
                        </a:rPr>
                        <a:t>Recovery</a:t>
                      </a:r>
                    </a:p>
                  </a:txBody>
                  <a:tcPr marL="91440" marR="91440" marT="45720" marB="45720">
                    <a:solidFill>
                      <a:srgbClr val="EAF2F3"/>
                    </a:solidFill>
                  </a:tcPr>
                </a:tc>
                <a:tc>
                  <a:txBody>
                    <a:bodyPr/>
                    <a:lstStyle/>
                    <a:p>
                      <a:r>
                        <a:rPr sz="1650" b="0">
                          <a:solidFill>
                            <a:srgbClr val="183D4B"/>
                          </a:solidFill>
                          <a:latin typeface="Arial"/>
                          <a:ea typeface="Arial"/>
                          <a:cs typeface="Arial"/>
                        </a:rPr>
                        <a:t>One-attempt policy</a:t>
                      </a:r>
                    </a:p>
                  </a:txBody>
                  <a:tcPr marL="91440" marR="91440" marT="45720" marB="45720">
                    <a:solidFill>
                      <a:srgbClr val="EAF2F3"/>
                    </a:solidFill>
                  </a:tcPr>
                </a:tc>
                <a:tc>
                  <a:txBody>
                    <a:bodyPr/>
                    <a:lstStyle/>
                    <a:p>
                      <a:r>
                        <a:rPr sz="1650" b="0">
                          <a:solidFill>
                            <a:srgbClr val="183D4B"/>
                          </a:solidFill>
                          <a:latin typeface="Arial"/>
                          <a:ea typeface="Arial"/>
                          <a:cs typeface="Arial"/>
                        </a:rPr>
                        <a:t>NOT_NEEDED</a:t>
                      </a:r>
                    </a:p>
                  </a:txBody>
                  <a:tcPr marL="91440" marR="91440" marT="45720" marB="45720">
                    <a:solidFill>
                      <a:srgbClr val="EAF2F3"/>
                    </a:solidFill>
                  </a:tcPr>
                </a:tc>
              </a:tr>
              <a:tr h="439208">
                <a:tc>
                  <a:txBody>
                    <a:bodyPr/>
                    <a:lstStyle/>
                    <a:p>
                      <a:r>
                        <a:rPr sz="1650" b="0">
                          <a:solidFill>
                            <a:srgbClr val="183D4B"/>
                          </a:solidFill>
                          <a:latin typeface="Arial"/>
                          <a:ea typeface="Arial"/>
                          <a:cs typeface="Arial"/>
                        </a:rPr>
                        <a:t>Explanation</a:t>
                      </a:r>
                    </a:p>
                  </a:txBody>
                  <a:tcPr marL="91440" marR="91440" marT="45720" marB="45720">
                    <a:solidFill>
                      <a:srgbClr val="FFFFFF"/>
                    </a:solidFill>
                  </a:tcPr>
                </a:tc>
                <a:tc>
                  <a:txBody>
                    <a:bodyPr/>
                    <a:lstStyle/>
                    <a:p>
                      <a:r>
                        <a:rPr sz="1650" b="0">
                          <a:solidFill>
                            <a:srgbClr val="183D4B"/>
                          </a:solidFill>
                          <a:latin typeface="Arial"/>
                          <a:ea typeface="Arial"/>
                          <a:cs typeface="Arial"/>
                        </a:rPr>
                        <a:t>Actual Llama response</a:t>
                      </a:r>
                    </a:p>
                  </a:txBody>
                  <a:tcPr marL="91440" marR="91440" marT="45720" marB="45720">
                    <a:solidFill>
                      <a:srgbClr val="FFFFFF"/>
                    </a:solidFill>
                  </a:tcPr>
                </a:tc>
                <a:tc>
                  <a:txBody>
                    <a:bodyPr/>
                    <a:lstStyle/>
                    <a:p>
                      <a:r>
                        <a:rPr sz="1650" b="0">
                          <a:solidFill>
                            <a:srgbClr val="183D4B"/>
                          </a:solidFill>
                          <a:latin typeface="Arial"/>
                          <a:ea typeface="Arial"/>
                          <a:cs typeface="Arial"/>
                        </a:rPr>
                        <a:t>REVIEW: “review the results”</a:t>
                      </a:r>
                    </a:p>
                  </a:txBody>
                  <a:tcPr marL="91440" marR="91440" marT="45720" marB="45720">
                    <a:solidFill>
                      <a:srgbClr val="FFFFFF"/>
                    </a:solidFill>
                  </a:tcPr>
                </a:tc>
              </a:tr>
              <a:tr h="439208">
                <a:tc>
                  <a:txBody>
                    <a:bodyPr/>
                    <a:lstStyle/>
                    <a:p>
                      <a:r>
                        <a:rPr sz="1650" b="0">
                          <a:solidFill>
                            <a:srgbClr val="183D4B"/>
                          </a:solidFill>
                          <a:latin typeface="Arial"/>
                          <a:ea typeface="Arial"/>
                          <a:cs typeface="Arial"/>
                        </a:rPr>
                        <a:t>Acknowledgment</a:t>
                      </a:r>
                    </a:p>
                  </a:txBody>
                  <a:tcPr marL="91440" marR="91440" marT="45720" marB="45720">
                    <a:solidFill>
                      <a:srgbClr val="EAF2F3"/>
                    </a:solidFill>
                  </a:tcPr>
                </a:tc>
                <a:tc>
                  <a:txBody>
                    <a:bodyPr/>
                    <a:lstStyle/>
                    <a:p>
                      <a:r>
                        <a:rPr sz="1650" b="0">
                          <a:solidFill>
                            <a:srgbClr val="183D4B"/>
                          </a:solidFill>
                          <a:latin typeface="Arial"/>
                          <a:ea typeface="Arial"/>
                          <a:cs typeface="Arial"/>
                        </a:rPr>
                        <a:t>Human result review</a:t>
                      </a:r>
                    </a:p>
                  </a:txBody>
                  <a:tcPr marL="91440" marR="91440" marT="45720" marB="45720">
                    <a:solidFill>
                      <a:srgbClr val="EAF2F3"/>
                    </a:solidFill>
                  </a:tcPr>
                </a:tc>
                <a:tc>
                  <a:txBody>
                    <a:bodyPr/>
                    <a:lstStyle/>
                    <a:p>
                      <a:r>
                        <a:rPr sz="1650" b="0">
                          <a:solidFill>
                            <a:srgbClr val="183D4B"/>
                          </a:solidFill>
                          <a:latin typeface="Arial"/>
                          <a:ea typeface="Arial"/>
                          <a:cs typeface="Arial"/>
                        </a:rPr>
                        <a:t>PENDING, no dispatch</a:t>
                      </a:r>
                    </a:p>
                  </a:txBody>
                  <a:tcPr marL="91440" marR="91440" marT="45720" marB="45720">
                    <a:solidFill>
                      <a:srgbClr val="EAF2F3"/>
                    </a:solidFill>
                  </a:tcPr>
                </a:tc>
              </a:tr>
            </a:tbl>
          </a:graphicData>
        </a:graphic>
      </p:graphicFrame>
      <p:sp>
        <p:nvSpPr>
          <p:cNvPr id="3" name="">
            <a:extLst xmlns:a="http://schemas.openxmlformats.org/drawingml/2006/main">
              <a:ext uri="{FF2B5EF4-FFF2-40B4-BE49-F238E27FC236}">
                <a16:creationId xmlns:a16="http://schemas.microsoft.com/office/drawing/2014/main" id="{8A35C499-BF12-4E74-8096-F3668C0D75F7}"/>
              </a:ext>
            </a:extLst>
          </p:cNvPr>
          <p:cNvSpPr>
            <a:spLocks xmlns:a="http://schemas.openxmlformats.org/drawingml/2006/main" noGrp="1"/>
          </p:cNvSpPr>
          <p:nvPr/>
        </p:nvSpPr>
        <p:spPr>
          <a:xfrm xmlns:a="http://schemas.openxmlformats.org/drawingml/2006/main">
            <a:off x="742950" y="56007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C6328"/>
                </a:solidFill>
                <a:latin typeface="Arial"/>
                <a:ea typeface="Arial"/>
                <a:cs typeface="Arial"/>
              </a:defRPr>
            </a:pPr>
            <a:r>
              <a:rPr sz="1800" b="1">
                <a:solidFill>
                  <a:srgbClr val="BC6328"/>
                </a:solidFill>
                <a:latin typeface="Arial"/>
                <a:ea typeface="Arial"/>
                <a:cs typeface="Arial"/>
              </a:rPr>
              <a:t>The numerical checks pass. Llama’s explanation requests REVIEW.</a:t>
            </a:r>
          </a:p>
        </p:txBody>
      </p:sp>
      <p:sp>
        <p:nvSpPr>
          <p:cNvPr id="4" name="">
            <a:extLst xmlns:a="http://schemas.openxmlformats.org/drawingml/2006/main">
              <a:ext uri="{FF2B5EF4-FFF2-40B4-BE49-F238E27FC236}">
                <a16:creationId xmlns:a16="http://schemas.microsoft.com/office/drawing/2014/main" id="{DD13B629-07F6-4BF2-B4D4-42F67C5007A1}"/>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The fixed route solves the same MILP. The broad REVIEW wording is a protocol limitation.</a:t>
            </a:r>
          </a:p>
        </p:txBody>
      </p:sp>
      <p:sp>
        <p:nvSpPr>
          <p:cNvPr id="5" name="">
            <a:extLst xmlns:a="http://schemas.openxmlformats.org/drawingml/2006/main">
              <a:ext uri="{FF2B5EF4-FFF2-40B4-BE49-F238E27FC236}">
                <a16:creationId xmlns:a16="http://schemas.microsoft.com/office/drawing/2014/main" id="{AF9F3E82-29AE-4871-8771-F5BB53674A85}"/>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22</a:t>
            </a:r>
          </a:p>
        </p:txBody>
      </p:sp>
    </p:spTree>
    <p:extLst>
      <p:ext uri="{BB962C8B-B14F-4D97-AF65-F5344CB8AC3E}">
        <p14:creationId xmlns:p14="http://schemas.microsoft.com/office/powerpoint/2010/main" val="1048184615"/>
      </p:ext>
    </p:extLst>
  </p:cSld>
</p:sld>
</file>

<file path=ppt/slides/slide23.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022DAD-CAEA-4920-B300-FD548D1F8976}"/>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Single-pass Llama adds correct completions</a:t>
            </a:r>
          </a:p>
        </p:txBody>
      </p:sp>
      <p:sp>
        <p:nvSpPr>
          <p:cNvPr id="3" name="">
            <a:extLst xmlns:a="http://schemas.openxmlformats.org/drawingml/2006/main">
              <a:ext uri="{FF2B5EF4-FFF2-40B4-BE49-F238E27FC236}">
                <a16:creationId xmlns:a16="http://schemas.microsoft.com/office/drawing/2014/main" id="{10CEA00E-93F8-4233-9DCB-0428ACDD72D7}"/>
              </a:ext>
            </a:extLst>
          </p:cNvPr>
          <p:cNvSpPr>
            <a:spLocks xmlns:a="http://schemas.openxmlformats.org/drawingml/2006/main" noGrp="1"/>
          </p:cNvSpPr>
          <p:nvPr/>
        </p:nvSpPr>
        <p:spPr>
          <a:xfrm xmlns:a="http://schemas.openxmlformats.org/drawingml/2006/main">
            <a:off x="742950" y="5191125"/>
            <a:ext cx="10629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BC6328"/>
                </a:solidFill>
                <a:latin typeface="Arial"/>
                <a:ea typeface="Arial"/>
                <a:cs typeface="Arial"/>
              </a:defRPr>
            </a:pPr>
            <a:r>
              <a:rPr sz="1800" b="1">
                <a:solidFill>
                  <a:srgbClr val="BC6328"/>
                </a:solidFill>
                <a:latin typeface="Arial"/>
                <a:ea typeface="Arial"/>
                <a:cs typeface="Arial"/>
              </a:rPr>
              <a:t>Wrong READY /24: 0 versus 4. Unnecessary handoffs /20: 6 versus 0.</a:t>
            </a:r>
          </a:p>
        </p:txBody>
      </p:sp>
      <p:sp>
        <p:nvSpPr>
          <p:cNvPr id="4" name="">
            <a:extLst xmlns:a="http://schemas.openxmlformats.org/drawingml/2006/main">
              <a:ext uri="{FF2B5EF4-FFF2-40B4-BE49-F238E27FC236}">
                <a16:creationId xmlns:a16="http://schemas.microsoft.com/office/drawing/2014/main" id="{EEFC5E6E-AE05-463D-92A4-EEC3D91DC2B5}"/>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Median machine time: parser 0.30 s, Llama 3.84 s. Human form-entry time was not measured.</a:t>
            </a:r>
          </a:p>
        </p:txBody>
      </p:sp>
      <p:sp>
        <p:nvSpPr>
          <p:cNvPr id="5" name="">
            <a:extLst xmlns:a="http://schemas.openxmlformats.org/drawingml/2006/main">
              <a:ext uri="{FF2B5EF4-FFF2-40B4-BE49-F238E27FC236}">
                <a16:creationId xmlns:a16="http://schemas.microsoft.com/office/drawing/2014/main" id="{BA797434-EE9B-4264-A169-657CF06A34FB}"/>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23</a:t>
            </a:r>
          </a:p>
        </p:txBody>
      </p:sp>
      <p:graphicFrame>
        <p:nvGraphicFramePr>
          <p:cNvPr id="12" name="Chart"/>
          <p:cNvGraphicFramePr/>
          <p:nvPr/>
        </p:nvGraphicFramePr>
        <p:xfrm>
          <a:off xmlns:a="http://schemas.openxmlformats.org/drawingml/2006/main" x="723900" y="1762125"/>
          <a:ext xmlns:a="http://schemas.openxmlformats.org/drawingml/2006/main" cx="10668000" cy="3190875"/>
        </p:xfrm>
        <a:graphic xmlns:a="http://schemas.openxmlformats.org/drawingml/2006/main">
          <a:graphicData uri="http://schemas.openxmlformats.org/drawingml/2006/chart">
            <c:chart xmlns:r="http://schemas.openxmlformats.org/officeDocument/2006/relationships" xmlns:c="http://schemas.openxmlformats.org/drawingml/2006/chart" r:id="R72d40802c67e401e"/>
          </a:graphicData>
        </a:graphic>
      </p:graphicFrame>
    </p:spTree>
    <p:extLst>
      <p:ext uri="{BB962C8B-B14F-4D97-AF65-F5344CB8AC3E}">
        <p14:creationId xmlns:p14="http://schemas.microsoft.com/office/powerpoint/2010/main" val="814006917"/>
      </p:ext>
    </p:extLst>
  </p:cSld>
</p:sld>
</file>

<file path=ppt/slides/slide24.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8638B60-475A-487F-92D2-11F9146E15E2}"/>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A second model pass reduced pilot accuracy</a:t>
            </a:r>
          </a:p>
        </p:txBody>
      </p:sp>
      <p:graphicFrame>
        <p:nvGraphicFramePr>
          <p:cNvPr id="9" name=""/>
          <p:cNvGraphicFramePr/>
          <p:nvPr/>
        </p:nvGraphicFramePr>
        <p:xfrm>
          <a:off xmlns:a="http://schemas.openxmlformats.org/drawingml/2006/main" x="685800" y="1685925"/>
          <a:ext xmlns:a="http://schemas.openxmlformats.org/drawingml/2006/main" cx="10820400" cy="3200400"/>
        </p:xfrm>
        <a:graphic xmlns:a="http://schemas.openxmlformats.org/drawingml/2006/main">
          <a:graphicData uri="http://schemas.openxmlformats.org/drawingml/2006/table">
            <a:tbl>
              <a:tblPr/>
              <a:tblGrid>
                <a:gridCol w="2914650"/>
                <a:gridCol w="2000250"/>
                <a:gridCol w="2238375"/>
                <a:gridCol w="1857375"/>
                <a:gridCol w="1809750"/>
              </a:tblGrid>
              <a:tr h="800100">
                <a:tc>
                  <a:txBody>
                    <a:bodyPr/>
                    <a:lstStyle/>
                    <a:p>
                      <a:r>
                        <a:rPr sz="1800" b="1">
                          <a:solidFill>
                            <a:srgbClr val="FFFFFF"/>
                          </a:solidFill>
                          <a:latin typeface="Arial"/>
                          <a:ea typeface="Arial"/>
                          <a:cs typeface="Arial"/>
                        </a:rPr>
                        <a:t>Method</a:t>
                      </a:r>
                    </a:p>
                  </a:txBody>
                  <a:tcPr marL="91440" marR="91440" marT="45720" marB="45720">
                    <a:solidFill>
                      <a:srgbClr val="183D4B"/>
                    </a:solidFill>
                  </a:tcPr>
                </a:tc>
                <a:tc>
                  <a:txBody>
                    <a:bodyPr/>
                    <a:lstStyle/>
                    <a:p>
                      <a:r>
                        <a:rPr sz="1800" b="1">
                          <a:solidFill>
                            <a:srgbClr val="FFFFFF"/>
                          </a:solidFill>
                          <a:latin typeface="Arial"/>
                          <a:ea typeface="Arial"/>
                          <a:cs typeface="Arial"/>
                        </a:rPr>
                        <a:t>Complete /20</a:t>
                      </a:r>
                    </a:p>
                  </a:txBody>
                  <a:tcPr marL="91440" marR="91440" marT="45720" marB="45720">
                    <a:solidFill>
                      <a:srgbClr val="183D4B"/>
                    </a:solidFill>
                  </a:tcPr>
                </a:tc>
                <a:tc>
                  <a:txBody>
                    <a:bodyPr/>
                    <a:lstStyle/>
                    <a:p>
                      <a:r>
                        <a:rPr sz="1800" b="1">
                          <a:solidFill>
                            <a:srgbClr val="FFFFFF"/>
                          </a:solidFill>
                          <a:latin typeface="Arial"/>
                          <a:ea typeface="Arial"/>
                          <a:cs typeface="Arial"/>
                        </a:rPr>
                        <a:t>Wrong READY /24</a:t>
                      </a:r>
                    </a:p>
                  </a:txBody>
                  <a:tcPr marL="91440" marR="91440" marT="45720" marB="45720">
                    <a:solidFill>
                      <a:srgbClr val="183D4B"/>
                    </a:solidFill>
                  </a:tcPr>
                </a:tc>
                <a:tc>
                  <a:txBody>
                    <a:bodyPr/>
                    <a:lstStyle/>
                    <a:p>
                      <a:r>
                        <a:rPr sz="1800" b="1">
                          <a:solidFill>
                            <a:srgbClr val="FFFFFF"/>
                          </a:solidFill>
                          <a:latin typeface="Arial"/>
                          <a:ea typeface="Arial"/>
                          <a:cs typeface="Arial"/>
                        </a:rPr>
                        <a:t>Clarify /4</a:t>
                      </a:r>
                    </a:p>
                  </a:txBody>
                  <a:tcPr marL="91440" marR="91440" marT="45720" marB="45720">
                    <a:solidFill>
                      <a:srgbClr val="183D4B"/>
                    </a:solidFill>
                  </a:tcPr>
                </a:tc>
                <a:tc>
                  <a:txBody>
                    <a:bodyPr/>
                    <a:lstStyle/>
                    <a:p>
                      <a:r>
                        <a:rPr sz="1800" b="1">
                          <a:solidFill>
                            <a:srgbClr val="FFFFFF"/>
                          </a:solidFill>
                          <a:latin typeface="Arial"/>
                          <a:ea typeface="Arial"/>
                          <a:cs typeface="Arial"/>
                        </a:rPr>
                        <a:t>Median s</a:t>
                      </a:r>
                    </a:p>
                  </a:txBody>
                  <a:tcPr marL="91440" marR="91440" marT="45720" marB="45720">
                    <a:solidFill>
                      <a:srgbClr val="183D4B"/>
                    </a:solidFill>
                  </a:tcPr>
                </a:tc>
              </a:tr>
              <a:tr h="800100">
                <a:tc>
                  <a:txBody>
                    <a:bodyPr/>
                    <a:lstStyle/>
                    <a:p>
                      <a:r>
                        <a:rPr sz="1800" b="0">
                          <a:solidFill>
                            <a:srgbClr val="183D4B"/>
                          </a:solidFill>
                          <a:latin typeface="Arial"/>
                          <a:ea typeface="Arial"/>
                          <a:cs typeface="Arial"/>
                        </a:rPr>
                        <a:t>One pass</a:t>
                      </a:r>
                    </a:p>
                  </a:txBody>
                  <a:tcPr marL="91440" marR="91440" marT="45720" marB="45720">
                    <a:solidFill>
                      <a:srgbClr val="FFFFFF"/>
                    </a:solidFill>
                  </a:tcPr>
                </a:tc>
                <a:tc>
                  <a:txBody>
                    <a:bodyPr/>
                    <a:lstStyle/>
                    <a:p>
                      <a:r>
                        <a:rPr sz="1800" b="0">
                          <a:solidFill>
                            <a:srgbClr val="183D4B"/>
                          </a:solidFill>
                          <a:latin typeface="Arial"/>
                          <a:ea typeface="Arial"/>
                          <a:cs typeface="Arial"/>
                        </a:rPr>
                        <a:t>16</a:t>
                      </a:r>
                    </a:p>
                  </a:txBody>
                  <a:tcPr marL="91440" marR="91440" marT="45720" marB="45720">
                    <a:solidFill>
                      <a:srgbClr val="FFFFFF"/>
                    </a:solidFill>
                  </a:tcPr>
                </a:tc>
                <a:tc>
                  <a:txBody>
                    <a:bodyPr/>
                    <a:lstStyle/>
                    <a:p>
                      <a:r>
                        <a:rPr sz="1800" b="0">
                          <a:solidFill>
                            <a:srgbClr val="183D4B"/>
                          </a:solidFill>
                          <a:latin typeface="Arial"/>
                          <a:ea typeface="Arial"/>
                          <a:cs typeface="Arial"/>
                        </a:rPr>
                        <a:t>4</a:t>
                      </a:r>
                    </a:p>
                  </a:txBody>
                  <a:tcPr marL="91440" marR="91440" marT="45720" marB="45720">
                    <a:solidFill>
                      <a:srgbClr val="FFFFFF"/>
                    </a:solidFill>
                  </a:tcPr>
                </a:tc>
                <a:tc>
                  <a:txBody>
                    <a:bodyPr/>
                    <a:lstStyle/>
                    <a:p>
                      <a:r>
                        <a:rPr sz="1800" b="0">
                          <a:solidFill>
                            <a:srgbClr val="183D4B"/>
                          </a:solidFill>
                          <a:latin typeface="Arial"/>
                          <a:ea typeface="Arial"/>
                          <a:cs typeface="Arial"/>
                        </a:rPr>
                        <a:t>4</a:t>
                      </a:r>
                    </a:p>
                  </a:txBody>
                  <a:tcPr marL="91440" marR="91440" marT="45720" marB="45720">
                    <a:solidFill>
                      <a:srgbClr val="FFFFFF"/>
                    </a:solidFill>
                  </a:tcPr>
                </a:tc>
                <a:tc>
                  <a:txBody>
                    <a:bodyPr/>
                    <a:lstStyle/>
                    <a:p>
                      <a:r>
                        <a:rPr sz="1800" b="0">
                          <a:solidFill>
                            <a:srgbClr val="183D4B"/>
                          </a:solidFill>
                          <a:latin typeface="Arial"/>
                          <a:ea typeface="Arial"/>
                          <a:cs typeface="Arial"/>
                        </a:rPr>
                        <a:t>3.84</a:t>
                      </a:r>
                    </a:p>
                  </a:txBody>
                  <a:tcPr marL="91440" marR="91440" marT="45720" marB="45720">
                    <a:solidFill>
                      <a:srgbClr val="FFFFFF"/>
                    </a:solidFill>
                  </a:tcPr>
                </a:tc>
              </a:tr>
              <a:tr h="800100">
                <a:tc>
                  <a:txBody>
                    <a:bodyPr/>
                    <a:lstStyle/>
                    <a:p>
                      <a:r>
                        <a:rPr sz="1800" b="0">
                          <a:solidFill>
                            <a:srgbClr val="183D4B"/>
                          </a:solidFill>
                          <a:latin typeface="Arial"/>
                          <a:ea typeface="Arial"/>
                          <a:cs typeface="Arial"/>
                        </a:rPr>
                        <a:t>Add critic</a:t>
                      </a:r>
                    </a:p>
                  </a:txBody>
                  <a:tcPr marL="91440" marR="91440" marT="45720" marB="45720">
                    <a:solidFill>
                      <a:srgbClr val="EAF2F3"/>
                    </a:solidFill>
                  </a:tcPr>
                </a:tc>
                <a:tc>
                  <a:txBody>
                    <a:bodyPr/>
                    <a:lstStyle/>
                    <a:p>
                      <a:r>
                        <a:rPr sz="1800" b="0">
                          <a:solidFill>
                            <a:srgbClr val="183D4B"/>
                          </a:solidFill>
                          <a:latin typeface="Arial"/>
                          <a:ea typeface="Arial"/>
                          <a:cs typeface="Arial"/>
                        </a:rPr>
                        <a:t>9</a:t>
                      </a:r>
                    </a:p>
                  </a:txBody>
                  <a:tcPr marL="91440" marR="91440" marT="45720" marB="45720">
                    <a:solidFill>
                      <a:srgbClr val="EAF2F3"/>
                    </a:solidFill>
                  </a:tcPr>
                </a:tc>
                <a:tc>
                  <a:txBody>
                    <a:bodyPr/>
                    <a:lstStyle/>
                    <a:p>
                      <a:r>
                        <a:rPr sz="1800" b="0">
                          <a:solidFill>
                            <a:srgbClr val="183D4B"/>
                          </a:solidFill>
                          <a:latin typeface="Arial"/>
                          <a:ea typeface="Arial"/>
                          <a:cs typeface="Arial"/>
                        </a:rPr>
                        <a:t>5</a:t>
                      </a:r>
                    </a:p>
                  </a:txBody>
                  <a:tcPr marL="91440" marR="91440" marT="45720" marB="45720">
                    <a:solidFill>
                      <a:srgbClr val="EAF2F3"/>
                    </a:solidFill>
                  </a:tcPr>
                </a:tc>
                <a:tc>
                  <a:txBody>
                    <a:bodyPr/>
                    <a:lstStyle/>
                    <a:p>
                      <a:r>
                        <a:rPr sz="1800" b="0">
                          <a:solidFill>
                            <a:srgbClr val="183D4B"/>
                          </a:solidFill>
                          <a:latin typeface="Arial"/>
                          <a:ea typeface="Arial"/>
                          <a:cs typeface="Arial"/>
                        </a:rPr>
                        <a:t>3</a:t>
                      </a:r>
                    </a:p>
                  </a:txBody>
                  <a:tcPr marL="91440" marR="91440" marT="45720" marB="45720">
                    <a:solidFill>
                      <a:srgbClr val="EAF2F3"/>
                    </a:solidFill>
                  </a:tcPr>
                </a:tc>
                <a:tc>
                  <a:txBody>
                    <a:bodyPr/>
                    <a:lstStyle/>
                    <a:p>
                      <a:r>
                        <a:rPr sz="1800" b="0">
                          <a:solidFill>
                            <a:srgbClr val="183D4B"/>
                          </a:solidFill>
                          <a:latin typeface="Arial"/>
                          <a:ea typeface="Arial"/>
                          <a:cs typeface="Arial"/>
                        </a:rPr>
                        <a:t>6.42</a:t>
                      </a:r>
                    </a:p>
                  </a:txBody>
                  <a:tcPr marL="91440" marR="91440" marT="45720" marB="45720">
                    <a:solidFill>
                      <a:srgbClr val="EAF2F3"/>
                    </a:solidFill>
                  </a:tcPr>
                </a:tc>
              </a:tr>
              <a:tr h="800100">
                <a:tc>
                  <a:txBody>
                    <a:bodyPr/>
                    <a:lstStyle/>
                    <a:p>
                      <a:r>
                        <a:rPr sz="1800" b="0">
                          <a:solidFill>
                            <a:srgbClr val="183D4B"/>
                          </a:solidFill>
                          <a:latin typeface="Arial"/>
                          <a:ea typeface="Arial"/>
                          <a:cs typeface="Arial"/>
                        </a:rPr>
                        <a:t>Add self-review</a:t>
                      </a:r>
                    </a:p>
                  </a:txBody>
                  <a:tcPr marL="91440" marR="91440" marT="45720" marB="45720">
                    <a:solidFill>
                      <a:srgbClr val="FFFFFF"/>
                    </a:solidFill>
                  </a:tcPr>
                </a:tc>
                <a:tc>
                  <a:txBody>
                    <a:bodyPr/>
                    <a:lstStyle/>
                    <a:p>
                      <a:r>
                        <a:rPr sz="1800" b="0">
                          <a:solidFill>
                            <a:srgbClr val="183D4B"/>
                          </a:solidFill>
                          <a:latin typeface="Arial"/>
                          <a:ea typeface="Arial"/>
                          <a:cs typeface="Arial"/>
                        </a:rPr>
                        <a:t>10</a:t>
                      </a:r>
                    </a:p>
                  </a:txBody>
                  <a:tcPr marL="91440" marR="91440" marT="45720" marB="45720">
                    <a:solidFill>
                      <a:srgbClr val="FFFFFF"/>
                    </a:solidFill>
                  </a:tcPr>
                </a:tc>
                <a:tc>
                  <a:txBody>
                    <a:bodyPr/>
                    <a:lstStyle/>
                    <a:p>
                      <a:r>
                        <a:rPr sz="1800" b="0">
                          <a:solidFill>
                            <a:srgbClr val="183D4B"/>
                          </a:solidFill>
                          <a:latin typeface="Arial"/>
                          <a:ea typeface="Arial"/>
                          <a:cs typeface="Arial"/>
                        </a:rPr>
                        <a:t>7</a:t>
                      </a:r>
                    </a:p>
                  </a:txBody>
                  <a:tcPr marL="91440" marR="91440" marT="45720" marB="45720">
                    <a:solidFill>
                      <a:srgbClr val="FFFFFF"/>
                    </a:solidFill>
                  </a:tcPr>
                </a:tc>
                <a:tc>
                  <a:txBody>
                    <a:bodyPr/>
                    <a:lstStyle/>
                    <a:p>
                      <a:r>
                        <a:rPr sz="1800" b="0">
                          <a:solidFill>
                            <a:srgbClr val="183D4B"/>
                          </a:solidFill>
                          <a:latin typeface="Arial"/>
                          <a:ea typeface="Arial"/>
                          <a:cs typeface="Arial"/>
                        </a:rPr>
                        <a:t>3</a:t>
                      </a:r>
                    </a:p>
                  </a:txBody>
                  <a:tcPr marL="91440" marR="91440" marT="45720" marB="45720">
                    <a:solidFill>
                      <a:srgbClr val="FFFFFF"/>
                    </a:solidFill>
                  </a:tcPr>
                </a:tc>
                <a:tc>
                  <a:txBody>
                    <a:bodyPr/>
                    <a:lstStyle/>
                    <a:p>
                      <a:r>
                        <a:rPr sz="1800" b="0">
                          <a:solidFill>
                            <a:srgbClr val="183D4B"/>
                          </a:solidFill>
                          <a:latin typeface="Arial"/>
                          <a:ea typeface="Arial"/>
                          <a:cs typeface="Arial"/>
                        </a:rPr>
                        <a:t>6.54</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8878EDBA-3B40-4FB8-9655-50960FB03550}"/>
              </a:ext>
            </a:extLst>
          </p:cNvPr>
          <p:cNvSpPr>
            <a:spLocks xmlns:a="http://schemas.openxmlformats.org/drawingml/2006/main" noGrp="1"/>
          </p:cNvSpPr>
          <p:nvPr/>
        </p:nvSpPr>
        <p:spPr>
          <a:xfrm xmlns:a="http://schemas.openxmlformats.org/drawingml/2006/main">
            <a:off x="742950" y="5210175"/>
            <a:ext cx="10629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BC6328"/>
                </a:solidFill>
                <a:latin typeface="Arial"/>
                <a:ea typeface="Arial"/>
                <a:cs typeface="Arial"/>
              </a:defRPr>
            </a:pPr>
            <a:r>
              <a:rPr sz="1800" b="1">
                <a:solidFill>
                  <a:srgbClr val="BC6328"/>
                </a:solidFill>
                <a:latin typeface="Arial"/>
                <a:ea typeface="Arial"/>
                <a:cs typeface="Arial"/>
              </a:rPr>
              <a:t>Critic: 0 corrections, 8 regressions. Self-review: 0 corrections, 7 regressions.</a:t>
            </a:r>
          </a:p>
        </p:txBody>
      </p:sp>
      <p:sp>
        <p:nvSpPr>
          <p:cNvPr id="4" name="">
            <a:extLst xmlns:a="http://schemas.openxmlformats.org/drawingml/2006/main">
              <a:ext uri="{FF2B5EF4-FFF2-40B4-BE49-F238E27FC236}">
                <a16:creationId xmlns:a16="http://schemas.microsoft.com/office/drawing/2014/main" id="{EFF5ADE3-AA04-486A-9B45-1FE92BFE7045}"/>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Both second-pass conditions use the same model backbone and the same initial interpretation.</a:t>
            </a:r>
          </a:p>
        </p:txBody>
      </p:sp>
      <p:sp>
        <p:nvSpPr>
          <p:cNvPr id="5" name="">
            <a:extLst xmlns:a="http://schemas.openxmlformats.org/drawingml/2006/main">
              <a:ext uri="{FF2B5EF4-FFF2-40B4-BE49-F238E27FC236}">
                <a16:creationId xmlns:a16="http://schemas.microsoft.com/office/drawing/2014/main" id="{C0C1ABC1-6353-4842-98DF-71540712DD58}"/>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24</a:t>
            </a:r>
          </a:p>
        </p:txBody>
      </p:sp>
    </p:spTree>
    <p:extLst>
      <p:ext uri="{BB962C8B-B14F-4D97-AF65-F5344CB8AC3E}">
        <p14:creationId xmlns:p14="http://schemas.microsoft.com/office/powerpoint/2010/main" val="2090252723"/>
      </p:ext>
    </p:extLst>
  </p:cSld>
</p:sld>
</file>

<file path=ppt/slides/slide25.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AE480B-EE11-40DE-AF52-72CA850002F9}"/>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Selective Llama on new requests</a:t>
            </a:r>
          </a:p>
        </p:txBody>
      </p:sp>
      <p:sp>
        <p:nvSpPr>
          <p:cNvPr id="2" name="">
            <a:extLst xmlns:a="http://schemas.openxmlformats.org/drawingml/2006/main">
              <a:ext uri="{FF2B5EF4-FFF2-40B4-BE49-F238E27FC236}">
                <a16:creationId xmlns:a16="http://schemas.microsoft.com/office/drawing/2014/main" id="{4B3AA0A9-69B6-45E1-8A79-AAD1FD3CC41B}"/>
              </a:ext>
            </a:extLst>
          </p:cNvPr>
          <p:cNvSpPr>
            <a:spLocks xmlns:a="http://schemas.openxmlformats.org/drawingml/2006/main" noGrp="1"/>
          </p:cNvSpPr>
          <p:nvPr/>
        </p:nvSpPr>
        <p:spPr>
          <a:xfrm xmlns:a="http://schemas.openxmlformats.org/drawingml/2006/main">
            <a:off x="742950" y="1647825"/>
            <a:ext cx="10629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Use parser READY outputs. Ask Llama once only when the parser requests a handoff.</a:t>
            </a:r>
          </a:p>
        </p:txBody>
      </p:sp>
      <p:graphicFrame>
        <p:nvGraphicFramePr>
          <p:cNvPr id="11" name=""/>
          <p:cNvGraphicFramePr/>
          <p:nvPr/>
        </p:nvGraphicFramePr>
        <p:xfrm>
          <a:off xmlns:a="http://schemas.openxmlformats.org/drawingml/2006/main" x="685800" y="2657475"/>
          <a:ext xmlns:a="http://schemas.openxmlformats.org/drawingml/2006/main" cx="10820400" cy="2247900"/>
        </p:xfrm>
        <a:graphic xmlns:a="http://schemas.openxmlformats.org/drawingml/2006/main">
          <a:graphicData uri="http://schemas.openxmlformats.org/drawingml/2006/table">
            <a:tbl>
              <a:tblPr/>
              <a:tblGrid>
                <a:gridCol w="2667000"/>
                <a:gridCol w="2038350"/>
                <a:gridCol w="2038350"/>
                <a:gridCol w="2038350"/>
                <a:gridCol w="2038350"/>
              </a:tblGrid>
              <a:tr h="749300">
                <a:tc>
                  <a:txBody>
                    <a:bodyPr/>
                    <a:lstStyle/>
                    <a:p>
                      <a:r>
                        <a:rPr sz="1800" b="1">
                          <a:solidFill>
                            <a:srgbClr val="FFFFFF"/>
                          </a:solidFill>
                          <a:latin typeface="Arial"/>
                          <a:ea typeface="Arial"/>
                          <a:cs typeface="Arial"/>
                        </a:rPr>
                        <a:t>Interface</a:t>
                      </a:r>
                    </a:p>
                  </a:txBody>
                  <a:tcPr marL="91440" marR="91440" marT="45720" marB="45720">
                    <a:solidFill>
                      <a:srgbClr val="183D4B"/>
                    </a:solidFill>
                  </a:tcPr>
                </a:tc>
                <a:tc>
                  <a:txBody>
                    <a:bodyPr/>
                    <a:lstStyle/>
                    <a:p>
                      <a:r>
                        <a:rPr sz="1800" b="1">
                          <a:solidFill>
                            <a:srgbClr val="FFFFFF"/>
                          </a:solidFill>
                          <a:latin typeface="Arial"/>
                          <a:ea typeface="Arial"/>
                          <a:cs typeface="Arial"/>
                        </a:rPr>
                        <a:t>Complete /8</a:t>
                      </a:r>
                    </a:p>
                  </a:txBody>
                  <a:tcPr marL="91440" marR="91440" marT="45720" marB="45720">
                    <a:solidFill>
                      <a:srgbClr val="183D4B"/>
                    </a:solidFill>
                  </a:tcPr>
                </a:tc>
                <a:tc>
                  <a:txBody>
                    <a:bodyPr/>
                    <a:lstStyle/>
                    <a:p>
                      <a:r>
                        <a:rPr sz="1800" b="1">
                          <a:solidFill>
                            <a:srgbClr val="FFFFFF"/>
                          </a:solidFill>
                          <a:latin typeface="Arial"/>
                          <a:ea typeface="Arial"/>
                          <a:cs typeface="Arial"/>
                        </a:rPr>
                        <a:t>Wrong READY /12</a:t>
                      </a:r>
                    </a:p>
                  </a:txBody>
                  <a:tcPr marL="91440" marR="91440" marT="45720" marB="45720">
                    <a:solidFill>
                      <a:srgbClr val="183D4B"/>
                    </a:solidFill>
                  </a:tcPr>
                </a:tc>
                <a:tc>
                  <a:txBody>
                    <a:bodyPr/>
                    <a:lstStyle/>
                    <a:p>
                      <a:r>
                        <a:rPr sz="1800" b="1">
                          <a:solidFill>
                            <a:srgbClr val="FFFFFF"/>
                          </a:solidFill>
                          <a:latin typeface="Arial"/>
                          <a:ea typeface="Arial"/>
                          <a:cs typeface="Arial"/>
                        </a:rPr>
                        <a:t>Clarify /4</a:t>
                      </a:r>
                    </a:p>
                  </a:txBody>
                  <a:tcPr marL="91440" marR="91440" marT="45720" marB="45720">
                    <a:solidFill>
                      <a:srgbClr val="183D4B"/>
                    </a:solidFill>
                  </a:tcPr>
                </a:tc>
                <a:tc>
                  <a:txBody>
                    <a:bodyPr/>
                    <a:lstStyle/>
                    <a:p>
                      <a:r>
                        <a:rPr sz="1800" b="1">
                          <a:solidFill>
                            <a:srgbClr val="FFFFFF"/>
                          </a:solidFill>
                          <a:latin typeface="Arial"/>
                          <a:ea typeface="Arial"/>
                          <a:cs typeface="Arial"/>
                        </a:rPr>
                        <a:t>Extra handoffs /8</a:t>
                      </a:r>
                    </a:p>
                  </a:txBody>
                  <a:tcPr marL="91440" marR="91440" marT="45720" marB="45720">
                    <a:solidFill>
                      <a:srgbClr val="183D4B"/>
                    </a:solidFill>
                  </a:tcPr>
                </a:tc>
              </a:tr>
              <a:tr h="749300">
                <a:tc>
                  <a:txBody>
                    <a:bodyPr/>
                    <a:lstStyle/>
                    <a:p>
                      <a:r>
                        <a:rPr sz="1800" b="0">
                          <a:solidFill>
                            <a:srgbClr val="183D4B"/>
                          </a:solidFill>
                          <a:latin typeface="Arial"/>
                          <a:ea typeface="Arial"/>
                          <a:cs typeface="Arial"/>
                        </a:rPr>
                        <a:t>Parser</a:t>
                      </a:r>
                    </a:p>
                  </a:txBody>
                  <a:tcPr marL="91440" marR="91440" marT="45720" marB="45720">
                    <a:solidFill>
                      <a:srgbClr val="FFFFFF"/>
                    </a:solidFill>
                  </a:tcPr>
                </a:tc>
                <a:tc>
                  <a:txBody>
                    <a:bodyPr/>
                    <a:lstStyle/>
                    <a:p>
                      <a:r>
                        <a:rPr sz="1800" b="0">
                          <a:solidFill>
                            <a:srgbClr val="183D4B"/>
                          </a:solidFill>
                          <a:latin typeface="Arial"/>
                          <a:ea typeface="Arial"/>
                          <a:cs typeface="Arial"/>
                        </a:rPr>
                        <a:t>5</a:t>
                      </a:r>
                    </a:p>
                  </a:txBody>
                  <a:tcPr marL="91440" marR="91440" marT="45720" marB="45720">
                    <a:solidFill>
                      <a:srgbClr val="FFFFFF"/>
                    </a:solidFill>
                  </a:tcPr>
                </a:tc>
                <a:tc>
                  <a:txBody>
                    <a:bodyPr/>
                    <a:lstStyle/>
                    <a:p>
                      <a:r>
                        <a:rPr sz="1800" b="0">
                          <a:solidFill>
                            <a:srgbClr val="183D4B"/>
                          </a:solidFill>
                          <a:latin typeface="Arial"/>
                          <a:ea typeface="Arial"/>
                          <a:cs typeface="Arial"/>
                        </a:rPr>
                        <a:t>1</a:t>
                      </a:r>
                    </a:p>
                  </a:txBody>
                  <a:tcPr marL="91440" marR="91440" marT="45720" marB="45720">
                    <a:solidFill>
                      <a:srgbClr val="FFFFFF"/>
                    </a:solidFill>
                  </a:tcPr>
                </a:tc>
                <a:tc>
                  <a:txBody>
                    <a:bodyPr/>
                    <a:lstStyle/>
                    <a:p>
                      <a:r>
                        <a:rPr sz="1800" b="0">
                          <a:solidFill>
                            <a:srgbClr val="183D4B"/>
                          </a:solidFill>
                          <a:latin typeface="Arial"/>
                          <a:ea typeface="Arial"/>
                          <a:cs typeface="Arial"/>
                        </a:rPr>
                        <a:t>4</a:t>
                      </a:r>
                    </a:p>
                  </a:txBody>
                  <a:tcPr marL="91440" marR="91440" marT="45720" marB="45720">
                    <a:solidFill>
                      <a:srgbClr val="FFFFFF"/>
                    </a:solidFill>
                  </a:tcPr>
                </a:tc>
                <a:tc>
                  <a:txBody>
                    <a:bodyPr/>
                    <a:lstStyle/>
                    <a:p>
                      <a:r>
                        <a:rPr sz="1800" b="0">
                          <a:solidFill>
                            <a:srgbClr val="183D4B"/>
                          </a:solidFill>
                          <a:latin typeface="Arial"/>
                          <a:ea typeface="Arial"/>
                          <a:cs typeface="Arial"/>
                        </a:rPr>
                        <a:t>2</a:t>
                      </a:r>
                    </a:p>
                  </a:txBody>
                  <a:tcPr marL="91440" marR="91440" marT="45720" marB="45720">
                    <a:solidFill>
                      <a:srgbClr val="FFFFFF"/>
                    </a:solidFill>
                  </a:tcPr>
                </a:tc>
              </a:tr>
              <a:tr h="749300">
                <a:tc>
                  <a:txBody>
                    <a:bodyPr/>
                    <a:lstStyle/>
                    <a:p>
                      <a:r>
                        <a:rPr sz="1800" b="0">
                          <a:solidFill>
                            <a:srgbClr val="183D4B"/>
                          </a:solidFill>
                          <a:latin typeface="Arial"/>
                          <a:ea typeface="Arial"/>
                          <a:cs typeface="Arial"/>
                        </a:rPr>
                        <a:t>Selective Llama</a:t>
                      </a:r>
                    </a:p>
                  </a:txBody>
                  <a:tcPr marL="91440" marR="91440" marT="45720" marB="45720">
                    <a:solidFill>
                      <a:srgbClr val="EAF2F3"/>
                    </a:solidFill>
                  </a:tcPr>
                </a:tc>
                <a:tc>
                  <a:txBody>
                    <a:bodyPr/>
                    <a:lstStyle/>
                    <a:p>
                      <a:r>
                        <a:rPr sz="1800" b="0">
                          <a:solidFill>
                            <a:srgbClr val="183D4B"/>
                          </a:solidFill>
                          <a:latin typeface="Arial"/>
                          <a:ea typeface="Arial"/>
                          <a:cs typeface="Arial"/>
                        </a:rPr>
                        <a:t>7</a:t>
                      </a:r>
                    </a:p>
                  </a:txBody>
                  <a:tcPr marL="91440" marR="91440" marT="45720" marB="45720">
                    <a:solidFill>
                      <a:srgbClr val="EAF2F3"/>
                    </a:solidFill>
                  </a:tcPr>
                </a:tc>
                <a:tc>
                  <a:txBody>
                    <a:bodyPr/>
                    <a:lstStyle/>
                    <a:p>
                      <a:r>
                        <a:rPr sz="1800" b="0">
                          <a:solidFill>
                            <a:srgbClr val="183D4B"/>
                          </a:solidFill>
                          <a:latin typeface="Arial"/>
                          <a:ea typeface="Arial"/>
                          <a:cs typeface="Arial"/>
                        </a:rPr>
                        <a:t>2</a:t>
                      </a:r>
                    </a:p>
                  </a:txBody>
                  <a:tcPr marL="91440" marR="91440" marT="45720" marB="45720">
                    <a:solidFill>
                      <a:srgbClr val="EAF2F3"/>
                    </a:solidFill>
                  </a:tcPr>
                </a:tc>
                <a:tc>
                  <a:txBody>
                    <a:bodyPr/>
                    <a:lstStyle/>
                    <a:p>
                      <a:r>
                        <a:rPr sz="1800" b="0">
                          <a:solidFill>
                            <a:srgbClr val="183D4B"/>
                          </a:solidFill>
                          <a:latin typeface="Arial"/>
                          <a:ea typeface="Arial"/>
                          <a:cs typeface="Arial"/>
                        </a:rPr>
                        <a:t>3</a:t>
                      </a:r>
                    </a:p>
                  </a:txBody>
                  <a:tcPr marL="91440" marR="91440" marT="45720" marB="45720">
                    <a:solidFill>
                      <a:srgbClr val="EAF2F3"/>
                    </a:solidFill>
                  </a:tcPr>
                </a:tc>
                <a:tc>
                  <a:txBody>
                    <a:bodyPr/>
                    <a:lstStyle/>
                    <a:p>
                      <a:r>
                        <a:rPr sz="1800" b="0">
                          <a:solidFill>
                            <a:srgbClr val="183D4B"/>
                          </a:solidFill>
                          <a:latin typeface="Arial"/>
                          <a:ea typeface="Arial"/>
                          <a:cs typeface="Arial"/>
                        </a:rPr>
                        <a:t>0</a:t>
                      </a:r>
                    </a:p>
                  </a:txBody>
                  <a:tcPr marL="91440" marR="91440" marT="45720" marB="45720">
                    <a:solidFill>
                      <a:srgbClr val="EAF2F3"/>
                    </a:solidFill>
                  </a:tcPr>
                </a:tc>
              </a:tr>
            </a:tbl>
          </a:graphicData>
        </a:graphic>
      </p:graphicFrame>
      <p:sp>
        <p:nvSpPr>
          <p:cNvPr id="4" name="">
            <a:extLst xmlns:a="http://schemas.openxmlformats.org/drawingml/2006/main">
              <a:ext uri="{FF2B5EF4-FFF2-40B4-BE49-F238E27FC236}">
                <a16:creationId xmlns:a16="http://schemas.microsoft.com/office/drawing/2014/main" id="{CFCCB8AE-3A1D-4222-83EB-39FE206EA44A}"/>
              </a:ext>
            </a:extLst>
          </p:cNvPr>
          <p:cNvSpPr>
            <a:spLocks xmlns:a="http://schemas.openxmlformats.org/drawingml/2006/main" noGrp="1"/>
          </p:cNvSpPr>
          <p:nvPr/>
        </p:nvSpPr>
        <p:spPr>
          <a:xfrm xmlns:a="http://schemas.openxmlformats.org/drawingml/2006/main">
            <a:off x="742950" y="5238750"/>
            <a:ext cx="10629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BC6328"/>
                </a:solidFill>
                <a:latin typeface="Arial"/>
                <a:ea typeface="Arial"/>
                <a:cs typeface="Arial"/>
              </a:defRPr>
            </a:pPr>
            <a:r>
              <a:rPr sz="1800" b="1">
                <a:solidFill>
                  <a:srgbClr val="BC6328"/>
                </a:solidFill>
                <a:latin typeface="Arial"/>
                <a:ea typeface="Arial"/>
                <a:cs typeface="Arial"/>
              </a:rPr>
              <a:t>Two extra correct completions accompany one additional wrong interpretation.</a:t>
            </a:r>
          </a:p>
        </p:txBody>
      </p:sp>
      <p:sp>
        <p:nvSpPr>
          <p:cNvPr id="5" name="">
            <a:extLst xmlns:a="http://schemas.openxmlformats.org/drawingml/2006/main">
              <a:ext uri="{FF2B5EF4-FFF2-40B4-BE49-F238E27FC236}">
                <a16:creationId xmlns:a16="http://schemas.microsoft.com/office/drawing/2014/main" id="{10D5FB1D-DD61-486C-A3F3-8722AD99DC13}"/>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Both routes accept one action outside the requested current limit (h05). New requests were frozen first.</a:t>
            </a:r>
          </a:p>
        </p:txBody>
      </p:sp>
      <p:sp>
        <p:nvSpPr>
          <p:cNvPr id="6" name="">
            <a:extLst xmlns:a="http://schemas.openxmlformats.org/drawingml/2006/main">
              <a:ext uri="{FF2B5EF4-FFF2-40B4-BE49-F238E27FC236}">
                <a16:creationId xmlns:a16="http://schemas.microsoft.com/office/drawing/2014/main" id="{189EC306-998B-414C-A3C9-E262C3205086}"/>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25</a:t>
            </a:r>
          </a:p>
        </p:txBody>
      </p:sp>
    </p:spTree>
    <p:extLst>
      <p:ext uri="{BB962C8B-B14F-4D97-AF65-F5344CB8AC3E}">
        <p14:creationId xmlns:p14="http://schemas.microsoft.com/office/powerpoint/2010/main" val="492229282"/>
      </p:ext>
    </p:extLst>
  </p:cSld>
</p:sld>
</file>

<file path=ppt/slides/slide26.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D750EF-90AD-4730-85D6-5A22625ACBE1}"/>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Restricted study: recovery from known failures</a:t>
            </a:r>
          </a:p>
        </p:txBody>
      </p:sp>
      <p:graphicFrame>
        <p:nvGraphicFramePr>
          <p:cNvPr id="9" name=""/>
          <p:cNvGraphicFramePr/>
          <p:nvPr/>
        </p:nvGraphicFramePr>
        <p:xfrm>
          <a:off xmlns:a="http://schemas.openxmlformats.org/drawingml/2006/main" x="685800" y="1743075"/>
          <a:ext xmlns:a="http://schemas.openxmlformats.org/drawingml/2006/main" cx="10820400" cy="3162300"/>
        </p:xfrm>
        <a:graphic xmlns:a="http://schemas.openxmlformats.org/drawingml/2006/main">
          <a:graphicData uri="http://schemas.openxmlformats.org/drawingml/2006/table">
            <a:tbl>
              <a:tblPr/>
              <a:tblGrid>
                <a:gridCol w="4095750"/>
                <a:gridCol w="2286000"/>
                <a:gridCol w="2095500"/>
                <a:gridCol w="2343150"/>
              </a:tblGrid>
              <a:tr h="790575">
                <a:tc>
                  <a:txBody>
                    <a:bodyPr/>
                    <a:lstStyle/>
                    <a:p>
                      <a:r>
                        <a:rPr sz="2025" b="1">
                          <a:solidFill>
                            <a:srgbClr val="FFFFFF"/>
                          </a:solidFill>
                          <a:latin typeface="Arial"/>
                          <a:ea typeface="Arial"/>
                          <a:cs typeface="Arial"/>
                        </a:rPr>
                        <a:t>Supervisor</a:t>
                      </a:r>
                    </a:p>
                  </a:txBody>
                  <a:tcPr marL="91440" marR="91440" marT="45720" marB="45720">
                    <a:solidFill>
                      <a:srgbClr val="183D4B"/>
                    </a:solidFill>
                  </a:tcPr>
                </a:tc>
                <a:tc>
                  <a:txBody>
                    <a:bodyPr/>
                    <a:lstStyle/>
                    <a:p>
                      <a:r>
                        <a:rPr sz="2025" b="1">
                          <a:solidFill>
                            <a:srgbClr val="FFFFFF"/>
                          </a:solidFill>
                          <a:latin typeface="Arial"/>
                          <a:ea typeface="Arial"/>
                          <a:cs typeface="Arial"/>
                        </a:rPr>
                        <a:t>Verified /3</a:t>
                      </a:r>
                    </a:p>
                  </a:txBody>
                  <a:tcPr marL="91440" marR="91440" marT="45720" marB="45720">
                    <a:solidFill>
                      <a:srgbClr val="183D4B"/>
                    </a:solidFill>
                  </a:tcPr>
                </a:tc>
                <a:tc>
                  <a:txBody>
                    <a:bodyPr/>
                    <a:lstStyle/>
                    <a:p>
                      <a:r>
                        <a:rPr sz="2025" b="1">
                          <a:solidFill>
                            <a:srgbClr val="FFFFFF"/>
                          </a:solidFill>
                          <a:latin typeface="Arial"/>
                          <a:ea typeface="Arial"/>
                          <a:cs typeface="Arial"/>
                        </a:rPr>
                        <a:t>Tool calls</a:t>
                      </a:r>
                    </a:p>
                  </a:txBody>
                  <a:tcPr marL="91440" marR="91440" marT="45720" marB="45720">
                    <a:solidFill>
                      <a:srgbClr val="183D4B"/>
                    </a:solidFill>
                  </a:tcPr>
                </a:tc>
                <a:tc>
                  <a:txBody>
                    <a:bodyPr/>
                    <a:lstStyle/>
                    <a:p>
                      <a:r>
                        <a:rPr sz="2025" b="1">
                          <a:solidFill>
                            <a:srgbClr val="FFFFFF"/>
                          </a:solidFill>
                          <a:latin typeface="Arial"/>
                          <a:ea typeface="Arial"/>
                          <a:cs typeface="Arial"/>
                        </a:rPr>
                        <a:t>Total seconds</a:t>
                      </a:r>
                    </a:p>
                  </a:txBody>
                  <a:tcPr marL="91440" marR="91440" marT="45720" marB="45720">
                    <a:solidFill>
                      <a:srgbClr val="183D4B"/>
                    </a:solidFill>
                  </a:tcPr>
                </a:tc>
              </a:tr>
              <a:tr h="790575">
                <a:tc>
                  <a:txBody>
                    <a:bodyPr/>
                    <a:lstStyle/>
                    <a:p>
                      <a:r>
                        <a:rPr sz="2025" b="0">
                          <a:solidFill>
                            <a:srgbClr val="183D4B"/>
                          </a:solidFill>
                          <a:latin typeface="Arial"/>
                          <a:ea typeface="Arial"/>
                          <a:cs typeface="Arial"/>
                        </a:rPr>
                        <a:t>One attempt</a:t>
                      </a:r>
                    </a:p>
                  </a:txBody>
                  <a:tcPr marL="91440" marR="91440" marT="45720" marB="45720">
                    <a:solidFill>
                      <a:srgbClr val="FFFFFF"/>
                    </a:solidFill>
                  </a:tcPr>
                </a:tc>
                <a:tc>
                  <a:txBody>
                    <a:bodyPr/>
                    <a:lstStyle/>
                    <a:p>
                      <a:r>
                        <a:rPr sz="2025" b="0">
                          <a:solidFill>
                            <a:srgbClr val="183D4B"/>
                          </a:solidFill>
                          <a:latin typeface="Arial"/>
                          <a:ea typeface="Arial"/>
                          <a:cs typeface="Arial"/>
                        </a:rPr>
                        <a:t>0</a:t>
                      </a:r>
                    </a:p>
                  </a:txBody>
                  <a:tcPr marL="91440" marR="91440" marT="45720" marB="45720">
                    <a:solidFill>
                      <a:srgbClr val="FFFFFF"/>
                    </a:solidFill>
                  </a:tcPr>
                </a:tc>
                <a:tc>
                  <a:txBody>
                    <a:bodyPr/>
                    <a:lstStyle/>
                    <a:p>
                      <a:r>
                        <a:rPr sz="2025" b="0">
                          <a:solidFill>
                            <a:srgbClr val="183D4B"/>
                          </a:solidFill>
                          <a:latin typeface="Arial"/>
                          <a:ea typeface="Arial"/>
                          <a:cs typeface="Arial"/>
                        </a:rPr>
                        <a:t>3</a:t>
                      </a:r>
                    </a:p>
                  </a:txBody>
                  <a:tcPr marL="91440" marR="91440" marT="45720" marB="45720">
                    <a:solidFill>
                      <a:srgbClr val="FFFFFF"/>
                    </a:solidFill>
                  </a:tcPr>
                </a:tc>
                <a:tc>
                  <a:txBody>
                    <a:bodyPr/>
                    <a:lstStyle/>
                    <a:p>
                      <a:r>
                        <a:rPr sz="2025" b="0">
                          <a:solidFill>
                            <a:srgbClr val="183D4B"/>
                          </a:solidFill>
                          <a:latin typeface="Arial"/>
                          <a:ea typeface="Arial"/>
                          <a:cs typeface="Arial"/>
                        </a:rPr>
                        <a:t>0.58</a:t>
                      </a:r>
                    </a:p>
                  </a:txBody>
                  <a:tcPr marL="91440" marR="91440" marT="45720" marB="45720">
                    <a:solidFill>
                      <a:srgbClr val="FFFFFF"/>
                    </a:solidFill>
                  </a:tcPr>
                </a:tc>
              </a:tr>
              <a:tr h="790575">
                <a:tc>
                  <a:txBody>
                    <a:bodyPr/>
                    <a:lstStyle/>
                    <a:p>
                      <a:r>
                        <a:rPr sz="2025" b="0">
                          <a:solidFill>
                            <a:srgbClr val="183D4B"/>
                          </a:solidFill>
                          <a:latin typeface="Arial"/>
                          <a:ea typeface="Arial"/>
                          <a:cs typeface="Arial"/>
                        </a:rPr>
                        <a:t>Adaptive rules</a:t>
                      </a:r>
                    </a:p>
                  </a:txBody>
                  <a:tcPr marL="91440" marR="91440" marT="45720" marB="45720">
                    <a:solidFill>
                      <a:srgbClr val="EAF2F3"/>
                    </a:solidFill>
                  </a:tcPr>
                </a:tc>
                <a:tc>
                  <a:txBody>
                    <a:bodyPr/>
                    <a:lstStyle/>
                    <a:p>
                      <a:r>
                        <a:rPr sz="2025" b="0">
                          <a:solidFill>
                            <a:srgbClr val="183D4B"/>
                          </a:solidFill>
                          <a:latin typeface="Arial"/>
                          <a:ea typeface="Arial"/>
                          <a:cs typeface="Arial"/>
                        </a:rPr>
                        <a:t>3</a:t>
                      </a:r>
                    </a:p>
                  </a:txBody>
                  <a:tcPr marL="91440" marR="91440" marT="45720" marB="45720">
                    <a:solidFill>
                      <a:srgbClr val="EAF2F3"/>
                    </a:solidFill>
                  </a:tcPr>
                </a:tc>
                <a:tc>
                  <a:txBody>
                    <a:bodyPr/>
                    <a:lstStyle/>
                    <a:p>
                      <a:r>
                        <a:rPr sz="2025" b="0">
                          <a:solidFill>
                            <a:srgbClr val="183D4B"/>
                          </a:solidFill>
                          <a:latin typeface="Arial"/>
                          <a:ea typeface="Arial"/>
                          <a:cs typeface="Arial"/>
                        </a:rPr>
                        <a:t>6</a:t>
                      </a:r>
                    </a:p>
                  </a:txBody>
                  <a:tcPr marL="91440" marR="91440" marT="45720" marB="45720">
                    <a:solidFill>
                      <a:srgbClr val="EAF2F3"/>
                    </a:solidFill>
                  </a:tcPr>
                </a:tc>
                <a:tc>
                  <a:txBody>
                    <a:bodyPr/>
                    <a:lstStyle/>
                    <a:p>
                      <a:r>
                        <a:rPr sz="2025" b="0">
                          <a:solidFill>
                            <a:srgbClr val="183D4B"/>
                          </a:solidFill>
                          <a:latin typeface="Arial"/>
                          <a:ea typeface="Arial"/>
                          <a:cs typeface="Arial"/>
                        </a:rPr>
                        <a:t>1.14</a:t>
                      </a:r>
                    </a:p>
                  </a:txBody>
                  <a:tcPr marL="91440" marR="91440" marT="45720" marB="45720">
                    <a:solidFill>
                      <a:srgbClr val="EAF2F3"/>
                    </a:solidFill>
                  </a:tcPr>
                </a:tc>
              </a:tr>
              <a:tr h="790575">
                <a:tc>
                  <a:txBody>
                    <a:bodyPr/>
                    <a:lstStyle/>
                    <a:p>
                      <a:r>
                        <a:rPr sz="2025" b="0">
                          <a:solidFill>
                            <a:srgbClr val="183D4B"/>
                          </a:solidFill>
                          <a:latin typeface="Arial"/>
                          <a:ea typeface="Arial"/>
                          <a:cs typeface="Arial"/>
                        </a:rPr>
                        <a:t>Llama loop</a:t>
                      </a:r>
                    </a:p>
                  </a:txBody>
                  <a:tcPr marL="91440" marR="91440" marT="45720" marB="45720">
                    <a:solidFill>
                      <a:srgbClr val="FFFFFF"/>
                    </a:solidFill>
                  </a:tcPr>
                </a:tc>
                <a:tc>
                  <a:txBody>
                    <a:bodyPr/>
                    <a:lstStyle/>
                    <a:p>
                      <a:r>
                        <a:rPr sz="2025" b="0">
                          <a:solidFill>
                            <a:srgbClr val="183D4B"/>
                          </a:solidFill>
                          <a:latin typeface="Arial"/>
                          <a:ea typeface="Arial"/>
                          <a:cs typeface="Arial"/>
                        </a:rPr>
                        <a:t>3</a:t>
                      </a:r>
                    </a:p>
                  </a:txBody>
                  <a:tcPr marL="91440" marR="91440" marT="45720" marB="45720">
                    <a:solidFill>
                      <a:srgbClr val="FFFFFF"/>
                    </a:solidFill>
                  </a:tcPr>
                </a:tc>
                <a:tc>
                  <a:txBody>
                    <a:bodyPr/>
                    <a:lstStyle/>
                    <a:p>
                      <a:r>
                        <a:rPr sz="2025" b="0">
                          <a:solidFill>
                            <a:srgbClr val="183D4B"/>
                          </a:solidFill>
                          <a:latin typeface="Arial"/>
                          <a:ea typeface="Arial"/>
                          <a:cs typeface="Arial"/>
                        </a:rPr>
                        <a:t>6</a:t>
                      </a:r>
                    </a:p>
                  </a:txBody>
                  <a:tcPr marL="91440" marR="91440" marT="45720" marB="45720">
                    <a:solidFill>
                      <a:srgbClr val="FFFFFF"/>
                    </a:solidFill>
                  </a:tcPr>
                </a:tc>
                <a:tc>
                  <a:txBody>
                    <a:bodyPr/>
                    <a:lstStyle/>
                    <a:p>
                      <a:r>
                        <a:rPr sz="2025" b="0">
                          <a:solidFill>
                            <a:srgbClr val="183D4B"/>
                          </a:solidFill>
                          <a:latin typeface="Arial"/>
                          <a:ea typeface="Arial"/>
                          <a:cs typeface="Arial"/>
                        </a:rPr>
                        <a:t>17.66</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A46FD89-1388-4D74-8503-748C1F63FB76}"/>
              </a:ext>
            </a:extLst>
          </p:cNvPr>
          <p:cNvSpPr>
            <a:spLocks xmlns:a="http://schemas.openxmlformats.org/drawingml/2006/main" noGrp="1"/>
          </p:cNvSpPr>
          <p:nvPr/>
        </p:nvSpPr>
        <p:spPr>
          <a:xfrm xmlns:a="http://schemas.openxmlformats.org/drawingml/2006/main">
            <a:off x="742950" y="5238750"/>
            <a:ext cx="10629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7B7F"/>
                </a:solidFill>
                <a:latin typeface="Arial"/>
                <a:ea typeface="Arial"/>
                <a:cs typeface="Arial"/>
              </a:defRPr>
            </a:pPr>
            <a:r>
              <a:rPr sz="1800" b="1">
                <a:solidFill>
                  <a:srgbClr val="007B7F"/>
                </a:solidFill>
                <a:latin typeface="Arial"/>
                <a:ea typeface="Arial"/>
                <a:cs typeface="Arial"/>
              </a:rPr>
              <a:t>Adaptive rules and the Llama loop both recover all three known failures.</a:t>
            </a:r>
          </a:p>
        </p:txBody>
      </p:sp>
      <p:sp>
        <p:nvSpPr>
          <p:cNvPr id="4" name="">
            <a:extLst xmlns:a="http://schemas.openxmlformats.org/drawingml/2006/main">
              <a:ext uri="{FF2B5EF4-FFF2-40B4-BE49-F238E27FC236}">
                <a16:creationId xmlns:a16="http://schemas.microsoft.com/office/drawing/2014/main" id="{43C79AAD-ADBB-4AD6-8260-317CA50E6A06}"/>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Original OpenDSS-only loop. The staged workflow uses different prompts and recovery choices.</a:t>
            </a:r>
          </a:p>
        </p:txBody>
      </p:sp>
      <p:sp>
        <p:nvSpPr>
          <p:cNvPr id="5" name="">
            <a:extLst xmlns:a="http://schemas.openxmlformats.org/drawingml/2006/main">
              <a:ext uri="{FF2B5EF4-FFF2-40B4-BE49-F238E27FC236}">
                <a16:creationId xmlns:a16="http://schemas.microsoft.com/office/drawing/2014/main" id="{8F7AAE8C-D29E-4103-A572-CC714F18CCCC}"/>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26</a:t>
            </a:r>
          </a:p>
        </p:txBody>
      </p:sp>
    </p:spTree>
    <p:extLst>
      <p:ext uri="{BB962C8B-B14F-4D97-AF65-F5344CB8AC3E}">
        <p14:creationId xmlns:p14="http://schemas.microsoft.com/office/powerpoint/2010/main" val="560482177"/>
      </p:ext>
    </p:extLst>
  </p:cSld>
</p:sld>
</file>

<file path=ppt/slides/slide27.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40A24B8-36C6-4602-8754-6A11AF983147}"/>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Lab: specify the problem before solving</a:t>
            </a:r>
          </a:p>
        </p:txBody>
      </p:sp>
      <p:sp>
        <p:nvSpPr>
          <p:cNvPr id="2" name="">
            <a:extLst xmlns:a="http://schemas.openxmlformats.org/drawingml/2006/main">
              <a:ext uri="{FF2B5EF4-FFF2-40B4-BE49-F238E27FC236}">
                <a16:creationId xmlns:a16="http://schemas.microsoft.com/office/drawing/2014/main" id="{A615F889-2C20-41A4-9F28-E3B4F37F1579}"/>
              </a:ext>
            </a:extLst>
          </p:cNvPr>
          <p:cNvSpPr>
            <a:spLocks xmlns:a="http://schemas.openxmlformats.org/drawingml/2006/main" noGrp="1"/>
          </p:cNvSpPr>
          <p:nvPr/>
        </p:nvSpPr>
        <p:spPr>
          <a:xfrm xmlns:a="http://schemas.openxmlformats.org/drawingml/2006/main">
            <a:off x="742950" y="1647825"/>
            <a:ext cx="106299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D4B"/>
                </a:solidFill>
                <a:latin typeface="Arial"/>
                <a:ea typeface="Arial"/>
                <a:cs typeface="Arial"/>
              </a:defRPr>
            </a:pPr>
            <a:r>
              <a:rPr sz="2175" b="0">
                <a:solidFill>
                  <a:srgbClr val="183D4B"/>
                </a:solidFill>
                <a:latin typeface="Arial"/>
                <a:ea typeface="Arial"/>
                <a:cs typeface="Arial"/>
              </a:rPr>
              <a:t>Choose voltage support, restoration or cyber-attack response.</a:t>
            </a:r>
          </a:p>
        </p:txBody>
      </p:sp>
      <p:sp>
        <p:nvSpPr>
          <p:cNvPr id="3" name="">
            <a:extLst xmlns:a="http://schemas.openxmlformats.org/drawingml/2006/main">
              <a:ext uri="{FF2B5EF4-FFF2-40B4-BE49-F238E27FC236}">
                <a16:creationId xmlns:a16="http://schemas.microsoft.com/office/drawing/2014/main" id="{A19AAD21-6C98-499E-83BD-41A0E1C9C8AE}"/>
              </a:ext>
            </a:extLst>
          </p:cNvPr>
          <p:cNvSpPr>
            <a:spLocks xmlns:a="http://schemas.openxmlformats.org/drawingml/2006/main" noGrp="1"/>
          </p:cNvSpPr>
          <p:nvPr/>
        </p:nvSpPr>
        <p:spPr>
          <a:xfrm xmlns:a="http://schemas.openxmlformats.org/drawingml/2006/main">
            <a:off x="742950" y="2895600"/>
            <a:ext cx="106299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D4B"/>
                </a:solidFill>
                <a:latin typeface="Arial"/>
                <a:ea typeface="Arial"/>
                <a:cs typeface="Arial"/>
              </a:defRPr>
            </a:pPr>
            <a:r>
              <a:rPr sz="2175" b="0">
                <a:solidFill>
                  <a:srgbClr val="183D4B"/>
                </a:solidFill>
                <a:latin typeface="Arial"/>
                <a:ea typeface="Arial"/>
                <a:cs typeface="Arial"/>
              </a:rPr>
              <a:t>Name the decision variables, objective and engineering constraints. Identify the agent’s specific coordination step.</a:t>
            </a:r>
          </a:p>
        </p:txBody>
      </p:sp>
      <p:sp>
        <p:nvSpPr>
          <p:cNvPr id="4" name="">
            <a:extLst xmlns:a="http://schemas.openxmlformats.org/drawingml/2006/main">
              <a:ext uri="{FF2B5EF4-FFF2-40B4-BE49-F238E27FC236}">
                <a16:creationId xmlns:a16="http://schemas.microsoft.com/office/drawing/2014/main" id="{DB78ED44-65CE-497A-9413-CCA11A82F4AA}"/>
              </a:ext>
            </a:extLst>
          </p:cNvPr>
          <p:cNvSpPr>
            <a:spLocks xmlns:a="http://schemas.openxmlformats.org/drawingml/2006/main" noGrp="1"/>
          </p:cNvSpPr>
          <p:nvPr/>
        </p:nvSpPr>
        <p:spPr>
          <a:xfrm xmlns:a="http://schemas.openxmlformats.org/drawingml/2006/main">
            <a:off x="742950" y="4143375"/>
            <a:ext cx="106299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D4B"/>
                </a:solidFill>
                <a:latin typeface="Arial"/>
                <a:ea typeface="Arial"/>
                <a:cs typeface="Arial"/>
              </a:defRPr>
            </a:pPr>
            <a:r>
              <a:rPr sz="2175" b="0">
                <a:solidFill>
                  <a:srgbClr val="183D4B"/>
                </a:solidFill>
                <a:latin typeface="Arial"/>
                <a:ea typeface="Arial"/>
                <a:cs typeface="Arial"/>
              </a:rPr>
              <a:t>Recorded warning: h05 requested 20% reserve. Both interfaces solved with the full current allowance.</a:t>
            </a:r>
          </a:p>
        </p:txBody>
      </p:sp>
      <p:sp>
        <p:nvSpPr>
          <p:cNvPr id="5" name="">
            <a:extLst xmlns:a="http://schemas.openxmlformats.org/drawingml/2006/main">
              <a:ext uri="{FF2B5EF4-FFF2-40B4-BE49-F238E27FC236}">
                <a16:creationId xmlns:a16="http://schemas.microsoft.com/office/drawing/2014/main" id="{92E45D03-A900-4E9A-B5D3-E792D082A177}"/>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Exercise: confirm the intended constraint, then identify the same conventional solver for both supervisors.</a:t>
            </a:r>
          </a:p>
        </p:txBody>
      </p:sp>
      <p:sp>
        <p:nvSpPr>
          <p:cNvPr id="6" name="">
            <a:extLst xmlns:a="http://schemas.openxmlformats.org/drawingml/2006/main">
              <a:ext uri="{FF2B5EF4-FFF2-40B4-BE49-F238E27FC236}">
                <a16:creationId xmlns:a16="http://schemas.microsoft.com/office/drawing/2014/main" id="{FEC84080-7220-49B7-9083-CCA353510FDF}"/>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27</a:t>
            </a:r>
          </a:p>
        </p:txBody>
      </p:sp>
    </p:spTree>
    <p:extLst>
      <p:ext uri="{BB962C8B-B14F-4D97-AF65-F5344CB8AC3E}">
        <p14:creationId xmlns:p14="http://schemas.microsoft.com/office/powerpoint/2010/main" val="1651178973"/>
      </p:ext>
    </p:extLst>
  </p:cSld>
</p:sld>
</file>

<file path=ppt/slides/slide28.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E942E9-18ED-4BF1-8197-7682B376781A}"/>
              </a:ext>
            </a:extLst>
          </p:cNvPr>
          <p:cNvSpPr>
            <a:spLocks xmlns:a="http://schemas.openxmlformats.org/drawingml/2006/main" noGrp="1"/>
          </p:cNvSpPr>
          <p:nvPr/>
        </p:nvSpPr>
        <p:spPr>
          <a:xfrm xmlns:a="http://schemas.openxmlformats.org/drawingml/2006/main">
            <a:off x="628650" y="600075"/>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3D4B"/>
                </a:solidFill>
                <a:latin typeface="Arial"/>
                <a:ea typeface="Arial"/>
                <a:cs typeface="Arial"/>
              </a:defRPr>
            </a:pPr>
            <a:r>
              <a:rPr sz="4050" b="1">
                <a:solidFill>
                  <a:srgbClr val="183D4B"/>
                </a:solidFill>
                <a:latin typeface="Arial"/>
                <a:ea typeface="Arial"/>
                <a:cs typeface="Arial"/>
              </a:rPr>
              <a:t>Break</a:t>
            </a:r>
          </a:p>
        </p:txBody>
      </p:sp>
      <p:sp>
        <p:nvSpPr>
          <p:cNvPr id="2" name="">
            <a:extLst xmlns:a="http://schemas.openxmlformats.org/drawingml/2006/main">
              <a:ext uri="{FF2B5EF4-FFF2-40B4-BE49-F238E27FC236}">
                <a16:creationId xmlns:a16="http://schemas.microsoft.com/office/drawing/2014/main" id="{B2340522-F888-4051-9966-243B3A259D51}"/>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28</a:t>
            </a:r>
          </a:p>
        </p:txBody>
      </p:sp>
      <p:sp>
        <p:nvSpPr>
          <p:cNvPr id="3" name="">
            <a:extLst xmlns:a="http://schemas.openxmlformats.org/drawingml/2006/main">
              <a:ext uri="{FF2B5EF4-FFF2-40B4-BE49-F238E27FC236}">
                <a16:creationId xmlns:a16="http://schemas.microsoft.com/office/drawing/2014/main" id="{1A940A6F-A576-4BEE-87F1-F98E639F1D4E}"/>
              </a:ext>
            </a:extLst>
          </p:cNvPr>
          <p:cNvSpPr>
            <a:spLocks xmlns:a="http://schemas.openxmlformats.org/drawingml/2006/main" noGrp="1"/>
          </p:cNvSpPr>
          <p:nvPr/>
        </p:nvSpPr>
        <p:spPr>
          <a:xfrm xmlns:a="http://schemas.openxmlformats.org/drawingml/2006/main">
            <a:off x="704850" y="2714625"/>
            <a:ext cx="10572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75" b="1">
                <a:solidFill>
                  <a:srgbClr val="007B7F"/>
                </a:solidFill>
                <a:latin typeface="Arial"/>
                <a:ea typeface="Arial"/>
                <a:cs typeface="Arial"/>
              </a:defRPr>
            </a:pPr>
            <a:r>
              <a:rPr sz="3375" b="1">
                <a:solidFill>
                  <a:srgbClr val="007B7F"/>
                </a:solidFill>
                <a:latin typeface="Arial"/>
                <a:ea typeface="Arial"/>
                <a:cs typeface="Arial"/>
              </a:rPr>
              <a:t>10 minutes</a:t>
            </a:r>
          </a:p>
        </p:txBody>
      </p:sp>
      <p:sp>
        <p:nvSpPr>
          <p:cNvPr id="4" name="">
            <a:extLst xmlns:a="http://schemas.openxmlformats.org/drawingml/2006/main">
              <a:ext uri="{FF2B5EF4-FFF2-40B4-BE49-F238E27FC236}">
                <a16:creationId xmlns:a16="http://schemas.microsoft.com/office/drawing/2014/main" id="{0908D9F2-C9A0-41C2-A695-3D1C9E2662CF}"/>
              </a:ext>
            </a:extLst>
          </p:cNvPr>
          <p:cNvSpPr>
            <a:spLocks xmlns:a="http://schemas.openxmlformats.org/drawingml/2006/main" noGrp="1"/>
          </p:cNvSpPr>
          <p:nvPr/>
        </p:nvSpPr>
        <p:spPr>
          <a:xfrm xmlns:a="http://schemas.openxmlformats.org/drawingml/2006/main">
            <a:off x="704850" y="4838700"/>
            <a:ext cx="10620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526874"/>
                </a:solidFill>
                <a:latin typeface="Arial"/>
                <a:ea typeface="Arial"/>
                <a:cs typeface="Arial"/>
              </a:defRPr>
            </a:pPr>
            <a:r>
              <a:rPr sz="2100" b="0">
                <a:solidFill>
                  <a:srgbClr val="526874"/>
                </a:solidFill>
                <a:latin typeface="Arial"/>
                <a:ea typeface="Arial"/>
                <a:cs typeface="Arial"/>
              </a:rPr>
              <a:t>Return at 01:45</a:t>
            </a:r>
          </a:p>
          <a:p xmlns:a="http://schemas.openxmlformats.org/drawingml/2006/main">
            <a:pPr>
              <a:buNone/>
              <a:defRPr sz="2100" b="0">
                <a:solidFill>
                  <a:srgbClr val="526874"/>
                </a:solidFill>
                <a:latin typeface="Arial"/>
                <a:ea typeface="Arial"/>
                <a:cs typeface="Arial"/>
              </a:defRPr>
            </a:pPr>
            <a:r>
              <a:rPr sz="2100" b="0">
                <a:solidFill>
                  <a:srgbClr val="526874"/>
                </a:solidFill>
                <a:latin typeface="Arial"/>
                <a:ea typeface="Arial"/>
                <a:cs typeface="Arial"/>
              </a:rPr>
              <a:t>Next: restoration with a changed network</a:t>
            </a:r>
          </a:p>
        </p:txBody>
      </p:sp>
    </p:spTree>
    <p:extLst>
      <p:ext uri="{BB962C8B-B14F-4D97-AF65-F5344CB8AC3E}">
        <p14:creationId xmlns:p14="http://schemas.microsoft.com/office/powerpoint/2010/main" val="794165118"/>
      </p:ext>
    </p:extLst>
  </p:cSld>
</p:sld>
</file>

<file path=ppt/slides/slide29.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C8E1A3E-D13C-40DE-B2E8-0D512F3CC6BC}"/>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Restoration: a restricted feeder overlay</a:t>
            </a:r>
          </a:p>
        </p:txBody>
      </p:sp>
      <p:sp>
        <p:nvSpPr>
          <p:cNvPr id="2" name="">
            <a:extLst xmlns:a="http://schemas.openxmlformats.org/drawingml/2006/main">
              <a:ext uri="{FF2B5EF4-FFF2-40B4-BE49-F238E27FC236}">
                <a16:creationId xmlns:a16="http://schemas.microsoft.com/office/drawing/2014/main" id="{3807620D-8DB6-4A61-B2CF-EF9E00248774}"/>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29</a:t>
            </a:r>
          </a:p>
        </p:txBody>
      </p:sp>
      <p:sp>
        <p:nvSpPr>
          <p:cNvPr id="3" name="">
            <a:extLst xmlns:a="http://schemas.openxmlformats.org/drawingml/2006/main">
              <a:ext uri="{FF2B5EF4-FFF2-40B4-BE49-F238E27FC236}">
                <a16:creationId xmlns:a16="http://schemas.microsoft.com/office/drawing/2014/main" id="{2544540E-13F2-4652-B86F-036BE261D8C9}"/>
              </a:ext>
            </a:extLst>
          </p:cNvPr>
          <p:cNvSpPr>
            <a:spLocks xmlns:a="http://schemas.openxmlformats.org/drawingml/2006/main" noGrp="1"/>
          </p:cNvSpPr>
          <p:nvPr/>
        </p:nvSpPr>
        <p:spPr>
          <a:xfrm xmlns:a="http://schemas.openxmlformats.org/drawingml/2006/main">
            <a:off x="762000" y="2990850"/>
            <a:ext cx="2019300" cy="83820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Source</a:t>
            </a:r>
          </a:p>
        </p:txBody>
      </p:sp>
      <p:sp>
        <p:nvSpPr>
          <p:cNvPr id="4" name="">
            <a:extLst xmlns:a="http://schemas.openxmlformats.org/drawingml/2006/main">
              <a:ext uri="{FF2B5EF4-FFF2-40B4-BE49-F238E27FC236}">
                <a16:creationId xmlns:a16="http://schemas.microsoft.com/office/drawing/2014/main" id="{284F51FB-2F98-400F-B4DB-D45166F53DCE}"/>
              </a:ext>
            </a:extLst>
          </p:cNvPr>
          <p:cNvSpPr>
            <a:spLocks xmlns:a="http://schemas.openxmlformats.org/drawingml/2006/main" noGrp="1"/>
          </p:cNvSpPr>
          <p:nvPr/>
        </p:nvSpPr>
        <p:spPr>
          <a:xfrm xmlns:a="http://schemas.openxmlformats.org/drawingml/2006/main">
            <a:off x="8572500" y="2990850"/>
            <a:ext cx="2914650" cy="83820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Downstream feeder</a:t>
            </a:r>
          </a:p>
        </p:txBody>
      </p:sp>
      <p:sp>
        <p:nvSpPr>
          <p:cNvPr id="5" name="">
            <a:extLst xmlns:a="http://schemas.openxmlformats.org/drawingml/2006/main">
              <a:ext uri="{FF2B5EF4-FFF2-40B4-BE49-F238E27FC236}">
                <a16:creationId xmlns:a16="http://schemas.microsoft.com/office/drawing/2014/main" id="{CADF19D6-632B-4760-8CCF-D6889B804999}"/>
              </a:ext>
            </a:extLst>
          </p:cNvPr>
          <p:cNvSpPr>
            <a:spLocks xmlns:a="http://schemas.openxmlformats.org/drawingml/2006/main" noGrp="1"/>
          </p:cNvSpPr>
          <p:nvPr/>
        </p:nvSpPr>
        <p:spPr>
          <a:xfrm xmlns:a="http://schemas.openxmlformats.org/drawingml/2006/main">
            <a:off x="3524250" y="23812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BC6328"/>
                </a:solidFill>
                <a:latin typeface="Arial"/>
                <a:ea typeface="Arial"/>
                <a:cs typeface="Arial"/>
              </a:defRPr>
            </a:pPr>
            <a:r>
              <a:rPr sz="2250" b="1">
                <a:solidFill>
                  <a:srgbClr val="BC6328"/>
                </a:solidFill>
                <a:latin typeface="Arial"/>
                <a:ea typeface="Arial"/>
                <a:cs typeface="Arial"/>
              </a:rPr>
              <a:t>Original branch unavailable</a:t>
            </a:r>
          </a:p>
        </p:txBody>
      </p:sp>
      <p:sp>
        <p:nvSpPr>
          <p:cNvPr id="6" name="">
            <a:extLst xmlns:a="http://schemas.openxmlformats.org/drawingml/2006/main">
              <a:ext uri="{FF2B5EF4-FFF2-40B4-BE49-F238E27FC236}">
                <a16:creationId xmlns:a16="http://schemas.microsoft.com/office/drawing/2014/main" id="{4D44982E-1E10-4631-9ABE-CEE907D0A183}"/>
              </a:ext>
            </a:extLst>
          </p:cNvPr>
          <p:cNvSpPr>
            <a:spLocks xmlns:a="http://schemas.openxmlformats.org/drawingml/2006/main" noGrp="1"/>
          </p:cNvSpPr>
          <p:nvPr/>
        </p:nvSpPr>
        <p:spPr>
          <a:xfrm xmlns:a="http://schemas.openxmlformats.org/drawingml/2006/main">
            <a:off x="2781300" y="3371850"/>
            <a:ext cx="5762625" cy="0"/>
          </a:xfrm>
          <a:prstGeom xmlns:a="http://schemas.openxmlformats.org/drawingml/2006/main" prst="line">
            <a:avLst/>
          </a:prstGeom>
          <a:noFill xmlns:a="http://schemas.openxmlformats.org/drawingml/2006/main"/>
          <a:ln xmlns:a="http://schemas.openxmlformats.org/drawingml/2006/main" w="28575">
            <a:solidFill>
              <a:srgbClr val="BC6328"/>
            </a:solidFill>
          </a:ln>
        </p:spPr>
      </p:sp>
      <p:sp>
        <p:nvSpPr>
          <p:cNvPr id="7" name="">
            <a:extLst xmlns:a="http://schemas.openxmlformats.org/drawingml/2006/main">
              <a:ext uri="{FF2B5EF4-FFF2-40B4-BE49-F238E27FC236}">
                <a16:creationId xmlns:a16="http://schemas.microsoft.com/office/drawing/2014/main" id="{D7CC7880-5F1A-4E28-A2E5-FBCB6414F3ED}"/>
              </a:ext>
            </a:extLst>
          </p:cNvPr>
          <p:cNvSpPr>
            <a:spLocks xmlns:a="http://schemas.openxmlformats.org/drawingml/2006/main" noGrp="1"/>
          </p:cNvSpPr>
          <p:nvPr/>
        </p:nvSpPr>
        <p:spPr>
          <a:xfrm xmlns:a="http://schemas.openxmlformats.org/drawingml/2006/main">
            <a:off x="4133850" y="35147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C6328"/>
                </a:solidFill>
                <a:latin typeface="Arial"/>
                <a:ea typeface="Arial"/>
                <a:cs typeface="Arial"/>
              </a:defRPr>
            </a:pPr>
            <a:r>
              <a:rPr sz="1875" b="0">
                <a:solidFill>
                  <a:srgbClr val="BC6328"/>
                </a:solidFill>
                <a:latin typeface="Arial"/>
                <a:ea typeface="Arial"/>
                <a:cs typeface="Arial"/>
              </a:rPr>
              <a:t>Quarantined path</a:t>
            </a:r>
          </a:p>
        </p:txBody>
      </p:sp>
      <p:sp>
        <p:nvSpPr>
          <p:cNvPr id="8" name="">
            <a:extLst xmlns:a="http://schemas.openxmlformats.org/drawingml/2006/main">
              <a:ext uri="{FF2B5EF4-FFF2-40B4-BE49-F238E27FC236}">
                <a16:creationId xmlns:a16="http://schemas.microsoft.com/office/drawing/2014/main" id="{3333618C-A33B-4C78-88FA-F1D937D05FBB}"/>
              </a:ext>
            </a:extLst>
          </p:cNvPr>
          <p:cNvSpPr>
            <a:spLocks xmlns:a="http://schemas.openxmlformats.org/drawingml/2006/main" noGrp="1"/>
          </p:cNvSpPr>
          <p:nvPr/>
        </p:nvSpPr>
        <p:spPr>
          <a:xfrm xmlns:a="http://schemas.openxmlformats.org/drawingml/2006/main">
            <a:off x="4648200" y="1619250"/>
            <a:ext cx="2609850" cy="714375"/>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Short bypass</a:t>
            </a:r>
          </a:p>
        </p:txBody>
      </p:sp>
      <p:sp>
        <p:nvSpPr>
          <p:cNvPr id="9" name="">
            <a:extLst xmlns:a="http://schemas.openxmlformats.org/drawingml/2006/main">
              <a:ext uri="{FF2B5EF4-FFF2-40B4-BE49-F238E27FC236}">
                <a16:creationId xmlns:a16="http://schemas.microsoft.com/office/drawing/2014/main" id="{3A2AFAFA-DEF8-4B68-91F5-ABFD30389FEB}"/>
              </a:ext>
            </a:extLst>
          </p:cNvPr>
          <p:cNvSpPr>
            <a:spLocks xmlns:a="http://schemas.openxmlformats.org/drawingml/2006/main" noGrp="1"/>
          </p:cNvSpPr>
          <p:nvPr/>
        </p:nvSpPr>
        <p:spPr>
          <a:xfrm xmlns:a="http://schemas.openxmlformats.org/drawingml/2006/main">
            <a:off x="4648200" y="4629150"/>
            <a:ext cx="2609850" cy="714375"/>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Long bypass</a:t>
            </a:r>
          </a:p>
        </p:txBody>
      </p:sp>
      <p:cxnSp>
        <p:nvCxnSpPr>
          <p:cNvPr id="63" name=""/>
          <p:cNvCxnSpPr>
            <a:stCxn xmlns:a="http://schemas.openxmlformats.org/drawingml/2006/main" id="3" idx="0"/>
            <a:endCxn xmlns:a="http://schemas.openxmlformats.org/drawingml/2006/main" id="8" idx="1"/>
          </p:cNvCxnSpPr>
          <p:nvPr/>
        </p:nvCxnSpPr>
        <p:spPr>
          <a:xfrm xmlns:a="http://schemas.openxmlformats.org/drawingml/2006/main" flipV="1">
            <a:off x="1771650" y="1976438"/>
            <a:ext cx="2876550" cy="1014413"/>
          </a:xfrm>
          <a:prstGeom xmlns:a="http://schemas.openxmlformats.org/drawingml/2006/main" prst="bentConnector3">
            <a:avLst>
              <a:gd name="adj1" fmla="val 0"/>
            </a:avLst>
          </a:prstGeom>
          <a:ln xmlns:a="http://schemas.openxmlformats.org/drawingml/2006/main" w="19050">
            <a:solidFill>
              <a:srgbClr val="007B7F"/>
            </a:solidFill>
            <a:tailEnd type="arrow" w="med" len="med"/>
          </a:ln>
        </p:spPr>
      </p:cxnSp>
      <p:cxnSp>
        <p:nvCxnSpPr>
          <p:cNvPr id="64" name=""/>
          <p:cNvCxnSpPr>
            <a:stCxn xmlns:a="http://schemas.openxmlformats.org/drawingml/2006/main" id="8" idx="3"/>
            <a:endCxn xmlns:a="http://schemas.openxmlformats.org/drawingml/2006/main" id="4" idx="0"/>
          </p:cNvCxnSpPr>
          <p:nvPr/>
        </p:nvCxnSpPr>
        <p:spPr>
          <a:xfrm xmlns:a="http://schemas.openxmlformats.org/drawingml/2006/main">
            <a:off x="7258050" y="1976438"/>
            <a:ext cx="2771775" cy="1014413"/>
          </a:xfrm>
          <a:prstGeom xmlns:a="http://schemas.openxmlformats.org/drawingml/2006/main" prst="bentConnector2">
            <a:avLst/>
          </a:prstGeom>
          <a:ln xmlns:a="http://schemas.openxmlformats.org/drawingml/2006/main" w="19050">
            <a:solidFill>
              <a:srgbClr val="007B7F"/>
            </a:solidFill>
            <a:tailEnd type="arrow" w="med" len="med"/>
          </a:ln>
        </p:spPr>
      </p:cxnSp>
      <p:cxnSp>
        <p:nvCxnSpPr>
          <p:cNvPr id="65" name=""/>
          <p:cNvCxnSpPr>
            <a:stCxn xmlns:a="http://schemas.openxmlformats.org/drawingml/2006/main" id="3" idx="2"/>
            <a:endCxn xmlns:a="http://schemas.openxmlformats.org/drawingml/2006/main" id="9" idx="1"/>
          </p:cNvCxnSpPr>
          <p:nvPr/>
        </p:nvCxnSpPr>
        <p:spPr>
          <a:xfrm xmlns:a="http://schemas.openxmlformats.org/drawingml/2006/main">
            <a:off x="1771650" y="3829050"/>
            <a:ext cx="2876550" cy="1157288"/>
          </a:xfrm>
          <a:prstGeom xmlns:a="http://schemas.openxmlformats.org/drawingml/2006/main" prst="bentConnector3">
            <a:avLst>
              <a:gd name="adj1" fmla="val 0"/>
            </a:avLst>
          </a:prstGeom>
          <a:ln xmlns:a="http://schemas.openxmlformats.org/drawingml/2006/main" w="19050">
            <a:solidFill>
              <a:srgbClr val="007B7F"/>
            </a:solidFill>
            <a:tailEnd type="arrow" w="med" len="med"/>
          </a:ln>
        </p:spPr>
      </p:cxnSp>
      <p:cxnSp>
        <p:nvCxnSpPr>
          <p:cNvPr id="66" name=""/>
          <p:cNvCxnSpPr>
            <a:stCxn xmlns:a="http://schemas.openxmlformats.org/drawingml/2006/main" id="9" idx="3"/>
            <a:endCxn xmlns:a="http://schemas.openxmlformats.org/drawingml/2006/main" id="4" idx="2"/>
          </p:cNvCxnSpPr>
          <p:nvPr/>
        </p:nvCxnSpPr>
        <p:spPr>
          <a:xfrm xmlns:a="http://schemas.openxmlformats.org/drawingml/2006/main" flipV="1">
            <a:off x="7258050" y="3829050"/>
            <a:ext cx="2771775" cy="1157288"/>
          </a:xfrm>
          <a:prstGeom xmlns:a="http://schemas.openxmlformats.org/drawingml/2006/main" prst="bentConnector2">
            <a:avLst/>
          </a:prstGeom>
          <a:ln xmlns:a="http://schemas.openxmlformats.org/drawingml/2006/main" w="19050">
            <a:solidFill>
              <a:srgbClr val="007B7F"/>
            </a:solidFill>
            <a:tailEnd type="arrow" w="med" len="med"/>
          </a:ln>
        </p:spPr>
      </p:cxnSp>
      <p:sp>
        <p:nvSpPr>
          <p:cNvPr id="14" name="">
            <a:extLst xmlns:a="http://schemas.openxmlformats.org/drawingml/2006/main">
              <a:ext uri="{FF2B5EF4-FFF2-40B4-BE49-F238E27FC236}">
                <a16:creationId xmlns:a16="http://schemas.microsoft.com/office/drawing/2014/main" id="{F3A7CB45-D488-4966-AFE1-67FA82EEFF61}"/>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Bypasses, critical labels and individual load relays are teaching assumptions.</a:t>
            </a:r>
          </a:p>
        </p:txBody>
      </p:sp>
    </p:spTree>
    <p:extLst>
      <p:ext uri="{BB962C8B-B14F-4D97-AF65-F5344CB8AC3E}">
        <p14:creationId xmlns:p14="http://schemas.microsoft.com/office/powerpoint/2010/main" val="1519379986"/>
      </p:ext>
    </p:extLst>
  </p:cSld>
</p:sld>
</file>

<file path=ppt/slides/slide30.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E273E0-767C-451F-9767-D81039625247}"/>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Mixed-integer restoration</a:t>
            </a:r>
          </a:p>
        </p:txBody>
      </p:sp>
      <p:sp>
        <p:nvSpPr>
          <p:cNvPr id="2" name="">
            <a:extLst xmlns:a="http://schemas.openxmlformats.org/drawingml/2006/main">
              <a:ext uri="{FF2B5EF4-FFF2-40B4-BE49-F238E27FC236}">
                <a16:creationId xmlns:a16="http://schemas.microsoft.com/office/drawing/2014/main" id="{59491A92-3B71-4D0C-BD04-787CF116BF77}"/>
              </a:ext>
            </a:extLst>
          </p:cNvPr>
          <p:cNvSpPr>
            <a:spLocks xmlns:a="http://schemas.openxmlformats.org/drawingml/2006/main" noGrp="1"/>
          </p:cNvSpPr>
          <p:nvPr/>
        </p:nvSpPr>
        <p:spPr>
          <a:xfrm xmlns:a="http://schemas.openxmlformats.org/drawingml/2006/main">
            <a:off x="742950" y="16859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B7F"/>
                </a:solidFill>
                <a:latin typeface="Arial"/>
                <a:ea typeface="Arial"/>
                <a:cs typeface="Arial"/>
              </a:defRPr>
            </a:pPr>
            <a:r>
              <a:rPr sz="2250" b="1">
                <a:solidFill>
                  <a:srgbClr val="007B7F"/>
                </a:solidFill>
                <a:latin typeface="Arial"/>
                <a:ea typeface="Arial"/>
                <a:cs typeface="Arial"/>
              </a:rPr>
              <a:t>maximize   Σₜ Σᵢ wᵢ Pserved,ᵢₜ Δt − λsw Σₜ Σℓ |xℓₜ − xℓ,ₜ₋₁|</a:t>
            </a:r>
          </a:p>
        </p:txBody>
      </p:sp>
      <p:sp>
        <p:nvSpPr>
          <p:cNvPr id="3" name="">
            <a:extLst xmlns:a="http://schemas.openxmlformats.org/drawingml/2006/main">
              <a:ext uri="{FF2B5EF4-FFF2-40B4-BE49-F238E27FC236}">
                <a16:creationId xmlns:a16="http://schemas.microsoft.com/office/drawing/2014/main" id="{ADDAD7F3-CA79-44FC-A9AB-D8EFD9A486F8}"/>
              </a:ext>
            </a:extLst>
          </p:cNvPr>
          <p:cNvSpPr>
            <a:spLocks xmlns:a="http://schemas.openxmlformats.org/drawingml/2006/main" noGrp="1"/>
          </p:cNvSpPr>
          <p:nvPr/>
        </p:nvSpPr>
        <p:spPr>
          <a:xfrm xmlns:a="http://schemas.openxmlformats.org/drawingml/2006/main">
            <a:off x="742950" y="26003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D4B"/>
                </a:solidFill>
                <a:latin typeface="Arial"/>
                <a:ea typeface="Arial"/>
                <a:cs typeface="Arial"/>
              </a:defRPr>
            </a:pPr>
            <a:r>
              <a:rPr sz="2175" b="0">
                <a:solidFill>
                  <a:srgbClr val="183D4B"/>
                </a:solidFill>
                <a:latin typeface="Arial"/>
                <a:ea typeface="Arial"/>
                <a:cs typeface="Arial"/>
              </a:rPr>
              <a:t>zᵢₜ, xℓₜ ∈ {0,1}       Pserved,ᵢₜ = Pdemand,ᵢₜ zᵢₜ</a:t>
            </a:r>
          </a:p>
        </p:txBody>
      </p:sp>
      <p:sp>
        <p:nvSpPr>
          <p:cNvPr id="4" name="">
            <a:extLst xmlns:a="http://schemas.openxmlformats.org/drawingml/2006/main">
              <a:ext uri="{FF2B5EF4-FFF2-40B4-BE49-F238E27FC236}">
                <a16:creationId xmlns:a16="http://schemas.microsoft.com/office/drawing/2014/main" id="{79CA9E01-49FE-400F-BB30-2387AC23F7D4}"/>
              </a:ext>
            </a:extLst>
          </p:cNvPr>
          <p:cNvSpPr>
            <a:spLocks xmlns:a="http://schemas.openxmlformats.org/drawingml/2006/main" noGrp="1"/>
          </p:cNvSpPr>
          <p:nvPr/>
        </p:nvSpPr>
        <p:spPr>
          <a:xfrm xmlns:a="http://schemas.openxmlformats.org/drawingml/2006/main">
            <a:off x="742950" y="3438525"/>
            <a:ext cx="10629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D4B"/>
                </a:solidFill>
                <a:latin typeface="Arial"/>
                <a:ea typeface="Arial"/>
                <a:cs typeface="Arial"/>
              </a:defRPr>
            </a:pPr>
            <a:r>
              <a:rPr sz="2100" b="0">
                <a:solidFill>
                  <a:srgbClr val="183D4B"/>
                </a:solidFill>
                <a:latin typeface="Arial"/>
                <a:ea typeface="Arial"/>
                <a:cs typeface="Arial"/>
              </a:rPr>
              <a:t>Power flow, voltage, branch capacity and inverter limits</a:t>
            </a:r>
          </a:p>
        </p:txBody>
      </p:sp>
      <p:sp>
        <p:nvSpPr>
          <p:cNvPr id="5" name="">
            <a:extLst xmlns:a="http://schemas.openxmlformats.org/drawingml/2006/main">
              <a:ext uri="{FF2B5EF4-FFF2-40B4-BE49-F238E27FC236}">
                <a16:creationId xmlns:a16="http://schemas.microsoft.com/office/drawing/2014/main" id="{6B5F98A1-4A6C-4EC6-9776-CE81324509F2}"/>
              </a:ext>
            </a:extLst>
          </p:cNvPr>
          <p:cNvSpPr>
            <a:spLocks xmlns:a="http://schemas.openxmlformats.org/drawingml/2006/main" noGrp="1"/>
          </p:cNvSpPr>
          <p:nvPr/>
        </p:nvSpPr>
        <p:spPr>
          <a:xfrm xmlns:a="http://schemas.openxmlformats.org/drawingml/2006/main">
            <a:off x="742950" y="4124325"/>
            <a:ext cx="10629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D4B"/>
                </a:solidFill>
                <a:latin typeface="Arial"/>
                <a:ea typeface="Arial"/>
                <a:cs typeface="Arial"/>
              </a:defRPr>
            </a:pPr>
            <a:r>
              <a:rPr sz="2100" b="0">
                <a:solidFill>
                  <a:srgbClr val="183D4B"/>
                </a:solidFill>
                <a:latin typeface="Arial"/>
                <a:ea typeface="Arial"/>
                <a:cs typeface="Arial"/>
              </a:rPr>
              <a:t>Fault isolation and source-connected radial topology</a:t>
            </a:r>
          </a:p>
        </p:txBody>
      </p:sp>
      <p:sp>
        <p:nvSpPr>
          <p:cNvPr id="6" name="">
            <a:extLst xmlns:a="http://schemas.openxmlformats.org/drawingml/2006/main">
              <a:ext uri="{FF2B5EF4-FFF2-40B4-BE49-F238E27FC236}">
                <a16:creationId xmlns:a16="http://schemas.microsoft.com/office/drawing/2014/main" id="{20703115-A0FC-484E-801B-E17F648299B4}"/>
              </a:ext>
            </a:extLst>
          </p:cNvPr>
          <p:cNvSpPr>
            <a:spLocks xmlns:a="http://schemas.openxmlformats.org/drawingml/2006/main" noGrp="1"/>
          </p:cNvSpPr>
          <p:nvPr/>
        </p:nvSpPr>
        <p:spPr>
          <a:xfrm xmlns:a="http://schemas.openxmlformats.org/drawingml/2006/main">
            <a:off x="742950" y="4810125"/>
            <a:ext cx="10629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D4B"/>
                </a:solidFill>
                <a:latin typeface="Arial"/>
                <a:ea typeface="Arial"/>
                <a:cs typeface="Arial"/>
              </a:defRPr>
            </a:pPr>
            <a:r>
              <a:rPr sz="2100" b="0">
                <a:solidFill>
                  <a:srgbClr val="183D4B"/>
                </a:solidFill>
                <a:latin typeface="Arial"/>
                <a:ea typeface="Arial"/>
                <a:cs typeface="Arial"/>
              </a:rPr>
              <a:t>Switching sequence, available devices and service priorities</a:t>
            </a:r>
          </a:p>
        </p:txBody>
      </p:sp>
      <p:sp>
        <p:nvSpPr>
          <p:cNvPr id="7" name="">
            <a:extLst xmlns:a="http://schemas.openxmlformats.org/drawingml/2006/main">
              <a:ext uri="{FF2B5EF4-FFF2-40B4-BE49-F238E27FC236}">
                <a16:creationId xmlns:a16="http://schemas.microsoft.com/office/drawing/2014/main" id="{0CEC1082-CF96-47B5-AB8B-2E4BEAACC226}"/>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Linear physics and polyhedral device limits yield a MILP. Other physics changes the problem class.</a:t>
            </a:r>
          </a:p>
        </p:txBody>
      </p:sp>
      <p:sp>
        <p:nvSpPr>
          <p:cNvPr id="8" name="">
            <a:extLst xmlns:a="http://schemas.openxmlformats.org/drawingml/2006/main">
              <a:ext uri="{FF2B5EF4-FFF2-40B4-BE49-F238E27FC236}">
                <a16:creationId xmlns:a16="http://schemas.microsoft.com/office/drawing/2014/main" id="{72A4F241-E6FF-440F-BFB8-85157ACDA28D}"/>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30</a:t>
            </a:r>
          </a:p>
        </p:txBody>
      </p:sp>
    </p:spTree>
    <p:extLst>
      <p:ext uri="{BB962C8B-B14F-4D97-AF65-F5344CB8AC3E}">
        <p14:creationId xmlns:p14="http://schemas.microsoft.com/office/powerpoint/2010/main" val="38936425"/>
      </p:ext>
    </p:extLst>
  </p:cSld>
</p:sld>
</file>

<file path=ppt/slides/slide3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2DC5A8-9035-438C-9757-361282F338B8}"/>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Restricted case R1: normal alternate capacity</a:t>
            </a:r>
          </a:p>
        </p:txBody>
      </p:sp>
      <p:sp>
        <p:nvSpPr>
          <p:cNvPr id="2" name="">
            <a:extLst xmlns:a="http://schemas.openxmlformats.org/drawingml/2006/main">
              <a:ext uri="{FF2B5EF4-FFF2-40B4-BE49-F238E27FC236}">
                <a16:creationId xmlns:a16="http://schemas.microsoft.com/office/drawing/2014/main" id="{8986E51D-7F73-4E37-9006-E0D414E3D48D}"/>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31</a:t>
            </a:r>
          </a:p>
        </p:txBody>
      </p:sp>
      <p:sp>
        <p:nvSpPr>
          <p:cNvPr id="4" name="">
            <a:extLst xmlns:a="http://schemas.openxmlformats.org/drawingml/2006/main">
              <a:ext uri="{FF2B5EF4-FFF2-40B4-BE49-F238E27FC236}">
                <a16:creationId xmlns:a16="http://schemas.microsoft.com/office/drawing/2014/main" id="{8B7ED624-8B1F-404B-8962-133327D33C66}"/>
              </a:ext>
            </a:extLst>
          </p:cNvPr>
          <p:cNvSpPr>
            <a:spLocks xmlns:a="http://schemas.openxmlformats.org/drawingml/2006/main" noGrp="1"/>
          </p:cNvSpPr>
          <p:nvPr/>
        </p:nvSpPr>
        <p:spPr>
          <a:xfrm xmlns:a="http://schemas.openxmlformats.org/drawingml/2006/main">
            <a:off x="742950" y="53149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007B7F"/>
                </a:solidFill>
                <a:latin typeface="Arial"/>
                <a:ea typeface="Arial"/>
                <a:cs typeface="Arial"/>
              </a:defRPr>
            </a:pPr>
            <a:r>
              <a:rPr sz="1650" b="1">
                <a:solidFill>
                  <a:srgbClr val="007B7F"/>
                </a:solidFill>
                <a:latin typeface="Arial"/>
                <a:ea typeface="Arial"/>
                <a:cs typeface="Arial"/>
              </a:rPr>
              <a:t>Short bypass, 20% PV cap, 36.6% tie loading.</a:t>
            </a:r>
          </a:p>
        </p:txBody>
      </p:sp>
      <p:sp>
        <p:nvSpPr>
          <p:cNvPr id="5" name="">
            <a:extLst xmlns:a="http://schemas.openxmlformats.org/drawingml/2006/main">
              <a:ext uri="{FF2B5EF4-FFF2-40B4-BE49-F238E27FC236}">
                <a16:creationId xmlns:a16="http://schemas.microsoft.com/office/drawing/2014/main" id="{A2F110DE-2142-4949-96D8-30245BCE7C7A}"/>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Service is nominal connected kW in a snapshot, rather than energy delivered over time.</a:t>
            </a:r>
          </a:p>
        </p:txBody>
      </p:sp>
      <p:graphicFrame>
        <p:nvGraphicFramePr>
          <p:cNvPr id="12" name="Chart"/>
          <p:cNvGraphicFramePr/>
          <p:nvPr/>
        </p:nvGraphicFramePr>
        <p:xfrm>
          <a:off xmlns:a="http://schemas.openxmlformats.org/drawingml/2006/main" x="723900" y="1752600"/>
          <a:ext xmlns:a="http://schemas.openxmlformats.org/drawingml/2006/main" cx="10668000" cy="3238500"/>
        </p:xfrm>
        <a:graphic xmlns:a="http://schemas.openxmlformats.org/drawingml/2006/main">
          <a:graphicData uri="http://schemas.openxmlformats.org/drawingml/2006/chart">
            <c:chart xmlns:r="http://schemas.openxmlformats.org/officeDocument/2006/relationships" xmlns:c="http://schemas.openxmlformats.org/drawingml/2006/chart" r:id="Rb4bc882a428e4df2"/>
          </a:graphicData>
        </a:graphic>
      </p:graphicFrame>
    </p:spTree>
    <p:extLst>
      <p:ext uri="{BB962C8B-B14F-4D97-AF65-F5344CB8AC3E}">
        <p14:creationId xmlns:p14="http://schemas.microsoft.com/office/powerpoint/2010/main" val="600716621"/>
      </p:ext>
    </p:extLst>
  </p:cSld>
</p:sld>
</file>

<file path=ppt/slides/slide3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21123E0-EA81-40D0-A154-36ADB40843BB}"/>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Restricted case R2: limited alternate supply</a:t>
            </a:r>
          </a:p>
        </p:txBody>
      </p:sp>
      <p:sp>
        <p:nvSpPr>
          <p:cNvPr id="2" name="">
            <a:extLst xmlns:a="http://schemas.openxmlformats.org/drawingml/2006/main">
              <a:ext uri="{FF2B5EF4-FFF2-40B4-BE49-F238E27FC236}">
                <a16:creationId xmlns:a16="http://schemas.microsoft.com/office/drawing/2014/main" id="{2590CF03-FFB2-468A-8045-525EB7BD1ABA}"/>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32</a:t>
            </a:r>
          </a:p>
        </p:txBody>
      </p:sp>
      <p:sp>
        <p:nvSpPr>
          <p:cNvPr id="4" name="">
            <a:extLst xmlns:a="http://schemas.openxmlformats.org/drawingml/2006/main">
              <a:ext uri="{FF2B5EF4-FFF2-40B4-BE49-F238E27FC236}">
                <a16:creationId xmlns:a16="http://schemas.microsoft.com/office/drawing/2014/main" id="{E8DA6E0A-ED0C-4122-9B58-13FFB7647750}"/>
              </a:ext>
            </a:extLst>
          </p:cNvPr>
          <p:cNvSpPr>
            <a:spLocks xmlns:a="http://schemas.openxmlformats.org/drawingml/2006/main" noGrp="1"/>
          </p:cNvSpPr>
          <p:nvPr/>
        </p:nvSpPr>
        <p:spPr>
          <a:xfrm xmlns:a="http://schemas.openxmlformats.org/drawingml/2006/main">
            <a:off x="742950" y="53149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007B7F"/>
                </a:solidFill>
                <a:latin typeface="Arial"/>
                <a:ea typeface="Arial"/>
                <a:cs typeface="Arial"/>
              </a:defRPr>
            </a:pPr>
            <a:r>
              <a:rPr sz="1650" b="1">
                <a:solidFill>
                  <a:srgbClr val="007B7F"/>
                </a:solidFill>
                <a:latin typeface="Arial"/>
                <a:ea typeface="Arial"/>
                <a:cs typeface="Arial"/>
              </a:rPr>
              <a:t>Horizontal axis: percentage of noncritical load objects disconnected.</a:t>
            </a:r>
          </a:p>
        </p:txBody>
      </p:sp>
      <p:sp>
        <p:nvSpPr>
          <p:cNvPr id="5" name="">
            <a:extLst xmlns:a="http://schemas.openxmlformats.org/drawingml/2006/main">
              <a:ext uri="{FF2B5EF4-FFF2-40B4-BE49-F238E27FC236}">
                <a16:creationId xmlns:a16="http://schemas.microsoft.com/office/drawing/2014/main" id="{976C94E1-8978-45F2-8BD5-CCEB0400A4BA}"/>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The alternate route is limited to 100 A and the other bypass is unavailable.</a:t>
            </a:r>
          </a:p>
        </p:txBody>
      </p:sp>
      <p:graphicFrame>
        <p:nvGraphicFramePr>
          <p:cNvPr id="12" name="Chart"/>
          <p:cNvGraphicFramePr/>
          <p:nvPr/>
        </p:nvGraphicFramePr>
        <p:xfrm>
          <a:off xmlns:a="http://schemas.openxmlformats.org/drawingml/2006/main" x="723900" y="1752600"/>
          <a:ext xmlns:a="http://schemas.openxmlformats.org/drawingml/2006/main" cx="10668000" cy="3238500"/>
        </p:xfrm>
        <a:graphic xmlns:a="http://schemas.openxmlformats.org/drawingml/2006/main">
          <a:graphicData uri="http://schemas.openxmlformats.org/drawingml/2006/chart">
            <c:chart xmlns:r="http://schemas.openxmlformats.org/officeDocument/2006/relationships" xmlns:c="http://schemas.openxmlformats.org/drawingml/2006/chart" r:id="R330cf7e4ed5744b6"/>
          </a:graphicData>
        </a:graphic>
      </p:graphicFrame>
    </p:spTree>
    <p:extLst>
      <p:ext uri="{BB962C8B-B14F-4D97-AF65-F5344CB8AC3E}">
        <p14:creationId xmlns:p14="http://schemas.microsoft.com/office/powerpoint/2010/main" val="1971849999"/>
      </p:ext>
    </p:extLst>
  </p:cSld>
</p:sld>
</file>

<file path=ppt/slides/slide33.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F714F28-1B41-4A9C-8ECE-92E93972A849}"/>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Restoration MILP on a small teaching network</a:t>
            </a:r>
          </a:p>
        </p:txBody>
      </p:sp>
      <p:graphicFrame>
        <p:nvGraphicFramePr>
          <p:cNvPr id="7" name="Chart"/>
          <p:cNvGraphicFramePr/>
          <p:nvPr/>
        </p:nvGraphicFramePr>
        <p:xfrm>
          <a:off xmlns:a="http://schemas.openxmlformats.org/drawingml/2006/main" x="723900" y="1762125"/>
          <a:ext xmlns:a="http://schemas.openxmlformats.org/drawingml/2006/main" cx="10668000" cy="3190875"/>
        </p:xfrm>
        <a:graphic xmlns:a="http://schemas.openxmlformats.org/drawingml/2006/main">
          <a:graphicData uri="http://schemas.openxmlformats.org/drawingml/2006/chart">
            <c:chart xmlns:r="http://schemas.openxmlformats.org/officeDocument/2006/relationships" xmlns:c="http://schemas.openxmlformats.org/drawingml/2006/chart" r:id="R1fb5ebd518f4447d"/>
          </a:graphicData>
        </a:graphic>
      </p:graphicFrame>
      <p:sp>
        <p:nvSpPr>
          <p:cNvPr id="3" name="">
            <a:extLst xmlns:a="http://schemas.openxmlformats.org/drawingml/2006/main">
              <a:ext uri="{FF2B5EF4-FFF2-40B4-BE49-F238E27FC236}">
                <a16:creationId xmlns:a16="http://schemas.microsoft.com/office/drawing/2014/main" id="{68180283-12C8-4CA3-BDAB-5E53DCC2E9F7}"/>
              </a:ext>
            </a:extLst>
          </p:cNvPr>
          <p:cNvSpPr>
            <a:spLocks xmlns:a="http://schemas.openxmlformats.org/drawingml/2006/main" noGrp="1"/>
          </p:cNvSpPr>
          <p:nvPr/>
        </p:nvSpPr>
        <p:spPr>
          <a:xfrm xmlns:a="http://schemas.openxmlformats.org/drawingml/2006/main">
            <a:off x="742950" y="5238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B7F"/>
                </a:solidFill>
                <a:latin typeface="Arial"/>
                <a:ea typeface="Arial"/>
                <a:cs typeface="Arial"/>
              </a:defRPr>
            </a:pPr>
            <a:r>
              <a:rPr sz="1875" b="1">
                <a:solidFill>
                  <a:srgbClr val="007B7F"/>
                </a:solidFill>
                <a:latin typeface="Arial"/>
                <a:ea typeface="Arial"/>
                <a:cs typeface="Arial"/>
              </a:rPr>
              <a:t>MILP and exhaustive enumeration agree on the weighted service optimum in both cases.</a:t>
            </a:r>
          </a:p>
        </p:txBody>
      </p:sp>
      <p:sp>
        <p:nvSpPr>
          <p:cNvPr id="4" name="">
            <a:extLst xmlns:a="http://schemas.openxmlformats.org/drawingml/2006/main">
              <a:ext uri="{FF2B5EF4-FFF2-40B4-BE49-F238E27FC236}">
                <a16:creationId xmlns:a16="http://schemas.microsoft.com/office/drawing/2014/main" id="{A2F63504-12D5-4D3C-A2FE-263EFDBAEF6E}"/>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Six-node graph with active-power transport limits. It omits AC voltage, reactive power and protection sequencing.</a:t>
            </a:r>
          </a:p>
        </p:txBody>
      </p:sp>
      <p:sp>
        <p:nvSpPr>
          <p:cNvPr id="5" name="">
            <a:extLst xmlns:a="http://schemas.openxmlformats.org/drawingml/2006/main">
              <a:ext uri="{FF2B5EF4-FFF2-40B4-BE49-F238E27FC236}">
                <a16:creationId xmlns:a16="http://schemas.microsoft.com/office/drawing/2014/main" id="{90D09FAF-4973-4A6B-AFCD-793729E84391}"/>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33</a:t>
            </a:r>
          </a:p>
        </p:txBody>
      </p:sp>
    </p:spTree>
    <p:extLst>
      <p:ext uri="{BB962C8B-B14F-4D97-AF65-F5344CB8AC3E}">
        <p14:creationId xmlns:p14="http://schemas.microsoft.com/office/powerpoint/2010/main" val="735730770"/>
      </p:ext>
    </p:extLst>
  </p:cSld>
</p:sld>
</file>

<file path=ppt/slides/slide34.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552DC1-0854-4689-899C-7BFF8BDD2DCA}"/>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Operator review and acknowledgment</a:t>
            </a:r>
          </a:p>
        </p:txBody>
      </p:sp>
      <p:sp>
        <p:nvSpPr>
          <p:cNvPr id="2" name="">
            <a:extLst xmlns:a="http://schemas.openxmlformats.org/drawingml/2006/main">
              <a:ext uri="{FF2B5EF4-FFF2-40B4-BE49-F238E27FC236}">
                <a16:creationId xmlns:a16="http://schemas.microsoft.com/office/drawing/2014/main" id="{B2B6E88B-2F33-4955-AFC5-572254D0FC33}"/>
              </a:ext>
            </a:extLst>
          </p:cNvPr>
          <p:cNvSpPr>
            <a:spLocks xmlns:a="http://schemas.openxmlformats.org/drawingml/2006/main" noGrp="1"/>
          </p:cNvSpPr>
          <p:nvPr/>
        </p:nvSpPr>
        <p:spPr>
          <a:xfrm xmlns:a="http://schemas.openxmlformats.org/drawingml/2006/main">
            <a:off x="742950" y="1828800"/>
            <a:ext cx="6191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Inspect the action, current limit and separate AC audit.</a:t>
            </a:r>
          </a:p>
        </p:txBody>
      </p:sp>
      <p:sp>
        <p:nvSpPr>
          <p:cNvPr id="3" name="">
            <a:extLst xmlns:a="http://schemas.openxmlformats.org/drawingml/2006/main">
              <a:ext uri="{FF2B5EF4-FFF2-40B4-BE49-F238E27FC236}">
                <a16:creationId xmlns:a16="http://schemas.microsoft.com/office/drawing/2014/main" id="{BEAC1E20-78FD-4ADB-9416-5837C907BE5A}"/>
              </a:ext>
            </a:extLst>
          </p:cNvPr>
          <p:cNvSpPr>
            <a:spLocks xmlns:a="http://schemas.openxmlformats.org/drawingml/2006/main" noGrp="1"/>
          </p:cNvSpPr>
          <p:nvPr/>
        </p:nvSpPr>
        <p:spPr>
          <a:xfrm xmlns:a="http://schemas.openxmlformats.org/drawingml/2006/main">
            <a:off x="742950" y="3009900"/>
            <a:ext cx="619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Read each stage’s method and response before confirming the three statements.</a:t>
            </a:r>
          </a:p>
        </p:txBody>
      </p:sp>
      <p:sp>
        <p:nvSpPr>
          <p:cNvPr id="4" name="">
            <a:extLst xmlns:a="http://schemas.openxmlformats.org/drawingml/2006/main">
              <a:ext uri="{FF2B5EF4-FFF2-40B4-BE49-F238E27FC236}">
                <a16:creationId xmlns:a16="http://schemas.microsoft.com/office/drawing/2014/main" id="{CC4187F1-E518-4734-8F77-C6EA1BFDFAB0}"/>
              </a:ext>
            </a:extLst>
          </p:cNvPr>
          <p:cNvSpPr>
            <a:spLocks xmlns:a="http://schemas.openxmlformats.org/drawingml/2006/main" noGrp="1"/>
          </p:cNvSpPr>
          <p:nvPr/>
        </p:nvSpPr>
        <p:spPr>
          <a:xfrm xmlns:a="http://schemas.openxmlformats.org/drawingml/2006/main">
            <a:off x="742950" y="4333875"/>
            <a:ext cx="6191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Record review of this result. A different result requires a new acknowledgment.</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59443dbeca54ee5"/>
          <a:srcRect xmlns:a="http://schemas.openxmlformats.org/drawingml/2006/main" l="68000" t="2500" r="2600" b="28900"/>
          <a:stretch xmlns:a="http://schemas.openxmlformats.org/drawingml/2006/main"/>
        </p:blipFill>
        <p:spPr>
          <a:xfrm xmlns:a="http://schemas.openxmlformats.org/drawingml/2006/main">
            <a:off x="7667625" y="1495425"/>
            <a:ext cx="3857625" cy="50292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067F424-6B13-4E67-BCD1-545C1417D9A0}"/>
              </a:ext>
            </a:extLst>
          </p:cNvPr>
          <p:cNvSpPr>
            <a:spLocks xmlns:a="http://schemas.openxmlformats.org/drawingml/2006/main" noGrp="1"/>
          </p:cNvSpPr>
          <p:nvPr/>
        </p:nvSpPr>
        <p:spPr>
          <a:xfrm xmlns:a="http://schemas.openxmlformats.org/drawingml/2006/main">
            <a:off x="704850" y="5829300"/>
            <a:ext cx="619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Recorded OpenDSS V1. Review is pending.</a:t>
            </a:r>
          </a:p>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No equipment command follows.</a:t>
            </a:r>
          </a:p>
        </p:txBody>
      </p:sp>
      <p:sp>
        <p:nvSpPr>
          <p:cNvPr id="7" name="">
            <a:extLst xmlns:a="http://schemas.openxmlformats.org/drawingml/2006/main">
              <a:ext uri="{FF2B5EF4-FFF2-40B4-BE49-F238E27FC236}">
                <a16:creationId xmlns:a16="http://schemas.microsoft.com/office/drawing/2014/main" id="{640EF12E-C8D0-4163-9E84-26CADA264C1F}"/>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34</a:t>
            </a:r>
          </a:p>
        </p:txBody>
      </p:sp>
    </p:spTree>
    <p:extLst>
      <p:ext uri="{BB962C8B-B14F-4D97-AF65-F5344CB8AC3E}">
        <p14:creationId xmlns:p14="http://schemas.microsoft.com/office/powerpoint/2010/main" val="721360136"/>
      </p:ext>
    </p:extLst>
  </p:cSld>
</p:sld>
</file>

<file path=ppt/slides/slide35.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C4CB3C2-AFF4-43ED-8CC8-A4128F973049}"/>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Cyber-attack response: WLS estimation</a:t>
            </a:r>
          </a:p>
        </p:txBody>
      </p:sp>
      <p:sp>
        <p:nvSpPr>
          <p:cNvPr id="2" name="">
            <a:extLst xmlns:a="http://schemas.openxmlformats.org/drawingml/2006/main">
              <a:ext uri="{FF2B5EF4-FFF2-40B4-BE49-F238E27FC236}">
                <a16:creationId xmlns:a16="http://schemas.microsoft.com/office/drawing/2014/main" id="{6FAB041F-37C4-43F5-8136-A86BB9740A3E}"/>
              </a:ext>
            </a:extLst>
          </p:cNvPr>
          <p:cNvSpPr>
            <a:spLocks xmlns:a="http://schemas.openxmlformats.org/drawingml/2006/main" noGrp="1"/>
          </p:cNvSpPr>
          <p:nvPr/>
        </p:nvSpPr>
        <p:spPr>
          <a:xfrm xmlns:a="http://schemas.openxmlformats.org/drawingml/2006/main">
            <a:off x="742950" y="174307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7B7F"/>
                </a:solidFill>
                <a:latin typeface="Arial"/>
                <a:ea typeface="Arial"/>
                <a:cs typeface="Arial"/>
              </a:defRPr>
            </a:pPr>
            <a:r>
              <a:rPr sz="2550" b="1">
                <a:solidFill>
                  <a:srgbClr val="007B7F"/>
                </a:solidFill>
                <a:latin typeface="Arial"/>
                <a:ea typeface="Arial"/>
                <a:cs typeface="Arial"/>
              </a:rPr>
              <a:t>z = h(x) + e        e ~ N(0, R)</a:t>
            </a:r>
          </a:p>
        </p:txBody>
      </p:sp>
      <p:sp>
        <p:nvSpPr>
          <p:cNvPr id="3" name="">
            <a:extLst xmlns:a="http://schemas.openxmlformats.org/drawingml/2006/main">
              <a:ext uri="{FF2B5EF4-FFF2-40B4-BE49-F238E27FC236}">
                <a16:creationId xmlns:a16="http://schemas.microsoft.com/office/drawing/2014/main" id="{096EFF79-E5FE-44B6-AA5C-D2282A757CF0}"/>
              </a:ext>
            </a:extLst>
          </p:cNvPr>
          <p:cNvSpPr>
            <a:spLocks xmlns:a="http://schemas.openxmlformats.org/drawingml/2006/main" noGrp="1"/>
          </p:cNvSpPr>
          <p:nvPr/>
        </p:nvSpPr>
        <p:spPr>
          <a:xfrm xmlns:a="http://schemas.openxmlformats.org/drawingml/2006/main">
            <a:off x="742950" y="270510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83D4B"/>
                </a:solidFill>
                <a:latin typeface="Arial"/>
                <a:ea typeface="Arial"/>
                <a:cs typeface="Arial"/>
              </a:defRPr>
            </a:pPr>
            <a:r>
              <a:rPr sz="2550" b="0">
                <a:solidFill>
                  <a:srgbClr val="183D4B"/>
                </a:solidFill>
                <a:latin typeface="Arial"/>
                <a:ea typeface="Arial"/>
                <a:cs typeface="Arial"/>
              </a:rPr>
              <a:t>x̂ = arg minₓ  [z − h(x)]ᵀ R⁻¹ [z − h(x)]</a:t>
            </a:r>
          </a:p>
        </p:txBody>
      </p:sp>
      <p:sp>
        <p:nvSpPr>
          <p:cNvPr id="4" name="">
            <a:extLst xmlns:a="http://schemas.openxmlformats.org/drawingml/2006/main">
              <a:ext uri="{FF2B5EF4-FFF2-40B4-BE49-F238E27FC236}">
                <a16:creationId xmlns:a16="http://schemas.microsoft.com/office/drawing/2014/main" id="{E35E5D49-7446-4747-BE0A-F824DC3E4F14}"/>
              </a:ext>
            </a:extLst>
          </p:cNvPr>
          <p:cNvSpPr>
            <a:spLocks xmlns:a="http://schemas.openxmlformats.org/drawingml/2006/main" noGrp="1"/>
          </p:cNvSpPr>
          <p:nvPr/>
        </p:nvSpPr>
        <p:spPr>
          <a:xfrm xmlns:a="http://schemas.openxmlformats.org/drawingml/2006/main">
            <a:off x="742950" y="369570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D4B"/>
                </a:solidFill>
                <a:latin typeface="Arial"/>
                <a:ea typeface="Arial"/>
                <a:cs typeface="Arial"/>
              </a:defRPr>
            </a:pPr>
            <a:r>
              <a:rPr sz="2400" b="0">
                <a:solidFill>
                  <a:srgbClr val="183D4B"/>
                </a:solidFill>
                <a:latin typeface="Arial"/>
                <a:ea typeface="Arial"/>
                <a:cs typeface="Arial"/>
              </a:rPr>
              <a:t>r = z − h(x̂)        J = rᵀ R⁻¹ r</a:t>
            </a:r>
          </a:p>
        </p:txBody>
      </p:sp>
      <p:sp>
        <p:nvSpPr>
          <p:cNvPr id="5" name="">
            <a:extLst xmlns:a="http://schemas.openxmlformats.org/drawingml/2006/main">
              <a:ext uri="{FF2B5EF4-FFF2-40B4-BE49-F238E27FC236}">
                <a16:creationId xmlns:a16="http://schemas.microsoft.com/office/drawing/2014/main" id="{CB84E1E4-9D38-4678-BA65-0F578A3C60C0}"/>
              </a:ext>
            </a:extLst>
          </p:cNvPr>
          <p:cNvSpPr>
            <a:spLocks xmlns:a="http://schemas.openxmlformats.org/drawingml/2006/main" noGrp="1"/>
          </p:cNvSpPr>
          <p:nvPr/>
        </p:nvSpPr>
        <p:spPr>
          <a:xfrm xmlns:a="http://schemas.openxmlformats.org/drawingml/2006/main">
            <a:off x="742950" y="47053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D4B"/>
                </a:solidFill>
                <a:latin typeface="Arial"/>
                <a:ea typeface="Arial"/>
                <a:cs typeface="Arial"/>
              </a:defRPr>
            </a:pPr>
            <a:r>
              <a:rPr sz="2175" b="0">
                <a:solidFill>
                  <a:srgbClr val="183D4B"/>
                </a:solidFill>
                <a:latin typeface="Arial"/>
                <a:ea typeface="Arial"/>
                <a:cs typeface="Arial"/>
              </a:rPr>
              <a:t>Alert when J &gt; χ²ₘ₋ₙ,₁₋α under the stated statistical assumptions.</a:t>
            </a:r>
          </a:p>
        </p:txBody>
      </p:sp>
      <p:sp>
        <p:nvSpPr>
          <p:cNvPr id="6" name="">
            <a:extLst xmlns:a="http://schemas.openxmlformats.org/drawingml/2006/main">
              <a:ext uri="{FF2B5EF4-FFF2-40B4-BE49-F238E27FC236}">
                <a16:creationId xmlns:a16="http://schemas.microsoft.com/office/drawing/2014/main" id="{D881A5A1-A374-4D6A-A032-55BF7EFD2943}"/>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m measurements, n estimated state variables. Observability and measurement covariance matter.</a:t>
            </a:r>
          </a:p>
        </p:txBody>
      </p:sp>
      <p:sp>
        <p:nvSpPr>
          <p:cNvPr id="7" name="">
            <a:extLst xmlns:a="http://schemas.openxmlformats.org/drawingml/2006/main">
              <a:ext uri="{FF2B5EF4-FFF2-40B4-BE49-F238E27FC236}">
                <a16:creationId xmlns:a16="http://schemas.microsoft.com/office/drawing/2014/main" id="{A3FCA4AB-DB47-45D4-A6C7-80842CB5E9F6}"/>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35</a:t>
            </a:r>
          </a:p>
        </p:txBody>
      </p:sp>
    </p:spTree>
    <p:extLst>
      <p:ext uri="{BB962C8B-B14F-4D97-AF65-F5344CB8AC3E}">
        <p14:creationId xmlns:p14="http://schemas.microsoft.com/office/powerpoint/2010/main" val="978299316"/>
      </p:ext>
    </p:extLst>
  </p:cSld>
</p:sld>
</file>

<file path=ppt/slides/slide36.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603B4C-BB27-4C5D-BA4E-B30926FAB302}"/>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Detection and trusted-data redispatch</a:t>
            </a:r>
          </a:p>
        </p:txBody>
      </p:sp>
      <p:sp>
        <p:nvSpPr>
          <p:cNvPr id="2" name="">
            <a:extLst xmlns:a="http://schemas.openxmlformats.org/drawingml/2006/main">
              <a:ext uri="{FF2B5EF4-FFF2-40B4-BE49-F238E27FC236}">
                <a16:creationId xmlns:a16="http://schemas.microsoft.com/office/drawing/2014/main" id="{5C5EABF5-84EF-4E43-B096-01287C6617FA}"/>
              </a:ext>
            </a:extLst>
          </p:cNvPr>
          <p:cNvSpPr>
            <a:spLocks xmlns:a="http://schemas.openxmlformats.org/drawingml/2006/main" noGrp="1"/>
          </p:cNvSpPr>
          <p:nvPr/>
        </p:nvSpPr>
        <p:spPr>
          <a:xfrm xmlns:a="http://schemas.openxmlformats.org/drawingml/2006/main">
            <a:off x="742950" y="16954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B7F"/>
                </a:solidFill>
                <a:latin typeface="Arial"/>
                <a:ea typeface="Arial"/>
                <a:cs typeface="Arial"/>
              </a:defRPr>
            </a:pPr>
            <a:r>
              <a:rPr sz="2400" b="1">
                <a:solidFill>
                  <a:srgbClr val="007B7F"/>
                </a:solidFill>
                <a:latin typeface="Arial"/>
                <a:ea typeface="Arial"/>
                <a:cs typeface="Arial"/>
              </a:rPr>
              <a:t>Normalized residual:   rn,ᵢ = |rᵢ| / √Ωᵢᵢ</a:t>
            </a:r>
          </a:p>
        </p:txBody>
      </p:sp>
      <p:sp>
        <p:nvSpPr>
          <p:cNvPr id="3" name="">
            <a:extLst xmlns:a="http://schemas.openxmlformats.org/drawingml/2006/main">
              <a:ext uri="{FF2B5EF4-FFF2-40B4-BE49-F238E27FC236}">
                <a16:creationId xmlns:a16="http://schemas.microsoft.com/office/drawing/2014/main" id="{0B97CD0C-7585-45A8-B13F-D7A894A73274}"/>
              </a:ext>
            </a:extLst>
          </p:cNvPr>
          <p:cNvSpPr>
            <a:spLocks xmlns:a="http://schemas.openxmlformats.org/drawingml/2006/main" noGrp="1"/>
          </p:cNvSpPr>
          <p:nvPr/>
        </p:nvSpPr>
        <p:spPr>
          <a:xfrm xmlns:a="http://schemas.openxmlformats.org/drawingml/2006/main">
            <a:off x="742950" y="2733675"/>
            <a:ext cx="106299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D4B"/>
                </a:solidFill>
                <a:latin typeface="Arial"/>
                <a:ea typeface="Arial"/>
                <a:cs typeface="Arial"/>
              </a:defRPr>
            </a:pPr>
            <a:r>
              <a:rPr sz="2175" b="0">
                <a:solidFill>
                  <a:srgbClr val="183D4B"/>
                </a:solidFill>
                <a:latin typeface="Arial"/>
                <a:ea typeface="Arial"/>
                <a:cs typeface="Arial"/>
              </a:rPr>
              <a:t>Investigate the suspect channel and preserve an observable trusted subset.</a:t>
            </a:r>
          </a:p>
        </p:txBody>
      </p:sp>
      <p:sp>
        <p:nvSpPr>
          <p:cNvPr id="4" name="">
            <a:extLst xmlns:a="http://schemas.openxmlformats.org/drawingml/2006/main">
              <a:ext uri="{FF2B5EF4-FFF2-40B4-BE49-F238E27FC236}">
                <a16:creationId xmlns:a16="http://schemas.microsoft.com/office/drawing/2014/main" id="{DB1B87E9-863D-4174-BD8B-FD07E32E117F}"/>
              </a:ext>
            </a:extLst>
          </p:cNvPr>
          <p:cNvSpPr>
            <a:spLocks xmlns:a="http://schemas.openxmlformats.org/drawingml/2006/main" noGrp="1"/>
          </p:cNvSpPr>
          <p:nvPr/>
        </p:nvSpPr>
        <p:spPr>
          <a:xfrm xmlns:a="http://schemas.openxmlformats.org/drawingml/2006/main">
            <a:off x="742950" y="3695700"/>
            <a:ext cx="106299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D4B"/>
                </a:solidFill>
                <a:latin typeface="Arial"/>
                <a:ea typeface="Arial"/>
                <a:cs typeface="Arial"/>
              </a:defRPr>
            </a:pPr>
            <a:r>
              <a:rPr sz="2175" b="0">
                <a:solidFill>
                  <a:srgbClr val="183D4B"/>
                </a:solidFill>
                <a:latin typeface="Arial"/>
                <a:ea typeface="Arial"/>
                <a:cs typeface="Arial"/>
              </a:rPr>
              <a:t>Re-estimate the state, then solve constrained redispatch using trusted inputs.</a:t>
            </a:r>
          </a:p>
        </p:txBody>
      </p:sp>
      <p:sp>
        <p:nvSpPr>
          <p:cNvPr id="5" name="">
            <a:extLst xmlns:a="http://schemas.openxmlformats.org/drawingml/2006/main">
              <a:ext uri="{FF2B5EF4-FFF2-40B4-BE49-F238E27FC236}">
                <a16:creationId xmlns:a16="http://schemas.microsoft.com/office/drawing/2014/main" id="{F5058483-DC9C-4262-8BDD-513DD4F385A9}"/>
              </a:ext>
            </a:extLst>
          </p:cNvPr>
          <p:cNvSpPr>
            <a:spLocks xmlns:a="http://schemas.openxmlformats.org/drawingml/2006/main" noGrp="1"/>
          </p:cNvSpPr>
          <p:nvPr/>
        </p:nvSpPr>
        <p:spPr>
          <a:xfrm xmlns:a="http://schemas.openxmlformats.org/drawingml/2006/main">
            <a:off x="742950" y="4657725"/>
            <a:ext cx="106299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D4B"/>
                </a:solidFill>
                <a:latin typeface="Arial"/>
                <a:ea typeface="Arial"/>
                <a:cs typeface="Arial"/>
              </a:defRPr>
            </a:pPr>
            <a:r>
              <a:rPr sz="2175" b="0">
                <a:solidFill>
                  <a:srgbClr val="183D4B"/>
                </a:solidFill>
                <a:latin typeface="Arial"/>
                <a:ea typeface="Arial"/>
                <a:cs typeface="Arial"/>
              </a:rPr>
              <a:t>Hold for review when trust or observability is insufficient.</a:t>
            </a:r>
          </a:p>
        </p:txBody>
      </p:sp>
      <p:sp>
        <p:nvSpPr>
          <p:cNvPr id="6" name="">
            <a:extLst xmlns:a="http://schemas.openxmlformats.org/drawingml/2006/main">
              <a:ext uri="{FF2B5EF4-FFF2-40B4-BE49-F238E27FC236}">
                <a16:creationId xmlns:a16="http://schemas.microsoft.com/office/drawing/2014/main" id="{81893559-55B3-44BA-BBF8-E1AA9ED54111}"/>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A numerical residual flags inconsistency. Additional evidence is needed to attribute an attack.</a:t>
            </a:r>
          </a:p>
        </p:txBody>
      </p:sp>
      <p:sp>
        <p:nvSpPr>
          <p:cNvPr id="7" name="">
            <a:extLst xmlns:a="http://schemas.openxmlformats.org/drawingml/2006/main">
              <a:ext uri="{FF2B5EF4-FFF2-40B4-BE49-F238E27FC236}">
                <a16:creationId xmlns:a16="http://schemas.microsoft.com/office/drawing/2014/main" id="{8BCAD8A9-F6DD-4C87-B054-47E3072382E3}"/>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36</a:t>
            </a:r>
          </a:p>
        </p:txBody>
      </p:sp>
    </p:spTree>
    <p:extLst>
      <p:ext uri="{BB962C8B-B14F-4D97-AF65-F5344CB8AC3E}">
        <p14:creationId xmlns:p14="http://schemas.microsoft.com/office/powerpoint/2010/main" val="1253689572"/>
      </p:ext>
    </p:extLst>
  </p:cSld>
</p:sld>
</file>

<file path=ppt/slides/slide37.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0A9F9B5-616B-4A58-90D9-40A10094D2E4}"/>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WLS alarms and a coordinated false-data case</a:t>
            </a:r>
          </a:p>
        </p:txBody>
      </p:sp>
      <p:graphicFrame>
        <p:nvGraphicFramePr>
          <p:cNvPr id="7" name="Chart"/>
          <p:cNvGraphicFramePr/>
          <p:nvPr/>
        </p:nvGraphicFramePr>
        <p:xfrm>
          <a:off xmlns:a="http://schemas.openxmlformats.org/drawingml/2006/main" x="723900" y="1762125"/>
          <a:ext xmlns:a="http://schemas.openxmlformats.org/drawingml/2006/main" cx="10668000" cy="3190875"/>
        </p:xfrm>
        <a:graphic xmlns:a="http://schemas.openxmlformats.org/drawingml/2006/main">
          <a:graphicData uri="http://schemas.openxmlformats.org/drawingml/2006/chart">
            <c:chart xmlns:r="http://schemas.openxmlformats.org/officeDocument/2006/relationships" xmlns:c="http://schemas.openxmlformats.org/drawingml/2006/chart" r:id="R488bd4c2fdc24e70"/>
          </a:graphicData>
        </a:graphic>
      </p:graphicFrame>
      <p:sp>
        <p:nvSpPr>
          <p:cNvPr id="3" name="">
            <a:extLst xmlns:a="http://schemas.openxmlformats.org/drawingml/2006/main">
              <a:ext uri="{FF2B5EF4-FFF2-40B4-BE49-F238E27FC236}">
                <a16:creationId xmlns:a16="http://schemas.microsoft.com/office/drawing/2014/main" id="{E4B61978-C176-4638-88E1-AAB4A05D0FED}"/>
              </a:ext>
            </a:extLst>
          </p:cNvPr>
          <p:cNvSpPr>
            <a:spLocks xmlns:a="http://schemas.openxmlformats.org/drawingml/2006/main" noGrp="1"/>
          </p:cNvSpPr>
          <p:nvPr/>
        </p:nvSpPr>
        <p:spPr>
          <a:xfrm xmlns:a="http://schemas.openxmlformats.org/drawingml/2006/main">
            <a:off x="742950" y="5248275"/>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C6328"/>
                </a:solidFill>
                <a:latin typeface="Arial"/>
                <a:ea typeface="Arial"/>
                <a:cs typeface="Arial"/>
              </a:defRPr>
            </a:pPr>
            <a:r>
              <a:rPr sz="1875" b="1">
                <a:solidFill>
                  <a:srgbClr val="BC6328"/>
                </a:solidFill>
                <a:latin typeface="Arial"/>
                <a:ea typeface="Arial"/>
                <a:cs typeface="Arial"/>
              </a:rPr>
              <a:t>Stealth: no alarm and 1 toy-network overload. Trusted recovery: 0 overloads.</a:t>
            </a:r>
          </a:p>
        </p:txBody>
      </p:sp>
      <p:sp>
        <p:nvSpPr>
          <p:cNvPr id="4" name="">
            <a:extLst xmlns:a="http://schemas.openxmlformats.org/drawingml/2006/main">
              <a:ext uri="{FF2B5EF4-FFF2-40B4-BE49-F238E27FC236}">
                <a16:creationId xmlns:a16="http://schemas.microsoft.com/office/drawing/2014/main" id="{0784A710-D385-4458-BDFF-D313E516B02D}"/>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Four-bus DC example. Recovery assumes independent trustworthy measurements with no residual redundancy.</a:t>
            </a:r>
          </a:p>
        </p:txBody>
      </p:sp>
      <p:sp>
        <p:nvSpPr>
          <p:cNvPr id="5" name="">
            <a:extLst xmlns:a="http://schemas.openxmlformats.org/drawingml/2006/main">
              <a:ext uri="{FF2B5EF4-FFF2-40B4-BE49-F238E27FC236}">
                <a16:creationId xmlns:a16="http://schemas.microsoft.com/office/drawing/2014/main" id="{D7C4BB9C-C737-403A-9176-00E428D7E340}"/>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37</a:t>
            </a:r>
          </a:p>
        </p:txBody>
      </p:sp>
    </p:spTree>
    <p:extLst>
      <p:ext uri="{BB962C8B-B14F-4D97-AF65-F5344CB8AC3E}">
        <p14:creationId xmlns:p14="http://schemas.microsoft.com/office/powerpoint/2010/main" val="27549613"/>
      </p:ext>
    </p:extLst>
  </p:cSld>
</p:sld>
</file>

<file path=ppt/slides/slide38.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F68E2A2-59FF-43F2-A506-D60A8729C064}"/>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Stealth FDI and untrusted instructions</a:t>
            </a:r>
          </a:p>
        </p:txBody>
      </p:sp>
      <p:sp>
        <p:nvSpPr>
          <p:cNvPr id="2" name="">
            <a:extLst xmlns:a="http://schemas.openxmlformats.org/drawingml/2006/main">
              <a:ext uri="{FF2B5EF4-FFF2-40B4-BE49-F238E27FC236}">
                <a16:creationId xmlns:a16="http://schemas.microsoft.com/office/drawing/2014/main" id="{C205C89C-58C6-4B9B-BEBA-7DBB24BDFB99}"/>
              </a:ext>
            </a:extLst>
          </p:cNvPr>
          <p:cNvSpPr>
            <a:spLocks xmlns:a="http://schemas.openxmlformats.org/drawingml/2006/main" noGrp="1"/>
          </p:cNvSpPr>
          <p:nvPr/>
        </p:nvSpPr>
        <p:spPr>
          <a:xfrm xmlns:a="http://schemas.openxmlformats.org/drawingml/2006/main">
            <a:off x="742950" y="1704975"/>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C6328"/>
                </a:solidFill>
                <a:latin typeface="Arial"/>
                <a:ea typeface="Arial"/>
                <a:cs typeface="Arial"/>
              </a:defRPr>
            </a:pPr>
            <a:r>
              <a:rPr sz="2400" b="1">
                <a:solidFill>
                  <a:srgbClr val="BC6328"/>
                </a:solidFill>
                <a:latin typeface="Arial"/>
                <a:ea typeface="Arial"/>
                <a:cs typeface="Arial"/>
              </a:rPr>
              <a:t>Linear-model stealth:   a = Hc    preserves the WLS residual</a:t>
            </a:r>
          </a:p>
        </p:txBody>
      </p:sp>
      <p:sp>
        <p:nvSpPr>
          <p:cNvPr id="3" name="">
            <a:extLst xmlns:a="http://schemas.openxmlformats.org/drawingml/2006/main">
              <a:ext uri="{FF2B5EF4-FFF2-40B4-BE49-F238E27FC236}">
                <a16:creationId xmlns:a16="http://schemas.microsoft.com/office/drawing/2014/main" id="{B56C12ED-9A6D-40CF-8BB7-7C7A1535D2C5}"/>
              </a:ext>
            </a:extLst>
          </p:cNvPr>
          <p:cNvSpPr>
            <a:spLocks xmlns:a="http://schemas.openxmlformats.org/drawingml/2006/main" noGrp="1"/>
          </p:cNvSpPr>
          <p:nvPr/>
        </p:nvSpPr>
        <p:spPr>
          <a:xfrm xmlns:a="http://schemas.openxmlformats.org/drawingml/2006/main">
            <a:off x="742950" y="2876550"/>
            <a:ext cx="106299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D4B"/>
                </a:solidFill>
                <a:latin typeface="Arial"/>
                <a:ea typeface="Arial"/>
                <a:cs typeface="Arial"/>
              </a:defRPr>
            </a:pPr>
            <a:r>
              <a:rPr sz="2250" b="0">
                <a:solidFill>
                  <a:srgbClr val="183D4B"/>
                </a:solidFill>
                <a:latin typeface="Arial"/>
                <a:ea typeface="Arial"/>
                <a:cs typeface="Arial"/>
              </a:rPr>
              <a:t>A passing residual test cannot rule out coordinated false-data injection.</a:t>
            </a:r>
          </a:p>
        </p:txBody>
      </p:sp>
      <p:sp>
        <p:nvSpPr>
          <p:cNvPr id="4" name="">
            <a:extLst xmlns:a="http://schemas.openxmlformats.org/drawingml/2006/main">
              <a:ext uri="{FF2B5EF4-FFF2-40B4-BE49-F238E27FC236}">
                <a16:creationId xmlns:a16="http://schemas.microsoft.com/office/drawing/2014/main" id="{621CA7A2-D95F-468A-B500-DDD2EDE48B10}"/>
              </a:ext>
            </a:extLst>
          </p:cNvPr>
          <p:cNvSpPr>
            <a:spLocks xmlns:a="http://schemas.openxmlformats.org/drawingml/2006/main" noGrp="1"/>
          </p:cNvSpPr>
          <p:nvPr/>
        </p:nvSpPr>
        <p:spPr>
          <a:xfrm xmlns:a="http://schemas.openxmlformats.org/drawingml/2006/main">
            <a:off x="742950" y="3981450"/>
            <a:ext cx="106299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D4B"/>
                </a:solidFill>
                <a:latin typeface="Arial"/>
                <a:ea typeface="Arial"/>
                <a:cs typeface="Arial"/>
              </a:defRPr>
            </a:pPr>
            <a:r>
              <a:rPr sz="2250" b="0">
                <a:solidFill>
                  <a:srgbClr val="183D4B"/>
                </a:solidFill>
                <a:latin typeface="Arial"/>
                <a:ea typeface="Arial"/>
                <a:cs typeface="Arial"/>
              </a:rPr>
              <a:t>External text cannot change the registered tools or the engineering verification contract.</a:t>
            </a:r>
          </a:p>
        </p:txBody>
      </p:sp>
      <p:sp>
        <p:nvSpPr>
          <p:cNvPr id="5" name="">
            <a:extLst xmlns:a="http://schemas.openxmlformats.org/drawingml/2006/main">
              <a:ext uri="{FF2B5EF4-FFF2-40B4-BE49-F238E27FC236}">
                <a16:creationId xmlns:a16="http://schemas.microsoft.com/office/drawing/2014/main" id="{E8D550B1-7BB5-4015-940E-457F409C64BD}"/>
              </a:ext>
            </a:extLst>
          </p:cNvPr>
          <p:cNvSpPr>
            <a:spLocks xmlns:a="http://schemas.openxmlformats.org/drawingml/2006/main" noGrp="1"/>
          </p:cNvSpPr>
          <p:nvPr/>
        </p:nvSpPr>
        <p:spPr>
          <a:xfrm xmlns:a="http://schemas.openxmlformats.org/drawingml/2006/main">
            <a:off x="742950" y="5219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D4B"/>
                </a:solidFill>
                <a:latin typeface="Arial"/>
                <a:ea typeface="Arial"/>
                <a:cs typeface="Arial"/>
              </a:defRPr>
            </a:pPr>
            <a:r>
              <a:rPr sz="1950" b="0">
                <a:solidFill>
                  <a:srgbClr val="183D4B"/>
                </a:solidFill>
                <a:latin typeface="Arial"/>
                <a:ea typeface="Arial"/>
                <a:cs typeface="Arial"/>
              </a:rPr>
              <a:t>Recorded restricted text-injection case: MPC, 30% PV cap, 87.6% loading.</a:t>
            </a:r>
          </a:p>
        </p:txBody>
      </p:sp>
      <p:sp>
        <p:nvSpPr>
          <p:cNvPr id="6" name="">
            <a:extLst xmlns:a="http://schemas.openxmlformats.org/drawingml/2006/main">
              <a:ext uri="{FF2B5EF4-FFF2-40B4-BE49-F238E27FC236}">
                <a16:creationId xmlns:a16="http://schemas.microsoft.com/office/drawing/2014/main" id="{58292E4D-691F-426E-B5E7-024209E7A109}"/>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One observed language-model response does not establish general prompt-injection robustness.</a:t>
            </a:r>
          </a:p>
        </p:txBody>
      </p:sp>
      <p:sp>
        <p:nvSpPr>
          <p:cNvPr id="7" name="">
            <a:extLst xmlns:a="http://schemas.openxmlformats.org/drawingml/2006/main">
              <a:ext uri="{FF2B5EF4-FFF2-40B4-BE49-F238E27FC236}">
                <a16:creationId xmlns:a16="http://schemas.microsoft.com/office/drawing/2014/main" id="{FEBD6D07-97AF-4C8A-A64C-926FD9D73899}"/>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38</a:t>
            </a:r>
          </a:p>
        </p:txBody>
      </p:sp>
    </p:spTree>
    <p:extLst>
      <p:ext uri="{BB962C8B-B14F-4D97-AF65-F5344CB8AC3E}">
        <p14:creationId xmlns:p14="http://schemas.microsoft.com/office/powerpoint/2010/main" val="1949038344"/>
      </p:ext>
    </p:extLst>
  </p:cSld>
</p:sld>
</file>

<file path=ppt/slides/slide39.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EB0D908-BACA-43EF-84DE-3436212AA30A}"/>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Restricted 32-run model and supervisor study</a:t>
            </a:r>
          </a:p>
        </p:txBody>
      </p:sp>
      <p:graphicFrame>
        <p:nvGraphicFramePr>
          <p:cNvPr id="9" name=""/>
          <p:cNvGraphicFramePr/>
          <p:nvPr/>
        </p:nvGraphicFramePr>
        <p:xfrm>
          <a:off xmlns:a="http://schemas.openxmlformats.org/drawingml/2006/main" x="685800" y="1676400"/>
          <a:ext xmlns:a="http://schemas.openxmlformats.org/drawingml/2006/main" cx="10820400" cy="3352800"/>
        </p:xfrm>
        <a:graphic xmlns:a="http://schemas.openxmlformats.org/drawingml/2006/main">
          <a:graphicData uri="http://schemas.openxmlformats.org/drawingml/2006/table">
            <a:tbl>
              <a:tblPr/>
              <a:tblGrid>
                <a:gridCol w="3209925"/>
                <a:gridCol w="1533525"/>
                <a:gridCol w="2276475"/>
                <a:gridCol w="1895475"/>
                <a:gridCol w="1905000"/>
              </a:tblGrid>
              <a:tr h="670560">
                <a:tc>
                  <a:txBody>
                    <a:bodyPr/>
                    <a:lstStyle/>
                    <a:p>
                      <a:r>
                        <a:rPr sz="1800" b="1">
                          <a:solidFill>
                            <a:srgbClr val="FFFFFF"/>
                          </a:solidFill>
                          <a:latin typeface="Arial"/>
                          <a:ea typeface="Arial"/>
                          <a:cs typeface="Arial"/>
                        </a:rPr>
                        <a:t>Model / supervisor</a:t>
                      </a:r>
                    </a:p>
                  </a:txBody>
                  <a:tcPr marL="91440" marR="91440" marT="45720" marB="45720">
                    <a:solidFill>
                      <a:srgbClr val="183D4B"/>
                    </a:solidFill>
                  </a:tcPr>
                </a:tc>
                <a:tc>
                  <a:txBody>
                    <a:bodyPr/>
                    <a:lstStyle/>
                    <a:p>
                      <a:r>
                        <a:rPr sz="1800" b="1">
                          <a:solidFill>
                            <a:srgbClr val="FFFFFF"/>
                          </a:solidFill>
                          <a:latin typeface="Arial"/>
                          <a:ea typeface="Arial"/>
                          <a:cs typeface="Arial"/>
                        </a:rPr>
                        <a:t>Issued /8</a:t>
                      </a:r>
                    </a:p>
                  </a:txBody>
                  <a:tcPr marL="91440" marR="91440" marT="45720" marB="45720">
                    <a:solidFill>
                      <a:srgbClr val="183D4B"/>
                    </a:solidFill>
                  </a:tcPr>
                </a:tc>
                <a:tc>
                  <a:txBody>
                    <a:bodyPr/>
                    <a:lstStyle/>
                    <a:p>
                      <a:r>
                        <a:rPr sz="1800" b="1">
                          <a:solidFill>
                            <a:srgbClr val="FFFFFF"/>
                          </a:solidFill>
                          <a:latin typeface="Arial"/>
                          <a:ea typeface="Arial"/>
                          <a:cs typeface="Arial"/>
                        </a:rPr>
                        <a:t>AC pass / issued</a:t>
                      </a:r>
                    </a:p>
                  </a:txBody>
                  <a:tcPr marL="91440" marR="91440" marT="45720" marB="45720">
                    <a:solidFill>
                      <a:srgbClr val="183D4B"/>
                    </a:solidFill>
                  </a:tcPr>
                </a:tc>
                <a:tc>
                  <a:txBody>
                    <a:bodyPr/>
                    <a:lstStyle/>
                    <a:p>
                      <a:r>
                        <a:rPr sz="1800" b="1">
                          <a:solidFill>
                            <a:srgbClr val="FFFFFF"/>
                          </a:solidFill>
                          <a:latin typeface="Arial"/>
                          <a:ea typeface="Arial"/>
                          <a:cs typeface="Arial"/>
                        </a:rPr>
                        <a:t>Median s</a:t>
                      </a:r>
                    </a:p>
                  </a:txBody>
                  <a:tcPr marL="91440" marR="91440" marT="45720" marB="45720">
                    <a:solidFill>
                      <a:srgbClr val="183D4B"/>
                    </a:solidFill>
                  </a:tcPr>
                </a:tc>
                <a:tc>
                  <a:txBody>
                    <a:bodyPr/>
                    <a:lstStyle/>
                    <a:p>
                      <a:r>
                        <a:rPr sz="1800" b="1">
                          <a:solidFill>
                            <a:srgbClr val="FFFFFF"/>
                          </a:solidFill>
                          <a:latin typeface="Arial"/>
                          <a:ea typeface="Arial"/>
                          <a:cs typeface="Arial"/>
                        </a:rPr>
                        <a:t>Llama calls</a:t>
                      </a:r>
                    </a:p>
                  </a:txBody>
                  <a:tcPr marL="91440" marR="91440" marT="45720" marB="45720">
                    <a:solidFill>
                      <a:srgbClr val="183D4B"/>
                    </a:solidFill>
                  </a:tcPr>
                </a:tc>
              </a:tr>
              <a:tr h="670560">
                <a:tc>
                  <a:txBody>
                    <a:bodyPr/>
                    <a:lstStyle/>
                    <a:p>
                      <a:r>
                        <a:rPr sz="1800" b="0">
                          <a:solidFill>
                            <a:srgbClr val="183D4B"/>
                          </a:solidFill>
                          <a:latin typeface="Arial"/>
                          <a:ea typeface="Arial"/>
                          <a:cs typeface="Arial"/>
                        </a:rPr>
                        <a:t>OpenDSS / fixed</a:t>
                      </a:r>
                    </a:p>
                  </a:txBody>
                  <a:tcPr marL="91440" marR="91440" marT="45720" marB="45720">
                    <a:solidFill>
                      <a:srgbClr val="FFFFFF"/>
                    </a:solidFill>
                  </a:tcPr>
                </a:tc>
                <a:tc>
                  <a:txBody>
                    <a:bodyPr/>
                    <a:lstStyle/>
                    <a:p>
                      <a:r>
                        <a:rPr sz="1800" b="0">
                          <a:solidFill>
                            <a:srgbClr val="183D4B"/>
                          </a:solidFill>
                          <a:latin typeface="Arial"/>
                          <a:ea typeface="Arial"/>
                          <a:cs typeface="Arial"/>
                        </a:rPr>
                        <a:t>5</a:t>
                      </a:r>
                    </a:p>
                  </a:txBody>
                  <a:tcPr marL="91440" marR="91440" marT="45720" marB="45720">
                    <a:solidFill>
                      <a:srgbClr val="FFFFFF"/>
                    </a:solidFill>
                  </a:tcPr>
                </a:tc>
                <a:tc>
                  <a:txBody>
                    <a:bodyPr/>
                    <a:lstStyle/>
                    <a:p>
                      <a:r>
                        <a:rPr sz="1800" b="0">
                          <a:solidFill>
                            <a:srgbClr val="183D4B"/>
                          </a:solidFill>
                          <a:latin typeface="Arial"/>
                          <a:ea typeface="Arial"/>
                          <a:cs typeface="Arial"/>
                        </a:rPr>
                        <a:t>5 / 5</a:t>
                      </a:r>
                    </a:p>
                  </a:txBody>
                  <a:tcPr marL="91440" marR="91440" marT="45720" marB="45720">
                    <a:solidFill>
                      <a:srgbClr val="FFFFFF"/>
                    </a:solidFill>
                  </a:tcPr>
                </a:tc>
                <a:tc>
                  <a:txBody>
                    <a:bodyPr/>
                    <a:lstStyle/>
                    <a:p>
                      <a:r>
                        <a:rPr sz="1800" b="0">
                          <a:solidFill>
                            <a:srgbClr val="183D4B"/>
                          </a:solidFill>
                          <a:latin typeface="Arial"/>
                          <a:ea typeface="Arial"/>
                          <a:cs typeface="Arial"/>
                        </a:rPr>
                        <a:t>0.34</a:t>
                      </a:r>
                    </a:p>
                  </a:txBody>
                  <a:tcPr marL="91440" marR="91440" marT="45720" marB="45720">
                    <a:solidFill>
                      <a:srgbClr val="FFFFFF"/>
                    </a:solidFill>
                  </a:tcPr>
                </a:tc>
                <a:tc>
                  <a:txBody>
                    <a:bodyPr/>
                    <a:lstStyle/>
                    <a:p>
                      <a:r>
                        <a:rPr sz="1800" b="0">
                          <a:solidFill>
                            <a:srgbClr val="183D4B"/>
                          </a:solidFill>
                          <a:latin typeface="Arial"/>
                          <a:ea typeface="Arial"/>
                          <a:cs typeface="Arial"/>
                        </a:rPr>
                        <a:t>0</a:t>
                      </a:r>
                    </a:p>
                  </a:txBody>
                  <a:tcPr marL="91440" marR="91440" marT="45720" marB="45720">
                    <a:solidFill>
                      <a:srgbClr val="FFFFFF"/>
                    </a:solidFill>
                  </a:tcPr>
                </a:tc>
              </a:tr>
              <a:tr h="670560">
                <a:tc>
                  <a:txBody>
                    <a:bodyPr/>
                    <a:lstStyle/>
                    <a:p>
                      <a:r>
                        <a:rPr sz="1800" b="0">
                          <a:solidFill>
                            <a:srgbClr val="183D4B"/>
                          </a:solidFill>
                          <a:latin typeface="Arial"/>
                          <a:ea typeface="Arial"/>
                          <a:cs typeface="Arial"/>
                        </a:rPr>
                        <a:t>OpenDSS / agentic</a:t>
                      </a:r>
                    </a:p>
                  </a:txBody>
                  <a:tcPr marL="91440" marR="91440" marT="45720" marB="45720">
                    <a:solidFill>
                      <a:srgbClr val="EAF2F3"/>
                    </a:solidFill>
                  </a:tcPr>
                </a:tc>
                <a:tc>
                  <a:txBody>
                    <a:bodyPr/>
                    <a:lstStyle/>
                    <a:p>
                      <a:r>
                        <a:rPr sz="1800" b="0">
                          <a:solidFill>
                            <a:srgbClr val="183D4B"/>
                          </a:solidFill>
                          <a:latin typeface="Arial"/>
                          <a:ea typeface="Arial"/>
                          <a:cs typeface="Arial"/>
                        </a:rPr>
                        <a:t>4</a:t>
                      </a:r>
                    </a:p>
                  </a:txBody>
                  <a:tcPr marL="91440" marR="91440" marT="45720" marB="45720">
                    <a:solidFill>
                      <a:srgbClr val="EAF2F3"/>
                    </a:solidFill>
                  </a:tcPr>
                </a:tc>
                <a:tc>
                  <a:txBody>
                    <a:bodyPr/>
                    <a:lstStyle/>
                    <a:p>
                      <a:r>
                        <a:rPr sz="1800" b="0">
                          <a:solidFill>
                            <a:srgbClr val="183D4B"/>
                          </a:solidFill>
                          <a:latin typeface="Arial"/>
                          <a:ea typeface="Arial"/>
                          <a:cs typeface="Arial"/>
                        </a:rPr>
                        <a:t>4 / 4</a:t>
                      </a:r>
                    </a:p>
                  </a:txBody>
                  <a:tcPr marL="91440" marR="91440" marT="45720" marB="45720">
                    <a:solidFill>
                      <a:srgbClr val="EAF2F3"/>
                    </a:solidFill>
                  </a:tcPr>
                </a:tc>
                <a:tc>
                  <a:txBody>
                    <a:bodyPr/>
                    <a:lstStyle/>
                    <a:p>
                      <a:r>
                        <a:rPr sz="1800" b="0">
                          <a:solidFill>
                            <a:srgbClr val="183D4B"/>
                          </a:solidFill>
                          <a:latin typeface="Arial"/>
                          <a:ea typeface="Arial"/>
                          <a:cs typeface="Arial"/>
                        </a:rPr>
                        <a:t>6.63</a:t>
                      </a:r>
                    </a:p>
                  </a:txBody>
                  <a:tcPr marL="91440" marR="91440" marT="45720" marB="45720">
                    <a:solidFill>
                      <a:srgbClr val="EAF2F3"/>
                    </a:solidFill>
                  </a:tcPr>
                </a:tc>
                <a:tc>
                  <a:txBody>
                    <a:bodyPr/>
                    <a:lstStyle/>
                    <a:p>
                      <a:r>
                        <a:rPr sz="1800" b="0">
                          <a:solidFill>
                            <a:srgbClr val="183D4B"/>
                          </a:solidFill>
                          <a:latin typeface="Arial"/>
                          <a:ea typeface="Arial"/>
                          <a:cs typeface="Arial"/>
                        </a:rPr>
                        <a:t>13</a:t>
                      </a:r>
                    </a:p>
                  </a:txBody>
                  <a:tcPr marL="91440" marR="91440" marT="45720" marB="45720">
                    <a:solidFill>
                      <a:srgbClr val="EAF2F3"/>
                    </a:solidFill>
                  </a:tcPr>
                </a:tc>
              </a:tr>
              <a:tr h="670560">
                <a:tc>
                  <a:txBody>
                    <a:bodyPr/>
                    <a:lstStyle/>
                    <a:p>
                      <a:r>
                        <a:rPr sz="1800" b="0">
                          <a:solidFill>
                            <a:srgbClr val="183D4B"/>
                          </a:solidFill>
                          <a:latin typeface="Arial"/>
                          <a:ea typeface="Arial"/>
                          <a:cs typeface="Arial"/>
                        </a:rPr>
                        <a:t>LinDistFlow / fixed</a:t>
                      </a:r>
                    </a:p>
                  </a:txBody>
                  <a:tcPr marL="91440" marR="91440" marT="45720" marB="45720">
                    <a:solidFill>
                      <a:srgbClr val="FFFFFF"/>
                    </a:solidFill>
                  </a:tcPr>
                </a:tc>
                <a:tc>
                  <a:txBody>
                    <a:bodyPr/>
                    <a:lstStyle/>
                    <a:p>
                      <a:r>
                        <a:rPr sz="1800" b="0">
                          <a:solidFill>
                            <a:srgbClr val="183D4B"/>
                          </a:solidFill>
                          <a:latin typeface="Arial"/>
                          <a:ea typeface="Arial"/>
                          <a:cs typeface="Arial"/>
                        </a:rPr>
                        <a:t>6</a:t>
                      </a:r>
                    </a:p>
                  </a:txBody>
                  <a:tcPr marL="91440" marR="91440" marT="45720" marB="45720">
                    <a:solidFill>
                      <a:srgbClr val="FFFFFF"/>
                    </a:solidFill>
                  </a:tcPr>
                </a:tc>
                <a:tc>
                  <a:txBody>
                    <a:bodyPr/>
                    <a:lstStyle/>
                    <a:p>
                      <a:r>
                        <a:rPr sz="1800" b="0">
                          <a:solidFill>
                            <a:srgbClr val="183D4B"/>
                          </a:solidFill>
                          <a:latin typeface="Arial"/>
                          <a:ea typeface="Arial"/>
                          <a:cs typeface="Arial"/>
                        </a:rPr>
                        <a:t>2 / 6</a:t>
                      </a:r>
                    </a:p>
                  </a:txBody>
                  <a:tcPr marL="91440" marR="91440" marT="45720" marB="45720">
                    <a:solidFill>
                      <a:srgbClr val="FFFFFF"/>
                    </a:solidFill>
                  </a:tcPr>
                </a:tc>
                <a:tc>
                  <a:txBody>
                    <a:bodyPr/>
                    <a:lstStyle/>
                    <a:p>
                      <a:r>
                        <a:rPr sz="1800" b="0">
                          <a:solidFill>
                            <a:srgbClr val="183D4B"/>
                          </a:solidFill>
                          <a:latin typeface="Arial"/>
                          <a:ea typeface="Arial"/>
                          <a:cs typeface="Arial"/>
                        </a:rPr>
                        <a:t>0.14</a:t>
                      </a:r>
                    </a:p>
                  </a:txBody>
                  <a:tcPr marL="91440" marR="91440" marT="45720" marB="45720">
                    <a:solidFill>
                      <a:srgbClr val="FFFFFF"/>
                    </a:solidFill>
                  </a:tcPr>
                </a:tc>
                <a:tc>
                  <a:txBody>
                    <a:bodyPr/>
                    <a:lstStyle/>
                    <a:p>
                      <a:r>
                        <a:rPr sz="1800" b="0">
                          <a:solidFill>
                            <a:srgbClr val="183D4B"/>
                          </a:solidFill>
                          <a:latin typeface="Arial"/>
                          <a:ea typeface="Arial"/>
                          <a:cs typeface="Arial"/>
                        </a:rPr>
                        <a:t>0</a:t>
                      </a:r>
                    </a:p>
                  </a:txBody>
                  <a:tcPr marL="91440" marR="91440" marT="45720" marB="45720">
                    <a:solidFill>
                      <a:srgbClr val="FFFFFF"/>
                    </a:solidFill>
                  </a:tcPr>
                </a:tc>
              </a:tr>
              <a:tr h="670560">
                <a:tc>
                  <a:txBody>
                    <a:bodyPr/>
                    <a:lstStyle/>
                    <a:p>
                      <a:r>
                        <a:rPr sz="1800" b="0">
                          <a:solidFill>
                            <a:srgbClr val="183D4B"/>
                          </a:solidFill>
                          <a:latin typeface="Arial"/>
                          <a:ea typeface="Arial"/>
                          <a:cs typeface="Arial"/>
                        </a:rPr>
                        <a:t>LinDistFlow / agentic</a:t>
                      </a:r>
                    </a:p>
                  </a:txBody>
                  <a:tcPr marL="91440" marR="91440" marT="45720" marB="45720">
                    <a:solidFill>
                      <a:srgbClr val="EAF2F3"/>
                    </a:solidFill>
                  </a:tcPr>
                </a:tc>
                <a:tc>
                  <a:txBody>
                    <a:bodyPr/>
                    <a:lstStyle/>
                    <a:p>
                      <a:r>
                        <a:rPr sz="1800" b="0">
                          <a:solidFill>
                            <a:srgbClr val="183D4B"/>
                          </a:solidFill>
                          <a:latin typeface="Arial"/>
                          <a:ea typeface="Arial"/>
                          <a:cs typeface="Arial"/>
                        </a:rPr>
                        <a:t>5</a:t>
                      </a:r>
                    </a:p>
                  </a:txBody>
                  <a:tcPr marL="91440" marR="91440" marT="45720" marB="45720">
                    <a:solidFill>
                      <a:srgbClr val="EAF2F3"/>
                    </a:solidFill>
                  </a:tcPr>
                </a:tc>
                <a:tc>
                  <a:txBody>
                    <a:bodyPr/>
                    <a:lstStyle/>
                    <a:p>
                      <a:r>
                        <a:rPr sz="1800" b="0">
                          <a:solidFill>
                            <a:srgbClr val="183D4B"/>
                          </a:solidFill>
                          <a:latin typeface="Arial"/>
                          <a:ea typeface="Arial"/>
                          <a:cs typeface="Arial"/>
                        </a:rPr>
                        <a:t>2 / 5</a:t>
                      </a:r>
                    </a:p>
                  </a:txBody>
                  <a:tcPr marL="91440" marR="91440" marT="45720" marB="45720">
                    <a:solidFill>
                      <a:srgbClr val="EAF2F3"/>
                    </a:solidFill>
                  </a:tcPr>
                </a:tc>
                <a:tc>
                  <a:txBody>
                    <a:bodyPr/>
                    <a:lstStyle/>
                    <a:p>
                      <a:r>
                        <a:rPr sz="1800" b="0">
                          <a:solidFill>
                            <a:srgbClr val="183D4B"/>
                          </a:solidFill>
                          <a:latin typeface="Arial"/>
                          <a:ea typeface="Arial"/>
                          <a:cs typeface="Arial"/>
                        </a:rPr>
                        <a:t>5.79</a:t>
                      </a:r>
                    </a:p>
                  </a:txBody>
                  <a:tcPr marL="91440" marR="91440" marT="45720" marB="45720">
                    <a:solidFill>
                      <a:srgbClr val="EAF2F3"/>
                    </a:solidFill>
                  </a:tcPr>
                </a:tc>
                <a:tc>
                  <a:txBody>
                    <a:bodyPr/>
                    <a:lstStyle/>
                    <a:p>
                      <a:r>
                        <a:rPr sz="1800" b="0">
                          <a:solidFill>
                            <a:srgbClr val="183D4B"/>
                          </a:solidFill>
                          <a:latin typeface="Arial"/>
                          <a:ea typeface="Arial"/>
                          <a:cs typeface="Arial"/>
                        </a:rPr>
                        <a:t>13</a:t>
                      </a:r>
                    </a:p>
                  </a:txBody>
                  <a:tcPr marL="91440" marR="91440" marT="45720" marB="45720">
                    <a:solidFill>
                      <a:srgbClr val="EAF2F3"/>
                    </a:solidFill>
                  </a:tcPr>
                </a:tc>
              </a:tr>
            </a:tbl>
          </a:graphicData>
        </a:graphic>
      </p:graphicFrame>
      <p:sp>
        <p:nvSpPr>
          <p:cNvPr id="3" name="">
            <a:extLst xmlns:a="http://schemas.openxmlformats.org/drawingml/2006/main">
              <a:ext uri="{FF2B5EF4-FFF2-40B4-BE49-F238E27FC236}">
                <a16:creationId xmlns:a16="http://schemas.microsoft.com/office/drawing/2014/main" id="{9E64E8C2-2E04-4C5F-A929-2C781D62E42A}"/>
              </a:ext>
            </a:extLst>
          </p:cNvPr>
          <p:cNvSpPr>
            <a:spLocks xmlns:a="http://schemas.openxmlformats.org/drawingml/2006/main" noGrp="1"/>
          </p:cNvSpPr>
          <p:nvPr/>
        </p:nvSpPr>
        <p:spPr>
          <a:xfrm xmlns:a="http://schemas.openxmlformats.org/drawingml/2006/main">
            <a:off x="742950" y="5238750"/>
            <a:ext cx="10629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BC6328"/>
                </a:solidFill>
                <a:latin typeface="Arial"/>
                <a:ea typeface="Arial"/>
                <a:cs typeface="Arial"/>
              </a:defRPr>
            </a:pPr>
            <a:r>
              <a:rPr sz="1875" b="1">
                <a:solidFill>
                  <a:srgbClr val="BC6328"/>
                </a:solidFill>
                <a:latin typeface="Arial"/>
                <a:ea typeface="Arial"/>
                <a:cs typeface="Arial"/>
              </a:rPr>
              <a:t>A correct hold also prevents a recommendation. These counts are not accuracy rates.</a:t>
            </a:r>
          </a:p>
        </p:txBody>
      </p:sp>
      <p:sp>
        <p:nvSpPr>
          <p:cNvPr id="4" name="">
            <a:extLst xmlns:a="http://schemas.openxmlformats.org/drawingml/2006/main">
              <a:ext uri="{FF2B5EF4-FFF2-40B4-BE49-F238E27FC236}">
                <a16:creationId xmlns:a16="http://schemas.microsoft.com/office/drawing/2014/main" id="{344EFA0A-380F-404D-B61B-BCE8B3454D40}"/>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32 fixed-order runs. Timing excludes model-table setup and the separate AC audits.</a:t>
            </a:r>
          </a:p>
        </p:txBody>
      </p:sp>
      <p:sp>
        <p:nvSpPr>
          <p:cNvPr id="5" name="">
            <a:extLst xmlns:a="http://schemas.openxmlformats.org/drawingml/2006/main">
              <a:ext uri="{FF2B5EF4-FFF2-40B4-BE49-F238E27FC236}">
                <a16:creationId xmlns:a16="http://schemas.microsoft.com/office/drawing/2014/main" id="{C010DB36-45BB-4907-A364-86C11D4097B6}"/>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39</a:t>
            </a:r>
          </a:p>
        </p:txBody>
      </p:sp>
    </p:spTree>
    <p:extLst>
      <p:ext uri="{BB962C8B-B14F-4D97-AF65-F5344CB8AC3E}">
        <p14:creationId xmlns:p14="http://schemas.microsoft.com/office/powerpoint/2010/main" val="1163015442"/>
      </p:ext>
    </p:extLst>
  </p:cSld>
</p:sld>
</file>

<file path=ppt/slides/slide40.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A81AEA2-2539-4CCA-A2AB-BD17E965F423}"/>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MV error and omitted LV constraints</a:t>
            </a:r>
          </a:p>
        </p:txBody>
      </p:sp>
      <p:sp>
        <p:nvSpPr>
          <p:cNvPr id="3" name="">
            <a:extLst xmlns:a="http://schemas.openxmlformats.org/drawingml/2006/main">
              <a:ext uri="{FF2B5EF4-FFF2-40B4-BE49-F238E27FC236}">
                <a16:creationId xmlns:a16="http://schemas.microsoft.com/office/drawing/2014/main" id="{5D10A3F4-AB54-45B5-9F35-DA81FE74FABD}"/>
              </a:ext>
            </a:extLst>
          </p:cNvPr>
          <p:cNvSpPr>
            <a:spLocks xmlns:a="http://schemas.openxmlformats.org/drawingml/2006/main" noGrp="1"/>
          </p:cNvSpPr>
          <p:nvPr/>
        </p:nvSpPr>
        <p:spPr>
          <a:xfrm xmlns:a="http://schemas.openxmlformats.org/drawingml/2006/main">
            <a:off x="742950" y="5238750"/>
            <a:ext cx="10629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BC6328"/>
                </a:solidFill>
                <a:latin typeface="Arial"/>
                <a:ea typeface="Arial"/>
                <a:cs typeface="Arial"/>
              </a:defRPr>
            </a:pPr>
            <a:r>
              <a:rPr sz="1875" b="1">
                <a:solidFill>
                  <a:srgbClr val="BC6328"/>
                </a:solidFill>
                <a:latin typeface="Arial"/>
                <a:ea typeface="Arial"/>
                <a:cs typeface="Arial"/>
              </a:rPr>
              <a:t>V1, V3 and C3 fail the full AC audit only at omitted LV elements.</a:t>
            </a:r>
          </a:p>
        </p:txBody>
      </p:sp>
      <p:sp>
        <p:nvSpPr>
          <p:cNvPr id="4" name="">
            <a:extLst xmlns:a="http://schemas.openxmlformats.org/drawingml/2006/main">
              <a:ext uri="{FF2B5EF4-FFF2-40B4-BE49-F238E27FC236}">
                <a16:creationId xmlns:a16="http://schemas.microsoft.com/office/drawing/2014/main" id="{F08CDD3D-4F18-49EE-8CF5-C7D1A71E8430}"/>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Linear agentic recommendations only. Each error compares 599 common MV node-phase values.</a:t>
            </a:r>
          </a:p>
        </p:txBody>
      </p:sp>
      <p:sp>
        <p:nvSpPr>
          <p:cNvPr id="5" name="">
            <a:extLst xmlns:a="http://schemas.openxmlformats.org/drawingml/2006/main">
              <a:ext uri="{FF2B5EF4-FFF2-40B4-BE49-F238E27FC236}">
                <a16:creationId xmlns:a16="http://schemas.microsoft.com/office/drawing/2014/main" id="{97BEC41A-43E2-4A3A-88FC-14C3E6A7C48F}"/>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40</a:t>
            </a:r>
          </a:p>
        </p:txBody>
      </p:sp>
      <p:graphicFrame>
        <p:nvGraphicFramePr>
          <p:cNvPr id="12" name="Chart"/>
          <p:cNvGraphicFramePr/>
          <p:nvPr/>
        </p:nvGraphicFramePr>
        <p:xfrm>
          <a:off xmlns:a="http://schemas.openxmlformats.org/drawingml/2006/main" x="723900" y="1762125"/>
          <a:ext xmlns:a="http://schemas.openxmlformats.org/drawingml/2006/main" cx="10668000" cy="3190875"/>
        </p:xfrm>
        <a:graphic xmlns:a="http://schemas.openxmlformats.org/drawingml/2006/main">
          <a:graphicData uri="http://schemas.openxmlformats.org/drawingml/2006/chart">
            <c:chart xmlns:r="http://schemas.openxmlformats.org/officeDocument/2006/relationships" xmlns:c="http://schemas.openxmlformats.org/drawingml/2006/chart" r:id="R19e1e59361f74b2f"/>
          </a:graphicData>
        </a:graphic>
      </p:graphicFrame>
    </p:spTree>
    <p:extLst>
      <p:ext uri="{BB962C8B-B14F-4D97-AF65-F5344CB8AC3E}">
        <p14:creationId xmlns:p14="http://schemas.microsoft.com/office/powerpoint/2010/main" val="1486155629"/>
      </p:ext>
    </p:extLst>
  </p:cSld>
</p:sld>
</file>

<file path=ppt/slides/slide4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584139-EBCC-4366-87B5-786CADB06845}"/>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Final exercise: review one recorded result</a:t>
            </a:r>
          </a:p>
        </p:txBody>
      </p:sp>
      <p:sp>
        <p:nvSpPr>
          <p:cNvPr id="2" name="">
            <a:extLst xmlns:a="http://schemas.openxmlformats.org/drawingml/2006/main">
              <a:ext uri="{FF2B5EF4-FFF2-40B4-BE49-F238E27FC236}">
                <a16:creationId xmlns:a16="http://schemas.microsoft.com/office/drawing/2014/main" id="{162A300A-46A4-43E9-8321-C6228ED0ED46}"/>
              </a:ext>
            </a:extLst>
          </p:cNvPr>
          <p:cNvSpPr>
            <a:spLocks xmlns:a="http://schemas.openxmlformats.org/drawingml/2006/main" noGrp="1"/>
          </p:cNvSpPr>
          <p:nvPr/>
        </p:nvSpPr>
        <p:spPr>
          <a:xfrm xmlns:a="http://schemas.openxmlformats.org/drawingml/2006/main">
            <a:off x="742950" y="1781175"/>
            <a:ext cx="106299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3D4B"/>
                </a:solidFill>
                <a:latin typeface="Arial"/>
                <a:ea typeface="Arial"/>
                <a:cs typeface="Arial"/>
              </a:defRPr>
            </a:pPr>
            <a:r>
              <a:rPr sz="2250" b="0">
                <a:solidFill>
                  <a:srgbClr val="183D4B"/>
                </a:solidFill>
                <a:latin typeface="Arial"/>
                <a:ea typeface="Arial"/>
                <a:cs typeface="Arial"/>
              </a:rPr>
              <a:t>Choose one recorded case and inspect every stage response.</a:t>
            </a:r>
          </a:p>
        </p:txBody>
      </p:sp>
      <p:sp>
        <p:nvSpPr>
          <p:cNvPr id="3" name="">
            <a:extLst xmlns:a="http://schemas.openxmlformats.org/drawingml/2006/main">
              <a:ext uri="{FF2B5EF4-FFF2-40B4-BE49-F238E27FC236}">
                <a16:creationId xmlns:a16="http://schemas.microsoft.com/office/drawing/2014/main" id="{64900853-D750-4BDF-8843-C82211A1AAB8}"/>
              </a:ext>
            </a:extLst>
          </p:cNvPr>
          <p:cNvSpPr>
            <a:spLocks xmlns:a="http://schemas.openxmlformats.org/drawingml/2006/main" noGrp="1"/>
          </p:cNvSpPr>
          <p:nvPr/>
        </p:nvSpPr>
        <p:spPr>
          <a:xfrm xmlns:a="http://schemas.openxmlformats.org/drawingml/2006/main">
            <a:off x="742950" y="2905125"/>
            <a:ext cx="106299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3D4B"/>
                </a:solidFill>
                <a:latin typeface="Arial"/>
                <a:ea typeface="Arial"/>
                <a:cs typeface="Arial"/>
              </a:defRPr>
            </a:pPr>
            <a:r>
              <a:rPr sz="2250" b="0">
                <a:solidFill>
                  <a:srgbClr val="183D4B"/>
                </a:solidFill>
                <a:latin typeface="Arial"/>
                <a:ea typeface="Arial"/>
                <a:cs typeface="Arial"/>
              </a:rPr>
              <a:t>Compare the model recommendation with the separate AC audit, then complete the local dashboard readback.</a:t>
            </a:r>
          </a:p>
        </p:txBody>
      </p:sp>
      <p:sp>
        <p:nvSpPr>
          <p:cNvPr id="4" name="">
            <a:extLst xmlns:a="http://schemas.openxmlformats.org/drawingml/2006/main">
              <a:ext uri="{FF2B5EF4-FFF2-40B4-BE49-F238E27FC236}">
                <a16:creationId xmlns:a16="http://schemas.microsoft.com/office/drawing/2014/main" id="{4EADB400-9CF9-468F-8A15-70BF326696A2}"/>
              </a:ext>
            </a:extLst>
          </p:cNvPr>
          <p:cNvSpPr>
            <a:spLocks xmlns:a="http://schemas.openxmlformats.org/drawingml/2006/main" noGrp="1"/>
          </p:cNvSpPr>
          <p:nvPr/>
        </p:nvSpPr>
        <p:spPr>
          <a:xfrm xmlns:a="http://schemas.openxmlformats.org/drawingml/2006/main">
            <a:off x="742950" y="4029075"/>
            <a:ext cx="106299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3D4B"/>
                </a:solidFill>
                <a:latin typeface="Arial"/>
                <a:ea typeface="Arial"/>
                <a:cs typeface="Arial"/>
              </a:defRPr>
            </a:pPr>
            <a:r>
              <a:rPr sz="2250" b="0">
                <a:solidFill>
                  <a:srgbClr val="183D4B"/>
                </a:solidFill>
                <a:latin typeface="Arial"/>
                <a:ea typeface="Arial"/>
                <a:cs typeface="Arial"/>
              </a:rPr>
              <a:t>Identify the conventional formulation, the agent’s contribution and one remaining limit.</a:t>
            </a:r>
          </a:p>
        </p:txBody>
      </p:sp>
      <p:sp>
        <p:nvSpPr>
          <p:cNvPr id="5" name="">
            <a:extLst xmlns:a="http://schemas.openxmlformats.org/drawingml/2006/main">
              <a:ext uri="{FF2B5EF4-FFF2-40B4-BE49-F238E27FC236}">
                <a16:creationId xmlns:a16="http://schemas.microsoft.com/office/drawing/2014/main" id="{BC9C6C1A-2301-4262-84EA-7E36732506AF}"/>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Acknowledgment records review of that exact result. It does not operate equipment.</a:t>
            </a:r>
          </a:p>
        </p:txBody>
      </p:sp>
      <p:sp>
        <p:nvSpPr>
          <p:cNvPr id="6" name="">
            <a:extLst xmlns:a="http://schemas.openxmlformats.org/drawingml/2006/main">
              <a:ext uri="{FF2B5EF4-FFF2-40B4-BE49-F238E27FC236}">
                <a16:creationId xmlns:a16="http://schemas.microsoft.com/office/drawing/2014/main" id="{ABE16C05-BFFE-4549-A449-59CB92430BC6}"/>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41</a:t>
            </a:r>
          </a:p>
        </p:txBody>
      </p:sp>
    </p:spTree>
    <p:extLst>
      <p:ext uri="{BB962C8B-B14F-4D97-AF65-F5344CB8AC3E}">
        <p14:creationId xmlns:p14="http://schemas.microsoft.com/office/powerpoint/2010/main" val="345172754"/>
      </p:ext>
    </p:extLst>
  </p:cSld>
</p:sld>
</file>

<file path=ppt/slides/slide4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5B6121D-5881-45CF-956D-2A4304B0326A}"/>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Scientific reading for the three use cases</a:t>
            </a:r>
          </a:p>
        </p:txBody>
      </p:sp>
      <p:sp>
        <p:nvSpPr>
          <p:cNvPr id="2" name="">
            <a:extLst xmlns:a="http://schemas.openxmlformats.org/drawingml/2006/main">
              <a:ext uri="{FF2B5EF4-FFF2-40B4-BE49-F238E27FC236}">
                <a16:creationId xmlns:a16="http://schemas.microsoft.com/office/drawing/2014/main" id="{4FBDC53E-E279-4CCE-90DF-F68B5E912895}"/>
              </a:ext>
            </a:extLst>
          </p:cNvPr>
          <p:cNvSpPr>
            <a:spLocks xmlns:a="http://schemas.openxmlformats.org/drawingml/2006/main" noGrp="1"/>
          </p:cNvSpPr>
          <p:nvPr/>
        </p:nvSpPr>
        <p:spPr>
          <a:xfrm xmlns:a="http://schemas.openxmlformats.org/drawingml/2006/main">
            <a:off x="742950" y="1628775"/>
            <a:ext cx="10629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D4B"/>
                </a:solidFill>
                <a:latin typeface="Arial"/>
                <a:ea typeface="Arial"/>
                <a:cs typeface="Arial"/>
              </a:defRPr>
            </a:pPr>
            <a:r>
              <a:rPr sz="1875" b="0">
                <a:solidFill>
                  <a:srgbClr val="183D4B"/>
                </a:solidFill>
                <a:latin typeface="Arial"/>
                <a:ea typeface="Arial"/>
                <a:cs typeface="Arial"/>
              </a:rPr>
              <a:t>Gan &amp; Low (2014)  Coupled multiphase power-flow approximation</a:t>
            </a:r>
          </a:p>
        </p:txBody>
      </p:sp>
      <p:sp>
        <p:nvSpPr>
          <p:cNvPr id="3" name="">
            <a:extLst xmlns:a="http://schemas.openxmlformats.org/drawingml/2006/main">
              <a:ext uri="{FF2B5EF4-FFF2-40B4-BE49-F238E27FC236}">
                <a16:creationId xmlns:a16="http://schemas.microsoft.com/office/drawing/2014/main" id="{7645B150-DEF6-4241-8EAD-E1299544D66A}"/>
              </a:ext>
            </a:extLst>
          </p:cNvPr>
          <p:cNvSpPr>
            <a:spLocks xmlns:a="http://schemas.openxmlformats.org/drawingml/2006/main" noGrp="1"/>
          </p:cNvSpPr>
          <p:nvPr/>
        </p:nvSpPr>
        <p:spPr>
          <a:xfrm xmlns:a="http://schemas.openxmlformats.org/drawingml/2006/main">
            <a:off x="742950" y="2209800"/>
            <a:ext cx="10629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D4B"/>
                </a:solidFill>
                <a:latin typeface="Arial"/>
                <a:ea typeface="Arial"/>
                <a:cs typeface="Arial"/>
              </a:defRPr>
            </a:pPr>
            <a:r>
              <a:rPr sz="1875" b="0">
                <a:solidFill>
                  <a:srgbClr val="183D4B"/>
                </a:solidFill>
                <a:latin typeface="Arial"/>
                <a:ea typeface="Arial"/>
                <a:cs typeface="Arial"/>
              </a:rPr>
              <a:t>Maharjan et al. (2021)  Distribution voltage control using MPC</a:t>
            </a:r>
          </a:p>
        </p:txBody>
      </p:sp>
      <p:sp>
        <p:nvSpPr>
          <p:cNvPr id="4" name="">
            <a:extLst xmlns:a="http://schemas.openxmlformats.org/drawingml/2006/main">
              <a:ext uri="{FF2B5EF4-FFF2-40B4-BE49-F238E27FC236}">
                <a16:creationId xmlns:a16="http://schemas.microsoft.com/office/drawing/2014/main" id="{0C8136B0-6813-46B7-823C-0D019368B250}"/>
              </a:ext>
            </a:extLst>
          </p:cNvPr>
          <p:cNvSpPr>
            <a:spLocks xmlns:a="http://schemas.openxmlformats.org/drawingml/2006/main" noGrp="1"/>
          </p:cNvSpPr>
          <p:nvPr/>
        </p:nvSpPr>
        <p:spPr>
          <a:xfrm xmlns:a="http://schemas.openxmlformats.org/drawingml/2006/main">
            <a:off x="742950" y="2790825"/>
            <a:ext cx="10629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D4B"/>
                </a:solidFill>
                <a:latin typeface="Arial"/>
                <a:ea typeface="Arial"/>
                <a:cs typeface="Arial"/>
              </a:defRPr>
            </a:pPr>
            <a:r>
              <a:rPr sz="1875" b="0">
                <a:solidFill>
                  <a:srgbClr val="183D4B"/>
                </a:solidFill>
                <a:latin typeface="Arial"/>
                <a:ea typeface="Arial"/>
                <a:cs typeface="Arial"/>
              </a:rPr>
              <a:t>Chen et al. (2018)  Unbalanced sequential restoration optimization</a:t>
            </a:r>
          </a:p>
        </p:txBody>
      </p:sp>
      <p:sp>
        <p:nvSpPr>
          <p:cNvPr id="5" name="">
            <a:extLst xmlns:a="http://schemas.openxmlformats.org/drawingml/2006/main">
              <a:ext uri="{FF2B5EF4-FFF2-40B4-BE49-F238E27FC236}">
                <a16:creationId xmlns:a16="http://schemas.microsoft.com/office/drawing/2014/main" id="{24AA515A-D51E-48F8-8EAE-CEB1658B817B}"/>
              </a:ext>
            </a:extLst>
          </p:cNvPr>
          <p:cNvSpPr>
            <a:spLocks xmlns:a="http://schemas.openxmlformats.org/drawingml/2006/main" noGrp="1"/>
          </p:cNvSpPr>
          <p:nvPr/>
        </p:nvSpPr>
        <p:spPr>
          <a:xfrm xmlns:a="http://schemas.openxmlformats.org/drawingml/2006/main">
            <a:off x="742950" y="3371850"/>
            <a:ext cx="10629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D4B"/>
                </a:solidFill>
                <a:latin typeface="Arial"/>
                <a:ea typeface="Arial"/>
                <a:cs typeface="Arial"/>
              </a:defRPr>
            </a:pPr>
            <a:r>
              <a:rPr sz="1875" b="0">
                <a:solidFill>
                  <a:srgbClr val="183D4B"/>
                </a:solidFill>
                <a:latin typeface="Arial"/>
                <a:ea typeface="Arial"/>
                <a:cs typeface="Arial"/>
              </a:rPr>
              <a:t>Wang et al.  Radiality and source connectivity constraints</a:t>
            </a:r>
          </a:p>
        </p:txBody>
      </p:sp>
      <p:sp>
        <p:nvSpPr>
          <p:cNvPr id="6" name="">
            <a:extLst xmlns:a="http://schemas.openxmlformats.org/drawingml/2006/main">
              <a:ext uri="{FF2B5EF4-FFF2-40B4-BE49-F238E27FC236}">
                <a16:creationId xmlns:a16="http://schemas.microsoft.com/office/drawing/2014/main" id="{3BCE99BE-2B38-46EE-8F15-7A79F6DBB44B}"/>
              </a:ext>
            </a:extLst>
          </p:cNvPr>
          <p:cNvSpPr>
            <a:spLocks xmlns:a="http://schemas.openxmlformats.org/drawingml/2006/main" noGrp="1"/>
          </p:cNvSpPr>
          <p:nvPr/>
        </p:nvSpPr>
        <p:spPr>
          <a:xfrm xmlns:a="http://schemas.openxmlformats.org/drawingml/2006/main">
            <a:off x="742950" y="3952875"/>
            <a:ext cx="10629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D4B"/>
                </a:solidFill>
                <a:latin typeface="Arial"/>
                <a:ea typeface="Arial"/>
                <a:cs typeface="Arial"/>
              </a:defRPr>
            </a:pPr>
            <a:r>
              <a:rPr sz="1875" b="0">
                <a:solidFill>
                  <a:srgbClr val="183D4B"/>
                </a:solidFill>
                <a:latin typeface="Arial"/>
                <a:ea typeface="Arial"/>
                <a:cs typeface="Arial"/>
              </a:rPr>
              <a:t>Handschin et al. (1975)  WLS state estimation and residual tests</a:t>
            </a:r>
          </a:p>
        </p:txBody>
      </p:sp>
      <p:sp>
        <p:nvSpPr>
          <p:cNvPr id="7" name="">
            <a:extLst xmlns:a="http://schemas.openxmlformats.org/drawingml/2006/main">
              <a:ext uri="{FF2B5EF4-FFF2-40B4-BE49-F238E27FC236}">
                <a16:creationId xmlns:a16="http://schemas.microsoft.com/office/drawing/2014/main" id="{37B00304-B68E-4147-AF39-F13234C0849E}"/>
              </a:ext>
            </a:extLst>
          </p:cNvPr>
          <p:cNvSpPr>
            <a:spLocks xmlns:a="http://schemas.openxmlformats.org/drawingml/2006/main" noGrp="1"/>
          </p:cNvSpPr>
          <p:nvPr/>
        </p:nvSpPr>
        <p:spPr>
          <a:xfrm xmlns:a="http://schemas.openxmlformats.org/drawingml/2006/main">
            <a:off x="742950" y="4533900"/>
            <a:ext cx="10629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D4B"/>
                </a:solidFill>
                <a:latin typeface="Arial"/>
                <a:ea typeface="Arial"/>
                <a:cs typeface="Arial"/>
              </a:defRPr>
            </a:pPr>
            <a:r>
              <a:rPr sz="1875" b="0">
                <a:solidFill>
                  <a:srgbClr val="183D4B"/>
                </a:solidFill>
                <a:latin typeface="Arial"/>
                <a:ea typeface="Arial"/>
                <a:cs typeface="Arial"/>
              </a:rPr>
              <a:t>Liu, Ning &amp; Reiter (2009)  False-data injection and residual limits</a:t>
            </a:r>
          </a:p>
        </p:txBody>
      </p:sp>
      <p:sp>
        <p:nvSpPr>
          <p:cNvPr id="8" name="">
            <a:extLst xmlns:a="http://schemas.openxmlformats.org/drawingml/2006/main">
              <a:ext uri="{FF2B5EF4-FFF2-40B4-BE49-F238E27FC236}">
                <a16:creationId xmlns:a16="http://schemas.microsoft.com/office/drawing/2014/main" id="{E4D74BC5-6021-4EEF-BBB5-D34E174CB23B}"/>
              </a:ext>
            </a:extLst>
          </p:cNvPr>
          <p:cNvSpPr>
            <a:spLocks xmlns:a="http://schemas.openxmlformats.org/drawingml/2006/main" noGrp="1"/>
          </p:cNvSpPr>
          <p:nvPr/>
        </p:nvSpPr>
        <p:spPr>
          <a:xfrm xmlns:a="http://schemas.openxmlformats.org/drawingml/2006/main">
            <a:off x="742950" y="5114925"/>
            <a:ext cx="10629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D4B"/>
                </a:solidFill>
                <a:latin typeface="Arial"/>
                <a:ea typeface="Arial"/>
                <a:cs typeface="Arial"/>
              </a:defRPr>
            </a:pPr>
            <a:r>
              <a:rPr sz="1875" b="0">
                <a:solidFill>
                  <a:srgbClr val="183D4B"/>
                </a:solidFill>
                <a:latin typeface="Arial"/>
                <a:ea typeface="Arial"/>
                <a:cs typeface="Arial"/>
              </a:rPr>
              <a:t>Yao et al. (2023), Schick et al. (2023)  Reasoning and tool use</a:t>
            </a:r>
          </a:p>
        </p:txBody>
      </p:sp>
      <p:sp>
        <p:nvSpPr>
          <p:cNvPr id="9" name="">
            <a:extLst xmlns:a="http://schemas.openxmlformats.org/drawingml/2006/main">
              <a:ext uri="{FF2B5EF4-FFF2-40B4-BE49-F238E27FC236}">
                <a16:creationId xmlns:a16="http://schemas.microsoft.com/office/drawing/2014/main" id="{7F7768A4-C868-4BF8-A45F-B047CC0355A4}"/>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Full equations, primary references and assumptions appear in General_Optimization_Formulations.md.</a:t>
            </a:r>
          </a:p>
        </p:txBody>
      </p:sp>
      <p:sp>
        <p:nvSpPr>
          <p:cNvPr id="10" name="">
            <a:extLst xmlns:a="http://schemas.openxmlformats.org/drawingml/2006/main">
              <a:ext uri="{FF2B5EF4-FFF2-40B4-BE49-F238E27FC236}">
                <a16:creationId xmlns:a16="http://schemas.microsoft.com/office/drawing/2014/main" id="{E9C09300-7AF2-451B-ADC0-98155C8A8C85}"/>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42</a:t>
            </a:r>
          </a:p>
        </p:txBody>
      </p:sp>
    </p:spTree>
    <p:extLst>
      <p:ext uri="{BB962C8B-B14F-4D97-AF65-F5344CB8AC3E}">
        <p14:creationId xmlns:p14="http://schemas.microsoft.com/office/powerpoint/2010/main" val="21270771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2026-09-21T14:44:55.1360000Z</dcterms:created>
  <dcterms:modified xsi:type="dcterms:W3CDTF">2026-09-21T14:44:55.1360000Z</dcterms:modified>
</coreProperties>
</file>