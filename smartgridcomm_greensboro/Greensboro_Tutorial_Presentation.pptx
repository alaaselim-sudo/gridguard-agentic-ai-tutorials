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230e20acb44194" /><Relationship Type="http://schemas.openxmlformats.org/officeDocument/2006/relationships/extended-properties" Target="/docProps/app.xml" Id="R755d8fc5e2f943e4" /><Relationship Type="http://schemas.openxmlformats.org/officeDocument/2006/relationships/officeDocument" Target="/ppt/presentation.xml" Id="R5865969496d541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9d9d074e614188"/>
  </p:sldMasterIdLst>
  <p:notesMasterIdLst>
    <p:notesMasterId xmlns:r="http://schemas.openxmlformats.org/officeDocument/2006/relationships" r:id="R01750224fac24be7"/>
  </p:notesMasterIdLst>
  <p:sldIdLst>
    <p:sldId xmlns:r="http://schemas.openxmlformats.org/officeDocument/2006/relationships" id="256" r:id="R9837c959437e4c7f"/>
    <p:sldId xmlns:r="http://schemas.openxmlformats.org/officeDocument/2006/relationships" id="257" r:id="R3a4183784b2a4de0"/>
    <p:sldId xmlns:r="http://schemas.openxmlformats.org/officeDocument/2006/relationships" id="258" r:id="R89caf14bd31c41d3"/>
    <p:sldId xmlns:r="http://schemas.openxmlformats.org/officeDocument/2006/relationships" id="259" r:id="Rac0eb9b08d744fae"/>
    <p:sldId xmlns:r="http://schemas.openxmlformats.org/officeDocument/2006/relationships" id="260" r:id="R2d94fb3acb3243c8"/>
    <p:sldId xmlns:r="http://schemas.openxmlformats.org/officeDocument/2006/relationships" id="261" r:id="Rd4cb4bb7aee9485d"/>
    <p:sldId xmlns:r="http://schemas.openxmlformats.org/officeDocument/2006/relationships" id="262" r:id="R31260e8f8f074447"/>
    <p:sldId xmlns:r="http://schemas.openxmlformats.org/officeDocument/2006/relationships" id="263" r:id="R972a326aca88478e"/>
    <p:sldId xmlns:r="http://schemas.openxmlformats.org/officeDocument/2006/relationships" id="264" r:id="R0d1d24a9f8bc4c6a"/>
    <p:sldId xmlns:r="http://schemas.openxmlformats.org/officeDocument/2006/relationships" id="265" r:id="R00c7ad63a7c94704"/>
    <p:sldId xmlns:r="http://schemas.openxmlformats.org/officeDocument/2006/relationships" id="266" r:id="R4bfcbb92f6684aea"/>
    <p:sldId xmlns:r="http://schemas.openxmlformats.org/officeDocument/2006/relationships" id="267" r:id="R16f32c7832884388"/>
    <p:sldId xmlns:r="http://schemas.openxmlformats.org/officeDocument/2006/relationships" id="268" r:id="R2109641a5e7e4803"/>
    <p:sldId xmlns:r="http://schemas.openxmlformats.org/officeDocument/2006/relationships" id="269" r:id="R6ab0bacd7e0747fc"/>
    <p:sldId xmlns:r="http://schemas.openxmlformats.org/officeDocument/2006/relationships" id="270" r:id="Rae4b757815a54938"/>
    <p:sldId xmlns:r="http://schemas.openxmlformats.org/officeDocument/2006/relationships" id="271" r:id="Rc3626fdfb57f4037"/>
    <p:sldId xmlns:r="http://schemas.openxmlformats.org/officeDocument/2006/relationships" id="272" r:id="R18e11a97cd3448c3"/>
    <p:sldId xmlns:r="http://schemas.openxmlformats.org/officeDocument/2006/relationships" id="273" r:id="R53441240bad944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b23f386ebc4e4f" /><Relationship Type="http://schemas.openxmlformats.org/officeDocument/2006/relationships/slideMaster" Target="/ppt/slideMasters/slideMaster1.xml" Id="R489d9d074e614188" /><Relationship Type="http://schemas.openxmlformats.org/officeDocument/2006/relationships/notesMaster" Target="/ppt/notesMasters/notesMaster1.xml" Id="R01750224fac24be7" /><Relationship Type="http://schemas.openxmlformats.org/officeDocument/2006/relationships/presProps" Target="/ppt/presProps.xml" Id="R6930eb9d65e24ad3" /><Relationship Type="http://schemas.openxmlformats.org/officeDocument/2006/relationships/tableStyles" Target="/ppt/tableStyles.xml" Id="Rd9ac3f4a364b449d" /><Relationship Type="http://schemas.openxmlformats.org/officeDocument/2006/relationships/slide" Target="/ppt/slides/slide1.xml" Id="R9837c959437e4c7f" /><Relationship Type="http://schemas.openxmlformats.org/officeDocument/2006/relationships/slide" Target="/ppt/slides/slide2.xml" Id="R3a4183784b2a4de0" /><Relationship Type="http://schemas.openxmlformats.org/officeDocument/2006/relationships/slide" Target="/ppt/slides/slide3.xml" Id="R89caf14bd31c41d3" /><Relationship Type="http://schemas.openxmlformats.org/officeDocument/2006/relationships/slide" Target="/ppt/slides/slide4.xml" Id="Rac0eb9b08d744fae" /><Relationship Type="http://schemas.openxmlformats.org/officeDocument/2006/relationships/slide" Target="/ppt/slides/slide5.xml" Id="R2d94fb3acb3243c8" /><Relationship Type="http://schemas.openxmlformats.org/officeDocument/2006/relationships/slide" Target="/ppt/slides/slide6.xml" Id="Rd4cb4bb7aee9485d" /><Relationship Type="http://schemas.openxmlformats.org/officeDocument/2006/relationships/slide" Target="/ppt/slides/slide7.xml" Id="R31260e8f8f074447" /><Relationship Type="http://schemas.openxmlformats.org/officeDocument/2006/relationships/slide" Target="/ppt/slides/slide8.xml" Id="R972a326aca88478e" /><Relationship Type="http://schemas.openxmlformats.org/officeDocument/2006/relationships/slide" Target="/ppt/slides/slide9.xml" Id="R0d1d24a9f8bc4c6a" /><Relationship Type="http://schemas.openxmlformats.org/officeDocument/2006/relationships/slide" Target="/ppt/slides/slide10.xml" Id="R00c7ad63a7c94704" /><Relationship Type="http://schemas.openxmlformats.org/officeDocument/2006/relationships/slide" Target="/ppt/slides/slide11.xml" Id="R4bfcbb92f6684aea" /><Relationship Type="http://schemas.openxmlformats.org/officeDocument/2006/relationships/slide" Target="/ppt/slides/slide12.xml" Id="R16f32c7832884388" /><Relationship Type="http://schemas.openxmlformats.org/officeDocument/2006/relationships/slide" Target="/ppt/slides/slide13.xml" Id="R2109641a5e7e4803" /><Relationship Type="http://schemas.openxmlformats.org/officeDocument/2006/relationships/slide" Target="/ppt/slides/slide14.xml" Id="R6ab0bacd7e0747fc" /><Relationship Type="http://schemas.openxmlformats.org/officeDocument/2006/relationships/slide" Target="/ppt/slides/slide15.xml" Id="Rae4b757815a54938" /><Relationship Type="http://schemas.openxmlformats.org/officeDocument/2006/relationships/slide" Target="/ppt/slides/slide16.xml" Id="Rc3626fdfb57f4037" /><Relationship Type="http://schemas.openxmlformats.org/officeDocument/2006/relationships/slide" Target="/ppt/slides/slide17.xml" Id="R18e11a97cd3448c3" /><Relationship Type="http://schemas.openxmlformats.org/officeDocument/2006/relationships/slide" Target="/ppt/slides/slide18.xml" Id="R53441240bad944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06f938649d4d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b07a68f3414103" /><Relationship Type="http://schemas.openxmlformats.org/officeDocument/2006/relationships/notesMaster" Target="/ppt/notesMasters/notesMaster1.xml" Id="R330532e0f18b49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63d638f65c45f3" /><Relationship Type="http://schemas.openxmlformats.org/officeDocument/2006/relationships/notesMaster" Target="/ppt/notesMasters/notesMaster1.xml" Id="Rcd31bfb190f549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ba1f5bd96d48c9" /><Relationship Type="http://schemas.openxmlformats.org/officeDocument/2006/relationships/notesMaster" Target="/ppt/notesMasters/notesMaster1.xml" Id="Ra9881cb6a20742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1dd9db9d3a4b88" /><Relationship Type="http://schemas.openxmlformats.org/officeDocument/2006/relationships/notesMaster" Target="/ppt/notesMasters/notesMaster1.xml" Id="Rf79ecce05c924a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4518305dbf456f" /><Relationship Type="http://schemas.openxmlformats.org/officeDocument/2006/relationships/notesMaster" Target="/ppt/notesMasters/notesMaster1.xml" Id="R9effe5c5ec9746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e6fb43637247ec" /><Relationship Type="http://schemas.openxmlformats.org/officeDocument/2006/relationships/notesMaster" Target="/ppt/notesMasters/notesMaster1.xml" Id="R606a6573b92547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f412f1c67b4a64" /><Relationship Type="http://schemas.openxmlformats.org/officeDocument/2006/relationships/notesMaster" Target="/ppt/notesMasters/notesMaster1.xml" Id="Rd0dd5540c80c44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200cecb7894b37" /><Relationship Type="http://schemas.openxmlformats.org/officeDocument/2006/relationships/notesMaster" Target="/ppt/notesMasters/notesMaster1.xml" Id="R090c753cb59b4c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ea4fcad196431f" /><Relationship Type="http://schemas.openxmlformats.org/officeDocument/2006/relationships/notesMaster" Target="/ppt/notesMasters/notesMaster1.xml" Id="R5593ebfc939f4b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f1bb7e33a94c24" /><Relationship Type="http://schemas.openxmlformats.org/officeDocument/2006/relationships/notesMaster" Target="/ppt/notesMasters/notesMaster1.xml" Id="R440ed4dba48d46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6c0372c3f44f78" /><Relationship Type="http://schemas.openxmlformats.org/officeDocument/2006/relationships/notesMaster" Target="/ppt/notesMasters/notesMaster1.xml" Id="Rc1a1ec8bb2ae4b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737e861d624671" /><Relationship Type="http://schemas.openxmlformats.org/officeDocument/2006/relationships/notesMaster" Target="/ppt/notesMasters/notesMaster1.xml" Id="R9d363f4d57ae40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cfcd863dee483a" /><Relationship Type="http://schemas.openxmlformats.org/officeDocument/2006/relationships/notesMaster" Target="/ppt/notesMasters/notesMaster1.xml" Id="R147502cbd7e740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61ffde27624708" /><Relationship Type="http://schemas.openxmlformats.org/officeDocument/2006/relationships/notesMaster" Target="/ppt/notesMasters/notesMaster1.xml" Id="R8464bdb405fb4a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0fd1b68c834b1f" /><Relationship Type="http://schemas.openxmlformats.org/officeDocument/2006/relationships/notesMaster" Target="/ppt/notesMasters/notesMaster1.xml" Id="R5e2f34b02c124b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8064b7ea0f44b1" /><Relationship Type="http://schemas.openxmlformats.org/officeDocument/2006/relationships/notesMaster" Target="/ppt/notesMasters/notesMaster1.xml" Id="R3cc1ec5e24414a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be0fb9650d4d84" /><Relationship Type="http://schemas.openxmlformats.org/officeDocument/2006/relationships/notesMaster" Target="/ppt/notesMasters/notesMaster1.xml" Id="Rd7b89ee2470941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f3c2f68e794817" /><Relationship Type="http://schemas.openxmlformats.org/officeDocument/2006/relationships/notesMaster" Target="/ppt/notesMasters/notesMaster1.xml" Id="R8aa54976caab46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user-supplied IEEE SmartGridComm 2026 tutorial proposal by Alaa Selim, Mohamad Chehade and Mahmoud Abdelaal. This companion is a worked study, not a claim of conference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Network provenance: https://data.openei.org/submissions/2981 . Local subset: SMARTDS_GSO_solar_extreme_batt_high_peak_opendss/uhs20_1247. No named real utility service territory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sections 2–3 define these bounded roles. Notebook section 1 gives input/output contracts. Simulation is deterministic; only planning and critique optionally use a live LLM.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Notebook sections 1 and 3. Existing LangGraph nodes are initialize, plan, verify, repair, accept and finalize. The verify node contains simulation and verification. Accept updates simulated state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Notebook sections 0 and 5. No live model calls were made to produce the reported primary results. The optional interface uses an installed model selected through OLLAMA_MODEL.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evidence: results/study_summary.json in the companion bundle. Fresh deterministic OpenDSS runs, September 19, 2026. Synthetic SMART-DS model. Notebook section 2. Cap means percent of rated PV Pmpp, not measured energy curtailment. Existing inverter ratings remain unchanged. Control mode is 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evidence: results/study_summary.json in the companion bundle. Fresh deterministic OpenDSS runs, September 19, 2026. Synthetic SMART-DS model. Rows are the baseline, initial 40% cap and selected refined cap. Bus violations use the tutorial band. Overloaded lines exceed modeled normal ratings.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evidence: results/study_summary.json in the companion bundle. Fresh deterministic OpenDSS runs, September 19, 2026. Synthetic SMART-DS model. Notebook optimizer_agent uses one repair probe and five midpoint probes. Together with three initial candidates, this uses nine candidate solves. No global optimality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evidence: results/study_summary.json in the companion bundle. Fresh deterministic OpenDSS runs, September 19, 2026. Synthetic SMART-DS model. The teaching ablation intentionally has unequal solve counts. It is not a matched-budget optimizer benchmark. Verifier-only makes no recommendation and retains the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evidence: results/study_summary.json in the companion bundle. Fresh deterministic OpenDSS runs, September 19, 2026. Synthetic SMART-DS model. Notebook section 3. Fault: l(r:udt8894-uhs20_1247)_disconnect. Tie: elbswitch(r:udt8894-udt9916)u_82773. Watch line: recloser_disswitch(r:udt5179-udt6452)u_85430.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evidence: results/study_summary.json in the companion bundle. Fresh deterministic OpenDSS runs, September 19, 2026. Synthetic SMART-DS model. Static canonical states. The 41% charging case is a fixed positive control, separate from the adaptive optimizer result on the next slide. The 100% reference is the modeled normal rating.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evidence: results/study_summary.json in the companion bundle. Fresh deterministic OpenDSS runs, September 19, 2026. Synthetic SMART-DS model. Adaptive deterministic run, 15 candidate solves. Relative certificate uses the pre-contingency envelope. Existing violations mean this does not establish absolute feasibility.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evidence: results/study_summary.json in the companion bundle. Fresh deterministic OpenDSS runs, September 19, 2026. Synthetic SMART-DS model. Notebook section 4 and run_tii_fault_injection.py. Ten deliberately designed negative controls and one positive control. Actuation faults mock readback. Other simulated cases use fresh OpenDSS solves.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evidence: results/study_summary.json in the companion bundle. Fresh deterministic OpenDSS runs, September 19, 2026. Synthetic SMART-DS model. cyber_summary: 10 hazard cases detected, 1 positive control accepted, 0 false rejects, 0 unsafe simulated commits. This is not a population estimate of detection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evidence and proposal alignment. Separation of responsibilities is observable in the notebook traces. Benefits to field operations remain to be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Notebook sections 3–6. Scope caveats also appear in the bundled GridGuard implementation. No empirical claim of LLM performance superiority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follows the supplied proposal section 5 and sums to 180 minutes. Notebook labs are ordered voltage, restoration, then cyber.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supplied tutorial proposal, sections 2–5; https://data.openei.org/submissions/2981 . Evidence: results/study_summary.json, results/voltage_candidates.csv, results/restoration_states.csv, results/cyber_trials.csv and raw LangGraph ledgers in the delivered bundle.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3446478fa45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abbedb833c479b" /><Relationship Type="http://schemas.openxmlformats.org/officeDocument/2006/relationships/slideLayout" Target="/ppt/slideLayouts/slideLayout1.xml" Id="Rce5b3c9cd08344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5b3c9cd08344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18d63f7744781" /><Relationship Type="http://schemas.openxmlformats.org/officeDocument/2006/relationships/notesSlide" Target="/ppt/notesSlides/notesSlide1.xml" Id="R2f33d424568b4a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993c9d36b4854" /><Relationship Type="http://schemas.openxmlformats.org/officeDocument/2006/relationships/notesSlide" Target="/ppt/notesSlides/notesSlide2.xml" Id="Rdb84b03a915c4b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d7816d7654c5a" /><Relationship Type="http://schemas.openxmlformats.org/officeDocument/2006/relationships/notesSlide" Target="/ppt/notesSlides/notesSlide3.xml" Id="R9c834bc293e447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9d89e47c54a11" /><Relationship Type="http://schemas.openxmlformats.org/officeDocument/2006/relationships/notesSlide" Target="/ppt/notesSlides/notesSlide4.xml" Id="R7cd46521bd9141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3cd158ed64075" /><Relationship Type="http://schemas.openxmlformats.org/officeDocument/2006/relationships/notesSlide" Target="/ppt/notesSlides/notesSlide5.xml" Id="R02cfc825229b4a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e3c2fb83d4dd6" /><Relationship Type="http://schemas.openxmlformats.org/officeDocument/2006/relationships/notesSlide" Target="/ppt/notesSlides/notesSlide6.xml" Id="R49640c68398c4b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5ac8c31bb4b8b" /><Relationship Type="http://schemas.openxmlformats.org/officeDocument/2006/relationships/chart" Target="/ppt/slides/charts/chart1.xml" Id="R629679f4b8db48df" /><Relationship Type="http://schemas.openxmlformats.org/officeDocument/2006/relationships/notesSlide" Target="/ppt/notesSlides/notesSlide7.xml" Id="Ra296956efb4c45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53565e3be497d" /><Relationship Type="http://schemas.openxmlformats.org/officeDocument/2006/relationships/notesSlide" Target="/ppt/notesSlides/notesSlide8.xml" Id="Rac0b8bdfbc4d46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21f34575e4e1b" /><Relationship Type="http://schemas.openxmlformats.org/officeDocument/2006/relationships/notesSlide" Target="/ppt/notesSlides/notesSlide9.xml" Id="R11f611663db74c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7a7bd30b449f5" /><Relationship Type="http://schemas.openxmlformats.org/officeDocument/2006/relationships/notesSlide" Target="/ppt/notesSlides/notesSlide10.xml" Id="R07d61b0fb72a46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70062f7074b40" /><Relationship Type="http://schemas.openxmlformats.org/officeDocument/2006/relationships/chart" Target="/ppt/slides/charts/chart2.xml" Id="Rb707f62881f44308" /><Relationship Type="http://schemas.openxmlformats.org/officeDocument/2006/relationships/notesSlide" Target="/ppt/notesSlides/notesSlide11.xml" Id="R970a07e16dc84d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0d5c571414079" /><Relationship Type="http://schemas.openxmlformats.org/officeDocument/2006/relationships/notesSlide" Target="/ppt/notesSlides/notesSlide12.xml" Id="Refa72ea4004f43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7afb5c0054d42" /><Relationship Type="http://schemas.openxmlformats.org/officeDocument/2006/relationships/notesSlide" Target="/ppt/notesSlides/notesSlide13.xml" Id="Rb846f22f177843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ee166bc9d4a75" /><Relationship Type="http://schemas.openxmlformats.org/officeDocument/2006/relationships/notesSlide" Target="/ppt/notesSlides/notesSlide14.xml" Id="R75e46435fc6649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b1955962a499d" /><Relationship Type="http://schemas.openxmlformats.org/officeDocument/2006/relationships/notesSlide" Target="/ppt/notesSlides/notesSlide15.xml" Id="Rb411b9ad4d8945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d2b30bd394fd0" /><Relationship Type="http://schemas.openxmlformats.org/officeDocument/2006/relationships/notesSlide" Target="/ppt/notesSlides/notesSlide16.xml" Id="R15e5eb51d87f48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55ab0fdae4ebd" /><Relationship Type="http://schemas.openxmlformats.org/officeDocument/2006/relationships/notesSlide" Target="/ppt/notesSlides/notesSlide17.xml" Id="R7c584523bb764d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2f7d8a82c447f" /><Relationship Type="http://schemas.openxmlformats.org/officeDocument/2006/relationships/notesSlide" Target="/ppt/notesSlides/notesSlide18.xml" Id="R3bd00d97c0ed427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Voltage-violation buses</c:v>
          </c:tx>
          <c:spPr>
            <a:solidFill xmlns:a="http://schemas.openxmlformats.org/drawingml/2006/main">
              <a:srgbClr val="007F83"/>
            </a:solidFill>
          </c:spPr>
          <c:cat>
            <c:strRef>
              <c:f>'Chart Data'!$A$2:$A$4</c:f>
              <c:strCache>
                <c:ptCount val="3"/>
                <c:pt idx="0">
                  <c:v>Baseline</c:v>
                </c:pt>
                <c:pt idx="1">
                  <c:v>40% cap</c:v>
                </c:pt>
                <c:pt idx="2">
                  <c:v>33.125% cap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23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v>Overloaded lines</c:v>
          </c:tx>
          <c:spPr>
            <a:solidFill xmlns:a="http://schemas.openxmlformats.org/drawingml/2006/main">
              <a:srgbClr val="CF6938"/>
            </a:solidFill>
          </c:spPr>
          <c:cat>
            <c:strRef>
              <c:f>'Chart Data'!$C$2:$C$4</c:f>
              <c:strCache>
                <c:ptCount val="3"/>
                <c:pt idx="0">
                  <c:v>Baseline</c:v>
                </c:pt>
                <c:pt idx="1">
                  <c:v>40% cap</c:v>
                </c:pt>
                <c:pt idx="2">
                  <c:v>33.125% cap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10</c:v>
                </c:pt>
                <c:pt idx="1">
                  <c:v>6</c:v>
                </c:pt>
                <c:pt idx="2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FE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Count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8FAFB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Watch-line loading</c:v>
          </c:tx>
          <c:spPr>
            <a:solidFill xmlns:a="http://schemas.openxmlformats.org/drawingml/2006/main">
              <a:srgbClr val="007F83"/>
            </a:solidFill>
          </c:spPr>
          <c:cat>
            <c:strRef>
              <c:f>'Chart Data'!$A$2:$A$4</c:f>
              <c:strCache>
                <c:ptCount val="3"/>
                <c:pt idx="0">
                  <c:v>Pre-outage</c:v>
                </c:pt>
                <c:pt idx="1">
                  <c:v>Tie only</c:v>
                </c:pt>
                <c:pt idx="2">
                  <c:v>Tie + 41% charge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48.6</c:v>
                </c:pt>
                <c:pt idx="1">
                  <c:v>138.8</c:v>
                </c:pt>
                <c:pt idx="2">
                  <c:v>99.3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FE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% of normal rating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8FAFB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79146-5538-4A6F-A632-66D0323B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Agentic AI for grid operators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6AEBA-25F7-434B-8798-02791800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1D7DC-0DFF-4FD4-8000-62B84031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A focused Greensboro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8BEED-3711-47B3-B6EC-23BAA4ED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Voltage control, restoration and cyber-physical screening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6477D-1965-4BB3-BD31-A6AB83D0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IEEE SmartGridComm 2026 tutorial companion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1DE43-B2EB-46B7-AED8-3AD0FC3F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Executed synthetic-network simulations with an optional live LLM extension</a:t>
            </a:r>
          </a:p>
        </p:txBody>
      </p:sp>
    </p:spTree>
    <p:extLst>
      <p:ext uri="{BB962C8B-B14F-4D97-AF65-F5344CB8AC3E}">
        <p14:creationId xmlns:p14="http://schemas.microsoft.com/office/powerpoint/2010/main" val="3597587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BE2AF-9312-4B1C-9A36-3E2E1030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Study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59229-6FF7-4FFF-B013-BA9EEF6E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BFF80-685D-40E6-895E-B6E7D424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One substation area: uhs20_1247 in SMART-DS Greensboro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92E07-E83A-4D0C-B843-1B0D6D8D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Voltage: udt8894 feeder, with 2,173 modeled loads and 930 PV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C948E-D9F9-4339-B639-32829CD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Restoration: retain three local feeders to model the alternate tie 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4096E-0DEF-44EB-86DF-B5D800C4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Synthetic assets and study conditions, with original data included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6927D-F835-473B-ACA6-8328E1B7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This study covers a bounded model area rather than the full city</a:t>
            </a:r>
          </a:p>
        </p:txBody>
      </p:sp>
    </p:spTree>
    <p:extLst>
      <p:ext uri="{BB962C8B-B14F-4D97-AF65-F5344CB8AC3E}">
        <p14:creationId xmlns:p14="http://schemas.microsoft.com/office/powerpoint/2010/main" val="9616474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AC991-AAA1-4EB9-B932-9963A60C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Agent roles and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4542E-4EF0-4114-8617-DF3C3241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810000"/>
                <a:gridCol w="5057775"/>
              </a:tblGrid>
              <a:tr h="663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15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91440" marR="91440" marT="45720" marB="45720">
                    <a:solidFill>
                      <a:srgbClr val="15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Advantage</a:t>
                      </a:r>
                    </a:p>
                  </a:txBody>
                  <a:tcPr marL="91440" marR="91440" marT="45720" marB="45720">
                    <a:solidFill>
                      <a:srgbClr val="15384A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Awareness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State and target catalog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Fewer unsupported assumptions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Planning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Structured candidate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Repeatable action proposal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Simulation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Physical response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Visible side effects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Verification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Pass/fail and reasons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Explicit rejection barrier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Optimizer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Revised, scored 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Feedback-guided improvement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02110-3B5F-40F0-A511-EFE17F76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The operator reviews the resulting recommendation and supporting evidence</a:t>
            </a:r>
          </a:p>
        </p:txBody>
      </p:sp>
    </p:spTree>
    <p:extLst>
      <p:ext uri="{BB962C8B-B14F-4D97-AF65-F5344CB8AC3E}">
        <p14:creationId xmlns:p14="http://schemas.microsoft.com/office/powerpoint/2010/main" val="18418753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88D09-AE33-4EA8-BED3-7125EF68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Workflow and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96E14-3842-439A-97CA-A3489326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46079-15FC-4422-8E52-55DA1703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Awareness supplies a state summary to the planning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9A636-38B5-4B7F-A803-7427BD15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Each proposal enters simulation and the verification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4AA16-C605-42FF-8973-BB54492D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Rejected proposals return reasons to the optimizer for repair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FDF39-04BC-4CA1-9C14-DA9649B2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Passing actions enter simulated acceptance and operator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39B6D-2472-4083-85FD-36C1D7A1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The notebook displays the actual agent trace and candidate evaluation ledger</a:t>
            </a:r>
          </a:p>
        </p:txBody>
      </p:sp>
    </p:spTree>
    <p:extLst>
      <p:ext uri="{BB962C8B-B14F-4D97-AF65-F5344CB8AC3E}">
        <p14:creationId xmlns:p14="http://schemas.microsoft.com/office/powerpoint/2010/main" val="1633646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AFD01-34DF-4DF5-98F9-A9C9286E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Execution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8B7F5-8690-47F9-8E51-F22007BB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108204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286250"/>
                <a:gridCol w="4295775"/>
              </a:tblGrid>
              <a:tr h="825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</a:p>
                  </a:txBody>
                  <a:tcPr marL="91440" marR="91440" marT="45720" marB="45720">
                    <a:solidFill>
                      <a:srgbClr val="15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executes</a:t>
                      </a:r>
                    </a:p>
                  </a:txBody>
                  <a:tcPr marL="91440" marR="91440" marT="45720" marB="45720">
                    <a:solidFill>
                      <a:srgbClr val="15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establishes</a:t>
                      </a:r>
                    </a:p>
                  </a:txBody>
                  <a:tcPr marL="91440" marR="91440" marT="45720" marB="45720">
                    <a:solidFill>
                      <a:srgbClr val="15384A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Default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Deterministic proposals</a:t>
                      </a:r>
                    </a:p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OpenDSS + LangGraph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Reproducible workflow and</a:t>
                      </a:r>
                    </a:p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engineering safeguards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Optional live LLM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Bounded JSON planning</a:t>
                      </a:r>
                    </a:p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Scored feedback + re-evaluation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A model experiment to run</a:t>
                      </a:r>
                    </a:p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under the same constraints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30CC3-E98E-4C32-8D3C-D4A69D66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7F83"/>
                </a:solidFill>
                <a:latin typeface="Arial"/>
                <a:ea typeface="Arial"/>
                <a:cs typeface="Arial"/>
              </a:rPr>
              <a:t>A multi-agent architecture separates responsibilities.</a:t>
            </a:r>
          </a:p>
          <a:p xmlns:a="http://schemas.openxmlformats.org/drawingml/2006/main">
            <a:pPr>
              <a:defRPr sz="2325" b="0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7F83"/>
                </a:solidFill>
                <a:latin typeface="Arial"/>
                <a:ea typeface="Arial"/>
                <a:cs typeface="Arial"/>
              </a:rPr>
              <a:t>It does not require an LLM for every role.</a:t>
            </a:r>
          </a:p>
        </p:txBody>
      </p:sp>
    </p:spTree>
    <p:extLst>
      <p:ext uri="{BB962C8B-B14F-4D97-AF65-F5344CB8AC3E}">
        <p14:creationId xmlns:p14="http://schemas.microsoft.com/office/powerpoint/2010/main" val="1624771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23CBB-28EE-4EB6-9774-CD942554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Lab 1: voltage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9FE06-8204-4053-B044-92478E9B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E2117-B780-4A26-83B4-BC394CF9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Extreme-solar snapshot on the udt8894 leaf feeder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E6905-F60D-4CB2-8CB5-7190C92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Allowed action: a common real-power cap for 930 existing PV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F3AB7-2D59-415E-9A6C-15FE9C3C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Criteria: 0.95–1.05 pu voltage and line loading at or below 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C9340-3A5D-4A5E-A0C5-F3A85685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Objective: retain a higher PV cap after all checks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FD98E-D70C-4463-89A9-8F1FE237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A teaching action family. Reactive-power optimization and energy scheduling remain extensions</a:t>
            </a:r>
          </a:p>
        </p:txBody>
      </p:sp>
    </p:spTree>
    <p:extLst>
      <p:ext uri="{BB962C8B-B14F-4D97-AF65-F5344CB8AC3E}">
        <p14:creationId xmlns:p14="http://schemas.microsoft.com/office/powerpoint/2010/main" val="1283792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30810-6C0F-48BE-958F-FF02BAF4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Voltage clearance alone misses thermal violations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C1137-23B1-412E-974E-2EE52ECA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23900" y="1762125"/>
          <a:ext xmlns:a="http://schemas.openxmlformats.org/drawingml/2006/main" cx="106680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9679f4b8db48d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AE3C1-825F-482D-9EFB-329F3D96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At a 40% cap, the voltage test passes but six lines still exceed their modeled ratings</a:t>
            </a:r>
          </a:p>
        </p:txBody>
      </p:sp>
    </p:spTree>
    <p:extLst>
      <p:ext uri="{BB962C8B-B14F-4D97-AF65-F5344CB8AC3E}">
        <p14:creationId xmlns:p14="http://schemas.microsoft.com/office/powerpoint/2010/main" val="1710230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6D9E6-B463-4D1A-81E8-75CE9962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Verifier feedback repairs the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4AC4D-A35A-4832-9283-368E6AD4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0CB9D-A703-4324-A462-7D44C46D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33.125%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CB3CB-7BEA-4DAC-A8B1-BDB1EA69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Selected common PV cap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37445-2BD0-499F-A9E4-4624A153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62150"/>
            <a:ext cx="4619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0 voltage violations</a:t>
            </a:r>
          </a:p>
          <a:p xmlns:a="http://schemas.openxmlformats.org/drawingml/2006/main">
            <a:pPr>
              <a:defRPr sz="2400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0 overloaded lines</a:t>
            </a:r>
          </a:p>
          <a:p xmlns:a="http://schemas.openxmlformats.org/drawingml/2006/main">
            <a:pPr>
              <a:defRPr sz="2400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4,747.5 kW nominal load served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D1376-2D7C-407D-B6C0-FA5846A7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The optimizer tests a 20% repair, then refines toward a higher feasible cap. Each proposal gets a fresh solve.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B02B8-E79C-468D-9DA1-7FE0C778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Nine candidate solves. The cap is a Pmpp setting, not a percentage of energy saved</a:t>
            </a:r>
          </a:p>
        </p:txBody>
      </p:sp>
    </p:spTree>
    <p:extLst>
      <p:ext uri="{BB962C8B-B14F-4D97-AF65-F5344CB8AC3E}">
        <p14:creationId xmlns:p14="http://schemas.microsoft.com/office/powerpoint/2010/main" val="18527389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EBC4A-13FB-4F8F-BE74-4CA73499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Ablation: contribution of verification and repair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478D5-3533-4A53-80EB-AA9E2701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790700"/>
          <a:ext xmlns:a="http://schemas.openxmlformats.org/drawingml/2006/main" cx="108204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4914900"/>
                <a:gridCol w="2095500"/>
              </a:tblGrid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Workflow</a:t>
                      </a:r>
                    </a:p>
                  </a:txBody>
                  <a:tcPr marL="91440" marR="91440" marT="45720" marB="45720">
                    <a:solidFill>
                      <a:srgbClr val="15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15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Candidate solves</a:t>
                      </a:r>
                    </a:p>
                  </a:txBody>
                  <a:tcPr marL="91440" marR="91440" marT="45720" marB="45720">
                    <a:solidFill>
                      <a:srgbClr val="15384A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Planner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80% cap still violates limits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Planner + verifier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All initial proposals rejected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Planner + verifier + repair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33.125% cap passes snapshot checks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8DD52-D366-4D9A-BF62-E0730F58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This isolates workflow behavior. It does not measure LLM superiority or operator time savings</a:t>
            </a:r>
          </a:p>
        </p:txBody>
      </p:sp>
    </p:spTree>
    <p:extLst>
      <p:ext uri="{BB962C8B-B14F-4D97-AF65-F5344CB8AC3E}">
        <p14:creationId xmlns:p14="http://schemas.microsoft.com/office/powerpoint/2010/main" val="16990622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7E4CE-7015-4D76-BCC6-C5E6F814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Lab 2: outage and coordinated restoration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FC523-D2A0-4F34-A7A4-DA573CB1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7BE25-4AEB-41B4-9322-CAB47001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Quarantine the faulted incoming line to udt8894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79142-A27E-4AE2-92B9-0AC3ACA0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Test the approved alternate tie inside the substation area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DF65A-B2A5-4DF6-A9EC-0F6A5852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Compare blind pickup with coordinated storage charging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9994D-0DA1-49B4-87DB-CCEE8CF6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Use watch-line feedback to refine the storage-fleet setpoint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45480-F02F-45B2-8317-162CFFF5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Critical-load labels are unavailable. The reported restoration metric uses equal-weight nominal kW</a:t>
            </a:r>
          </a:p>
        </p:txBody>
      </p:sp>
    </p:spTree>
    <p:extLst>
      <p:ext uri="{BB962C8B-B14F-4D97-AF65-F5344CB8AC3E}">
        <p14:creationId xmlns:p14="http://schemas.microsoft.com/office/powerpoint/2010/main" val="1595983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EFB0B-4EF0-439E-A666-59D9F7AC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Blind pickup creates a new watch-line overload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F7E20-ED71-4CD7-8C78-88F58CBC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23900" y="1762125"/>
          <a:ext xmlns:a="http://schemas.openxmlformats.org/drawingml/2006/main" cx="106680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07f62881f4430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3421E-B5CD-4FE9-B0C0-1536AA1C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100% is the modeled rating. Charging absorbs surplus in this particular solar-rich snapshot</a:t>
            </a:r>
          </a:p>
        </p:txBody>
      </p:sp>
    </p:spTree>
    <p:extLst>
      <p:ext uri="{BB962C8B-B14F-4D97-AF65-F5344CB8AC3E}">
        <p14:creationId xmlns:p14="http://schemas.microsoft.com/office/powerpoint/2010/main" val="4475366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E449A-CD25-4DC1-9894-5066F28B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Restoration improves service, with limits remaining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FED0C-7B2B-4434-9F7C-AB21F0F7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00956-3619-4B1D-BC0D-7F4E1E75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4.747 MW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8F8B8-9B3C-43FA-B9A6-2E742CF1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Nominal load restored after the outage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01E75-A459-4812-884F-0E523485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Adaptive fleet charge: 40.8%</a:t>
            </a:r>
          </a:p>
          <a:p xmlns:a="http://schemas.openxmlformats.org/drawingml/2006/main">
            <a:pPr>
              <a:defRPr sz="232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Final watch-line loading: 99.46%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255AB-1C35-4925-AC49-36466477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18 voltage-violation buses and 57 overloaded lines remain elsewhere. Relative improvement is not absolute clearance</a:t>
            </a:r>
          </a:p>
        </p:txBody>
      </p:sp>
    </p:spTree>
    <p:extLst>
      <p:ext uri="{BB962C8B-B14F-4D97-AF65-F5344CB8AC3E}">
        <p14:creationId xmlns:p14="http://schemas.microsoft.com/office/powerpoint/2010/main" val="7182390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2B933-D876-4053-8379-FC682312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Lab 3: cyber-physical screening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B9864-B86F-440B-89C3-3D4AA52A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647825"/>
          <a:ext xmlns:a="http://schemas.openxmlformats.org/drawingml/2006/main" cx="108204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77150"/>
              </a:tblGrid>
              <a:tr h="7010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Screening layer</a:t>
                      </a:r>
                    </a:p>
                  </a:txBody>
                  <a:tcPr marL="91440" marR="91440" marT="45720" marB="45720">
                    <a:solidFill>
                      <a:srgbClr val="15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Controlled test</a:t>
                      </a:r>
                    </a:p>
                  </a:txBody>
                  <a:tcPr marL="91440" marR="91440" marT="45720" marB="45720">
                    <a:solidFill>
                      <a:srgbClr val="15384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Schema and catalog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Unknown action or device, forbidden source edit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Telemetry and topology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Stale snapshot, revoked trust, fingerprint mismatch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Target quarantine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Attempt to close the faulted 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Actuation and physics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Readback faults and thermally regressive pickup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BA250-DF4C-4599-BB46-6B4950F3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Software injections only. Trust flags are inputs, not a complete authentication system</a:t>
            </a:r>
          </a:p>
        </p:txBody>
      </p:sp>
    </p:spTree>
    <p:extLst>
      <p:ext uri="{BB962C8B-B14F-4D97-AF65-F5344CB8AC3E}">
        <p14:creationId xmlns:p14="http://schemas.microsoft.com/office/powerpoint/2010/main" val="3631667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68488-E222-4D13-B3AA-91E442F4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All designed negative controls were rejected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08C7F-6474-413D-B6E6-B1847AD4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0FDA3-7E16-49CE-A4A2-990F799C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5BA37-15C7-4007-AF6C-45BC0D74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Negative controls rejected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9356D-865B-4564-BEF2-8C5A7237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7 rejected before simulation</a:t>
            </a:r>
          </a:p>
          <a:p xmlns:a="http://schemas.openxmlformats.org/drawingml/2006/main">
            <a:pPr>
              <a:defRPr sz="232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3 rejected after simulation</a:t>
            </a:r>
          </a:p>
          <a:p xmlns:a="http://schemas.openxmlformats.org/drawingml/2006/main">
            <a:pPr>
              <a:defRPr sz="232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1 positive control accepted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72927-4222-4D1A-A8F8-784F1F33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Zero unsafe simulated commitments in this small suite. No real-world attack detection rate is claimed</a:t>
            </a:r>
          </a:p>
        </p:txBody>
      </p:sp>
    </p:spTree>
    <p:extLst>
      <p:ext uri="{BB962C8B-B14F-4D97-AF65-F5344CB8AC3E}">
        <p14:creationId xmlns:p14="http://schemas.microsoft.com/office/powerpoint/2010/main" val="12146488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FDA50-9DF6-4917-AB13-E275242F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What the study demonstrates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0508D-7D29-479D-81B3-1DC1854C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609725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62900"/>
              </a:tblGrid>
              <a:tr h="635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91440" marR="91440" marT="45720" marB="45720">
                    <a:solidFill>
                      <a:srgbClr val="15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contribution</a:t>
                      </a:r>
                    </a:p>
                  </a:txBody>
                  <a:tcPr marL="91440" marR="91440" marT="45720" marB="45720">
                    <a:solidFill>
                      <a:srgbClr val="15384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Awareness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Uses exact model targets and state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Simulation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Exposes the thermal cost of voltage and pickup actions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Verification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Blocks infeasible or untrusted proposals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Refinement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Finds a feasible PV cap and repairs restoration loading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Operator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Retains the action, checks and rejection history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8D5F9-2ED8-4458-A7FC-F2844FCE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Measured: simulated behavior. Not measured: operator time saved or live LLM performance</a:t>
            </a:r>
          </a:p>
        </p:txBody>
      </p:sp>
    </p:spTree>
    <p:extLst>
      <p:ext uri="{BB962C8B-B14F-4D97-AF65-F5344CB8AC3E}">
        <p14:creationId xmlns:p14="http://schemas.microsoft.com/office/powerpoint/2010/main" val="17680218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0B2AA-29E1-4EB9-82D0-C38B997E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Research comparison and deployment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B0DE6-586A-4489-86F6-DE6BAF8D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4FDFA-678D-4B01-8853-F746CB5E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Compare deterministic search, OPF and LLM variants at matched budgets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7D7FD-F1AD-4C07-880C-18C35425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Repeat across operating points, outages, seeds and model families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2702A-5166-4606-A938-5222D1FE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Add critical-load labels, battery duration and switching-sequence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41239-030F-4540-BB3B-7926D64B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Validate radiality, transformer limits and protection coordination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BB415-0A9E-48DE-AD5F-4ED44E7E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Report residual violations, physical writes, solver calls, runtime and uncertainty alongside restoration</a:t>
            </a:r>
          </a:p>
        </p:txBody>
      </p:sp>
    </p:spTree>
    <p:extLst>
      <p:ext uri="{BB962C8B-B14F-4D97-AF65-F5344CB8AC3E}">
        <p14:creationId xmlns:p14="http://schemas.microsoft.com/office/powerpoint/2010/main" val="2906246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8BB2C-92C0-4D91-9B3A-256160DC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Three-hour tutorial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43C4E-8497-46B5-9D8D-E87E6F8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0"/>
                <a:gridCol w="1771650"/>
              </a:tblGrid>
              <a:tr h="5551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>
                    <a:solidFill>
                      <a:srgbClr val="15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Minutes</a:t>
                      </a:r>
                    </a:p>
                  </a:txBody>
                  <a:tcPr marL="91440" marR="91440" marT="45720" marB="45720">
                    <a:solidFill>
                      <a:srgbClr val="15384A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Motivation and multi-agent workflow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Open-weight models and optimizer patterns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Voltage-control lab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Restoration lab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Cyber-physical lab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Discussion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84A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EAF0F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2EBE5-1AEC-4A23-8185-F88A6D92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Participants leave with the notebook, model subset, candidate traces and editable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984372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0B8E4-F885-4797-977D-E307FC17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84A"/>
                </a:solidFill>
                <a:latin typeface="Arial"/>
                <a:ea typeface="Arial"/>
                <a:cs typeface="Arial"/>
              </a:rPr>
              <a:t>Companion materials and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71971-D0DC-46C6-BD10-2073AC58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5333F-B80F-4C31-8675-EDDC1D07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Executed notebook with visible results and agent handoffs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04B86-5CBF-42FE-B8C3-95A8719D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Portable model subset and installation instructions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5ABBF-002E-4B79-A8B8-FCC997F1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Machine-readable evidence and raw candidate ledgers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65255-AE21-4036-96C5-736A4C1F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8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84A"/>
                </a:solidFill>
                <a:latin typeface="Arial"/>
                <a:ea typeface="Arial"/>
                <a:cs typeface="Arial"/>
              </a:rPr>
              <a:t>Optional live Llama or Qwen planning through an installed Ollama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87714-8BF7-44AA-BC26-27766123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Network source: OEDI SMART-DS dataset 2981. Full attribution and study limitations appear in the notebook</a:t>
            </a:r>
          </a:p>
        </p:txBody>
      </p:sp>
    </p:spTree>
    <p:extLst>
      <p:ext uri="{BB962C8B-B14F-4D97-AF65-F5344CB8AC3E}">
        <p14:creationId xmlns:p14="http://schemas.microsoft.com/office/powerpoint/2010/main" val="1825941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2026-09-19T18:59:13.7810000Z</dcterms:created>
  <dcterms:modified xsi:type="dcterms:W3CDTF">2026-09-19T18:59:13.7810000Z</dcterms:modified>
</coreProperties>
</file>