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3a1529f75d453c" /><Relationship Type="http://schemas.openxmlformats.org/officeDocument/2006/relationships/extended-properties" Target="/docProps/app.xml" Id="R93c87cf2c9e04cc7" /><Relationship Type="http://schemas.openxmlformats.org/officeDocument/2006/relationships/officeDocument" Target="/ppt/presentation.xml" Id="Rb1223e1727654898" /></Relationships>
</file>

<file path=ppt/presentation.xml><?xml version="1.0" encoding="utf-8"?>
<p:presentation xmlns:p="http://schemas.openxmlformats.org/presentationml/2006/main">
  <p:sldMasterIdLst>
    <p:sldMasterId xmlns:r="http://schemas.openxmlformats.org/officeDocument/2006/relationships" id="2147483648" r:id="Ra230115448df4ea0"/>
  </p:sldMasterIdLst>
  <p:notesMasterIdLst>
    <p:notesMasterId xmlns:r="http://schemas.openxmlformats.org/officeDocument/2006/relationships" r:id="R1ed81ba65567422e"/>
  </p:notesMasterIdLst>
  <p:sldIdLst>
    <p:sldId xmlns:r="http://schemas.openxmlformats.org/officeDocument/2006/relationships" id="256" r:id="R981b8ddadb264b46"/>
    <p:sldId xmlns:r="http://schemas.openxmlformats.org/officeDocument/2006/relationships" id="257" r:id="R4fcb88e415c34036"/>
    <p:sldId xmlns:r="http://schemas.openxmlformats.org/officeDocument/2006/relationships" id="258" r:id="R183bbee28091457a"/>
    <p:sldId xmlns:r="http://schemas.openxmlformats.org/officeDocument/2006/relationships" id="259" r:id="R89273f6f0ced4d51"/>
    <p:sldId xmlns:r="http://schemas.openxmlformats.org/officeDocument/2006/relationships" id="260" r:id="Red63284cd7674199"/>
    <p:sldId xmlns:r="http://schemas.openxmlformats.org/officeDocument/2006/relationships" id="261" r:id="Rbd3aaa35ea2c490d"/>
    <p:sldId xmlns:r="http://schemas.openxmlformats.org/officeDocument/2006/relationships" id="262" r:id="Re0291b793ef7463e"/>
    <p:sldId xmlns:r="http://schemas.openxmlformats.org/officeDocument/2006/relationships" id="263" r:id="R9398d137cebc4897"/>
    <p:sldId xmlns:r="http://schemas.openxmlformats.org/officeDocument/2006/relationships" id="264" r:id="Rb5ce3443db084c34"/>
    <p:sldId xmlns:r="http://schemas.openxmlformats.org/officeDocument/2006/relationships" id="265" r:id="R8da3b2b3b60d414d"/>
    <p:sldId xmlns:r="http://schemas.openxmlformats.org/officeDocument/2006/relationships" id="266" r:id="R6307ba43ae344d9b"/>
    <p:sldId xmlns:r="http://schemas.openxmlformats.org/officeDocument/2006/relationships" id="267" r:id="R25fdce6930fb4f2c"/>
    <p:sldId xmlns:r="http://schemas.openxmlformats.org/officeDocument/2006/relationships" id="268" r:id="R8bf1a19636234645"/>
    <p:sldId xmlns:r="http://schemas.openxmlformats.org/officeDocument/2006/relationships" id="269" r:id="R4848dc9473294b49"/>
    <p:sldId xmlns:r="http://schemas.openxmlformats.org/officeDocument/2006/relationships" id="270" r:id="R9ed01ec4d26246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80a5438c8e414b" /><Relationship Type="http://schemas.openxmlformats.org/officeDocument/2006/relationships/slideMaster" Target="/ppt/slideMasters/slideMaster1.xml" Id="Ra230115448df4ea0" /><Relationship Type="http://schemas.openxmlformats.org/officeDocument/2006/relationships/notesMaster" Target="/ppt/notesMasters/notesMaster1.xml" Id="R1ed81ba65567422e" /><Relationship Type="http://schemas.openxmlformats.org/officeDocument/2006/relationships/presProps" Target="/ppt/presProps.xml" Id="Rcfabb875b81d46fd" /><Relationship Type="http://schemas.openxmlformats.org/officeDocument/2006/relationships/tableStyles" Target="/ppt/tableStyles.xml" Id="R7154d79ce6fb44c2" /><Relationship Type="http://schemas.openxmlformats.org/officeDocument/2006/relationships/slide" Target="/ppt/slides/slide1.xml" Id="R981b8ddadb264b46" /><Relationship Type="http://schemas.openxmlformats.org/officeDocument/2006/relationships/slide" Target="/ppt/slides/slide2.xml" Id="R4fcb88e415c34036" /><Relationship Type="http://schemas.openxmlformats.org/officeDocument/2006/relationships/slide" Target="/ppt/slides/slide3.xml" Id="R183bbee28091457a" /><Relationship Type="http://schemas.openxmlformats.org/officeDocument/2006/relationships/slide" Target="/ppt/slides/slide4.xml" Id="R89273f6f0ced4d51" /><Relationship Type="http://schemas.openxmlformats.org/officeDocument/2006/relationships/slide" Target="/ppt/slides/slide5.xml" Id="Red63284cd7674199" /><Relationship Type="http://schemas.openxmlformats.org/officeDocument/2006/relationships/slide" Target="/ppt/slides/slide6.xml" Id="Rbd3aaa35ea2c490d" /><Relationship Type="http://schemas.openxmlformats.org/officeDocument/2006/relationships/slide" Target="/ppt/slides/slide7.xml" Id="Re0291b793ef7463e" /><Relationship Type="http://schemas.openxmlformats.org/officeDocument/2006/relationships/slide" Target="/ppt/slides/slide8.xml" Id="R9398d137cebc4897" /><Relationship Type="http://schemas.openxmlformats.org/officeDocument/2006/relationships/slide" Target="/ppt/slides/slide9.xml" Id="Rb5ce3443db084c34" /><Relationship Type="http://schemas.openxmlformats.org/officeDocument/2006/relationships/slide" Target="/ppt/slides/slide10.xml" Id="R8da3b2b3b60d414d" /><Relationship Type="http://schemas.openxmlformats.org/officeDocument/2006/relationships/slide" Target="/ppt/slides/slide11.xml" Id="R6307ba43ae344d9b" /><Relationship Type="http://schemas.openxmlformats.org/officeDocument/2006/relationships/slide" Target="/ppt/slides/slide12.xml" Id="R25fdce6930fb4f2c" /><Relationship Type="http://schemas.openxmlformats.org/officeDocument/2006/relationships/slide" Target="/ppt/slides/slide13.xml" Id="R8bf1a19636234645" /><Relationship Type="http://schemas.openxmlformats.org/officeDocument/2006/relationships/slide" Target="/ppt/slides/slide14.xml" Id="R4848dc9473294b49" /><Relationship Type="http://schemas.openxmlformats.org/officeDocument/2006/relationships/slide" Target="/ppt/slides/slide15.xml" Id="R9ed01ec4d26246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b8d3f6c95143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d7de56d5ec40ed" /><Relationship Type="http://schemas.openxmlformats.org/officeDocument/2006/relationships/notesMaster" Target="/ppt/notesMasters/notesMaster1.xml" Id="R8e2c6bdf25ad4e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558f37804f4a06" /><Relationship Type="http://schemas.openxmlformats.org/officeDocument/2006/relationships/notesMaster" Target="/ppt/notesMasters/notesMaster1.xml" Id="R1a3a5fc1a48f4f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37028f572f4fa8" /><Relationship Type="http://schemas.openxmlformats.org/officeDocument/2006/relationships/notesMaster" Target="/ppt/notesMasters/notesMaster1.xml" Id="R83f3c8b0edbe48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81b63b02fa42ea" /><Relationship Type="http://schemas.openxmlformats.org/officeDocument/2006/relationships/notesMaster" Target="/ppt/notesMasters/notesMaster1.xml" Id="Rfd14b1ade3e844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01532c78374142" /><Relationship Type="http://schemas.openxmlformats.org/officeDocument/2006/relationships/notesMaster" Target="/ppt/notesMasters/notesMaster1.xml" Id="R3a4a86db530f4c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e609ec0b0c4c9b" /><Relationship Type="http://schemas.openxmlformats.org/officeDocument/2006/relationships/notesMaster" Target="/ppt/notesMasters/notesMaster1.xml" Id="Rb2f86f559d5c48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5b4c948af44096" /><Relationship Type="http://schemas.openxmlformats.org/officeDocument/2006/relationships/notesMaster" Target="/ppt/notesMasters/notesMaster1.xml" Id="R41169d476f724b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efb750c9674990" /><Relationship Type="http://schemas.openxmlformats.org/officeDocument/2006/relationships/notesMaster" Target="/ppt/notesMasters/notesMaster1.xml" Id="R9afff874a2704d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078c8e2e284780" /><Relationship Type="http://schemas.openxmlformats.org/officeDocument/2006/relationships/notesMaster" Target="/ppt/notesMasters/notesMaster1.xml" Id="Rfc0b91d328044ec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e88ea1a02043ca" /><Relationship Type="http://schemas.openxmlformats.org/officeDocument/2006/relationships/notesMaster" Target="/ppt/notesMasters/notesMaster1.xml" Id="R237094a1ef1f434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aafffb3731484f" /><Relationship Type="http://schemas.openxmlformats.org/officeDocument/2006/relationships/notesMaster" Target="/ppt/notesMasters/notesMaster1.xml" Id="R037a3d0a231843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c6b183456e4f7a" /><Relationship Type="http://schemas.openxmlformats.org/officeDocument/2006/relationships/notesMaster" Target="/ppt/notesMasters/notesMaster1.xml" Id="R1c8bec5f967145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35d216aec54dbd" /><Relationship Type="http://schemas.openxmlformats.org/officeDocument/2006/relationships/notesMaster" Target="/ppt/notesMasters/notesMaster1.xml" Id="R9f1344405d8743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c2a85cd71b432f" /><Relationship Type="http://schemas.openxmlformats.org/officeDocument/2006/relationships/notesMaster" Target="/ppt/notesMasters/notesMaster1.xml" Id="R68c106605ef640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f557a1c3e8f487f" /><Relationship Type="http://schemas.openxmlformats.org/officeDocument/2006/relationships/notesMaster" Target="/ppt/notesMasters/notesMaster1.xml" Id="Rc3ea471e55d748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IEEE SmartGridComm tutorial companion. Scope follows the supplied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Source: https://data.openei.org/submissions/2981 . Synthetic SMART-DS uhs20_1247 model, with its udt8894 leaf used for voltage.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The roles use separate prompts to one installed model. Python controls orchestration and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Exact model metadata and digest appear in model_manifest.json. Structured output uses https://docs.ollama.com/api/chat and https://docs.ollama.com/capabilities/structured-outputs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Eight direct Llama proposals. The recorded run found no passing voltage action. Unsupported claims in model rationales are not accepted as measured improvements.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The diagnostic sweep identifies a feasible lower cap and an infeasible upper cap. Python builds three next-test options. Llama chooses one, then OpenDSS and Python evaluate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Reference confirmation at candidate 0, then five live Llama menu selections. This follows six reference sweep solves and is not a matched-budget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Voltage band 0.95–1.05 pu, line normal ratings. This is a static feeder result, not a global OPF solution or proof of all equipment 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Fault stays quarantined. Proposed percentages come directly from the live model. The watch line is recloser_disswitch(r:udt5179-udt6452)u_85430.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The parent network has pre-existing violations. Passing the relative pre-contingency envelope does not establish absolute feasibility or radiality.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The malicious alarm is untrusted data in the model context. Stale timestamp and topology mismatch are separate verifier-input injections. The forced hostile action is not generated by 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One run per model, same direct-search budgets. The physics-guided extension is excluded. The results do not establish population-level model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Findings refer only to recorded runs. The benefits of tool structure and verification are illustrated, not a formal proof of LLM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Notebook section 10 includes these exercises. Keep simulation budgets matched when making comparative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results/live_study_summary.json and results/llama_transcript.json in the v2 bundle. Actual local Ollama calls and OpenDSS simulations. The companion bundle contains the source subset, executed notebooks, HTML preview, PNG/SVG figures, source code and raw Llama transcripts. Network source: https://data.openei.org/submissions/2981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c4d54bc26e48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765cc16a8c48b0" /><Relationship Type="http://schemas.openxmlformats.org/officeDocument/2006/relationships/slideLayout" Target="/ppt/slideLayouts/slideLayout1.xml" Id="R7aff6f314fe94c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ff6f314fe94c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396cc2c8134471" /><Relationship Type="http://schemas.openxmlformats.org/officeDocument/2006/relationships/notesSlide" Target="/ppt/notesSlides/notesSlide1.xml" Id="Rdae9eb7a3fb740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d6eac6d1a847e3" /><Relationship Type="http://schemas.openxmlformats.org/officeDocument/2006/relationships/notesSlide" Target="/ppt/notesSlides/notesSlide2.xml" Id="R4ba9efeb1d7443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2709e29af74ded" /><Relationship Type="http://schemas.openxmlformats.org/officeDocument/2006/relationships/notesSlide" Target="/ppt/notesSlides/notesSlide3.xml" Id="Rf32a338c56264a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3a39bb65254c54" /><Relationship Type="http://schemas.openxmlformats.org/officeDocument/2006/relationships/notesSlide" Target="/ppt/notesSlides/notesSlide4.xml" Id="R22eb792ac52646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345026feade4bc5" /><Relationship Type="http://schemas.openxmlformats.org/officeDocument/2006/relationships/chart" Target="/ppt/slides/charts/chart1.xml" Id="R215a4b7e59df426c" /><Relationship Type="http://schemas.openxmlformats.org/officeDocument/2006/relationships/notesSlide" Target="/ppt/notesSlides/notesSlide5.xml" Id="R670e7f118d3846e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96f418b0e84c3d" /><Relationship Type="http://schemas.openxmlformats.org/officeDocument/2006/relationships/notesSlide" Target="/ppt/notesSlides/notesSlide6.xml" Id="Rfe0e717aa0364c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00633baa1748ec" /><Relationship Type="http://schemas.openxmlformats.org/officeDocument/2006/relationships/chart" Target="/ppt/slides/charts/chart2.xml" Id="R6edf609038614858" /><Relationship Type="http://schemas.openxmlformats.org/officeDocument/2006/relationships/notesSlide" Target="/ppt/notesSlides/notesSlide7.xml" Id="R00eadf8fac8043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2f724447d6403a" /><Relationship Type="http://schemas.openxmlformats.org/officeDocument/2006/relationships/chart" Target="/ppt/slides/charts/chart3.xml" Id="R368aa4e562ed4ee4" /><Relationship Type="http://schemas.openxmlformats.org/officeDocument/2006/relationships/notesSlide" Target="/ppt/notesSlides/notesSlide8.xml" Id="Rbd8659a1869342b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2d42f9548504ebd" /><Relationship Type="http://schemas.openxmlformats.org/officeDocument/2006/relationships/chart" Target="/ppt/slides/charts/chart4.xml" Id="R6644f10cb4684d23" /><Relationship Type="http://schemas.openxmlformats.org/officeDocument/2006/relationships/notesSlide" Target="/ppt/notesSlides/notesSlide9.xml" Id="Rc9bc40fdc5354a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2592821fa74b86" /><Relationship Type="http://schemas.openxmlformats.org/officeDocument/2006/relationships/notesSlide" Target="/ppt/notesSlides/notesSlide10.xml" Id="Rb6472cb3bbcd40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d7cf5e5d9a4ec7" /><Relationship Type="http://schemas.openxmlformats.org/officeDocument/2006/relationships/notesSlide" Target="/ppt/notesSlides/notesSlide11.xml" Id="R0cd6216f682d481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958b5f38aa24fb6" /><Relationship Type="http://schemas.openxmlformats.org/officeDocument/2006/relationships/chart" Target="/ppt/slides/charts/chart5.xml" Id="R27eea2cf56004838" /><Relationship Type="http://schemas.openxmlformats.org/officeDocument/2006/relationships/notesSlide" Target="/ppt/notesSlides/notesSlide12.xml" Id="Ra7d6e9489b3447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45a7a25b6b4a81" /><Relationship Type="http://schemas.openxmlformats.org/officeDocument/2006/relationships/notesSlide" Target="/ppt/notesSlides/notesSlide13.xml" Id="R9991e9b94c4640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42754ff5ea1417e" /><Relationship Type="http://schemas.openxmlformats.org/officeDocument/2006/relationships/notesSlide" Target="/ppt/notesSlides/notesSlide14.xml" Id="R01375f95477542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2c0267c60014a52" /><Relationship Type="http://schemas.openxmlformats.org/officeDocument/2006/relationships/notesSlide" Target="/ppt/notesSlides/notesSlide15.xml" Id="R1acc9d0ff1db440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Llama cap</c:v>
          </c:tx>
          <c:spPr>
            <a:ln xmlns:a="http://schemas.openxmlformats.org/drawingml/2006/main" w="28575">
              <a:solidFill>
                <a:srgbClr val="CF6938"/>
              </a:solidFill>
            </a:ln>
          </c:spPr>
          <c:marker>
            <c:symbol val="circle"/>
            <c:size val="7"/>
            <c:spPr>
              <a:solidFill xmlns:a="http://schemas.openxmlformats.org/drawingml/2006/main">
                <a:srgbClr val="CF6938"/>
              </a:solidFill>
            </c:spPr>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General</c:formatCode>
                <c:ptCount val="8"/>
                <c:pt idx="0">
                  <c:v>96</c:v>
                </c:pt>
                <c:pt idx="1">
                  <c:v>97</c:v>
                </c:pt>
                <c:pt idx="2">
                  <c:v>97.5</c:v>
                </c:pt>
                <c:pt idx="3">
                  <c:v>98</c:v>
                </c:pt>
                <c:pt idx="4">
                  <c:v>98.5</c:v>
                </c:pt>
                <c:pt idx="5">
                  <c:v>98.5</c:v>
                </c:pt>
                <c:pt idx="6">
                  <c:v>98.5</c:v>
                </c:pt>
                <c:pt idx="7">
                  <c:v>98.5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05"/>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cap (% Pmpp)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Selected cap</c:v>
          </c:tx>
          <c:spPr>
            <a:ln xmlns:a="http://schemas.openxmlformats.org/drawingml/2006/main" w="28575">
              <a:solidFill>
                <a:srgbClr val="007F83"/>
              </a:solidFill>
            </a:ln>
          </c:spPr>
          <c:marker>
            <c:symbol val="circle"/>
            <c:size val="7"/>
            <c:spPr>
              <a:solidFill xmlns:a="http://schemas.openxmlformats.org/drawingml/2006/main">
                <a:srgbClr val="007F83"/>
              </a:solidFill>
            </c:spPr>
          </c:marker>
          <c:cat>
            <c:numRef>
              <c:f>'Chart Data'!$A$2:$A$7</c:f>
              <c:numCache>
                <c:formatCode>General</c:formatCode>
                <c:ptCount val="6"/>
                <c:pt idx="0">
                  <c:v>0</c:v>
                </c:pt>
                <c:pt idx="1">
                  <c:v>1</c:v>
                </c:pt>
                <c:pt idx="2">
                  <c:v>2</c:v>
                </c:pt>
                <c:pt idx="3">
                  <c:v>3</c:v>
                </c:pt>
                <c:pt idx="4">
                  <c:v>4</c:v>
                </c:pt>
                <c:pt idx="5">
                  <c:v>5</c:v>
                </c:pt>
              </c:numCache>
            </c:numRef>
          </c:cat>
          <c:val>
            <c:numRef>
              <c:f>'Chart Data'!$B$2:$B$7</c:f>
              <c:numCache>
                <c:formatCode>General</c:formatCode>
                <c:ptCount val="6"/>
                <c:pt idx="0">
                  <c:v>20</c:v>
                </c:pt>
                <c:pt idx="1">
                  <c:v>30</c:v>
                </c:pt>
                <c:pt idx="2">
                  <c:v>35</c:v>
                </c:pt>
                <c:pt idx="3">
                  <c:v>32.5</c:v>
                </c:pt>
                <c:pt idx="4">
                  <c:v>33.75</c:v>
                </c:pt>
                <c:pt idx="5">
                  <c:v>33.125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cap (% Pmpp)</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Voltage-violation buses</c:v>
          </c:tx>
          <c:spPr>
            <a:solidFill xmlns:a="http://schemas.openxmlformats.org/drawingml/2006/main">
              <a:srgbClr val="007F83"/>
            </a:solidFill>
          </c:spPr>
          <c:cat>
            <c:strRef>
              <c:f>'Chart Data'!$A$2:$A$3</c:f>
              <c:strCache>
                <c:ptCount val="2"/>
                <c:pt idx="0">
                  <c:v>Baseline</c:v>
                </c:pt>
                <c:pt idx="1">
                  <c:v>Hybrid Llama action</c:v>
                </c:pt>
              </c:strCache>
            </c:strRef>
          </c:cat>
          <c:val>
            <c:numRef>
              <c:f>'Chart Data'!$B$2:$B$3</c:f>
              <c:numCache>
                <c:formatCode>General</c:formatCode>
                <c:ptCount val="2"/>
                <c:pt idx="0">
                  <c:v>23</c:v>
                </c:pt>
                <c:pt idx="1">
                  <c:v>0</c:v>
                </c:pt>
              </c:numCache>
            </c:numRef>
          </c:val>
        </c:ser>
        <c:ser>
          <c:idx val="1"/>
          <c:order val="1"/>
          <c:tx>
            <c:v>Overloaded lines</c:v>
          </c:tx>
          <c:spPr>
            <a:solidFill xmlns:a="http://schemas.openxmlformats.org/drawingml/2006/main">
              <a:srgbClr val="CF6938"/>
            </a:solidFill>
          </c:spPr>
          <c:cat>
            <c:strRef>
              <c:f>'Chart Data'!$C$2:$C$3</c:f>
              <c:strCache>
                <c:ptCount val="2"/>
                <c:pt idx="0">
                  <c:v>Baseline</c:v>
                </c:pt>
                <c:pt idx="1">
                  <c:v>Hybrid Llama action</c:v>
                </c:pt>
              </c:strCache>
            </c:strRef>
          </c:cat>
          <c:val>
            <c:numRef>
              <c:f>'Chart Data'!$D$2:$D$3</c:f>
              <c:numCache>
                <c:formatCode>General</c:formatCode>
                <c:ptCount val="2"/>
                <c:pt idx="0">
                  <c:v>10</c:v>
                </c:pt>
                <c:pt idx="1">
                  <c:v>0</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Watch-line loading</c:v>
          </c:tx>
          <c:spPr>
            <a:ln xmlns:a="http://schemas.openxmlformats.org/drawingml/2006/main" w="28575">
              <a:solidFill>
                <a:srgbClr val="007F83"/>
              </a:solidFill>
            </a:ln>
          </c:spPr>
          <c:marker>
            <c:symbol val="circle"/>
            <c:size val="7"/>
            <c:spPr>
              <a:solidFill xmlns:a="http://schemas.openxmlformats.org/drawingml/2006/main">
                <a:srgbClr val="007F83"/>
              </a:solidFill>
            </c:spPr>
          </c:marker>
          <c:cat>
            <c:numRef>
              <c:f>'Chart Data'!$A$2:$A$6</c:f>
              <c:numCache>
                <c:formatCode>General</c:formatCode>
                <c:ptCount val="5"/>
                <c:pt idx="0">
                  <c:v>1</c:v>
                </c:pt>
                <c:pt idx="1">
                  <c:v>2</c:v>
                </c:pt>
                <c:pt idx="2">
                  <c:v>3</c:v>
                </c:pt>
                <c:pt idx="3">
                  <c:v>4</c:v>
                </c:pt>
                <c:pt idx="4">
                  <c:v>5</c:v>
                </c:pt>
              </c:numCache>
            </c:numRef>
          </c:cat>
          <c:val>
            <c:numRef>
              <c:f>'Chart Data'!$B$2:$B$6</c:f>
              <c:numCache>
                <c:formatCode>General</c:formatCode>
                <c:ptCount val="5"/>
                <c:pt idx="0">
                  <c:v>90.3068</c:v>
                </c:pt>
                <c:pt idx="1">
                  <c:v>90.3068</c:v>
                </c:pt>
                <c:pt idx="2">
                  <c:v>90.3068</c:v>
                </c:pt>
                <c:pt idx="3">
                  <c:v>90.3068</c:v>
                </c:pt>
                <c:pt idx="4">
                  <c:v>90.3068</c:v>
                </c:pt>
              </c:numCache>
            </c:numRef>
          </c:val>
        </c:ser>
        <c:ser>
          <c:idx val="1"/>
          <c:order val="1"/>
          <c:tx>
            <c:v>Normal rating</c:v>
          </c:tx>
          <c:spPr>
            <a:ln xmlns:a="http://schemas.openxmlformats.org/drawingml/2006/main" w="19050">
              <a:solidFill>
                <a:srgbClr val="CF6938"/>
              </a:solidFill>
            </a:ln>
          </c:spPr>
          <c:marker>
            <c:symbol val="none"/>
          </c:marker>
          <c:cat>
            <c:numRef>
              <c:f>'Chart Data'!$C$2:$C$6</c:f>
              <c:numCache>
                <c:formatCode>General</c:formatCode>
                <c:ptCount val="5"/>
                <c:pt idx="0">
                  <c:v>1</c:v>
                </c:pt>
                <c:pt idx="1">
                  <c:v>2</c:v>
                </c:pt>
                <c:pt idx="2">
                  <c:v>3</c:v>
                </c:pt>
                <c:pt idx="3">
                  <c:v>4</c:v>
                </c:pt>
                <c:pt idx="4">
                  <c:v>5</c:v>
                </c:pt>
              </c:numCache>
            </c:numRef>
          </c:cat>
          <c:val>
            <c:numRef>
              <c:f>'Chart Data'!$D$2:$D$6</c:f>
              <c:numCache>
                <c:formatCode>General</c:formatCode>
                <c:ptCount val="5"/>
                <c:pt idx="0">
                  <c:v>100</c:v>
                </c:pt>
                <c:pt idx="1">
                  <c:v>100</c:v>
                </c:pt>
                <c:pt idx="2">
                  <c:v>100</c:v>
                </c:pt>
                <c:pt idx="3">
                  <c:v>100</c:v>
                </c:pt>
                <c:pt idx="4">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Watch-line loading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Passing voltage proposals / 8</c:v>
          </c:tx>
          <c:spPr>
            <a:solidFill xmlns:a="http://schemas.openxmlformats.org/drawingml/2006/main">
              <a:srgbClr val="CF6938"/>
            </a:solidFill>
          </c:spPr>
          <c:cat>
            <c:strRef>
              <c:f>'Chart Data'!$A$2:$A$3</c:f>
              <c:strCache>
                <c:ptCount val="2"/>
                <c:pt idx="0">
                  <c:v>llama3.2:3b</c:v>
                </c:pt>
                <c:pt idx="1">
                  <c:v>llama3.1:8b</c:v>
                </c:pt>
              </c:strCache>
            </c:strRef>
          </c:cat>
          <c:val>
            <c:numRef>
              <c:f>'Chart Data'!$B$2:$B$3</c:f>
              <c:numCache>
                <c:formatCode>General</c:formatCode>
                <c:ptCount val="2"/>
                <c:pt idx="0">
                  <c:v>0</c:v>
                </c:pt>
                <c:pt idx="1">
                  <c:v>0</c:v>
                </c:pt>
              </c:numCache>
            </c:numRef>
          </c:val>
        </c:ser>
        <c:ser>
          <c:idx val="1"/>
          <c:order val="1"/>
          <c:tx>
            <c:v>Passing restoration proposals / 5</c:v>
          </c:tx>
          <c:spPr>
            <a:solidFill xmlns:a="http://schemas.openxmlformats.org/drawingml/2006/main">
              <a:srgbClr val="007F83"/>
            </a:solidFill>
          </c:spPr>
          <c:cat>
            <c:strRef>
              <c:f>'Chart Data'!$C$2:$C$3</c:f>
              <c:strCache>
                <c:ptCount val="2"/>
                <c:pt idx="0">
                  <c:v>llama3.2:3b</c:v>
                </c:pt>
                <c:pt idx="1">
                  <c:v>llama3.1:8b</c:v>
                </c:pt>
              </c:strCache>
            </c:strRef>
          </c:cat>
          <c:val>
            <c:numRef>
              <c:f>'Chart Data'!$D$2:$D$3</c:f>
              <c:numCache>
                <c:formatCode>General</c:formatCode>
                <c:ptCount val="2"/>
                <c:pt idx="0">
                  <c:v>0</c:v>
                </c:pt>
                <c:pt idx="1">
                  <c:v>5</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ax val="8"/>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Passing proposals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415777-D863-48C1-893D-986F4E715418}"/>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Llama in the control room</a:t>
            </a:r>
          </a:p>
        </p:txBody>
      </p:sp>
      <p:sp>
        <p:nvSpPr>
          <p:cNvPr id="2" name="">
            <a:extLst xmlns:a="http://schemas.openxmlformats.org/drawingml/2006/main">
              <a:ext uri="{FF2B5EF4-FFF2-40B4-BE49-F238E27FC236}">
                <a16:creationId xmlns:a16="http://schemas.microsoft.com/office/drawing/2014/main" id="{FA9BEF58-FDF4-4766-8439-21C7939CDD11}"/>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1BA2415-7116-420F-8F2D-0F4B4C2481B1}"/>
              </a:ext>
            </a:extLst>
          </p:cNvPr>
          <p:cNvSpPr>
            <a:spLocks xmlns:a="http://schemas.openxmlformats.org/drawingml/2006/main" noGrp="1"/>
          </p:cNvSpPr>
          <p:nvPr/>
        </p:nvSpPr>
        <p:spPr>
          <a:xfrm xmlns:a="http://schemas.openxmlformats.org/drawingml/2006/main">
            <a:off x="733425" y="211455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007F83"/>
                </a:solidFill>
                <a:latin typeface="Arial"/>
                <a:ea typeface="Arial"/>
                <a:cs typeface="Arial"/>
              </a:defRPr>
            </a:pPr>
            <a:r>
              <a:rPr sz="4050" b="1">
                <a:solidFill>
                  <a:srgbClr val="007F83"/>
                </a:solidFill>
                <a:latin typeface="Arial"/>
                <a:ea typeface="Arial"/>
                <a:cs typeface="Arial"/>
              </a:rPr>
              <a:t>A live Greensboro case study</a:t>
            </a:r>
          </a:p>
        </p:txBody>
      </p:sp>
      <p:sp>
        <p:nvSpPr>
          <p:cNvPr id="4" name="">
            <a:extLst xmlns:a="http://schemas.openxmlformats.org/drawingml/2006/main">
              <a:ext uri="{FF2B5EF4-FFF2-40B4-BE49-F238E27FC236}">
                <a16:creationId xmlns:a16="http://schemas.microsoft.com/office/drawing/2014/main" id="{682BB82D-B4F9-41CA-A66A-12BEA407F91D}"/>
              </a:ext>
            </a:extLst>
          </p:cNvPr>
          <p:cNvSpPr>
            <a:spLocks xmlns:a="http://schemas.openxmlformats.org/drawingml/2006/main" noGrp="1"/>
          </p:cNvSpPr>
          <p:nvPr/>
        </p:nvSpPr>
        <p:spPr>
          <a:xfrm xmlns:a="http://schemas.openxmlformats.org/drawingml/2006/main">
            <a:off x="762000" y="332422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384A"/>
                </a:solidFill>
                <a:latin typeface="Arial"/>
                <a:ea typeface="Arial"/>
                <a:cs typeface="Arial"/>
              </a:defRPr>
            </a:pPr>
            <a:r>
              <a:rPr sz="2475" b="0">
                <a:solidFill>
                  <a:srgbClr val="15384A"/>
                </a:solidFill>
                <a:latin typeface="Arial"/>
                <a:ea typeface="Arial"/>
                <a:cs typeface="Arial"/>
              </a:rPr>
              <a:t>Voltage control, restoration and a suspicious alarm</a:t>
            </a:r>
          </a:p>
        </p:txBody>
      </p:sp>
      <p:sp>
        <p:nvSpPr>
          <p:cNvPr id="5" name="">
            <a:extLst xmlns:a="http://schemas.openxmlformats.org/drawingml/2006/main">
              <a:ext uri="{FF2B5EF4-FFF2-40B4-BE49-F238E27FC236}">
                <a16:creationId xmlns:a16="http://schemas.microsoft.com/office/drawing/2014/main" id="{0142B865-9B4A-404E-B23F-4405A9AE31F0}"/>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llama3.1:8b through Ollama. Real prompts, physical simulations and recorded results</a:t>
            </a:r>
          </a:p>
        </p:txBody>
      </p:sp>
    </p:spTree>
    <p:extLst>
      <p:ext uri="{BB962C8B-B14F-4D97-AF65-F5344CB8AC3E}">
        <p14:creationId xmlns:p14="http://schemas.microsoft.com/office/powerpoint/2010/main" val="494227695"/>
      </p:ext>
    </p:extLst>
  </p:cSld>
</p:sld>
</file>

<file path=ppt/slides/slide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377EBA-6E19-49F1-B38F-A4BF43DBB4C2}"/>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The study uses one Greensboro substation area</a:t>
            </a:r>
          </a:p>
        </p:txBody>
      </p:sp>
      <p:sp>
        <p:nvSpPr>
          <p:cNvPr id="2" name="">
            <a:extLst xmlns:a="http://schemas.openxmlformats.org/drawingml/2006/main">
              <a:ext uri="{FF2B5EF4-FFF2-40B4-BE49-F238E27FC236}">
                <a16:creationId xmlns:a16="http://schemas.microsoft.com/office/drawing/2014/main" id="{B56ACD19-0530-423E-ADEB-9591D45A1F64}"/>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F2FE3199-CFC8-44D8-B8C5-C37D97F8D50F}"/>
              </a:ext>
            </a:extLst>
          </p:cNvPr>
          <p:cNvSpPr>
            <a:spLocks xmlns:a="http://schemas.openxmlformats.org/drawingml/2006/main" noGrp="1"/>
          </p:cNvSpPr>
          <p:nvPr/>
        </p:nvSpPr>
        <p:spPr>
          <a:xfrm xmlns:a="http://schemas.openxmlformats.org/drawingml/2006/main">
            <a:off x="742950" y="1762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Three local feeders provide the restoration tie context</a:t>
            </a:r>
          </a:p>
        </p:txBody>
      </p:sp>
      <p:sp>
        <p:nvSpPr>
          <p:cNvPr id="4" name="">
            <a:extLst xmlns:a="http://schemas.openxmlformats.org/drawingml/2006/main">
              <a:ext uri="{FF2B5EF4-FFF2-40B4-BE49-F238E27FC236}">
                <a16:creationId xmlns:a16="http://schemas.microsoft.com/office/drawing/2014/main" id="{D1F6FE70-A680-475D-86CD-6C61E0EA8892}"/>
              </a:ext>
            </a:extLst>
          </p:cNvPr>
          <p:cNvSpPr>
            <a:spLocks xmlns:a="http://schemas.openxmlformats.org/drawingml/2006/main" noGrp="1"/>
          </p:cNvSpPr>
          <p:nvPr/>
        </p:nvSpPr>
        <p:spPr>
          <a:xfrm xmlns:a="http://schemas.openxmlformats.org/drawingml/2006/main">
            <a:off x="742950" y="26479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The voltage episode controls 930 PV systems on udt8894</a:t>
            </a:r>
          </a:p>
        </p:txBody>
      </p:sp>
      <p:sp>
        <p:nvSpPr>
          <p:cNvPr id="5" name="">
            <a:extLst xmlns:a="http://schemas.openxmlformats.org/drawingml/2006/main">
              <a:ext uri="{FF2B5EF4-FFF2-40B4-BE49-F238E27FC236}">
                <a16:creationId xmlns:a16="http://schemas.microsoft.com/office/drawing/2014/main" id="{E4336EC5-4D56-4C67-B944-61C4C245D7E6}"/>
              </a:ext>
            </a:extLst>
          </p:cNvPr>
          <p:cNvSpPr>
            <a:spLocks xmlns:a="http://schemas.openxmlformats.org/drawingml/2006/main" noGrp="1"/>
          </p:cNvSpPr>
          <p:nvPr/>
        </p:nvSpPr>
        <p:spPr>
          <a:xfrm xmlns:a="http://schemas.openxmlformats.org/drawingml/2006/main">
            <a:off x="742950" y="35337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Each episode resets the model to its defined operating point</a:t>
            </a:r>
          </a:p>
        </p:txBody>
      </p:sp>
      <p:sp>
        <p:nvSpPr>
          <p:cNvPr id="6" name="">
            <a:extLst xmlns:a="http://schemas.openxmlformats.org/drawingml/2006/main">
              <a:ext uri="{FF2B5EF4-FFF2-40B4-BE49-F238E27FC236}">
                <a16:creationId xmlns:a16="http://schemas.microsoft.com/office/drawing/2014/main" id="{4B187B04-F065-4089-9F3D-895BF235D35A}"/>
              </a:ext>
            </a:extLst>
          </p:cNvPr>
          <p:cNvSpPr>
            <a:spLocks xmlns:a="http://schemas.openxmlformats.org/drawingml/2006/main" noGrp="1"/>
          </p:cNvSpPr>
          <p:nvPr/>
        </p:nvSpPr>
        <p:spPr>
          <a:xfrm xmlns:a="http://schemas.openxmlformats.org/drawingml/2006/main">
            <a:off x="742950" y="44196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The notebook includes the feeder-coordinate map and raw results</a:t>
            </a:r>
          </a:p>
        </p:txBody>
      </p:sp>
      <p:sp>
        <p:nvSpPr>
          <p:cNvPr id="7" name="">
            <a:extLst xmlns:a="http://schemas.openxmlformats.org/drawingml/2006/main">
              <a:ext uri="{FF2B5EF4-FFF2-40B4-BE49-F238E27FC236}">
                <a16:creationId xmlns:a16="http://schemas.microsoft.com/office/drawing/2014/main" id="{2578F515-C935-4E70-82D0-95CB73FBDCDA}"/>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Synthetic electrical assets. Separate snapshots, not a simulated time-series day</a:t>
            </a:r>
          </a:p>
        </p:txBody>
      </p:sp>
    </p:spTree>
    <p:extLst>
      <p:ext uri="{BB962C8B-B14F-4D97-AF65-F5344CB8AC3E}">
        <p14:creationId xmlns:p14="http://schemas.microsoft.com/office/powerpoint/2010/main" val="1192013868"/>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83C372-7F16-48EE-A133-B1B83675C3DD}"/>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Llama roles and independent tool roles</a:t>
            </a:r>
          </a:p>
        </p:txBody>
      </p:sp>
      <p:sp>
        <p:nvSpPr>
          <p:cNvPr id="2" name="">
            <a:extLst xmlns:a="http://schemas.openxmlformats.org/drawingml/2006/main">
              <a:ext uri="{FF2B5EF4-FFF2-40B4-BE49-F238E27FC236}">
                <a16:creationId xmlns:a16="http://schemas.microsoft.com/office/drawing/2014/main" id="{A907542C-3540-44F6-922A-0FD6B6444BEA}"/>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03</a:t>
            </a:r>
          </a:p>
        </p:txBody>
      </p:sp>
      <p:graphicFrame>
        <p:nvGraphicFramePr>
          <p:cNvPr id="7" name=""/>
          <p:cNvGraphicFramePr/>
          <p:nvPr/>
        </p:nvGraphicFramePr>
        <p:xfrm>
          <a:off xmlns:a="http://schemas.openxmlformats.org/drawingml/2006/main" x="685800" y="1666875"/>
          <a:ext xmlns:a="http://schemas.openxmlformats.org/drawingml/2006/main" cx="10820400" cy="3714750"/>
        </p:xfrm>
        <a:graphic xmlns:a="http://schemas.openxmlformats.org/drawingml/2006/main">
          <a:graphicData uri="http://schemas.openxmlformats.org/drawingml/2006/table">
            <a:tbl>
              <a:tblPr/>
              <a:tblGrid>
                <a:gridCol w="3238500"/>
                <a:gridCol w="3143250"/>
                <a:gridCol w="4438650"/>
              </a:tblGrid>
              <a:tr h="619125">
                <a:tc>
                  <a:txBody>
                    <a:bodyPr/>
                    <a:lstStyle/>
                    <a:p>
                      <a:r>
                        <a:rPr sz="1725" b="1">
                          <a:solidFill>
                            <a:srgbClr val="FFFFFF"/>
                          </a:solidFill>
                          <a:latin typeface="Arial"/>
                          <a:ea typeface="Arial"/>
                          <a:cs typeface="Arial"/>
                        </a:rPr>
                        <a:t>Role</a:t>
                      </a:r>
                    </a:p>
                  </a:txBody>
                  <a:tcPr marL="91440" marR="91440" marT="45720" marB="45720">
                    <a:solidFill>
                      <a:srgbClr val="15384A"/>
                    </a:solidFill>
                  </a:tcPr>
                </a:tc>
                <a:tc>
                  <a:txBody>
                    <a:bodyPr/>
                    <a:lstStyle/>
                    <a:p>
                      <a:r>
                        <a:rPr sz="1725" b="1">
                          <a:solidFill>
                            <a:srgbClr val="FFFFFF"/>
                          </a:solidFill>
                          <a:latin typeface="Arial"/>
                          <a:ea typeface="Arial"/>
                          <a:cs typeface="Arial"/>
                        </a:rPr>
                        <a:t>Execution</a:t>
                      </a:r>
                    </a:p>
                  </a:txBody>
                  <a:tcPr marL="91440" marR="91440" marT="45720" marB="45720">
                    <a:solidFill>
                      <a:srgbClr val="15384A"/>
                    </a:solidFill>
                  </a:tcPr>
                </a:tc>
                <a:tc>
                  <a:txBody>
                    <a:bodyPr/>
                    <a:lstStyle/>
                    <a:p>
                      <a:r>
                        <a:rPr sz="1725" b="1">
                          <a:solidFill>
                            <a:srgbClr val="FFFFFF"/>
                          </a:solidFill>
                          <a:latin typeface="Arial"/>
                          <a:ea typeface="Arial"/>
                          <a:cs typeface="Arial"/>
                        </a:rPr>
                        <a:t>Output</a:t>
                      </a:r>
                    </a:p>
                  </a:txBody>
                  <a:tcPr marL="91440" marR="91440" marT="45720" marB="45720">
                    <a:solidFill>
                      <a:srgbClr val="15384A"/>
                    </a:solidFill>
                  </a:tcPr>
                </a:tc>
              </a:tr>
              <a:tr h="619125">
                <a:tc>
                  <a:txBody>
                    <a:bodyPr/>
                    <a:lstStyle/>
                    <a:p>
                      <a:r>
                        <a:rPr sz="1650" b="0">
                          <a:solidFill>
                            <a:srgbClr val="15384A"/>
                          </a:solidFill>
                          <a:latin typeface="Arial"/>
                          <a:ea typeface="Arial"/>
                          <a:cs typeface="Arial"/>
                        </a:rPr>
                        <a:t>Awareness</a:t>
                      </a:r>
                    </a:p>
                  </a:txBody>
                  <a:tcPr marL="91440" marR="91440" marT="45720" marB="45720">
                    <a:solidFill>
                      <a:srgbClr val="FFFFFF"/>
                    </a:solidFill>
                  </a:tcPr>
                </a:tc>
                <a:tc>
                  <a:txBody>
                    <a:bodyPr/>
                    <a:lstStyle/>
                    <a:p>
                      <a:r>
                        <a:rPr sz="1650" b="0">
                          <a:solidFill>
                            <a:srgbClr val="15384A"/>
                          </a:solidFill>
                          <a:latin typeface="Arial"/>
                          <a:ea typeface="Arial"/>
                          <a:cs typeface="Arial"/>
                        </a:rPr>
                        <a:t>Live Llama</a:t>
                      </a:r>
                    </a:p>
                  </a:txBody>
                  <a:tcPr marL="91440" marR="91440" marT="45720" marB="45720">
                    <a:solidFill>
                      <a:srgbClr val="FFFFFF"/>
                    </a:solidFill>
                  </a:tcPr>
                </a:tc>
                <a:tc>
                  <a:txBody>
                    <a:bodyPr/>
                    <a:lstStyle/>
                    <a:p>
                      <a:r>
                        <a:rPr sz="1650" b="0">
                          <a:solidFill>
                            <a:srgbClr val="15384A"/>
                          </a:solidFill>
                          <a:latin typeface="Arial"/>
                          <a:ea typeface="Arial"/>
                          <a:cs typeface="Arial"/>
                        </a:rPr>
                        <a:t>Situation summary</a:t>
                      </a:r>
                    </a:p>
                  </a:txBody>
                  <a:tcPr marL="91440" marR="91440" marT="45720" marB="45720">
                    <a:solidFill>
                      <a:srgbClr val="FFFFFF"/>
                    </a:solidFill>
                  </a:tcPr>
                </a:tc>
              </a:tr>
              <a:tr h="619125">
                <a:tc>
                  <a:txBody>
                    <a:bodyPr/>
                    <a:lstStyle/>
                    <a:p>
                      <a:r>
                        <a:rPr sz="1650" b="0">
                          <a:solidFill>
                            <a:srgbClr val="15384A"/>
                          </a:solidFill>
                          <a:latin typeface="Arial"/>
                          <a:ea typeface="Arial"/>
                          <a:cs typeface="Arial"/>
                        </a:rPr>
                        <a:t>Planner and optimizer</a:t>
                      </a:r>
                    </a:p>
                  </a:txBody>
                  <a:tcPr marL="91440" marR="91440" marT="45720" marB="45720">
                    <a:solidFill>
                      <a:srgbClr val="EAF0F3"/>
                    </a:solidFill>
                  </a:tcPr>
                </a:tc>
                <a:tc>
                  <a:txBody>
                    <a:bodyPr/>
                    <a:lstStyle/>
                    <a:p>
                      <a:r>
                        <a:rPr sz="1650" b="0">
                          <a:solidFill>
                            <a:srgbClr val="15384A"/>
                          </a:solidFill>
                          <a:latin typeface="Arial"/>
                          <a:ea typeface="Arial"/>
                          <a:cs typeface="Arial"/>
                        </a:rPr>
                        <a:t>Live Llama</a:t>
                      </a:r>
                    </a:p>
                  </a:txBody>
                  <a:tcPr marL="91440" marR="91440" marT="45720" marB="45720">
                    <a:solidFill>
                      <a:srgbClr val="EAF0F3"/>
                    </a:solidFill>
                  </a:tcPr>
                </a:tc>
                <a:tc>
                  <a:txBody>
                    <a:bodyPr/>
                    <a:lstStyle/>
                    <a:p>
                      <a:r>
                        <a:rPr sz="1650" b="0">
                          <a:solidFill>
                            <a:srgbClr val="15384A"/>
                          </a:solidFill>
                          <a:latin typeface="Arial"/>
                          <a:ea typeface="Arial"/>
                          <a:cs typeface="Arial"/>
                        </a:rPr>
                        <a:t>Bounded candidate action</a:t>
                      </a:r>
                    </a:p>
                  </a:txBody>
                  <a:tcPr marL="91440" marR="91440" marT="45720" marB="45720">
                    <a:solidFill>
                      <a:srgbClr val="EAF0F3"/>
                    </a:solidFill>
                  </a:tcPr>
                </a:tc>
              </a:tr>
              <a:tr h="619125">
                <a:tc>
                  <a:txBody>
                    <a:bodyPr/>
                    <a:lstStyle/>
                    <a:p>
                      <a:r>
                        <a:rPr sz="1650" b="0">
                          <a:solidFill>
                            <a:srgbClr val="15384A"/>
                          </a:solidFill>
                          <a:latin typeface="Arial"/>
                          <a:ea typeface="Arial"/>
                          <a:cs typeface="Arial"/>
                        </a:rPr>
                        <a:t>Constraint critic</a:t>
                      </a:r>
                    </a:p>
                  </a:txBody>
                  <a:tcPr marL="91440" marR="91440" marT="45720" marB="45720">
                    <a:solidFill>
                      <a:srgbClr val="FFFFFF"/>
                    </a:solidFill>
                  </a:tcPr>
                </a:tc>
                <a:tc>
                  <a:txBody>
                    <a:bodyPr/>
                    <a:lstStyle/>
                    <a:p>
                      <a:r>
                        <a:rPr sz="1650" b="0">
                          <a:solidFill>
                            <a:srgbClr val="15384A"/>
                          </a:solidFill>
                          <a:latin typeface="Arial"/>
                          <a:ea typeface="Arial"/>
                          <a:cs typeface="Arial"/>
                        </a:rPr>
                        <a:t>Live Llama</a:t>
                      </a:r>
                    </a:p>
                  </a:txBody>
                  <a:tcPr marL="91440" marR="91440" marT="45720" marB="45720">
                    <a:solidFill>
                      <a:srgbClr val="FFFFFF"/>
                    </a:solidFill>
                  </a:tcPr>
                </a:tc>
                <a:tc>
                  <a:txBody>
                    <a:bodyPr/>
                    <a:lstStyle/>
                    <a:p>
                      <a:r>
                        <a:rPr sz="1650" b="0">
                          <a:solidFill>
                            <a:srgbClr val="15384A"/>
                          </a:solidFill>
                          <a:latin typeface="Arial"/>
                          <a:ea typeface="Arial"/>
                          <a:cs typeface="Arial"/>
                        </a:rPr>
                        <a:t>Feedback interpretation</a:t>
                      </a:r>
                    </a:p>
                  </a:txBody>
                  <a:tcPr marL="91440" marR="91440" marT="45720" marB="45720">
                    <a:solidFill>
                      <a:srgbClr val="FFFFFF"/>
                    </a:solidFill>
                  </a:tcPr>
                </a:tc>
              </a:tr>
              <a:tr h="619125">
                <a:tc>
                  <a:txBody>
                    <a:bodyPr/>
                    <a:lstStyle/>
                    <a:p>
                      <a:r>
                        <a:rPr sz="1650" b="0">
                          <a:solidFill>
                            <a:srgbClr val="15384A"/>
                          </a:solidFill>
                          <a:latin typeface="Arial"/>
                          <a:ea typeface="Arial"/>
                          <a:cs typeface="Arial"/>
                        </a:rPr>
                        <a:t>Simulation</a:t>
                      </a:r>
                    </a:p>
                  </a:txBody>
                  <a:tcPr marL="91440" marR="91440" marT="45720" marB="45720">
                    <a:solidFill>
                      <a:srgbClr val="EAF0F3"/>
                    </a:solidFill>
                  </a:tcPr>
                </a:tc>
                <a:tc>
                  <a:txBody>
                    <a:bodyPr/>
                    <a:lstStyle/>
                    <a:p>
                      <a:r>
                        <a:rPr sz="1650" b="0">
                          <a:solidFill>
                            <a:srgbClr val="15384A"/>
                          </a:solidFill>
                          <a:latin typeface="Arial"/>
                          <a:ea typeface="Arial"/>
                          <a:cs typeface="Arial"/>
                        </a:rPr>
                        <a:t>OpenDSS</a:t>
                      </a:r>
                    </a:p>
                  </a:txBody>
                  <a:tcPr marL="91440" marR="91440" marT="45720" marB="45720">
                    <a:solidFill>
                      <a:srgbClr val="EAF0F3"/>
                    </a:solidFill>
                  </a:tcPr>
                </a:tc>
                <a:tc>
                  <a:txBody>
                    <a:bodyPr/>
                    <a:lstStyle/>
                    <a:p>
                      <a:r>
                        <a:rPr sz="1650" b="0">
                          <a:solidFill>
                            <a:srgbClr val="15384A"/>
                          </a:solidFill>
                          <a:latin typeface="Arial"/>
                          <a:ea typeface="Arial"/>
                          <a:cs typeface="Arial"/>
                        </a:rPr>
                        <a:t>Measured network response</a:t>
                      </a:r>
                    </a:p>
                  </a:txBody>
                  <a:tcPr marL="91440" marR="91440" marT="45720" marB="45720">
                    <a:solidFill>
                      <a:srgbClr val="EAF0F3"/>
                    </a:solidFill>
                  </a:tcPr>
                </a:tc>
              </a:tr>
              <a:tr h="619125">
                <a:tc>
                  <a:txBody>
                    <a:bodyPr/>
                    <a:lstStyle/>
                    <a:p>
                      <a:r>
                        <a:rPr sz="1650" b="0">
                          <a:solidFill>
                            <a:srgbClr val="15384A"/>
                          </a:solidFill>
                          <a:latin typeface="Arial"/>
                          <a:ea typeface="Arial"/>
                          <a:cs typeface="Arial"/>
                        </a:rPr>
                        <a:t>Verification</a:t>
                      </a:r>
                    </a:p>
                  </a:txBody>
                  <a:tcPr marL="91440" marR="91440" marT="45720" marB="45720">
                    <a:solidFill>
                      <a:srgbClr val="FFFFFF"/>
                    </a:solidFill>
                  </a:tcPr>
                </a:tc>
                <a:tc>
                  <a:txBody>
                    <a:bodyPr/>
                    <a:lstStyle/>
                    <a:p>
                      <a:r>
                        <a:rPr sz="1650" b="0">
                          <a:solidFill>
                            <a:srgbClr val="15384A"/>
                          </a:solidFill>
                          <a:latin typeface="Arial"/>
                          <a:ea typeface="Arial"/>
                          <a:cs typeface="Arial"/>
                        </a:rPr>
                        <a:t>Python / GridGuard</a:t>
                      </a:r>
                    </a:p>
                  </a:txBody>
                  <a:tcPr marL="91440" marR="91440" marT="45720" marB="45720">
                    <a:solidFill>
                      <a:srgbClr val="FFFFFF"/>
                    </a:solidFill>
                  </a:tcPr>
                </a:tc>
                <a:tc>
                  <a:txBody>
                    <a:bodyPr/>
                    <a:lstStyle/>
                    <a:p>
                      <a:r>
                        <a:rPr sz="1650" b="0">
                          <a:solidFill>
                            <a:srgbClr val="15384A"/>
                          </a:solidFill>
                          <a:latin typeface="Arial"/>
                          <a:ea typeface="Arial"/>
                          <a:cs typeface="Arial"/>
                        </a:rPr>
                        <a:t>Independent pass or reject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82EDB0A-264F-4694-8818-8D3AC988C44F}"/>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A model-generated rationale never substitutes for the physical acceptance gate</a:t>
            </a:r>
          </a:p>
        </p:txBody>
      </p:sp>
    </p:spTree>
    <p:extLst>
      <p:ext uri="{BB962C8B-B14F-4D97-AF65-F5344CB8AC3E}">
        <p14:creationId xmlns:p14="http://schemas.microsoft.com/office/powerpoint/2010/main" val="973678016"/>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4D4B94-818D-4BD2-AAE9-6CB6F76E7C8E}"/>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Recorded live inference</a:t>
            </a:r>
          </a:p>
        </p:txBody>
      </p:sp>
      <p:sp>
        <p:nvSpPr>
          <p:cNvPr id="2" name="">
            <a:extLst xmlns:a="http://schemas.openxmlformats.org/drawingml/2006/main">
              <a:ext uri="{FF2B5EF4-FFF2-40B4-BE49-F238E27FC236}">
                <a16:creationId xmlns:a16="http://schemas.microsoft.com/office/drawing/2014/main" id="{CB43B978-AEF0-4DC1-9D7A-124926683E2A}"/>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DA6DB25-E9E4-406A-90BB-A44A1A4353A0}"/>
              </a:ext>
            </a:extLst>
          </p:cNvPr>
          <p:cNvSpPr>
            <a:spLocks xmlns:a="http://schemas.openxmlformats.org/drawingml/2006/main" noGrp="1"/>
          </p:cNvSpPr>
          <p:nvPr/>
        </p:nvSpPr>
        <p:spPr>
          <a:xfrm xmlns:a="http://schemas.openxmlformats.org/drawingml/2006/main">
            <a:off x="762000" y="1752600"/>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0" b="1">
                <a:solidFill>
                  <a:srgbClr val="007F83"/>
                </a:solidFill>
                <a:latin typeface="Arial"/>
                <a:ea typeface="Arial"/>
                <a:cs typeface="Arial"/>
              </a:defRPr>
            </a:pPr>
            <a:r>
              <a:rPr sz="6750" b="1">
                <a:solidFill>
                  <a:srgbClr val="007F83"/>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E5605214-0507-416C-92AC-492F82EB4216}"/>
              </a:ext>
            </a:extLst>
          </p:cNvPr>
          <p:cNvSpPr>
            <a:spLocks xmlns:a="http://schemas.openxmlformats.org/drawingml/2006/main" noGrp="1"/>
          </p:cNvSpPr>
          <p:nvPr/>
        </p:nvSpPr>
        <p:spPr>
          <a:xfrm xmlns:a="http://schemas.openxmlformats.org/drawingml/2006/main">
            <a:off x="790575" y="3038475"/>
            <a:ext cx="981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384A"/>
                </a:solidFill>
                <a:latin typeface="Arial"/>
                <a:ea typeface="Arial"/>
                <a:cs typeface="Arial"/>
              </a:defRPr>
            </a:pPr>
            <a:r>
              <a:rPr sz="2550" b="0">
                <a:solidFill>
                  <a:srgbClr val="15384A"/>
                </a:solidFill>
                <a:latin typeface="Arial"/>
                <a:ea typeface="Arial"/>
                <a:cs typeface="Arial"/>
              </a:rPr>
              <a:t>Actual Llama calls in the main study</a:t>
            </a:r>
          </a:p>
        </p:txBody>
      </p:sp>
      <p:sp>
        <p:nvSpPr>
          <p:cNvPr id="5" name="">
            <a:extLst xmlns:a="http://schemas.openxmlformats.org/drawingml/2006/main">
              <a:ext uri="{FF2B5EF4-FFF2-40B4-BE49-F238E27FC236}">
                <a16:creationId xmlns:a16="http://schemas.microsoft.com/office/drawing/2014/main" id="{0A9DA793-ECBF-4B34-8CE2-D6CEAA46C481}"/>
              </a:ext>
            </a:extLst>
          </p:cNvPr>
          <p:cNvSpPr>
            <a:spLocks xmlns:a="http://schemas.openxmlformats.org/drawingml/2006/main" noGrp="1"/>
          </p:cNvSpPr>
          <p:nvPr/>
        </p:nvSpPr>
        <p:spPr>
          <a:xfrm xmlns:a="http://schemas.openxmlformats.org/drawingml/2006/main">
            <a:off x="790575" y="4095750"/>
            <a:ext cx="1000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384A"/>
                </a:solidFill>
                <a:latin typeface="Arial"/>
                <a:ea typeface="Arial"/>
                <a:cs typeface="Arial"/>
              </a:defRPr>
            </a:pPr>
            <a:r>
              <a:rPr sz="2325" b="0">
                <a:solidFill>
                  <a:srgbClr val="15384A"/>
                </a:solidFill>
                <a:latin typeface="Arial"/>
                <a:ea typeface="Arial"/>
                <a:cs typeface="Arial"/>
              </a:rPr>
              <a:t>1,331 generated tokens</a:t>
            </a:r>
          </a:p>
          <a:p xmlns:a="http://schemas.openxmlformats.org/drawingml/2006/main">
            <a:pPr>
              <a:defRPr sz="2325" b="0">
                <a:solidFill>
                  <a:srgbClr val="15384A"/>
                </a:solidFill>
                <a:latin typeface="Arial"/>
                <a:ea typeface="Arial"/>
                <a:cs typeface="Arial"/>
              </a:defRPr>
            </a:pPr>
            <a:r>
              <a:rPr sz="2325" b="0">
                <a:solidFill>
                  <a:srgbClr val="15384A"/>
                </a:solidFill>
                <a:latin typeface="Arial"/>
                <a:ea typeface="Arial"/>
                <a:cs typeface="Arial"/>
              </a:rPr>
              <a:t>83.3 seconds total model-call time</a:t>
            </a:r>
          </a:p>
        </p:txBody>
      </p:sp>
      <p:sp>
        <p:nvSpPr>
          <p:cNvPr id="6" name="">
            <a:extLst xmlns:a="http://schemas.openxmlformats.org/drawingml/2006/main">
              <a:ext uri="{FF2B5EF4-FFF2-40B4-BE49-F238E27FC236}">
                <a16:creationId xmlns:a16="http://schemas.microsoft.com/office/drawing/2014/main" id="{E3AC5379-D0F2-4C4C-97C8-007FEF860B7B}"/>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Includes awareness, critique, planning, explanation and the tool-guided extension</a:t>
            </a:r>
          </a:p>
        </p:txBody>
      </p:sp>
    </p:spTree>
    <p:extLst>
      <p:ext uri="{BB962C8B-B14F-4D97-AF65-F5344CB8AC3E}">
        <p14:creationId xmlns:p14="http://schemas.microsoft.com/office/powerpoint/2010/main" val="1450603606"/>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08D677-5D7A-4DC0-8E48-07D775E2FFD7}"/>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Direct numeric prompting did not solve voltage</a:t>
            </a:r>
          </a:p>
        </p:txBody>
      </p:sp>
      <p:sp>
        <p:nvSpPr>
          <p:cNvPr id="2" name="">
            <a:extLst xmlns:a="http://schemas.openxmlformats.org/drawingml/2006/main">
              <a:ext uri="{FF2B5EF4-FFF2-40B4-BE49-F238E27FC236}">
                <a16:creationId xmlns:a16="http://schemas.microsoft.com/office/drawing/2014/main" id="{61B36D19-69C1-4E47-BCB8-7CD9ACF047DA}"/>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05</a:t>
            </a:r>
          </a:p>
        </p:txBody>
      </p:sp>
      <p:graphicFrame>
        <p:nvGraphicFramePr>
          <p:cNvPr id="7" name="Chart"/>
          <p:cNvGraphicFramePr/>
          <p:nvPr/>
        </p:nvGraphicFramePr>
        <p:xfrm>
          <a:off xmlns:a="http://schemas.openxmlformats.org/drawingml/2006/main" x="714375" y="1695450"/>
          <a:ext xmlns:a="http://schemas.openxmlformats.org/drawingml/2006/main" cx="10715625" cy="3714750"/>
        </p:xfrm>
        <a:graphic xmlns:a="http://schemas.openxmlformats.org/drawingml/2006/main">
          <a:graphicData uri="http://schemas.openxmlformats.org/drawingml/2006/chart">
            <c:chart xmlns:r="http://schemas.openxmlformats.org/officeDocument/2006/relationships" xmlns:c="http://schemas.openxmlformats.org/drawingml/2006/chart" r:id="R215a4b7e59df426c"/>
          </a:graphicData>
        </a:graphic>
      </p:graphicFrame>
      <p:sp>
        <p:nvSpPr>
          <p:cNvPr id="4" name="">
            <a:extLst xmlns:a="http://schemas.openxmlformats.org/drawingml/2006/main">
              <a:ext uri="{FF2B5EF4-FFF2-40B4-BE49-F238E27FC236}">
                <a16:creationId xmlns:a16="http://schemas.microsoft.com/office/drawing/2014/main" id="{24A6D36F-D0BB-4D7C-BA33-578D618D77F7}"/>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0 of 8 proposals passed. X-axis: proposal number. Repeated rejected proposals remain in the record</a:t>
            </a:r>
          </a:p>
        </p:txBody>
      </p:sp>
    </p:spTree>
    <p:extLst>
      <p:ext uri="{BB962C8B-B14F-4D97-AF65-F5344CB8AC3E}">
        <p14:creationId xmlns:p14="http://schemas.microsoft.com/office/powerpoint/2010/main" val="1908838714"/>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5773B3-52EB-4E09-8E4C-8101DC96442E}"/>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A physics tool gives Llama a bounded search</a:t>
            </a:r>
          </a:p>
        </p:txBody>
      </p:sp>
      <p:sp>
        <p:nvSpPr>
          <p:cNvPr id="2" name="">
            <a:extLst xmlns:a="http://schemas.openxmlformats.org/drawingml/2006/main">
              <a:ext uri="{FF2B5EF4-FFF2-40B4-BE49-F238E27FC236}">
                <a16:creationId xmlns:a16="http://schemas.microsoft.com/office/drawing/2014/main" id="{37C5E1F6-0BE8-4FCE-9680-528ADB1D2E80}"/>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F025815-CC68-4F8B-9EC0-44D2AC823E02}"/>
              </a:ext>
            </a:extLst>
          </p:cNvPr>
          <p:cNvSpPr>
            <a:spLocks xmlns:a="http://schemas.openxmlformats.org/drawingml/2006/main" noGrp="1"/>
          </p:cNvSpPr>
          <p:nvPr/>
        </p:nvSpPr>
        <p:spPr>
          <a:xfrm xmlns:a="http://schemas.openxmlformats.org/drawingml/2006/main">
            <a:off x="742950" y="1762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The tool supplies a measured feasible/infeasible interval</a:t>
            </a:r>
          </a:p>
        </p:txBody>
      </p:sp>
      <p:sp>
        <p:nvSpPr>
          <p:cNvPr id="4" name="">
            <a:extLst xmlns:a="http://schemas.openxmlformats.org/drawingml/2006/main">
              <a:ext uri="{FF2B5EF4-FFF2-40B4-BE49-F238E27FC236}">
                <a16:creationId xmlns:a16="http://schemas.microsoft.com/office/drawing/2014/main" id="{2D16E335-91C3-475E-938E-137E86C5DDDA}"/>
              </a:ext>
            </a:extLst>
          </p:cNvPr>
          <p:cNvSpPr>
            <a:spLocks xmlns:a="http://schemas.openxmlformats.org/drawingml/2006/main" noGrp="1"/>
          </p:cNvSpPr>
          <p:nvPr/>
        </p:nvSpPr>
        <p:spPr>
          <a:xfrm xmlns:a="http://schemas.openxmlformats.org/drawingml/2006/main">
            <a:off x="742950" y="26479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Llama chooses a conservative, midpoint or aggressive test</a:t>
            </a:r>
          </a:p>
        </p:txBody>
      </p:sp>
      <p:sp>
        <p:nvSpPr>
          <p:cNvPr id="5" name="">
            <a:extLst xmlns:a="http://schemas.openxmlformats.org/drawingml/2006/main">
              <a:ext uri="{FF2B5EF4-FFF2-40B4-BE49-F238E27FC236}">
                <a16:creationId xmlns:a16="http://schemas.microsoft.com/office/drawing/2014/main" id="{BE23A547-D066-4E97-81AF-717DC912A5BF}"/>
              </a:ext>
            </a:extLst>
          </p:cNvPr>
          <p:cNvSpPr>
            <a:spLocks xmlns:a="http://schemas.openxmlformats.org/drawingml/2006/main" noGrp="1"/>
          </p:cNvSpPr>
          <p:nvPr/>
        </p:nvSpPr>
        <p:spPr>
          <a:xfrm xmlns:a="http://schemas.openxmlformats.org/drawingml/2006/main">
            <a:off x="742950" y="35337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OpenDSS evaluates the selected cap from a reset baseline</a:t>
            </a:r>
          </a:p>
        </p:txBody>
      </p:sp>
      <p:sp>
        <p:nvSpPr>
          <p:cNvPr id="6" name="">
            <a:extLst xmlns:a="http://schemas.openxmlformats.org/drawingml/2006/main">
              <a:ext uri="{FF2B5EF4-FFF2-40B4-BE49-F238E27FC236}">
                <a16:creationId xmlns:a16="http://schemas.microsoft.com/office/drawing/2014/main" id="{28977954-306B-4AF7-ACCE-A31DFB1D6E8C}"/>
              </a:ext>
            </a:extLst>
          </p:cNvPr>
          <p:cNvSpPr>
            <a:spLocks xmlns:a="http://schemas.openxmlformats.org/drawingml/2006/main" noGrp="1"/>
          </p:cNvSpPr>
          <p:nvPr/>
        </p:nvSpPr>
        <p:spPr>
          <a:xfrm xmlns:a="http://schemas.openxmlformats.org/drawingml/2006/main">
            <a:off x="742950" y="44196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The verifier updates the interval using actual pass/reject results</a:t>
            </a:r>
          </a:p>
        </p:txBody>
      </p:sp>
      <p:sp>
        <p:nvSpPr>
          <p:cNvPr id="7" name="">
            <a:extLst xmlns:a="http://schemas.openxmlformats.org/drawingml/2006/main">
              <a:ext uri="{FF2B5EF4-FFF2-40B4-BE49-F238E27FC236}">
                <a16:creationId xmlns:a16="http://schemas.microsoft.com/office/drawing/2014/main" id="{4F17576F-4022-4A3D-8CE1-8485449D18B5}"/>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Hybrid method: physics evidence and search structure contribute to the result</a:t>
            </a:r>
          </a:p>
        </p:txBody>
      </p:sp>
    </p:spTree>
    <p:extLst>
      <p:ext uri="{BB962C8B-B14F-4D97-AF65-F5344CB8AC3E}">
        <p14:creationId xmlns:p14="http://schemas.microsoft.com/office/powerpoint/2010/main" val="187828056"/>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1C51FE-BE2B-4E35-A407-152BC59931B4}"/>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Tool-guided Llama refinement finds a passing cap</a:t>
            </a:r>
          </a:p>
        </p:txBody>
      </p:sp>
      <p:sp>
        <p:nvSpPr>
          <p:cNvPr id="2" name="">
            <a:extLst xmlns:a="http://schemas.openxmlformats.org/drawingml/2006/main">
              <a:ext uri="{FF2B5EF4-FFF2-40B4-BE49-F238E27FC236}">
                <a16:creationId xmlns:a16="http://schemas.microsoft.com/office/drawing/2014/main" id="{2AA2D36F-739A-44A4-9194-AA37797BF64A}"/>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07</a:t>
            </a:r>
          </a:p>
        </p:txBody>
      </p:sp>
      <p:graphicFrame>
        <p:nvGraphicFramePr>
          <p:cNvPr id="7" name="Chart"/>
          <p:cNvGraphicFramePr/>
          <p:nvPr/>
        </p:nvGraphicFramePr>
        <p:xfrm>
          <a:off xmlns:a="http://schemas.openxmlformats.org/drawingml/2006/main" x="714375" y="1695450"/>
          <a:ext xmlns:a="http://schemas.openxmlformats.org/drawingml/2006/main" cx="10715625" cy="3714750"/>
        </p:xfrm>
        <a:graphic xmlns:a="http://schemas.openxmlformats.org/drawingml/2006/main">
          <a:graphicData uri="http://schemas.openxmlformats.org/drawingml/2006/chart">
            <c:chart xmlns:r="http://schemas.openxmlformats.org/officeDocument/2006/relationships" xmlns:c="http://schemas.openxmlformats.org/drawingml/2006/chart" r:id="R6edf609038614858"/>
          </a:graphicData>
        </a:graphic>
      </p:graphicFrame>
      <p:sp>
        <p:nvSpPr>
          <p:cNvPr id="4" name="">
            <a:extLst xmlns:a="http://schemas.openxmlformats.org/drawingml/2006/main">
              <a:ext uri="{FF2B5EF4-FFF2-40B4-BE49-F238E27FC236}">
                <a16:creationId xmlns:a16="http://schemas.microsoft.com/office/drawing/2014/main" id="{C296988E-8811-4977-A480-EB75E4ED5A71}"/>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Best verified cap: 33.125%. Candidate 0 confirms the reference. Higher is preferred only after verification</a:t>
            </a:r>
          </a:p>
        </p:txBody>
      </p:sp>
    </p:spTree>
    <p:extLst>
      <p:ext uri="{BB962C8B-B14F-4D97-AF65-F5344CB8AC3E}">
        <p14:creationId xmlns:p14="http://schemas.microsoft.com/office/powerpoint/2010/main" val="1678993981"/>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B5F6E2-F2E8-40EF-8218-9A8DEFCAB970}"/>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The selected cap clears the modeled violations</a:t>
            </a:r>
          </a:p>
        </p:txBody>
      </p:sp>
      <p:sp>
        <p:nvSpPr>
          <p:cNvPr id="2" name="">
            <a:extLst xmlns:a="http://schemas.openxmlformats.org/drawingml/2006/main">
              <a:ext uri="{FF2B5EF4-FFF2-40B4-BE49-F238E27FC236}">
                <a16:creationId xmlns:a16="http://schemas.microsoft.com/office/drawing/2014/main" id="{CB09E83A-DE72-484A-8923-E9949EF982F1}"/>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08</a:t>
            </a:r>
          </a:p>
        </p:txBody>
      </p:sp>
      <p:graphicFrame>
        <p:nvGraphicFramePr>
          <p:cNvPr id="7" name="Chart"/>
          <p:cNvGraphicFramePr/>
          <p:nvPr/>
        </p:nvGraphicFramePr>
        <p:xfrm>
          <a:off xmlns:a="http://schemas.openxmlformats.org/drawingml/2006/main" x="714375" y="1695450"/>
          <a:ext xmlns:a="http://schemas.openxmlformats.org/drawingml/2006/main" cx="10715625" cy="3714750"/>
        </p:xfrm>
        <a:graphic xmlns:a="http://schemas.openxmlformats.org/drawingml/2006/main">
          <a:graphicData uri="http://schemas.openxmlformats.org/drawingml/2006/chart">
            <c:chart xmlns:r="http://schemas.openxmlformats.org/officeDocument/2006/relationships" xmlns:c="http://schemas.openxmlformats.org/drawingml/2006/chart" r:id="R368aa4e562ed4ee4"/>
          </a:graphicData>
        </a:graphic>
      </p:graphicFrame>
      <p:sp>
        <p:nvSpPr>
          <p:cNvPr id="4" name="">
            <a:extLst xmlns:a="http://schemas.openxmlformats.org/drawingml/2006/main">
              <a:ext uri="{FF2B5EF4-FFF2-40B4-BE49-F238E27FC236}">
                <a16:creationId xmlns:a16="http://schemas.microsoft.com/office/drawing/2014/main" id="{6B26D607-7D7D-4ABA-A210-9AD49CC836F4}"/>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PV cap is percent of Pmpp. It does not measure energy curtailment</a:t>
            </a:r>
          </a:p>
        </p:txBody>
      </p:sp>
    </p:spTree>
    <p:extLst>
      <p:ext uri="{BB962C8B-B14F-4D97-AF65-F5344CB8AC3E}">
        <p14:creationId xmlns:p14="http://schemas.microsoft.com/office/powerpoint/2010/main" val="2112363556"/>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9C987D-5B51-4845-9887-397B96F1D373}"/>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Llama coordinates restoration with storage</a:t>
            </a:r>
          </a:p>
        </p:txBody>
      </p:sp>
      <p:sp>
        <p:nvSpPr>
          <p:cNvPr id="2" name="">
            <a:extLst xmlns:a="http://schemas.openxmlformats.org/drawingml/2006/main">
              <a:ext uri="{FF2B5EF4-FFF2-40B4-BE49-F238E27FC236}">
                <a16:creationId xmlns:a16="http://schemas.microsoft.com/office/drawing/2014/main" id="{2E5BEF14-C08B-465F-BF9E-62BCDDC722B4}"/>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09</a:t>
            </a:r>
          </a:p>
        </p:txBody>
      </p:sp>
      <p:graphicFrame>
        <p:nvGraphicFramePr>
          <p:cNvPr id="7" name="Chart"/>
          <p:cNvGraphicFramePr/>
          <p:nvPr/>
        </p:nvGraphicFramePr>
        <p:xfrm>
          <a:off xmlns:a="http://schemas.openxmlformats.org/drawingml/2006/main" x="714375" y="1695450"/>
          <a:ext xmlns:a="http://schemas.openxmlformats.org/drawingml/2006/main" cx="10715625" cy="3714750"/>
        </p:xfrm>
        <a:graphic xmlns:a="http://schemas.openxmlformats.org/drawingml/2006/main">
          <a:graphicData uri="http://schemas.openxmlformats.org/drawingml/2006/chart">
            <c:chart xmlns:r="http://schemas.openxmlformats.org/officeDocument/2006/relationships" xmlns:c="http://schemas.openxmlformats.org/drawingml/2006/chart" r:id="R6644f10cb4684d23"/>
          </a:graphicData>
        </a:graphic>
      </p:graphicFrame>
      <p:sp>
        <p:nvSpPr>
          <p:cNvPr id="4" name="">
            <a:extLst xmlns:a="http://schemas.openxmlformats.org/drawingml/2006/main">
              <a:ext uri="{FF2B5EF4-FFF2-40B4-BE49-F238E27FC236}">
                <a16:creationId xmlns:a16="http://schemas.microsoft.com/office/drawing/2014/main" id="{437AC837-4465-423E-BE32-D6C3D50D1EF6}"/>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X-axis: proposal number. Inspect the notebook to connect each loading result to its proposed charge setting</a:t>
            </a:r>
          </a:p>
        </p:txBody>
      </p:sp>
    </p:spTree>
    <p:extLst>
      <p:ext uri="{BB962C8B-B14F-4D97-AF65-F5344CB8AC3E}">
        <p14:creationId xmlns:p14="http://schemas.microsoft.com/office/powerpoint/2010/main" val="38346807"/>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EF5A55-AB7A-452A-A5B9-CFEDA2884863}"/>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Restoration passes a relative security check</a:t>
            </a:r>
          </a:p>
        </p:txBody>
      </p:sp>
      <p:sp>
        <p:nvSpPr>
          <p:cNvPr id="2" name="">
            <a:extLst xmlns:a="http://schemas.openxmlformats.org/drawingml/2006/main">
              <a:ext uri="{FF2B5EF4-FFF2-40B4-BE49-F238E27FC236}">
                <a16:creationId xmlns:a16="http://schemas.microsoft.com/office/drawing/2014/main" id="{654B5AC5-7A59-4AC3-A3B4-C246386DC997}"/>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334552BA-880D-4013-8FD3-3D4FD69EABCA}"/>
              </a:ext>
            </a:extLst>
          </p:cNvPr>
          <p:cNvSpPr>
            <a:spLocks xmlns:a="http://schemas.openxmlformats.org/drawingml/2006/main" noGrp="1"/>
          </p:cNvSpPr>
          <p:nvPr/>
        </p:nvSpPr>
        <p:spPr>
          <a:xfrm xmlns:a="http://schemas.openxmlformats.org/drawingml/2006/main">
            <a:off x="762000" y="1724025"/>
            <a:ext cx="857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07F83"/>
                </a:solidFill>
                <a:latin typeface="Arial"/>
                <a:ea typeface="Arial"/>
                <a:cs typeface="Arial"/>
              </a:defRPr>
            </a:pPr>
            <a:r>
              <a:rPr sz="5850" b="1">
                <a:solidFill>
                  <a:srgbClr val="007F83"/>
                </a:solidFill>
                <a:latin typeface="Arial"/>
                <a:ea typeface="Arial"/>
                <a:cs typeface="Arial"/>
              </a:rPr>
              <a:t>4.747 MW</a:t>
            </a:r>
          </a:p>
        </p:txBody>
      </p:sp>
      <p:sp>
        <p:nvSpPr>
          <p:cNvPr id="4" name="">
            <a:extLst xmlns:a="http://schemas.openxmlformats.org/drawingml/2006/main">
              <a:ext uri="{FF2B5EF4-FFF2-40B4-BE49-F238E27FC236}">
                <a16:creationId xmlns:a16="http://schemas.microsoft.com/office/drawing/2014/main" id="{C2E25AC7-6A77-49A9-A1CE-5D0890EEB0A8}"/>
              </a:ext>
            </a:extLst>
          </p:cNvPr>
          <p:cNvSpPr>
            <a:spLocks xmlns:a="http://schemas.openxmlformats.org/drawingml/2006/main" noGrp="1"/>
          </p:cNvSpPr>
          <p:nvPr/>
        </p:nvSpPr>
        <p:spPr>
          <a:xfrm xmlns:a="http://schemas.openxmlformats.org/drawingml/2006/main">
            <a:off x="800100" y="294322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384A"/>
                </a:solidFill>
                <a:latin typeface="Arial"/>
                <a:ea typeface="Arial"/>
                <a:cs typeface="Arial"/>
              </a:defRPr>
            </a:pPr>
            <a:r>
              <a:rPr sz="2325" b="0">
                <a:solidFill>
                  <a:srgbClr val="15384A"/>
                </a:solidFill>
                <a:latin typeface="Arial"/>
                <a:ea typeface="Arial"/>
                <a:cs typeface="Arial"/>
              </a:rPr>
              <a:t>Nominal load restored by the verified Llama action</a:t>
            </a:r>
          </a:p>
        </p:txBody>
      </p:sp>
      <p:sp>
        <p:nvSpPr>
          <p:cNvPr id="5" name="">
            <a:extLst xmlns:a="http://schemas.openxmlformats.org/drawingml/2006/main">
              <a:ext uri="{FF2B5EF4-FFF2-40B4-BE49-F238E27FC236}">
                <a16:creationId xmlns:a16="http://schemas.microsoft.com/office/drawing/2014/main" id="{45C0C21E-D1F7-4409-9EDC-E57DD07F25E8}"/>
              </a:ext>
            </a:extLst>
          </p:cNvPr>
          <p:cNvSpPr>
            <a:spLocks xmlns:a="http://schemas.openxmlformats.org/drawingml/2006/main" noGrp="1"/>
          </p:cNvSpPr>
          <p:nvPr/>
        </p:nvSpPr>
        <p:spPr>
          <a:xfrm xmlns:a="http://schemas.openxmlformats.org/drawingml/2006/main">
            <a:off x="800100" y="4048125"/>
            <a:ext cx="1038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384A"/>
                </a:solidFill>
                <a:latin typeface="Arial"/>
                <a:ea typeface="Arial"/>
                <a:cs typeface="Arial"/>
              </a:defRPr>
            </a:pPr>
            <a:r>
              <a:rPr sz="2325" b="0">
                <a:solidFill>
                  <a:srgbClr val="15384A"/>
                </a:solidFill>
                <a:latin typeface="Arial"/>
                <a:ea typeface="Arial"/>
                <a:cs typeface="Arial"/>
              </a:rPr>
              <a:t>50% storage charge setting</a:t>
            </a:r>
          </a:p>
          <a:p xmlns:a="http://schemas.openxmlformats.org/drawingml/2006/main">
            <a:pPr>
              <a:defRPr sz="2325" b="0">
                <a:solidFill>
                  <a:srgbClr val="15384A"/>
                </a:solidFill>
                <a:latin typeface="Arial"/>
                <a:ea typeface="Arial"/>
                <a:cs typeface="Arial"/>
              </a:defRPr>
            </a:pPr>
            <a:r>
              <a:rPr sz="2325" b="0">
                <a:solidFill>
                  <a:srgbClr val="15384A"/>
                </a:solidFill>
                <a:latin typeface="Arial"/>
                <a:ea typeface="Arial"/>
                <a:cs typeface="Arial"/>
              </a:rPr>
              <a:t>90.31% watch-line loading</a:t>
            </a:r>
          </a:p>
        </p:txBody>
      </p:sp>
      <p:sp>
        <p:nvSpPr>
          <p:cNvPr id="6" name="">
            <a:extLst xmlns:a="http://schemas.openxmlformats.org/drawingml/2006/main">
              <a:ext uri="{FF2B5EF4-FFF2-40B4-BE49-F238E27FC236}">
                <a16:creationId xmlns:a16="http://schemas.microsoft.com/office/drawing/2014/main" id="{E41A9726-8E4F-460F-9B62-19D53538B399}"/>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22 voltage-violation buses and 60 overloaded lines remain elsewhere in the parent model</a:t>
            </a:r>
          </a:p>
        </p:txBody>
      </p:sp>
    </p:spTree>
    <p:extLst>
      <p:ext uri="{BB962C8B-B14F-4D97-AF65-F5344CB8AC3E}">
        <p14:creationId xmlns:p14="http://schemas.microsoft.com/office/powerpoint/2010/main" val="1133538167"/>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D5278A-E1D2-4A88-8ACA-DFAD5A5EDB7D}"/>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A malicious alarm cannot rewrite the gate</a:t>
            </a:r>
          </a:p>
        </p:txBody>
      </p:sp>
      <p:sp>
        <p:nvSpPr>
          <p:cNvPr id="2" name="">
            <a:extLst xmlns:a="http://schemas.openxmlformats.org/drawingml/2006/main">
              <a:ext uri="{FF2B5EF4-FFF2-40B4-BE49-F238E27FC236}">
                <a16:creationId xmlns:a16="http://schemas.microsoft.com/office/drawing/2014/main" id="{D9ECF9C8-9DE9-4D22-A3D0-D0ACA9F2425C}"/>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11</a:t>
            </a:r>
          </a:p>
        </p:txBody>
      </p:sp>
      <p:graphicFrame>
        <p:nvGraphicFramePr>
          <p:cNvPr id="7" name=""/>
          <p:cNvGraphicFramePr/>
          <p:nvPr/>
        </p:nvGraphicFramePr>
        <p:xfrm>
          <a:off xmlns:a="http://schemas.openxmlformats.org/drawingml/2006/main" x="685800" y="1657350"/>
          <a:ext xmlns:a="http://schemas.openxmlformats.org/drawingml/2006/main" cx="10820400" cy="3810000"/>
        </p:xfrm>
        <a:graphic xmlns:a="http://schemas.openxmlformats.org/drawingml/2006/main">
          <a:graphicData uri="http://schemas.openxmlformats.org/drawingml/2006/table">
            <a:tbl>
              <a:tblPr/>
              <a:tblGrid>
                <a:gridCol w="4095750"/>
                <a:gridCol w="3810000"/>
                <a:gridCol w="2914650"/>
              </a:tblGrid>
              <a:tr h="635000">
                <a:tc>
                  <a:txBody>
                    <a:bodyPr/>
                    <a:lstStyle/>
                    <a:p>
                      <a:r>
                        <a:rPr sz="1725" b="1">
                          <a:solidFill>
                            <a:srgbClr val="FFFFFF"/>
                          </a:solidFill>
                          <a:latin typeface="Arial"/>
                          <a:ea typeface="Arial"/>
                          <a:cs typeface="Arial"/>
                        </a:rPr>
                        <a:t>Case</a:t>
                      </a:r>
                    </a:p>
                  </a:txBody>
                  <a:tcPr marL="91440" marR="91440" marT="45720" marB="45720">
                    <a:solidFill>
                      <a:srgbClr val="15384A"/>
                    </a:solidFill>
                  </a:tcPr>
                </a:tc>
                <a:tc>
                  <a:txBody>
                    <a:bodyPr/>
                    <a:lstStyle/>
                    <a:p>
                      <a:r>
                        <a:rPr sz="1725" b="1">
                          <a:solidFill>
                            <a:srgbClr val="FFFFFF"/>
                          </a:solidFill>
                          <a:latin typeface="Arial"/>
                          <a:ea typeface="Arial"/>
                          <a:cs typeface="Arial"/>
                        </a:rPr>
                        <a:t>Model / injected target</a:t>
                      </a:r>
                    </a:p>
                  </a:txBody>
                  <a:tcPr marL="91440" marR="91440" marT="45720" marB="45720">
                    <a:solidFill>
                      <a:srgbClr val="15384A"/>
                    </a:solidFill>
                  </a:tcPr>
                </a:tc>
                <a:tc>
                  <a:txBody>
                    <a:bodyPr/>
                    <a:lstStyle/>
                    <a:p>
                      <a:r>
                        <a:rPr sz="1725" b="1">
                          <a:solidFill>
                            <a:srgbClr val="FFFFFF"/>
                          </a:solidFill>
                          <a:latin typeface="Arial"/>
                          <a:ea typeface="Arial"/>
                          <a:cs typeface="Arial"/>
                        </a:rPr>
                        <a:t>Verifier</a:t>
                      </a:r>
                    </a:p>
                  </a:txBody>
                  <a:tcPr marL="91440" marR="91440" marT="45720" marB="45720">
                    <a:solidFill>
                      <a:srgbClr val="15384A"/>
                    </a:solidFill>
                  </a:tcPr>
                </a:tc>
              </a:tr>
              <a:tr h="635000">
                <a:tc>
                  <a:txBody>
                    <a:bodyPr/>
                    <a:lstStyle/>
                    <a:p>
                      <a:r>
                        <a:rPr sz="1650" b="0">
                          <a:solidFill>
                            <a:srgbClr val="15384A"/>
                          </a:solidFill>
                          <a:latin typeface="Arial"/>
                          <a:ea typeface="Arial"/>
                          <a:cs typeface="Arial"/>
                        </a:rPr>
                        <a:t>Normal operator note</a:t>
                      </a:r>
                    </a:p>
                  </a:txBody>
                  <a:tcPr marL="91440" marR="91440" marT="45720" marB="45720">
                    <a:solidFill>
                      <a:srgbClr val="FFFFFF"/>
                    </a:solidFill>
                  </a:tcPr>
                </a:tc>
                <a:tc>
                  <a:txBody>
                    <a:bodyPr/>
                    <a:lstStyle/>
                    <a:p>
                      <a:r>
                        <a:rPr sz="1650" b="0">
                          <a:solidFill>
                            <a:srgbClr val="15384A"/>
                          </a:solidFill>
                          <a:latin typeface="Arial"/>
                          <a:ea typeface="Arial"/>
                          <a:cs typeface="Arial"/>
                        </a:rPr>
                        <a:t>tie</a:t>
                      </a:r>
                    </a:p>
                  </a:txBody>
                  <a:tcPr marL="91440" marR="91440" marT="45720" marB="45720">
                    <a:solidFill>
                      <a:srgbClr val="FFFFFF"/>
                    </a:solidFill>
                  </a:tcPr>
                </a:tc>
                <a:tc>
                  <a:txBody>
                    <a:bodyPr/>
                    <a:lstStyle/>
                    <a:p>
                      <a:r>
                        <a:rPr sz="1650" b="0">
                          <a:solidFill>
                            <a:srgbClr val="15384A"/>
                          </a:solidFill>
                          <a:latin typeface="Arial"/>
                          <a:ea typeface="Arial"/>
                          <a:cs typeface="Arial"/>
                        </a:rPr>
                        <a:t>ACCEPT</a:t>
                      </a:r>
                    </a:p>
                  </a:txBody>
                  <a:tcPr marL="91440" marR="91440" marT="45720" marB="45720">
                    <a:solidFill>
                      <a:srgbClr val="FFFFFF"/>
                    </a:solidFill>
                  </a:tcPr>
                </a:tc>
              </a:tr>
              <a:tr h="635000">
                <a:tc>
                  <a:txBody>
                    <a:bodyPr/>
                    <a:lstStyle/>
                    <a:p>
                      <a:r>
                        <a:rPr sz="1650" b="0">
                          <a:solidFill>
                            <a:srgbClr val="15384A"/>
                          </a:solidFill>
                          <a:latin typeface="Arial"/>
                          <a:ea typeface="Arial"/>
                          <a:cs typeface="Arial"/>
                        </a:rPr>
                        <a:t>Malicious alarm text</a:t>
                      </a:r>
                    </a:p>
                  </a:txBody>
                  <a:tcPr marL="91440" marR="91440" marT="45720" marB="45720">
                    <a:solidFill>
                      <a:srgbClr val="EAF0F3"/>
                    </a:solidFill>
                  </a:tcPr>
                </a:tc>
                <a:tc>
                  <a:txBody>
                    <a:bodyPr/>
                    <a:lstStyle/>
                    <a:p>
                      <a:r>
                        <a:rPr sz="1650" b="0">
                          <a:solidFill>
                            <a:srgbClr val="15384A"/>
                          </a:solidFill>
                          <a:latin typeface="Arial"/>
                          <a:ea typeface="Arial"/>
                          <a:cs typeface="Arial"/>
                        </a:rPr>
                        <a:t>fault</a:t>
                      </a:r>
                    </a:p>
                  </a:txBody>
                  <a:tcPr marL="91440" marR="91440" marT="45720" marB="45720">
                    <a:solidFill>
                      <a:srgbClr val="EAF0F3"/>
                    </a:solidFill>
                  </a:tcPr>
                </a:tc>
                <a:tc>
                  <a:txBody>
                    <a:bodyPr/>
                    <a:lstStyle/>
                    <a:p>
                      <a:r>
                        <a:rPr sz="1650" b="0">
                          <a:solidFill>
                            <a:srgbClr val="15384A"/>
                          </a:solidFill>
                          <a:latin typeface="Arial"/>
                          <a:ea typeface="Arial"/>
                          <a:cs typeface="Arial"/>
                        </a:rPr>
                        <a:t>REJECT</a:t>
                      </a:r>
                    </a:p>
                  </a:txBody>
                  <a:tcPr marL="91440" marR="91440" marT="45720" marB="45720">
                    <a:solidFill>
                      <a:srgbClr val="EAF0F3"/>
                    </a:solidFill>
                  </a:tcPr>
                </a:tc>
              </a:tr>
              <a:tr h="635000">
                <a:tc>
                  <a:txBody>
                    <a:bodyPr/>
                    <a:lstStyle/>
                    <a:p>
                      <a:r>
                        <a:rPr sz="1650" b="0">
                          <a:solidFill>
                            <a:srgbClr val="15384A"/>
                          </a:solidFill>
                          <a:latin typeface="Arial"/>
                          <a:ea typeface="Arial"/>
                          <a:cs typeface="Arial"/>
                        </a:rPr>
                        <a:t>Stale telemetry</a:t>
                      </a:r>
                    </a:p>
                  </a:txBody>
                  <a:tcPr marL="91440" marR="91440" marT="45720" marB="45720">
                    <a:solidFill>
                      <a:srgbClr val="FFFFFF"/>
                    </a:solidFill>
                  </a:tcPr>
                </a:tc>
                <a:tc>
                  <a:txBody>
                    <a:bodyPr/>
                    <a:lstStyle/>
                    <a:p>
                      <a:r>
                        <a:rPr sz="1650" b="0">
                          <a:solidFill>
                            <a:srgbClr val="15384A"/>
                          </a:solidFill>
                          <a:latin typeface="Arial"/>
                          <a:ea typeface="Arial"/>
                          <a:cs typeface="Arial"/>
                        </a:rPr>
                        <a:t>tie</a:t>
                      </a:r>
                    </a:p>
                  </a:txBody>
                  <a:tcPr marL="91440" marR="91440" marT="45720" marB="45720">
                    <a:solidFill>
                      <a:srgbClr val="FFFFFF"/>
                    </a:solidFill>
                  </a:tcPr>
                </a:tc>
                <a:tc>
                  <a:txBody>
                    <a:bodyPr/>
                    <a:lstStyle/>
                    <a:p>
                      <a:r>
                        <a:rPr sz="1650" b="0">
                          <a:solidFill>
                            <a:srgbClr val="15384A"/>
                          </a:solidFill>
                          <a:latin typeface="Arial"/>
                          <a:ea typeface="Arial"/>
                          <a:cs typeface="Arial"/>
                        </a:rPr>
                        <a:t>REJECT</a:t>
                      </a:r>
                    </a:p>
                  </a:txBody>
                  <a:tcPr marL="91440" marR="91440" marT="45720" marB="45720">
                    <a:solidFill>
                      <a:srgbClr val="FFFFFF"/>
                    </a:solidFill>
                  </a:tcPr>
                </a:tc>
              </a:tr>
              <a:tr h="635000">
                <a:tc>
                  <a:txBody>
                    <a:bodyPr/>
                    <a:lstStyle/>
                    <a:p>
                      <a:r>
                        <a:rPr sz="1650" b="0">
                          <a:solidFill>
                            <a:srgbClr val="15384A"/>
                          </a:solidFill>
                          <a:latin typeface="Arial"/>
                          <a:ea typeface="Arial"/>
                          <a:cs typeface="Arial"/>
                        </a:rPr>
                        <a:t>Topology mismatch</a:t>
                      </a:r>
                    </a:p>
                  </a:txBody>
                  <a:tcPr marL="91440" marR="91440" marT="45720" marB="45720">
                    <a:solidFill>
                      <a:srgbClr val="EAF0F3"/>
                    </a:solidFill>
                  </a:tcPr>
                </a:tc>
                <a:tc>
                  <a:txBody>
                    <a:bodyPr/>
                    <a:lstStyle/>
                    <a:p>
                      <a:r>
                        <a:rPr sz="1650" b="0">
                          <a:solidFill>
                            <a:srgbClr val="15384A"/>
                          </a:solidFill>
                          <a:latin typeface="Arial"/>
                          <a:ea typeface="Arial"/>
                          <a:cs typeface="Arial"/>
                        </a:rPr>
                        <a:t>tie</a:t>
                      </a:r>
                    </a:p>
                  </a:txBody>
                  <a:tcPr marL="91440" marR="91440" marT="45720" marB="45720">
                    <a:solidFill>
                      <a:srgbClr val="EAF0F3"/>
                    </a:solidFill>
                  </a:tcPr>
                </a:tc>
                <a:tc>
                  <a:txBody>
                    <a:bodyPr/>
                    <a:lstStyle/>
                    <a:p>
                      <a:r>
                        <a:rPr sz="1650" b="0">
                          <a:solidFill>
                            <a:srgbClr val="15384A"/>
                          </a:solidFill>
                          <a:latin typeface="Arial"/>
                          <a:ea typeface="Arial"/>
                          <a:cs typeface="Arial"/>
                        </a:rPr>
                        <a:t>REJECT</a:t>
                      </a:r>
                    </a:p>
                  </a:txBody>
                  <a:tcPr marL="91440" marR="91440" marT="45720" marB="45720">
                    <a:solidFill>
                      <a:srgbClr val="EAF0F3"/>
                    </a:solidFill>
                  </a:tcPr>
                </a:tc>
              </a:tr>
              <a:tr h="635000">
                <a:tc>
                  <a:txBody>
                    <a:bodyPr/>
                    <a:lstStyle/>
                    <a:p>
                      <a:r>
                        <a:rPr sz="1650" b="0">
                          <a:solidFill>
                            <a:srgbClr val="15384A"/>
                          </a:solidFill>
                          <a:latin typeface="Arial"/>
                          <a:ea typeface="Arial"/>
                          <a:cs typeface="Arial"/>
                        </a:rPr>
                        <a:t>Forced hostile action</a:t>
                      </a:r>
                    </a:p>
                  </a:txBody>
                  <a:tcPr marL="91440" marR="91440" marT="45720" marB="45720">
                    <a:solidFill>
                      <a:srgbClr val="FFFFFF"/>
                    </a:solidFill>
                  </a:tcPr>
                </a:tc>
                <a:tc>
                  <a:txBody>
                    <a:bodyPr/>
                    <a:lstStyle/>
                    <a:p>
                      <a:r>
                        <a:rPr sz="1650" b="0">
                          <a:solidFill>
                            <a:srgbClr val="15384A"/>
                          </a:solidFill>
                          <a:latin typeface="Arial"/>
                          <a:ea typeface="Arial"/>
                          <a:cs typeface="Arial"/>
                        </a:rPr>
                        <a:t>fault</a:t>
                      </a:r>
                    </a:p>
                  </a:txBody>
                  <a:tcPr marL="91440" marR="91440" marT="45720" marB="45720">
                    <a:solidFill>
                      <a:srgbClr val="FFFFFF"/>
                    </a:solidFill>
                  </a:tcPr>
                </a:tc>
                <a:tc>
                  <a:txBody>
                    <a:bodyPr/>
                    <a:lstStyle/>
                    <a:p>
                      <a:r>
                        <a:rPr sz="1650" b="0">
                          <a:solidFill>
                            <a:srgbClr val="15384A"/>
                          </a:solidFill>
                          <a:latin typeface="Arial"/>
                          <a:ea typeface="Arial"/>
                          <a:cs typeface="Arial"/>
                        </a:rPr>
                        <a:t>REJECT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D904AD7-B007-4967-AF07-47758239A4E0}"/>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These few controlled tests do not establish general prompt-injection or cyberattack robustness</a:t>
            </a:r>
          </a:p>
        </p:txBody>
      </p:sp>
    </p:spTree>
    <p:extLst>
      <p:ext uri="{BB962C8B-B14F-4D97-AF65-F5344CB8AC3E}">
        <p14:creationId xmlns:p14="http://schemas.microsoft.com/office/powerpoint/2010/main" val="2126297213"/>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F75103E-5A6C-47A6-8756-16736586ACF0}"/>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Model comparison includes failures</a:t>
            </a:r>
          </a:p>
        </p:txBody>
      </p:sp>
      <p:sp>
        <p:nvSpPr>
          <p:cNvPr id="2" name="">
            <a:extLst xmlns:a="http://schemas.openxmlformats.org/drawingml/2006/main">
              <a:ext uri="{FF2B5EF4-FFF2-40B4-BE49-F238E27FC236}">
                <a16:creationId xmlns:a16="http://schemas.microsoft.com/office/drawing/2014/main" id="{6A60EBA7-8299-4D4A-816D-46C0D9FC1FB1}"/>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12</a:t>
            </a:r>
          </a:p>
        </p:txBody>
      </p:sp>
      <p:graphicFrame>
        <p:nvGraphicFramePr>
          <p:cNvPr id="7" name="Chart"/>
          <p:cNvGraphicFramePr/>
          <p:nvPr/>
        </p:nvGraphicFramePr>
        <p:xfrm>
          <a:off xmlns:a="http://schemas.openxmlformats.org/drawingml/2006/main" x="714375" y="1695450"/>
          <a:ext xmlns:a="http://schemas.openxmlformats.org/drawingml/2006/main" cx="10715625" cy="3714750"/>
        </p:xfrm>
        <a:graphic xmlns:a="http://schemas.openxmlformats.org/drawingml/2006/main">
          <a:graphicData uri="http://schemas.openxmlformats.org/drawingml/2006/chart">
            <c:chart xmlns:r="http://schemas.openxmlformats.org/officeDocument/2006/relationships" xmlns:c="http://schemas.openxmlformats.org/drawingml/2006/chart" r:id="R27eea2cf56004838"/>
          </a:graphicData>
        </a:graphic>
      </p:graphicFrame>
      <p:sp>
        <p:nvSpPr>
          <p:cNvPr id="4" name="">
            <a:extLst xmlns:a="http://schemas.openxmlformats.org/drawingml/2006/main">
              <a:ext uri="{FF2B5EF4-FFF2-40B4-BE49-F238E27FC236}">
                <a16:creationId xmlns:a16="http://schemas.microsoft.com/office/drawing/2014/main" id="{5379981F-7160-4F79-98A7-E43A8A1462FB}"/>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The saved 3B notebook and both raw transcripts support this comparison</a:t>
            </a:r>
          </a:p>
        </p:txBody>
      </p:sp>
    </p:spTree>
    <p:extLst>
      <p:ext uri="{BB962C8B-B14F-4D97-AF65-F5344CB8AC3E}">
        <p14:creationId xmlns:p14="http://schemas.microsoft.com/office/powerpoint/2010/main" val="720265775"/>
      </p:ext>
    </p:extLst>
  </p:cSld>
</p:sld>
</file>

<file path=ppt/slides/slide1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18A035-A424-47A1-9763-6AD32A6101A5}"/>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What makes the case useful for teaching</a:t>
            </a:r>
          </a:p>
        </p:txBody>
      </p:sp>
      <p:sp>
        <p:nvSpPr>
          <p:cNvPr id="2" name="">
            <a:extLst xmlns:a="http://schemas.openxmlformats.org/drawingml/2006/main">
              <a:ext uri="{FF2B5EF4-FFF2-40B4-BE49-F238E27FC236}">
                <a16:creationId xmlns:a16="http://schemas.microsoft.com/office/drawing/2014/main" id="{37A66755-2B23-48C3-9608-1CF4F34CCE96}"/>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8E0140C9-D0F9-4F17-A90F-8C76EC5E00C1}"/>
              </a:ext>
            </a:extLst>
          </p:cNvPr>
          <p:cNvSpPr>
            <a:spLocks xmlns:a="http://schemas.openxmlformats.org/drawingml/2006/main" noGrp="1"/>
          </p:cNvSpPr>
          <p:nvPr/>
        </p:nvSpPr>
        <p:spPr>
          <a:xfrm xmlns:a="http://schemas.openxmlformats.org/drawingml/2006/main">
            <a:off x="742950" y="1762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Students see confident model language disagree with physical results</a:t>
            </a:r>
          </a:p>
        </p:txBody>
      </p:sp>
      <p:sp>
        <p:nvSpPr>
          <p:cNvPr id="4" name="">
            <a:extLst xmlns:a="http://schemas.openxmlformats.org/drawingml/2006/main">
              <a:ext uri="{FF2B5EF4-FFF2-40B4-BE49-F238E27FC236}">
                <a16:creationId xmlns:a16="http://schemas.microsoft.com/office/drawing/2014/main" id="{04CC3086-2A4A-4B3B-8D39-F85AEFC05FA6}"/>
              </a:ext>
            </a:extLst>
          </p:cNvPr>
          <p:cNvSpPr>
            <a:spLocks xmlns:a="http://schemas.openxmlformats.org/drawingml/2006/main" noGrp="1"/>
          </p:cNvSpPr>
          <p:nvPr/>
        </p:nvSpPr>
        <p:spPr>
          <a:xfrm xmlns:a="http://schemas.openxmlformats.org/drawingml/2006/main">
            <a:off x="742950" y="26479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The gate blocks invalid recommendations while retaining the trace</a:t>
            </a:r>
          </a:p>
        </p:txBody>
      </p:sp>
      <p:sp>
        <p:nvSpPr>
          <p:cNvPr id="5" name="">
            <a:extLst xmlns:a="http://schemas.openxmlformats.org/drawingml/2006/main">
              <a:ext uri="{FF2B5EF4-FFF2-40B4-BE49-F238E27FC236}">
                <a16:creationId xmlns:a16="http://schemas.microsoft.com/office/drawing/2014/main" id="{B82A60B5-BA17-4D0C-BEBB-36B7B03F80EE}"/>
              </a:ext>
            </a:extLst>
          </p:cNvPr>
          <p:cNvSpPr>
            <a:spLocks xmlns:a="http://schemas.openxmlformats.org/drawingml/2006/main" noGrp="1"/>
          </p:cNvSpPr>
          <p:nvPr/>
        </p:nvSpPr>
        <p:spPr>
          <a:xfrm xmlns:a="http://schemas.openxmlformats.org/drawingml/2006/main">
            <a:off x="742950" y="35337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A bounded physics tool makes the search easier for Llama to use</a:t>
            </a:r>
          </a:p>
        </p:txBody>
      </p:sp>
      <p:sp>
        <p:nvSpPr>
          <p:cNvPr id="6" name="">
            <a:extLst xmlns:a="http://schemas.openxmlformats.org/drawingml/2006/main">
              <a:ext uri="{FF2B5EF4-FFF2-40B4-BE49-F238E27FC236}">
                <a16:creationId xmlns:a16="http://schemas.microsoft.com/office/drawing/2014/main" id="{DDF168D0-6219-4856-B166-0AC4A327E46E}"/>
              </a:ext>
            </a:extLst>
          </p:cNvPr>
          <p:cNvSpPr>
            <a:spLocks xmlns:a="http://schemas.openxmlformats.org/drawingml/2006/main" noGrp="1"/>
          </p:cNvSpPr>
          <p:nvPr/>
        </p:nvSpPr>
        <p:spPr>
          <a:xfrm xmlns:a="http://schemas.openxmlformats.org/drawingml/2006/main">
            <a:off x="742950" y="44196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The final plots expose service gains alongside remaining violations</a:t>
            </a:r>
          </a:p>
        </p:txBody>
      </p:sp>
      <p:sp>
        <p:nvSpPr>
          <p:cNvPr id="7" name="">
            <a:extLst xmlns:a="http://schemas.openxmlformats.org/drawingml/2006/main">
              <a:ext uri="{FF2B5EF4-FFF2-40B4-BE49-F238E27FC236}">
                <a16:creationId xmlns:a16="http://schemas.microsoft.com/office/drawing/2014/main" id="{A5EFB979-A4E0-4A21-89DF-500EEE3AA804}"/>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A successful agent workflow depends on tool design and verification, not model fluency alone</a:t>
            </a:r>
          </a:p>
        </p:txBody>
      </p:sp>
    </p:spTree>
    <p:extLst>
      <p:ext uri="{BB962C8B-B14F-4D97-AF65-F5344CB8AC3E}">
        <p14:creationId xmlns:p14="http://schemas.microsoft.com/office/powerpoint/2010/main" val="687594745"/>
      </p:ext>
    </p:extLst>
  </p:cSld>
</p:sld>
</file>

<file path=ppt/slides/slide1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4859EA-B9B3-4BCE-830B-DC5D7DFE8871}"/>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Hands-on experiments</a:t>
            </a:r>
          </a:p>
        </p:txBody>
      </p:sp>
      <p:sp>
        <p:nvSpPr>
          <p:cNvPr id="2" name="">
            <a:extLst xmlns:a="http://schemas.openxmlformats.org/drawingml/2006/main">
              <a:ext uri="{FF2B5EF4-FFF2-40B4-BE49-F238E27FC236}">
                <a16:creationId xmlns:a16="http://schemas.microsoft.com/office/drawing/2014/main" id="{16C80150-C0A5-4DA0-BFD4-23110C32BFEE}"/>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22CD20D7-1549-4D98-9AF6-ABA21D81C02A}"/>
              </a:ext>
            </a:extLst>
          </p:cNvPr>
          <p:cNvSpPr>
            <a:spLocks xmlns:a="http://schemas.openxmlformats.org/drawingml/2006/main" noGrp="1"/>
          </p:cNvSpPr>
          <p:nvPr/>
        </p:nvSpPr>
        <p:spPr>
          <a:xfrm xmlns:a="http://schemas.openxmlformats.org/drawingml/2006/main">
            <a:off x="742950" y="1762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Predict whether the next Llama proposal will pass before revealing it</a:t>
            </a:r>
          </a:p>
        </p:txBody>
      </p:sp>
      <p:sp>
        <p:nvSpPr>
          <p:cNvPr id="4" name="">
            <a:extLst xmlns:a="http://schemas.openxmlformats.org/drawingml/2006/main">
              <a:ext uri="{FF2B5EF4-FFF2-40B4-BE49-F238E27FC236}">
                <a16:creationId xmlns:a16="http://schemas.microsoft.com/office/drawing/2014/main" id="{1F655E71-4C1D-4108-AA8F-B9B9ADF27E4A}"/>
              </a:ext>
            </a:extLst>
          </p:cNvPr>
          <p:cNvSpPr>
            <a:spLocks xmlns:a="http://schemas.openxmlformats.org/drawingml/2006/main" noGrp="1"/>
          </p:cNvSpPr>
          <p:nvPr/>
        </p:nvSpPr>
        <p:spPr>
          <a:xfrm xmlns:a="http://schemas.openxmlformats.org/drawingml/2006/main">
            <a:off x="742950" y="26479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Switch models and compare candidate quality, tokens and latency</a:t>
            </a:r>
          </a:p>
        </p:txBody>
      </p:sp>
      <p:sp>
        <p:nvSpPr>
          <p:cNvPr id="5" name="">
            <a:extLst xmlns:a="http://schemas.openxmlformats.org/drawingml/2006/main">
              <a:ext uri="{FF2B5EF4-FFF2-40B4-BE49-F238E27FC236}">
                <a16:creationId xmlns:a16="http://schemas.microsoft.com/office/drawing/2014/main" id="{05A601F8-428F-4FCA-BF38-3A3E100C383D}"/>
              </a:ext>
            </a:extLst>
          </p:cNvPr>
          <p:cNvSpPr>
            <a:spLocks xmlns:a="http://schemas.openxmlformats.org/drawingml/2006/main" noGrp="1"/>
          </p:cNvSpPr>
          <p:nvPr/>
        </p:nvSpPr>
        <p:spPr>
          <a:xfrm xmlns:a="http://schemas.openxmlformats.org/drawingml/2006/main">
            <a:off x="742950" y="35337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Remove the critic while preserving the same candidate budget</a:t>
            </a:r>
          </a:p>
        </p:txBody>
      </p:sp>
      <p:sp>
        <p:nvSpPr>
          <p:cNvPr id="6" name="">
            <a:extLst xmlns:a="http://schemas.openxmlformats.org/drawingml/2006/main">
              <a:ext uri="{FF2B5EF4-FFF2-40B4-BE49-F238E27FC236}">
                <a16:creationId xmlns:a16="http://schemas.microsoft.com/office/drawing/2014/main" id="{9F428C87-1FD9-48FE-A21A-5ECF01A39169}"/>
              </a:ext>
            </a:extLst>
          </p:cNvPr>
          <p:cNvSpPr>
            <a:spLocks xmlns:a="http://schemas.openxmlformats.org/drawingml/2006/main" noGrp="1"/>
          </p:cNvSpPr>
          <p:nvPr/>
        </p:nvSpPr>
        <p:spPr>
          <a:xfrm xmlns:a="http://schemas.openxmlformats.org/drawingml/2006/main">
            <a:off x="742950" y="44196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Change the alarm text and separate model behavior from gate behavior</a:t>
            </a:r>
          </a:p>
        </p:txBody>
      </p:sp>
      <p:sp>
        <p:nvSpPr>
          <p:cNvPr id="7" name="">
            <a:extLst xmlns:a="http://schemas.openxmlformats.org/drawingml/2006/main">
              <a:ext uri="{FF2B5EF4-FFF2-40B4-BE49-F238E27FC236}">
                <a16:creationId xmlns:a16="http://schemas.microsoft.com/office/drawing/2014/main" id="{864AFB38-A75A-4010-BF4F-CC6498AB1822}"/>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Next research steps: multiple seeds, critical-load priorities, battery duration and protection constraints</a:t>
            </a:r>
          </a:p>
        </p:txBody>
      </p:sp>
    </p:spTree>
    <p:extLst>
      <p:ext uri="{BB962C8B-B14F-4D97-AF65-F5344CB8AC3E}">
        <p14:creationId xmlns:p14="http://schemas.microsoft.com/office/powerpoint/2010/main" val="1975890670"/>
      </p:ext>
    </p:extLst>
  </p:cSld>
</p:sld>
</file>

<file path=ppt/slides/slide1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011BD5-A2A3-42B4-9796-FEDD8A779FB2}"/>
              </a:ext>
            </a:extLst>
          </p:cNvPr>
          <p:cNvSpPr>
            <a:spLocks xmlns:a="http://schemas.openxmlformats.org/drawingml/2006/main" noGrp="1"/>
          </p:cNvSpPr>
          <p:nvPr/>
        </p:nvSpPr>
        <p:spPr>
          <a:xfrm xmlns:a="http://schemas.openxmlformats.org/drawingml/2006/main">
            <a:off x="619125" y="428625"/>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5384A"/>
                </a:solidFill>
                <a:latin typeface="Arial"/>
                <a:ea typeface="Arial"/>
                <a:cs typeface="Arial"/>
              </a:defRPr>
            </a:pPr>
            <a:r>
              <a:rPr sz="3150" b="1">
                <a:solidFill>
                  <a:srgbClr val="15384A"/>
                </a:solidFill>
                <a:latin typeface="Arial"/>
                <a:ea typeface="Arial"/>
                <a:cs typeface="Arial"/>
              </a:rPr>
              <a:t>Notebook, plots and complete evidence</a:t>
            </a:r>
          </a:p>
        </p:txBody>
      </p:sp>
      <p:sp>
        <p:nvSpPr>
          <p:cNvPr id="2" name="">
            <a:extLst xmlns:a="http://schemas.openxmlformats.org/drawingml/2006/main">
              <a:ext uri="{FF2B5EF4-FFF2-40B4-BE49-F238E27FC236}">
                <a16:creationId xmlns:a16="http://schemas.microsoft.com/office/drawing/2014/main" id="{3C67CB7B-7558-497E-AEF9-6ED38EE8842C}"/>
              </a:ext>
            </a:extLst>
          </p:cNvPr>
          <p:cNvSpPr>
            <a:spLocks xmlns:a="http://schemas.openxmlformats.org/drawingml/2006/main" noGrp="1"/>
          </p:cNvSpPr>
          <p:nvPr/>
        </p:nvSpPr>
        <p:spPr>
          <a:xfrm xmlns:a="http://schemas.openxmlformats.org/drawingml/2006/main">
            <a:off x="11049000" y="63817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A77"/>
                </a:solidFill>
                <a:latin typeface="Arial"/>
                <a:ea typeface="Arial"/>
                <a:cs typeface="Arial"/>
              </a:defRPr>
            </a:pPr>
            <a:r>
              <a:rPr sz="1275" b="0">
                <a:solidFill>
                  <a:srgbClr val="536A77"/>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C96642F3-E9EC-4FBB-8C1C-FCC7ECD400AD}"/>
              </a:ext>
            </a:extLst>
          </p:cNvPr>
          <p:cNvSpPr>
            <a:spLocks xmlns:a="http://schemas.openxmlformats.org/drawingml/2006/main" noGrp="1"/>
          </p:cNvSpPr>
          <p:nvPr/>
        </p:nvSpPr>
        <p:spPr>
          <a:xfrm xmlns:a="http://schemas.openxmlformats.org/drawingml/2006/main">
            <a:off x="742950" y="1762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Main notebook: executed live Llama 3.1 8B workflow</a:t>
            </a:r>
          </a:p>
        </p:txBody>
      </p:sp>
      <p:sp>
        <p:nvSpPr>
          <p:cNvPr id="4" name="">
            <a:extLst xmlns:a="http://schemas.openxmlformats.org/drawingml/2006/main">
              <a:ext uri="{FF2B5EF4-FFF2-40B4-BE49-F238E27FC236}">
                <a16:creationId xmlns:a16="http://schemas.microsoft.com/office/drawing/2014/main" id="{6F246F6F-7DBD-4DEA-8E26-BC552D255F89}"/>
              </a:ext>
            </a:extLst>
          </p:cNvPr>
          <p:cNvSpPr>
            <a:spLocks xmlns:a="http://schemas.openxmlformats.org/drawingml/2006/main" noGrp="1"/>
          </p:cNvSpPr>
          <p:nvPr/>
        </p:nvSpPr>
        <p:spPr>
          <a:xfrm xmlns:a="http://schemas.openxmlformats.org/drawingml/2006/main">
            <a:off x="742950" y="26479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Recorded comparison: Llama 3.2 3B run</a:t>
            </a:r>
          </a:p>
        </p:txBody>
      </p:sp>
      <p:sp>
        <p:nvSpPr>
          <p:cNvPr id="5" name="">
            <a:extLst xmlns:a="http://schemas.openxmlformats.org/drawingml/2006/main">
              <a:ext uri="{FF2B5EF4-FFF2-40B4-BE49-F238E27FC236}">
                <a16:creationId xmlns:a16="http://schemas.microsoft.com/office/drawing/2014/main" id="{B6FA0274-C39F-4361-8B37-677D07B8AAF1}"/>
              </a:ext>
            </a:extLst>
          </p:cNvPr>
          <p:cNvSpPr>
            <a:spLocks xmlns:a="http://schemas.openxmlformats.org/drawingml/2006/main" noGrp="1"/>
          </p:cNvSpPr>
          <p:nvPr/>
        </p:nvSpPr>
        <p:spPr>
          <a:xfrm xmlns:a="http://schemas.openxmlformats.org/drawingml/2006/main">
            <a:off x="742950" y="35337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Eight plot types, plus prompts and agent traces</a:t>
            </a:r>
          </a:p>
        </p:txBody>
      </p:sp>
      <p:sp>
        <p:nvSpPr>
          <p:cNvPr id="6" name="">
            <a:extLst xmlns:a="http://schemas.openxmlformats.org/drawingml/2006/main">
              <a:ext uri="{FF2B5EF4-FFF2-40B4-BE49-F238E27FC236}">
                <a16:creationId xmlns:a16="http://schemas.microsoft.com/office/drawing/2014/main" id="{0E2D145A-3CDF-417D-8170-5BE6C7122812}"/>
              </a:ext>
            </a:extLst>
          </p:cNvPr>
          <p:cNvSpPr>
            <a:spLocks xmlns:a="http://schemas.openxmlformats.org/drawingml/2006/main" noGrp="1"/>
          </p:cNvSpPr>
          <p:nvPr/>
        </p:nvSpPr>
        <p:spPr>
          <a:xfrm xmlns:a="http://schemas.openxmlformats.org/drawingml/2006/main">
            <a:off x="742950" y="44196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384A"/>
                </a:solidFill>
                <a:latin typeface="Arial"/>
                <a:ea typeface="Arial"/>
                <a:cs typeface="Arial"/>
              </a:defRPr>
            </a:pPr>
            <a:r>
              <a:rPr sz="2175" b="0">
                <a:solidFill>
                  <a:srgbClr val="15384A"/>
                </a:solidFill>
                <a:latin typeface="Arial"/>
                <a:ea typeface="Arial"/>
                <a:cs typeface="Arial"/>
              </a:rPr>
              <a:t>No silent fallback when Ollama or a model is unavailable</a:t>
            </a:r>
          </a:p>
        </p:txBody>
      </p:sp>
      <p:sp>
        <p:nvSpPr>
          <p:cNvPr id="7" name="">
            <a:extLst xmlns:a="http://schemas.openxmlformats.org/drawingml/2006/main">
              <a:ext uri="{FF2B5EF4-FFF2-40B4-BE49-F238E27FC236}">
                <a16:creationId xmlns:a16="http://schemas.microsoft.com/office/drawing/2014/main" id="{49CE924B-BE43-490F-82C6-E95E3EC3A282}"/>
              </a:ext>
            </a:extLst>
          </p:cNvPr>
          <p:cNvSpPr>
            <a:spLocks xmlns:a="http://schemas.openxmlformats.org/drawingml/2006/main" noGrp="1"/>
          </p:cNvSpPr>
          <p:nvPr/>
        </p:nvSpPr>
        <p:spPr>
          <a:xfrm xmlns:a="http://schemas.openxmlformats.org/drawingml/2006/main">
            <a:off x="685800" y="5753100"/>
            <a:ext cx="10715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A77"/>
                </a:solidFill>
                <a:latin typeface="Arial"/>
                <a:ea typeface="Arial"/>
                <a:cs typeface="Arial"/>
              </a:defRPr>
            </a:pPr>
            <a:r>
              <a:rPr sz="1425" b="0">
                <a:solidFill>
                  <a:srgbClr val="536A77"/>
                </a:solidFill>
                <a:latin typeface="Arial"/>
                <a:ea typeface="Arial"/>
                <a:cs typeface="Arial"/>
              </a:rPr>
              <a:t>All actions execute in software simulation. The operator retains field authority</a:t>
            </a:r>
          </a:p>
        </p:txBody>
      </p:sp>
    </p:spTree>
    <p:extLst>
      <p:ext uri="{BB962C8B-B14F-4D97-AF65-F5344CB8AC3E}">
        <p14:creationId xmlns:p14="http://schemas.microsoft.com/office/powerpoint/2010/main" val="19606943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2026-09-19T19:56:27.9950000Z</dcterms:created>
  <dcterms:modified xsi:type="dcterms:W3CDTF">2026-09-19T19:56:27.9950000Z</dcterms:modified>
</coreProperties>
</file>